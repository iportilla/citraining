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bed3a0e-0128-b1e4-d323-21a6983bf171}">
          <p14:sldIdLst>
            <p14:sldId id="256"/>
            <p14:sldId id="257"/>
            <p14:sldId id="258"/>
          </p14:sldIdLst>
        </p14:section>
        <p14:section name="Build and inspect" id="{fc9f463b-0b35-5f76-fde6-dc76d58f2e41}">
          <p14:sldIdLst>
            <p14:sldId id="259"/>
            <p14:sldId id="260"/>
          </p14:sldIdLst>
        </p14:section>
        <p14:section name="Select and filter" id="{7b7ace55-fe62-62e1-760d-68cb95d5f82a}">
          <p14:sldIdLst>
            <p14:sldId id="261"/>
            <p14:sldId id="262"/>
          </p14:sldIdLst>
        </p14:section>
        <p14:section name="Dates and plotting" id="{38dfa001-5ebb-29e4-3679-60faea81d300}">
          <p14:sldIdLst>
            <p14:sldId id="263"/>
            <p14:sldId id="264"/>
          </p14:sldIdLst>
        </p14:section>
        <p14:section name="Group, map and join" id="{97dd47fb-5c10-9710-3451-5ac2474cf3b7}">
          <p14:sldIdLst>
            <p14:sldId id="265"/>
            <p14:sldId id="266"/>
            <p14:sldId id="267"/>
          </p14:sldIdLst>
        </p14:section>
        <p14:section name="Exercises and recap" id="{2843763e-b62c-77bc-e817-19ee844cb7bc}">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Duration of Columbus's four voyages</a:t>
            </a:r>
          </a:p>
        </c:rich>
      </c:tx>
      <c:layout/>
      <c:overlay val="0"/>
    </c:title>
    <c:autoTitleDeleted val="0"/>
    <c:plotArea>
      <c:layout/>
      <c:barChart>
        <c:barDir val="bar"/>
        <c:grouping val="clustered"/>
        <c:varyColors val="0"/>
        <c:ser>
          <c:idx val="0"/>
          <c:order val="0"/>
          <c:tx>
            <c:strRef>
              <c:f>Sheet1!$B$1</c:f>
              <c:strCache>
                <c:ptCount val="1"/>
                <c:pt idx="0">
                  <c:v>Days</c:v>
                </c:pt>
              </c:strCache>
            </c:strRef>
          </c:tx>
          <c:spPr>
            <a:solidFill>
              <a:srgbClr val="2A78D6"/>
            </a:solidFill>
            <a:effectLst/>
          </c:spPr>
          <c:invertIfNegative val="0"/>
          <c:dLbls>
            <c:numFmt formatCode="0&quot; days&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cat>
            <c:multiLvlStrRef>
              <c:f>Sheet1!$A$2:$A$5</c:f>
              <c:multiLvlStrCache>
                <c:ptCount val="4"/>
                <c:lvl>
                  <c:pt idx="0">
                    <c:v>Voyage 1 (1492–1493)</c:v>
                  </c:pt>
                  <c:pt idx="1">
                    <c:v>Voyage 3 (1498–1500)</c:v>
                  </c:pt>
                  <c:pt idx="2">
                    <c:v>Voyage 4 (1502–1504)</c:v>
                  </c:pt>
                  <c:pt idx="3">
                    <c:v>Voyage 2 (1493–1496)</c:v>
                  </c:pt>
                </c:lvl>
              </c:multiLvlStrCache>
            </c:multiLvlStrRef>
          </c:cat>
          <c:val>
            <c:numRef>
              <c:f>Sheet1!$B$2:$B$5</c:f>
              <c:numCache>
                <c:formatCode>General</c:formatCode>
                <c:ptCount val="4"/>
                <c:pt idx="0">
                  <c:v>213</c:v>
                </c:pt>
                <c:pt idx="1">
                  <c:v>815</c:v>
                </c:pt>
                <c:pt idx="2">
                  <c:v>910</c:v>
                </c:pt>
                <c:pt idx="3">
                  <c:v>991</c:v>
                </c:pt>
              </c:numCache>
            </c:numRef>
          </c:val>
        </c:ser>
        <c:dLbls>
          <c:numFmt formatCode="0&quot; days&quot;" sourceLinked="0"/>
          <c:txPr>
            <a:bodyPr/>
            <a:lstStyle/>
            <a:p>
              <a:pPr>
                <a:defRPr b="0" i="0" strike="noStrike" sz="1200" u="none">
                  <a:solidFill>
                    <a:srgbClr val="52514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200"/>
        </c:scaling>
        <c:delete val="0"/>
        <c:axPos val="b"/>
        <c:majorGridlines>
          <c:spPr>
            <a:ln w="9525" cap="flat">
              <a:solidFill>
                <a:srgbClr val="E6E5E0"/>
              </a:solidFill>
              <a:prstDash val="solid"/>
              <a:round/>
            </a:ln>
          </c:spPr>
        </c:majorGridlines>
        <c:title>
          <c:tx>
            <c:rich>
              <a:bodyPr/>
              <a:lstStyle/>
              <a:p>
                <a:pPr>
                  <a:defRPr sz="1100" b="0" i="0" u="none" strike="noStrike">
                    <a:solidFill>
                      <a:srgbClr val="52514E"/>
                    </a:solidFill>
                    <a:latin typeface="+mn-lt"/>
                  </a:defRPr>
                </a:pPr>
                <a:r>
                  <a:rPr sz="1100" b="0" i="0" u="none" strike="noStrike">
                    <a:solidFill>
                      <a:srgbClr val="52514E"/>
                    </a:solidFill>
                    <a:latin typeface="+mn-lt"/>
                  </a:rPr>
                  <a:t>Days from departure to return</a:t>
                </a:r>
              </a:p>
            </c:rich>
          </c:tx>
          <c:layout/>
          <c:overlay val="0"/>
        </c:title>
        <c:numFmt formatCode="General" sourceLinked="0"/>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Before we load real security data, we warm up with a table small enough to check by eye: the four voyages of Columbus to the Americas. The data comes from the Wikipedia article on his voyages. Everything students learn here (creating a DataFrame, inspecting it, filtering, grouping, plotting) is used again in Session 1 on real data. The picture shows the two kinds of ship in the SHIPS table: the carrack was larger, with high castles at bow and stern; the caravel was smaller, lower and faster. Many caravels, like the Pinta, carried square sails as well as the triangular lateen sails drawn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routes of the four voyages, from Spain to the Caribbean and back. The first voyage reached the Bahamas, Cuba and Hispaniola. The second explored the Lesser Antilles, Puerto Rico and Jamaica. The third reached Trinidad and the coast of Venezuela. The fourth sailed along Central America and ended with the crew stranded on Jamaica for about a year. These are the voyages, ships and landfalls in the notebook's three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skills the notebook covers, in order. None of them needs a large dataset: three small tables (voyages, ships, landfalls) are enough. Point out that every one of these commands comes back in Sessions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table has one row per voyage. Ask students: which part of the output is the index, and which are the column labels? We never gave pandas an index, so it numbered the rows from 0. All the lists must have the same length, otherwise pandas raises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2.1 and 2.2 ask for the shape and the data types. The key observation is that depart_date and return_date come out as text (str), not as dates. Ask students whether they could subtract one from the other, then tell them we come back to this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column comes back as a Series; several columns come back as a DataFrame. .loc selects by label and .iloc by position. With the default index they look the same, which is a good moment to remind students that Session 1 shows a Series with an irregular index where they differ. Exercises 3.1 and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on a column gives a boolean Series, one True or False per row. Putting it inside the brackets keeps only the True rows. The missing captains are intentional: real data always has gaps, and isna().sum() is the first way to find them. On the first voyage Columbus commanded from the Santa Maria, which Juan de la Cosa owned. Exercises 4.1 to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pandas.to_datetime turns text like 1492-08-03 into real dates. Subtracting two date columns gives a duration, and .dt.days turns it into a whole number of days. Assigning to a new column name adds that column. Exercise 5.1 builds duration_days and 5.2 sorts by it. Dates follow the Wikipedia infobox where the article text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cell needs the duration_days column from Exercise 5.1, so students must finish that first or they get a KeyError. The data is sorted before plotting so the ranking is easy to read; ask students to try it unsorted. The 4th voyage comes second partly because the crew was stranded on Jamaica for about a year. Exercise 5.3 repeats the chart for num_ships.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LANDFALLS has one row per event, the same shape as most real datasets: security logs have one row per connection or login. groupby splits the rows by voyage and count summarizes each group. value_counts counts how often each value appears. Only the main landfalls are listed, not every island. Exercises 6.1 to 6.4; the challenge finds each voyage's first and last landfall date with agg min and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adds approximate lat and lon columns by assigning lists, then draws the map with plotly, which works offline. Like pandas, plotly takes the DataFrame and the names of its columns. In the notebook the map is interactive: hover a point to see the place and date. Hispaniola shows as three points because each voyage landed somewhere different. If plotly is missing on the cluster, run pip install plotly first. Exercise 7.1 maps only the first voyage.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tables share the column voyage, so merge can join them on it, like a SQL JOIN. The default is an inner join: only voyage numbers found in both tables survive. SHIPS lists ships for voyages 1 and 4 only, so voyages 2 and 3 drop out. With how="outer" or how="right" they come back, with NaN in the ship columns. Session 2 covers merge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through the notebook. Remind them that the duration plot needs Exercise 5.1 done first. Fast finishers can try the 6.4 challenge and the merge question in Section 8. Section 9 repeats seven of the questions in Excel on the CSV files in the columbus folder, then Exercise 9.1 loads one of them back into pandas with read_csv.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CSV files in module-bd/columbus hold the same tables as the notebook: voyages.csv, ships.csv and landfalls.csv. Answers: 1. Pinta, Nina, Capitana, Gallega, Vizcaina and Santiago de Palos (6 caravels; only the Santa Maria is a carrack). 2. Gallega, Vizcaina and Santiago de Palos. 3. Voyage 2: 991 days, voyage 4: 910, voyage 3: 815, voyage 1: 213. 4. Voyage 1: 4, voyage 2: 6, voyage 3: 4, voyage 4: 7. 5. Dominican Republic, 3 times. 6. Hispaniola, 3 times. 7. The chart should match the one from the notebook. Discussion point: pandas handles dates from 1492 directly, while Excel needs a workaround. Spreadsheets are fine for 21 rows; the next sessions use datasets with hundreds of thousands of rows, where pandas is the better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after students have tried the questions. Every answer matches what pandas gives in the notebook. Only the Santa Maria is a carrack. For question 3, students who subtracted the dates directly will have hit the pre-1900 problem; the 800-year shift gives exactly the same day counts as pandas. Question 5 is also Exercise 9.1 in the notebook, where students check it with read_csv and value_counts.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pointing out that none of these commands is specific to history data. In Session 1 students load CPU and memory measurements with read_csv and use the same selection, filtering and plotting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txBox="1"/>
          <p:nvPr/>
        </p:nvSpPr>
        <p:spPr>
          <a:xfrm>
            <a:off x="813816" y="6263640"/>
            <a:ext cx="7315200" cy="320040"/>
          </a:xfrm>
          <a:prstGeom prst="rect">
            <a:avLst/>
          </a:prstGeom>
          <a:noFill/>
          <a:ln/>
        </p:spPr>
        <p:txBody>
          <a:bodyPr wrap="square" lIns="0" tIns="0" rIns="0" bIns="0" rtlCol="0" anchor="ctr"/>
          <a:lstStyle/>
          <a:p>
            <a:pPr indent="0" marL="0">
              <a:buNone/>
            </a:pPr>
            <a:r>
              <a:rPr lang="en-US" sz="1100" dirty="0">
                <a:solidFill>
                  <a:srgbClr val="5A6378"/>
                </a:solidFill>
              </a:rPr>
              <a:t>Pandas warm-up · Columbus's voyages</a:t>
            </a:r>
            <a:endParaRPr lang="en-US" sz="11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txBox="1"/>
          <p:nvPr/>
        </p:nvSpPr>
        <p:spPr>
          <a:xfrm>
            <a:off x="813816" y="6263640"/>
            <a:ext cx="7315200" cy="320040"/>
          </a:xfrm>
          <a:prstGeom prst="rect">
            <a:avLst/>
          </a:prstGeom>
          <a:noFill/>
          <a:ln/>
        </p:spPr>
        <p:txBody>
          <a:bodyPr wrap="square" lIns="0" tIns="0" rIns="0" bIns="0" rtlCol="0" anchor="ctr"/>
          <a:lstStyle/>
          <a:p>
            <a:pPr indent="0" marL="0">
              <a:buNone/>
            </a:pPr>
            <a:r>
              <a:rPr lang="en-US" sz="1100" dirty="0">
                <a:solidFill>
                  <a:srgbClr val="5A6378"/>
                </a:solidFill>
              </a:rPr>
              <a:t>Pandas warm-up · Columbus's voyages</a:t>
            </a:r>
            <a:endParaRPr lang="en-US" sz="11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rtlCol="0"/>
          <a:lstStyle>
            <a:lvl1pPr indent="0" marL="0">
              <a:buNone/>
              <a:defRPr lang="en-US" sz="1300" b="1" spc="200" kern="0" dirty="0">
                <a:solidFill>
                  <a:schemeClr val="accent3"/>
                </a:solidFill>
              </a:defRPr>
            </a:lvl1pPr>
          </a:lstStyle>
          <a:p>
            <a:pPr indent="0" marL="0">
              <a:buNone/>
            </a:pP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0"/>
          <p:cNvSpPr txBox="1"/>
          <p:nvPr/>
        </p:nvSpPr>
        <p:spPr>
          <a:xfrm>
            <a:off x="813816" y="6263640"/>
            <a:ext cx="7315200" cy="320040"/>
          </a:xfrm>
          <a:prstGeom prst="rect">
            <a:avLst/>
          </a:prstGeom>
          <a:noFill/>
          <a:ln/>
        </p:spPr>
        <p:txBody>
          <a:bodyPr wrap="square" lIns="0" tIns="0" rIns="0" bIns="0" rtlCol="0" anchor="ctr"/>
          <a:lstStyle/>
          <a:p>
            <a:pPr indent="0" marL="0">
              <a:buNone/>
            </a:pPr>
            <a:r>
              <a:rPr lang="en-US" sz="1100" dirty="0">
                <a:solidFill>
                  <a:srgbClr val="9FB0CC"/>
                </a:solidFill>
              </a:rPr>
              <a:t>Pandas warm-up · Columbus's voyages</a:t>
            </a:r>
            <a:endParaRPr lang="en-US" sz="11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9FB0C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1234440"/>
            <a:ext cx="484632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813816" y="1691640"/>
            <a:ext cx="4846320" cy="1737360"/>
          </a:xfrm>
          <a:prstGeom prst="rect">
            <a:avLst/>
          </a:prstGeom>
          <a:noFill/>
          <a:ln/>
        </p:spPr>
        <p:txBody>
          <a:bodyPr wrap="square" rtlCol="0"/>
          <a:lstStyle>
            <a:lvl1pPr algn="l" indent="0" marL="0">
              <a:buNone/>
              <a:defRPr lang="en-US" sz="5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4" name="Text 0"/>
          <p:cNvSpPr/>
          <p:nvPr>
            <p:ph idx="102" type="body" hasCustomPrompt="1"/>
          </p:nvPr>
        </p:nvSpPr>
        <p:spPr>
          <a:xfrm>
            <a:off x="813816" y="3520440"/>
            <a:ext cx="4846320" cy="914400"/>
          </a:xfrm>
          <a:prstGeom prst="rect">
            <a:avLst/>
          </a:prstGeom>
          <a:noFill/>
          <a:ln/>
        </p:spPr>
        <p:txBody>
          <a:bodyPr wrap="square" rtlCol="0"/>
          <a:lstStyle>
            <a:lvl1pPr algn="l" indent="0" marL="0">
              <a:buNone/>
              <a:defRPr lang="en-US" sz="2200" i="1" dirty="0">
                <a:solidFill>
                  <a:schemeClr val="tx1"/>
                </a:solidFill>
                <a:latin typeface="Cambria" pitchFamily="34" charset="0"/>
                <a:ea typeface="Cambria" pitchFamily="34" charset="-122"/>
                <a:cs typeface="Cambria" pitchFamily="34" charset="-120"/>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1234440"/>
            <a:ext cx="4846320" cy="365760"/>
          </a:xfrm>
          <a:prstGeom prst="rect">
            <a:avLst/>
          </a:prstGeom>
          <a:noFill/>
          <a:ln/>
        </p:spPr>
        <p:txBody>
          <a:bodyPr wrap="square" lIns="0" tIns="0" rIns="0" bIns="0" rtlCol="0"/>
          <a:lstStyle/>
          <a:p>
            <a:pPr indent="0" marL="0">
              <a:buNone/>
            </a:pPr>
            <a:r>
              <a:rPr lang="en-US" sz="1300" b="1" spc="200" kern="0" dirty="0">
                <a:solidFill>
                  <a:schemeClr val="accent1"/>
                </a:solidFill>
              </a:rPr>
              <a:t>DEAPSECURE · BIG DATA · WARM-UP</a:t>
            </a:r>
            <a:endParaRPr lang="en-US" sz="1300" dirty="0"/>
          </a:p>
        </p:txBody>
      </p:sp>
      <p:sp>
        <p:nvSpPr>
          <p:cNvPr id="3" name="Text 0"/>
          <p:cNvSpPr/>
          <p:nvPr>
            <p:ph idx="101" type="title" hasCustomPrompt="1"/>
          </p:nvPr>
        </p:nvSpPr>
        <p:spPr>
          <a:xfrm>
            <a:off x="813816" y="1691640"/>
            <a:ext cx="4846320" cy="1737360"/>
          </a:xfrm>
          <a:prstGeom prst="rect">
            <a:avLst/>
          </a:prstGeom>
          <a:noFill/>
          <a:ln/>
        </p:spPr>
        <p:txBody>
          <a:bodyPr wrap="square" lIns="0" tIns="0" rIns="0" bIns="0" rtlCol="0" anchor="t"/>
          <a:lstStyle/>
          <a:p>
            <a:pPr algn="l" indent="0" marL="0">
              <a:buNone/>
            </a:pPr>
            <a:r>
              <a:rPr lang="en-US" sz="5400" b="1" dirty="0">
                <a:solidFill>
                  <a:schemeClr val="tx1"/>
                </a:solidFill>
                <a:latin typeface="Cambria" pitchFamily="34" charset="0"/>
                <a:ea typeface="Cambria" pitchFamily="34" charset="-122"/>
                <a:cs typeface="Cambria" pitchFamily="34" charset="-120"/>
              </a:rPr>
              <a:t>Your First DataFrame</a:t>
            </a:r>
            <a:endParaRPr lang="en-US" sz="5400" dirty="0"/>
          </a:p>
        </p:txBody>
      </p:sp>
      <p:sp>
        <p:nvSpPr>
          <p:cNvPr id="4" name="Text 0"/>
          <p:cNvSpPr/>
          <p:nvPr>
            <p:ph idx="102" type="body" hasCustomPrompt="1"/>
          </p:nvPr>
        </p:nvSpPr>
        <p:spPr>
          <a:xfrm>
            <a:off x="813816" y="3520440"/>
            <a:ext cx="4846320" cy="914400"/>
          </a:xfrm>
          <a:prstGeom prst="rect">
            <a:avLst/>
          </a:prstGeom>
          <a:noFill/>
          <a:ln/>
        </p:spPr>
        <p:txBody>
          <a:bodyPr wrap="square" lIns="0" tIns="0" rIns="0" bIns="0" rtlCol="0" anchor="t"/>
          <a:lstStyle/>
          <a:p>
            <a:pPr algn="l" indent="0" marL="0">
              <a:buNone/>
            </a:pPr>
            <a:r>
              <a:rPr lang="en-US" sz="2200" i="1" dirty="0">
                <a:solidFill>
                  <a:schemeClr val="tx1"/>
                </a:solidFill>
                <a:latin typeface="Cambria" pitchFamily="34" charset="0"/>
                <a:ea typeface="Cambria" pitchFamily="34" charset="-122"/>
                <a:cs typeface="Cambria" pitchFamily="34" charset="-120"/>
              </a:rPr>
              <a:t>with the four voyages of Christopher Columbus, 1492–1504</a:t>
            </a:r>
            <a:endParaRPr lang="en-US" sz="2200" dirty="0"/>
          </a:p>
        </p:txBody>
      </p:sp>
      <p:sp>
        <p:nvSpPr>
          <p:cNvPr id="5" name="Cover tagline"/>
          <p:cNvSpPr txBox="1"/>
          <p:nvPr/>
        </p:nvSpPr>
        <p:spPr>
          <a:xfrm>
            <a:off x="813816" y="4572000"/>
            <a:ext cx="4846320" cy="731520"/>
          </a:xfrm>
          <a:prstGeom prst="rect">
            <a:avLst/>
          </a:prstGeom>
          <a:noFill/>
          <a:ln/>
        </p:spPr>
        <p:txBody>
          <a:bodyPr wrap="square" lIns="0" tIns="0" rIns="0" bIns="0" rtlCol="0" anchor="t"/>
          <a:lstStyle/>
          <a:p>
            <a:pPr indent="0" marL="0">
              <a:buNone/>
            </a:pPr>
            <a:r>
              <a:rPr lang="en-US" sz="1600" dirty="0">
                <a:solidFill>
                  <a:schemeClr val="tx2"/>
                </a:solidFill>
              </a:rPr>
              <a:t>A short pandas exercise before Session 1, using small tables you can check by eye.</a:t>
            </a:r>
            <a:endParaRPr lang="en-US" sz="1600" dirty="0"/>
          </a:p>
        </p:txBody>
      </p:sp>
      <p:sp>
        <p:nvSpPr>
          <p:cNvPr id="6" name="Ship picture frame"/>
          <p:cNvSpPr/>
          <p:nvPr/>
        </p:nvSpPr>
        <p:spPr>
          <a:xfrm>
            <a:off x="6172200" y="1234440"/>
            <a:ext cx="5202936" cy="3172968"/>
          </a:xfrm>
          <a:prstGeom prst="roundRect">
            <a:avLst>
              <a:gd name="adj" fmla="val 3458"/>
            </a:avLst>
          </a:prstGeom>
          <a:solidFill>
            <a:srgbClr val="FBF8F1"/>
          </a:solidFill>
          <a:ln w="9525">
            <a:solidFill>
              <a:srgbClr val="DCD2BE"/>
            </a:solidFill>
            <a:prstDash val="solid"/>
          </a:ln>
        </p:spPr>
      </p:sp>
      <p:pic>
        <p:nvPicPr>
          <p:cNvPr id="7" name="Ship picture" descr="Illustration of two ship types: a large carrack with high castles and square sails, and a smaller, lower caravel with triangular lateen sails">    </p:cNvPr>
          <p:cNvPicPr>
            <a:picLocks noChangeAspect="1"/>
          </p:cNvPicPr>
          <p:nvPr/>
        </p:nvPicPr>
        <p:blipFill>
          <a:blip r:embed="rId1"/>
          <a:stretch>
            <a:fillRect/>
          </a:stretch>
        </p:blipFill>
        <p:spPr>
          <a:xfrm>
            <a:off x="6236208" y="1298448"/>
            <a:ext cx="5074920" cy="2916936"/>
          </a:xfrm>
          <a:prstGeom prst="rect">
            <a:avLst/>
          </a:prstGeom>
        </p:spPr>
      </p:pic>
      <p:sp>
        <p:nvSpPr>
          <p:cNvPr id="8" name="Carrack caption"/>
          <p:cNvSpPr txBox="1"/>
          <p:nvPr/>
        </p:nvSpPr>
        <p:spPr>
          <a:xfrm>
            <a:off x="6172200" y="4526280"/>
            <a:ext cx="2697480" cy="548640"/>
          </a:xfrm>
          <a:prstGeom prst="rect">
            <a:avLst/>
          </a:prstGeom>
          <a:noFill/>
          <a:ln/>
        </p:spPr>
        <p:txBody>
          <a:bodyPr wrap="square" lIns="0" tIns="0" rIns="0" bIns="0" rtlCol="0" anchor="t"/>
          <a:lstStyle/>
          <a:p>
            <a:pPr indent="0" marL="0">
              <a:buNone/>
            </a:pPr>
            <a:r>
              <a:rPr lang="en-US" sz="1300" b="1" dirty="0">
                <a:solidFill>
                  <a:schemeClr val="tx2"/>
                </a:solidFill>
              </a:rPr>
              <a:t>Carrack: </a:t>
            </a:r>
            <a:pPr indent="0" marL="0">
              <a:buNone/>
            </a:pPr>
            <a:r>
              <a:rPr lang="en-US" sz="1300" dirty="0">
                <a:solidFill>
                  <a:schemeClr val="tx2"/>
                </a:solidFill>
              </a:rPr>
              <a:t>large, high castles (the Santa María)</a:t>
            </a:r>
            <a:endParaRPr lang="en-US" sz="1300" dirty="0"/>
          </a:p>
        </p:txBody>
      </p:sp>
      <p:sp>
        <p:nvSpPr>
          <p:cNvPr id="9" name="Caravel caption"/>
          <p:cNvSpPr txBox="1"/>
          <p:nvPr/>
        </p:nvSpPr>
        <p:spPr>
          <a:xfrm>
            <a:off x="8778240" y="4526280"/>
            <a:ext cx="2596896" cy="548640"/>
          </a:xfrm>
          <a:prstGeom prst="rect">
            <a:avLst/>
          </a:prstGeom>
          <a:noFill/>
          <a:ln/>
        </p:spPr>
        <p:txBody>
          <a:bodyPr wrap="square" lIns="0" tIns="0" rIns="0" bIns="0" rtlCol="0" anchor="t"/>
          <a:lstStyle/>
          <a:p>
            <a:pPr algn="r" indent="0" marL="0">
              <a:buNone/>
            </a:pPr>
            <a:r>
              <a:rPr lang="en-US" sz="1300" b="1" dirty="0">
                <a:solidFill>
                  <a:schemeClr val="tx2"/>
                </a:solidFill>
              </a:rPr>
              <a:t>Caravel: </a:t>
            </a:r>
            <a:pPr algn="r" indent="0" marL="0">
              <a:buNone/>
            </a:pPr>
            <a:r>
              <a:rPr lang="en-US" sz="1300" dirty="0">
                <a:solidFill>
                  <a:schemeClr val="tx2"/>
                </a:solidFill>
              </a:rPr>
              <a:t>small and fast (the Pinta, the Niña)</a:t>
            </a:r>
            <a:endParaRPr lang="en-US" sz="1300" dirty="0"/>
          </a:p>
        </p:txBody>
      </p:sp>
      <p:sp>
        <p:nvSpPr>
          <p:cNvPr id="10" name="Cover footer"/>
          <p:cNvSpPr txBox="1"/>
          <p:nvPr/>
        </p:nvSpPr>
        <p:spPr>
          <a:xfrm>
            <a:off x="813816" y="6263640"/>
            <a:ext cx="8229600" cy="320040"/>
          </a:xfrm>
          <a:prstGeom prst="rect">
            <a:avLst/>
          </a:prstGeom>
          <a:noFill/>
          <a:ln/>
        </p:spPr>
        <p:txBody>
          <a:bodyPr wrap="square" lIns="0" tIns="0" rIns="0" bIns="0" rtlCol="0" anchor="ctr"/>
          <a:lstStyle/>
          <a:p>
            <a:pPr indent="0" marL="0">
              <a:buNone/>
            </a:pPr>
            <a:r>
              <a:rPr lang="en-US" sz="1100" dirty="0">
                <a:solidFill>
                  <a:srgbClr val="5A6378"/>
                </a:solidFill>
              </a:rPr>
              <a:t>Notebook: BigData-warmup-columbus.ipynb · Slides: slides/Pandas-Warmup-Columbus.pdf (also .pptx)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THE VOYAGES</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Four voyages across the Atlantic, 1492–1504</a:t>
            </a:r>
            <a:endParaRPr lang="en-US" sz="3400" dirty="0"/>
          </a:p>
        </p:txBody>
      </p:sp>
      <p:sp>
        <p:nvSpPr>
          <p:cNvPr id="4" name="Route map frame"/>
          <p:cNvSpPr/>
          <p:nvPr/>
        </p:nvSpPr>
        <p:spPr>
          <a:xfrm>
            <a:off x="813816" y="1965960"/>
            <a:ext cx="6355080" cy="4206240"/>
          </a:xfrm>
          <a:prstGeom prst="roundRect">
            <a:avLst>
              <a:gd name="adj" fmla="val 2609"/>
            </a:avLst>
          </a:prstGeom>
          <a:solidFill>
            <a:srgbClr val="FFFFFF"/>
          </a:solidFill>
          <a:ln w="9525">
            <a:solidFill>
              <a:srgbClr val="DCD2BE"/>
            </a:solidFill>
            <a:prstDash val="solid"/>
          </a:ln>
        </p:spPr>
      </p:sp>
      <p:pic>
        <p:nvPicPr>
          <p:cNvPr id="5" name="Route map" descr="Map of the routes of Columbus's four voyages between Spain and the Caribbean, one color per voyage">    </p:cNvPr>
          <p:cNvPicPr>
            <a:picLocks noChangeAspect="1"/>
          </p:cNvPicPr>
          <p:nvPr/>
        </p:nvPicPr>
        <p:blipFill>
          <a:blip r:embed="rId1"/>
          <a:stretch>
            <a:fillRect/>
          </a:stretch>
        </p:blipFill>
        <p:spPr>
          <a:xfrm>
            <a:off x="886968" y="2002536"/>
            <a:ext cx="6208776" cy="4160520"/>
          </a:xfrm>
          <a:prstGeom prst="rect">
            <a:avLst/>
          </a:prstGeom>
        </p:spPr>
      </p:pic>
      <p:sp>
        <p:nvSpPr>
          <p:cNvPr id="6" name="Stat card 1"/>
          <p:cNvSpPr/>
          <p:nvPr/>
        </p:nvSpPr>
        <p:spPr>
          <a:xfrm>
            <a:off x="7498080" y="1965960"/>
            <a:ext cx="3877056" cy="914400"/>
          </a:xfrm>
          <a:prstGeom prst="roundRect">
            <a:avLst>
              <a:gd name="adj" fmla="val 12000"/>
            </a:avLst>
          </a:prstGeom>
          <a:solidFill>
            <a:srgbClr val="FBF8F1"/>
          </a:solidFill>
          <a:ln w="9525">
            <a:solidFill>
              <a:srgbClr val="DCD2BE"/>
            </a:solidFill>
            <a:prstDash val="solid"/>
          </a:ln>
        </p:spPr>
      </p:sp>
      <p:sp>
        <p:nvSpPr>
          <p:cNvPr id="7" name="Stat 1"/>
          <p:cNvSpPr txBox="1"/>
          <p:nvPr/>
        </p:nvSpPr>
        <p:spPr>
          <a:xfrm>
            <a:off x="7680960" y="1965960"/>
            <a:ext cx="1005840" cy="9144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8" name="Stat label 1"/>
          <p:cNvSpPr txBox="1"/>
          <p:nvPr/>
        </p:nvSpPr>
        <p:spPr>
          <a:xfrm>
            <a:off x="8641080" y="1965960"/>
            <a:ext cx="2606040" cy="914400"/>
          </a:xfrm>
          <a:prstGeom prst="rect">
            <a:avLst/>
          </a:prstGeom>
          <a:noFill/>
          <a:ln/>
        </p:spPr>
        <p:txBody>
          <a:bodyPr wrap="square" lIns="0" tIns="0" rIns="0" bIns="0" rtlCol="0" anchor="ctr"/>
          <a:lstStyle/>
          <a:p>
            <a:pPr indent="0" marL="0">
              <a:buNone/>
            </a:pPr>
            <a:r>
              <a:rPr lang="en-US" sz="1500" dirty="0">
                <a:solidFill>
                  <a:schemeClr val="tx2"/>
                </a:solidFill>
              </a:rPr>
              <a:t>voyages</a:t>
            </a:r>
            <a:endParaRPr lang="en-US" sz="1500" dirty="0"/>
          </a:p>
        </p:txBody>
      </p:sp>
      <p:sp>
        <p:nvSpPr>
          <p:cNvPr id="9" name="Stat card 2"/>
          <p:cNvSpPr/>
          <p:nvPr/>
        </p:nvSpPr>
        <p:spPr>
          <a:xfrm>
            <a:off x="7498080" y="3044952"/>
            <a:ext cx="3877056" cy="914400"/>
          </a:xfrm>
          <a:prstGeom prst="roundRect">
            <a:avLst>
              <a:gd name="adj" fmla="val 12000"/>
            </a:avLst>
          </a:prstGeom>
          <a:solidFill>
            <a:srgbClr val="FBF8F1"/>
          </a:solidFill>
          <a:ln w="9525">
            <a:solidFill>
              <a:srgbClr val="DCD2BE"/>
            </a:solidFill>
            <a:prstDash val="solid"/>
          </a:ln>
        </p:spPr>
      </p:sp>
      <p:sp>
        <p:nvSpPr>
          <p:cNvPr id="10" name="Stat 2"/>
          <p:cNvSpPr txBox="1"/>
          <p:nvPr/>
        </p:nvSpPr>
        <p:spPr>
          <a:xfrm>
            <a:off x="7680960" y="3044952"/>
            <a:ext cx="1005840" cy="9144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30</a:t>
            </a:r>
            <a:endParaRPr lang="en-US" sz="3600" dirty="0"/>
          </a:p>
        </p:txBody>
      </p:sp>
      <p:sp>
        <p:nvSpPr>
          <p:cNvPr id="11" name="Stat label 2"/>
          <p:cNvSpPr txBox="1"/>
          <p:nvPr/>
        </p:nvSpPr>
        <p:spPr>
          <a:xfrm>
            <a:off x="8641080" y="3044952"/>
            <a:ext cx="2606040" cy="914400"/>
          </a:xfrm>
          <a:prstGeom prst="rect">
            <a:avLst/>
          </a:prstGeom>
          <a:noFill/>
          <a:ln/>
        </p:spPr>
        <p:txBody>
          <a:bodyPr wrap="square" lIns="0" tIns="0" rIns="0" bIns="0" rtlCol="0" anchor="ctr"/>
          <a:lstStyle/>
          <a:p>
            <a:pPr indent="0" marL="0">
              <a:buNone/>
            </a:pPr>
            <a:r>
              <a:rPr lang="en-US" sz="1500" dirty="0">
                <a:solidFill>
                  <a:schemeClr val="tx2"/>
                </a:solidFill>
              </a:rPr>
              <a:t>ships in total (3 + 17 + 6 + 4)</a:t>
            </a:r>
            <a:endParaRPr lang="en-US" sz="1500" dirty="0"/>
          </a:p>
        </p:txBody>
      </p:sp>
      <p:sp>
        <p:nvSpPr>
          <p:cNvPr id="12" name="Stat card 3"/>
          <p:cNvSpPr/>
          <p:nvPr/>
        </p:nvSpPr>
        <p:spPr>
          <a:xfrm>
            <a:off x="7498080" y="4123944"/>
            <a:ext cx="3877056" cy="914400"/>
          </a:xfrm>
          <a:prstGeom prst="roundRect">
            <a:avLst>
              <a:gd name="adj" fmla="val 12000"/>
            </a:avLst>
          </a:prstGeom>
          <a:solidFill>
            <a:srgbClr val="FBF8F1"/>
          </a:solidFill>
          <a:ln w="9525">
            <a:solidFill>
              <a:srgbClr val="DCD2BE"/>
            </a:solidFill>
            <a:prstDash val="solid"/>
          </a:ln>
        </p:spPr>
      </p:sp>
      <p:sp>
        <p:nvSpPr>
          <p:cNvPr id="13" name="Stat 3"/>
          <p:cNvSpPr txBox="1"/>
          <p:nvPr/>
        </p:nvSpPr>
        <p:spPr>
          <a:xfrm>
            <a:off x="7680960" y="4123944"/>
            <a:ext cx="1005840" cy="9144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14" name="Stat label 3"/>
          <p:cNvSpPr txBox="1"/>
          <p:nvPr/>
        </p:nvSpPr>
        <p:spPr>
          <a:xfrm>
            <a:off x="8641080" y="4123944"/>
            <a:ext cx="2606040" cy="914400"/>
          </a:xfrm>
          <a:prstGeom prst="rect">
            <a:avLst/>
          </a:prstGeom>
          <a:noFill/>
          <a:ln/>
        </p:spPr>
        <p:txBody>
          <a:bodyPr wrap="square" lIns="0" tIns="0" rIns="0" bIns="0" rtlCol="0" anchor="ctr"/>
          <a:lstStyle/>
          <a:p>
            <a:pPr indent="0" marL="0">
              <a:buNone/>
            </a:pPr>
            <a:r>
              <a:rPr lang="en-US" sz="1500" dirty="0">
                <a:solidFill>
                  <a:schemeClr val="tx2"/>
                </a:solidFill>
              </a:rPr>
              <a:t>years, from 1492 to 1504</a:t>
            </a:r>
            <a:endParaRPr lang="en-US" sz="1500" dirty="0"/>
          </a:p>
        </p:txBody>
      </p:sp>
      <p:sp>
        <p:nvSpPr>
          <p:cNvPr id="15" name="Stat card 4"/>
          <p:cNvSpPr/>
          <p:nvPr/>
        </p:nvSpPr>
        <p:spPr>
          <a:xfrm>
            <a:off x="7498080" y="5202936"/>
            <a:ext cx="3877056" cy="914400"/>
          </a:xfrm>
          <a:prstGeom prst="roundRect">
            <a:avLst>
              <a:gd name="adj" fmla="val 12000"/>
            </a:avLst>
          </a:prstGeom>
          <a:solidFill>
            <a:srgbClr val="FBF8F1"/>
          </a:solidFill>
          <a:ln w="9525">
            <a:solidFill>
              <a:srgbClr val="DCD2BE"/>
            </a:solidFill>
            <a:prstDash val="solid"/>
          </a:ln>
        </p:spPr>
      </p:sp>
      <p:sp>
        <p:nvSpPr>
          <p:cNvPr id="16" name="Stat 4"/>
          <p:cNvSpPr txBox="1"/>
          <p:nvPr/>
        </p:nvSpPr>
        <p:spPr>
          <a:xfrm>
            <a:off x="7680960" y="5202936"/>
            <a:ext cx="1005840" cy="9144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21</a:t>
            </a:r>
            <a:endParaRPr lang="en-US" sz="3600" dirty="0"/>
          </a:p>
        </p:txBody>
      </p:sp>
      <p:sp>
        <p:nvSpPr>
          <p:cNvPr id="17" name="Stat label 4"/>
          <p:cNvSpPr txBox="1"/>
          <p:nvPr/>
        </p:nvSpPr>
        <p:spPr>
          <a:xfrm>
            <a:off x="8641080" y="5202936"/>
            <a:ext cx="2606040" cy="914400"/>
          </a:xfrm>
          <a:prstGeom prst="rect">
            <a:avLst/>
          </a:prstGeom>
          <a:noFill/>
          <a:ln/>
        </p:spPr>
        <p:txBody>
          <a:bodyPr wrap="square" lIns="0" tIns="0" rIns="0" bIns="0" rtlCol="0" anchor="ctr"/>
          <a:lstStyle/>
          <a:p>
            <a:pPr indent="0" marL="0">
              <a:buNone/>
            </a:pPr>
            <a:r>
              <a:rPr lang="en-US" sz="1500" dirty="0">
                <a:solidFill>
                  <a:schemeClr val="tx2"/>
                </a:solidFill>
              </a:rPr>
              <a:t>main landfalls in our table</a:t>
            </a:r>
            <a:endParaRPr lang="en-US" sz="1500" dirty="0"/>
          </a:p>
        </p:txBody>
      </p:sp>
      <p:sp>
        <p:nvSpPr>
          <p:cNvPr id="18" name="Map credit"/>
          <p:cNvSpPr txBox="1"/>
          <p:nvPr/>
        </p:nvSpPr>
        <p:spPr>
          <a:xfrm>
            <a:off x="6400800" y="6263640"/>
            <a:ext cx="4297680" cy="320040"/>
          </a:xfrm>
          <a:prstGeom prst="rect">
            <a:avLst/>
          </a:prstGeom>
          <a:noFill/>
          <a:ln/>
        </p:spPr>
        <p:txBody>
          <a:bodyPr wrap="square" lIns="0" tIns="0" rIns="0" bIns="0" rtlCol="0" anchor="ctr"/>
          <a:lstStyle/>
          <a:p>
            <a:pPr algn="r" indent="0" marL="0">
              <a:buNone/>
            </a:pPr>
            <a:r>
              <a:rPr lang="en-US" sz="1100" dirty="0">
                <a:solidFill>
                  <a:srgbClr val="5A6378"/>
                </a:solidFill>
              </a:rPr>
              <a:t>Map: Phirosiberia, Wikimedia Commons, CC BY-SA 3.0</a:t>
            </a:r>
            <a:endParaRPr lang="en-US" sz="11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WHAT YOU WILL PRACTICE</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Eight pandas skills on one small dataset</a:t>
            </a:r>
            <a:endParaRPr lang="en-US" sz="3400" dirty="0"/>
          </a:p>
        </p:txBody>
      </p:sp>
      <p:sp>
        <p:nvSpPr>
          <p:cNvPr id="4" name="Skill card 1"/>
          <p:cNvSpPr/>
          <p:nvPr/>
        </p:nvSpPr>
        <p:spPr>
          <a:xfrm>
            <a:off x="813816" y="1965960"/>
            <a:ext cx="2435276" cy="1874520"/>
          </a:xfrm>
          <a:prstGeom prst="roundRect">
            <a:avLst>
              <a:gd name="adj" fmla="val 5854"/>
            </a:avLst>
          </a:prstGeom>
          <a:solidFill>
            <a:srgbClr val="FBF8F1"/>
          </a:solidFill>
          <a:ln w="9525">
            <a:solidFill>
              <a:srgbClr val="DCD2BE"/>
            </a:solidFill>
            <a:prstDash val="solid"/>
          </a:ln>
        </p:spPr>
      </p:sp>
      <p:sp>
        <p:nvSpPr>
          <p:cNvPr id="5" name="Text 3"/>
          <p:cNvSpPr txBox="1"/>
          <p:nvPr/>
        </p:nvSpPr>
        <p:spPr>
          <a:xfrm>
            <a:off x="1042416" y="214884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6" name="Skill 1"/>
          <p:cNvSpPr txBox="1"/>
          <p:nvPr/>
        </p:nvSpPr>
        <p:spPr>
          <a:xfrm>
            <a:off x="1042416" y="2624328"/>
            <a:ext cx="1978076" cy="685800"/>
          </a:xfrm>
          <a:prstGeom prst="rect">
            <a:avLst/>
          </a:prstGeom>
          <a:noFill/>
          <a:ln/>
        </p:spPr>
        <p:txBody>
          <a:bodyPr wrap="square" lIns="0" tIns="0" rIns="0" bIns="0" rtlCol="0" anchor="t"/>
          <a:lstStyle/>
          <a:p>
            <a:pPr indent="0" marL="0">
              <a:buNone/>
            </a:pPr>
            <a:r>
              <a:rPr lang="en-US" sz="1600" b="1" dirty="0">
                <a:solidFill>
                  <a:schemeClr val="tx1"/>
                </a:solidFill>
              </a:rPr>
              <a:t>Create a DataFrame</a:t>
            </a:r>
            <a:endParaRPr lang="en-US" sz="1600" dirty="0"/>
          </a:p>
        </p:txBody>
      </p:sp>
      <p:sp>
        <p:nvSpPr>
          <p:cNvPr id="7" name="Text 5"/>
          <p:cNvSpPr txBox="1"/>
          <p:nvPr/>
        </p:nvSpPr>
        <p:spPr>
          <a:xfrm>
            <a:off x="1042416" y="333756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pandas.DataFrame()</a:t>
            </a:r>
            <a:endParaRPr lang="en-US" sz="1200" dirty="0"/>
          </a:p>
        </p:txBody>
      </p:sp>
      <p:sp>
        <p:nvSpPr>
          <p:cNvPr id="8" name="Skill card 2"/>
          <p:cNvSpPr/>
          <p:nvPr/>
        </p:nvSpPr>
        <p:spPr>
          <a:xfrm>
            <a:off x="3523412" y="1965960"/>
            <a:ext cx="2435276" cy="1874520"/>
          </a:xfrm>
          <a:prstGeom prst="roundRect">
            <a:avLst>
              <a:gd name="adj" fmla="val 5854"/>
            </a:avLst>
          </a:prstGeom>
          <a:solidFill>
            <a:srgbClr val="FBF8F1"/>
          </a:solidFill>
          <a:ln w="9525">
            <a:solidFill>
              <a:srgbClr val="DCD2BE"/>
            </a:solidFill>
            <a:prstDash val="solid"/>
          </a:ln>
        </p:spPr>
      </p:sp>
      <p:sp>
        <p:nvSpPr>
          <p:cNvPr id="9" name="Text 7"/>
          <p:cNvSpPr txBox="1"/>
          <p:nvPr/>
        </p:nvSpPr>
        <p:spPr>
          <a:xfrm>
            <a:off x="3752012" y="214884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a:t>
            </a:r>
            <a:endParaRPr lang="en-US" sz="2600" dirty="0"/>
          </a:p>
        </p:txBody>
      </p:sp>
      <p:sp>
        <p:nvSpPr>
          <p:cNvPr id="10" name="Skill 2"/>
          <p:cNvSpPr txBox="1"/>
          <p:nvPr/>
        </p:nvSpPr>
        <p:spPr>
          <a:xfrm>
            <a:off x="3752012" y="2624328"/>
            <a:ext cx="1978076" cy="685800"/>
          </a:xfrm>
          <a:prstGeom prst="rect">
            <a:avLst/>
          </a:prstGeom>
          <a:noFill/>
          <a:ln/>
        </p:spPr>
        <p:txBody>
          <a:bodyPr wrap="square" lIns="0" tIns="0" rIns="0" bIns="0" rtlCol="0" anchor="t"/>
          <a:lstStyle/>
          <a:p>
            <a:pPr indent="0" marL="0">
              <a:buNone/>
            </a:pPr>
            <a:r>
              <a:rPr lang="en-US" sz="1600" b="1" dirty="0">
                <a:solidFill>
                  <a:schemeClr val="tx1"/>
                </a:solidFill>
              </a:rPr>
              <a:t>Inspect it</a:t>
            </a:r>
            <a:endParaRPr lang="en-US" sz="1600" dirty="0"/>
          </a:p>
        </p:txBody>
      </p:sp>
      <p:sp>
        <p:nvSpPr>
          <p:cNvPr id="11" name="Text 9"/>
          <p:cNvSpPr txBox="1"/>
          <p:nvPr/>
        </p:nvSpPr>
        <p:spPr>
          <a:xfrm>
            <a:off x="3752012" y="333756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df.shape, df.dtypes</a:t>
            </a:r>
            <a:endParaRPr lang="en-US" sz="1200" dirty="0"/>
          </a:p>
        </p:txBody>
      </p:sp>
      <p:sp>
        <p:nvSpPr>
          <p:cNvPr id="12" name="Skill card 3"/>
          <p:cNvSpPr/>
          <p:nvPr/>
        </p:nvSpPr>
        <p:spPr>
          <a:xfrm>
            <a:off x="6233008" y="1965960"/>
            <a:ext cx="2435276" cy="1874520"/>
          </a:xfrm>
          <a:prstGeom prst="roundRect">
            <a:avLst>
              <a:gd name="adj" fmla="val 5854"/>
            </a:avLst>
          </a:prstGeom>
          <a:solidFill>
            <a:srgbClr val="FBF8F1"/>
          </a:solidFill>
          <a:ln w="9525">
            <a:solidFill>
              <a:srgbClr val="DCD2BE"/>
            </a:solidFill>
            <a:prstDash val="solid"/>
          </a:ln>
        </p:spPr>
      </p:sp>
      <p:sp>
        <p:nvSpPr>
          <p:cNvPr id="13" name="Text 11"/>
          <p:cNvSpPr txBox="1"/>
          <p:nvPr/>
        </p:nvSpPr>
        <p:spPr>
          <a:xfrm>
            <a:off x="6461608" y="214884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3</a:t>
            </a:r>
            <a:endParaRPr lang="en-US" sz="2600" dirty="0"/>
          </a:p>
        </p:txBody>
      </p:sp>
      <p:sp>
        <p:nvSpPr>
          <p:cNvPr id="14" name="Skill 3"/>
          <p:cNvSpPr txBox="1"/>
          <p:nvPr/>
        </p:nvSpPr>
        <p:spPr>
          <a:xfrm>
            <a:off x="6461608" y="2624328"/>
            <a:ext cx="1978076" cy="685800"/>
          </a:xfrm>
          <a:prstGeom prst="rect">
            <a:avLst/>
          </a:prstGeom>
          <a:noFill/>
          <a:ln/>
        </p:spPr>
        <p:txBody>
          <a:bodyPr wrap="square" lIns="0" tIns="0" rIns="0" bIns="0" rtlCol="0" anchor="t"/>
          <a:lstStyle/>
          <a:p>
            <a:pPr indent="0" marL="0">
              <a:buNone/>
            </a:pPr>
            <a:r>
              <a:rPr lang="en-US" sz="1600" b="1" dirty="0">
                <a:solidFill>
                  <a:schemeClr val="tx1"/>
                </a:solidFill>
              </a:rPr>
              <a:t>Select columns and rows</a:t>
            </a:r>
            <a:endParaRPr lang="en-US" sz="1600" dirty="0"/>
          </a:p>
        </p:txBody>
      </p:sp>
      <p:sp>
        <p:nvSpPr>
          <p:cNvPr id="15" name="Text 13"/>
          <p:cNvSpPr txBox="1"/>
          <p:nvPr/>
        </p:nvSpPr>
        <p:spPr>
          <a:xfrm>
            <a:off x="6461608" y="333756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df["col"], df.loc[2]</a:t>
            </a:r>
            <a:endParaRPr lang="en-US" sz="1200" dirty="0"/>
          </a:p>
        </p:txBody>
      </p:sp>
      <p:sp>
        <p:nvSpPr>
          <p:cNvPr id="16" name="Skill card 4"/>
          <p:cNvSpPr/>
          <p:nvPr/>
        </p:nvSpPr>
        <p:spPr>
          <a:xfrm>
            <a:off x="8942603" y="1965960"/>
            <a:ext cx="2435276" cy="1874520"/>
          </a:xfrm>
          <a:prstGeom prst="roundRect">
            <a:avLst>
              <a:gd name="adj" fmla="val 5854"/>
            </a:avLst>
          </a:prstGeom>
          <a:solidFill>
            <a:srgbClr val="FBF8F1"/>
          </a:solidFill>
          <a:ln w="9525">
            <a:solidFill>
              <a:srgbClr val="DCD2BE"/>
            </a:solidFill>
            <a:prstDash val="solid"/>
          </a:ln>
        </p:spPr>
      </p:sp>
      <p:sp>
        <p:nvSpPr>
          <p:cNvPr id="17" name="Text 15"/>
          <p:cNvSpPr txBox="1"/>
          <p:nvPr/>
        </p:nvSpPr>
        <p:spPr>
          <a:xfrm>
            <a:off x="9171203" y="214884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a:t>
            </a:r>
            <a:endParaRPr lang="en-US" sz="2600" dirty="0"/>
          </a:p>
        </p:txBody>
      </p:sp>
      <p:sp>
        <p:nvSpPr>
          <p:cNvPr id="18" name="Skill 4"/>
          <p:cNvSpPr txBox="1"/>
          <p:nvPr/>
        </p:nvSpPr>
        <p:spPr>
          <a:xfrm>
            <a:off x="9171203" y="2624328"/>
            <a:ext cx="1978076" cy="685800"/>
          </a:xfrm>
          <a:prstGeom prst="rect">
            <a:avLst/>
          </a:prstGeom>
          <a:noFill/>
          <a:ln/>
        </p:spPr>
        <p:txBody>
          <a:bodyPr wrap="square" lIns="0" tIns="0" rIns="0" bIns="0" rtlCol="0" anchor="t"/>
          <a:lstStyle/>
          <a:p>
            <a:pPr indent="0" marL="0">
              <a:buNone/>
            </a:pPr>
            <a:r>
              <a:rPr lang="en-US" sz="1600" b="1" dirty="0">
                <a:solidFill>
                  <a:schemeClr val="tx1"/>
                </a:solidFill>
              </a:rPr>
              <a:t>Filter rows</a:t>
            </a:r>
            <a:endParaRPr lang="en-US" sz="1600" dirty="0"/>
          </a:p>
        </p:txBody>
      </p:sp>
      <p:sp>
        <p:nvSpPr>
          <p:cNvPr id="19" name="Text 17"/>
          <p:cNvSpPr txBox="1"/>
          <p:nvPr/>
        </p:nvSpPr>
        <p:spPr>
          <a:xfrm>
            <a:off x="9171203" y="333756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df[df["col"] == x]</a:t>
            </a:r>
            <a:endParaRPr lang="en-US" sz="1200" dirty="0"/>
          </a:p>
        </p:txBody>
      </p:sp>
      <p:sp>
        <p:nvSpPr>
          <p:cNvPr id="20" name="Skill card 5"/>
          <p:cNvSpPr/>
          <p:nvPr/>
        </p:nvSpPr>
        <p:spPr>
          <a:xfrm>
            <a:off x="813816" y="4114800"/>
            <a:ext cx="2435276" cy="1874520"/>
          </a:xfrm>
          <a:prstGeom prst="roundRect">
            <a:avLst>
              <a:gd name="adj" fmla="val 5854"/>
            </a:avLst>
          </a:prstGeom>
          <a:solidFill>
            <a:srgbClr val="FBF8F1"/>
          </a:solidFill>
          <a:ln w="9525">
            <a:solidFill>
              <a:srgbClr val="DCD2BE"/>
            </a:solidFill>
            <a:prstDash val="solid"/>
          </a:ln>
        </p:spPr>
      </p:sp>
      <p:sp>
        <p:nvSpPr>
          <p:cNvPr id="21" name="Text 19"/>
          <p:cNvSpPr txBox="1"/>
          <p:nvPr/>
        </p:nvSpPr>
        <p:spPr>
          <a:xfrm>
            <a:off x="1042416" y="429768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5</a:t>
            </a:r>
            <a:endParaRPr lang="en-US" sz="2600" dirty="0"/>
          </a:p>
        </p:txBody>
      </p:sp>
      <p:sp>
        <p:nvSpPr>
          <p:cNvPr id="22" name="Skill 5"/>
          <p:cNvSpPr txBox="1"/>
          <p:nvPr/>
        </p:nvSpPr>
        <p:spPr>
          <a:xfrm>
            <a:off x="1042416" y="4773168"/>
            <a:ext cx="1978076" cy="685800"/>
          </a:xfrm>
          <a:prstGeom prst="rect">
            <a:avLst/>
          </a:prstGeom>
          <a:noFill/>
          <a:ln/>
        </p:spPr>
        <p:txBody>
          <a:bodyPr wrap="square" lIns="0" tIns="0" rIns="0" bIns="0" rtlCol="0" anchor="t"/>
          <a:lstStyle/>
          <a:p>
            <a:pPr indent="0" marL="0">
              <a:buNone/>
            </a:pPr>
            <a:r>
              <a:rPr lang="en-US" sz="1600" b="1" dirty="0">
                <a:solidFill>
                  <a:schemeClr val="tx1"/>
                </a:solidFill>
              </a:rPr>
              <a:t>Find missing values</a:t>
            </a:r>
            <a:endParaRPr lang="en-US" sz="1600" dirty="0"/>
          </a:p>
        </p:txBody>
      </p:sp>
      <p:sp>
        <p:nvSpPr>
          <p:cNvPr id="23" name="Text 21"/>
          <p:cNvSpPr txBox="1"/>
          <p:nvPr/>
        </p:nvSpPr>
        <p:spPr>
          <a:xfrm>
            <a:off x="1042416" y="548640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df.isna().sum()</a:t>
            </a:r>
            <a:endParaRPr lang="en-US" sz="1200" dirty="0"/>
          </a:p>
        </p:txBody>
      </p:sp>
      <p:sp>
        <p:nvSpPr>
          <p:cNvPr id="24" name="Skill card 6"/>
          <p:cNvSpPr/>
          <p:nvPr/>
        </p:nvSpPr>
        <p:spPr>
          <a:xfrm>
            <a:off x="3523412" y="4114800"/>
            <a:ext cx="2435276" cy="1874520"/>
          </a:xfrm>
          <a:prstGeom prst="roundRect">
            <a:avLst>
              <a:gd name="adj" fmla="val 5854"/>
            </a:avLst>
          </a:prstGeom>
          <a:solidFill>
            <a:srgbClr val="FBF8F1"/>
          </a:solidFill>
          <a:ln w="9525">
            <a:solidFill>
              <a:srgbClr val="DCD2BE"/>
            </a:solidFill>
            <a:prstDash val="solid"/>
          </a:ln>
        </p:spPr>
      </p:sp>
      <p:sp>
        <p:nvSpPr>
          <p:cNvPr id="25" name="Text 23"/>
          <p:cNvSpPr txBox="1"/>
          <p:nvPr/>
        </p:nvSpPr>
        <p:spPr>
          <a:xfrm>
            <a:off x="3752012" y="429768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a:t>
            </a:r>
            <a:endParaRPr lang="en-US" sz="2600" dirty="0"/>
          </a:p>
        </p:txBody>
      </p:sp>
      <p:sp>
        <p:nvSpPr>
          <p:cNvPr id="26" name="Skill 6"/>
          <p:cNvSpPr txBox="1"/>
          <p:nvPr/>
        </p:nvSpPr>
        <p:spPr>
          <a:xfrm>
            <a:off x="3752012" y="4773168"/>
            <a:ext cx="1978076" cy="685800"/>
          </a:xfrm>
          <a:prstGeom prst="rect">
            <a:avLst/>
          </a:prstGeom>
          <a:noFill/>
          <a:ln/>
        </p:spPr>
        <p:txBody>
          <a:bodyPr wrap="square" lIns="0" tIns="0" rIns="0" bIns="0" rtlCol="0" anchor="t"/>
          <a:lstStyle/>
          <a:p>
            <a:pPr indent="0" marL="0">
              <a:buNone/>
            </a:pPr>
            <a:r>
              <a:rPr lang="en-US" sz="1600" b="1" dirty="0">
                <a:solidFill>
                  <a:schemeClr val="tx1"/>
                </a:solidFill>
              </a:rPr>
              <a:t>Sort and add columns</a:t>
            </a:r>
            <a:endParaRPr lang="en-US" sz="1600" dirty="0"/>
          </a:p>
        </p:txBody>
      </p:sp>
      <p:sp>
        <p:nvSpPr>
          <p:cNvPr id="27" name="Text 25"/>
          <p:cNvSpPr txBox="1"/>
          <p:nvPr/>
        </p:nvSpPr>
        <p:spPr>
          <a:xfrm>
            <a:off x="3752012" y="548640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sort_values()</a:t>
            </a:r>
            <a:endParaRPr lang="en-US" sz="1200" dirty="0"/>
          </a:p>
        </p:txBody>
      </p:sp>
      <p:sp>
        <p:nvSpPr>
          <p:cNvPr id="28" name="Skill card 7"/>
          <p:cNvSpPr/>
          <p:nvPr/>
        </p:nvSpPr>
        <p:spPr>
          <a:xfrm>
            <a:off x="6233008" y="4114800"/>
            <a:ext cx="2435276" cy="1874520"/>
          </a:xfrm>
          <a:prstGeom prst="roundRect">
            <a:avLst>
              <a:gd name="adj" fmla="val 5854"/>
            </a:avLst>
          </a:prstGeom>
          <a:solidFill>
            <a:srgbClr val="FBF8F1"/>
          </a:solidFill>
          <a:ln w="9525">
            <a:solidFill>
              <a:srgbClr val="DCD2BE"/>
            </a:solidFill>
            <a:prstDash val="solid"/>
          </a:ln>
        </p:spPr>
      </p:sp>
      <p:sp>
        <p:nvSpPr>
          <p:cNvPr id="29" name="Text 27"/>
          <p:cNvSpPr txBox="1"/>
          <p:nvPr/>
        </p:nvSpPr>
        <p:spPr>
          <a:xfrm>
            <a:off x="6461608" y="429768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7</a:t>
            </a:r>
            <a:endParaRPr lang="en-US" sz="2600" dirty="0"/>
          </a:p>
        </p:txBody>
      </p:sp>
      <p:sp>
        <p:nvSpPr>
          <p:cNvPr id="30" name="Skill 7"/>
          <p:cNvSpPr txBox="1"/>
          <p:nvPr/>
        </p:nvSpPr>
        <p:spPr>
          <a:xfrm>
            <a:off x="6461608" y="4773168"/>
            <a:ext cx="1978076" cy="685800"/>
          </a:xfrm>
          <a:prstGeom prst="rect">
            <a:avLst/>
          </a:prstGeom>
          <a:noFill/>
          <a:ln/>
        </p:spPr>
        <p:txBody>
          <a:bodyPr wrap="square" lIns="0" tIns="0" rIns="0" bIns="0" rtlCol="0" anchor="t"/>
          <a:lstStyle/>
          <a:p>
            <a:pPr indent="0" marL="0">
              <a:buNone/>
            </a:pPr>
            <a:r>
              <a:rPr lang="en-US" sz="1600" b="1" dirty="0">
                <a:solidFill>
                  <a:schemeClr val="tx1"/>
                </a:solidFill>
              </a:rPr>
              <a:t>Group and count</a:t>
            </a:r>
            <a:endParaRPr lang="en-US" sz="1600" dirty="0"/>
          </a:p>
        </p:txBody>
      </p:sp>
      <p:sp>
        <p:nvSpPr>
          <p:cNvPr id="31" name="Text 29"/>
          <p:cNvSpPr txBox="1"/>
          <p:nvPr/>
        </p:nvSpPr>
        <p:spPr>
          <a:xfrm>
            <a:off x="6461608" y="548640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groupby().count()</a:t>
            </a:r>
            <a:endParaRPr lang="en-US" sz="1200" dirty="0"/>
          </a:p>
        </p:txBody>
      </p:sp>
      <p:sp>
        <p:nvSpPr>
          <p:cNvPr id="32" name="Skill card 8"/>
          <p:cNvSpPr/>
          <p:nvPr/>
        </p:nvSpPr>
        <p:spPr>
          <a:xfrm>
            <a:off x="8942603" y="4114800"/>
            <a:ext cx="2435276" cy="1874520"/>
          </a:xfrm>
          <a:prstGeom prst="roundRect">
            <a:avLst>
              <a:gd name="adj" fmla="val 5854"/>
            </a:avLst>
          </a:prstGeom>
          <a:solidFill>
            <a:srgbClr val="FBF8F1"/>
          </a:solidFill>
          <a:ln w="9525">
            <a:solidFill>
              <a:srgbClr val="DCD2BE"/>
            </a:solidFill>
            <a:prstDash val="solid"/>
          </a:ln>
        </p:spPr>
      </p:sp>
      <p:sp>
        <p:nvSpPr>
          <p:cNvPr id="33" name="Text 31"/>
          <p:cNvSpPr txBox="1"/>
          <p:nvPr/>
        </p:nvSpPr>
        <p:spPr>
          <a:xfrm>
            <a:off x="9171203" y="4297680"/>
            <a:ext cx="91440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8</a:t>
            </a:r>
            <a:endParaRPr lang="en-US" sz="2600" dirty="0"/>
          </a:p>
        </p:txBody>
      </p:sp>
      <p:sp>
        <p:nvSpPr>
          <p:cNvPr id="34" name="Skill 8"/>
          <p:cNvSpPr txBox="1"/>
          <p:nvPr/>
        </p:nvSpPr>
        <p:spPr>
          <a:xfrm>
            <a:off x="9171203" y="4773168"/>
            <a:ext cx="1978076" cy="685800"/>
          </a:xfrm>
          <a:prstGeom prst="rect">
            <a:avLst/>
          </a:prstGeom>
          <a:noFill/>
          <a:ln/>
        </p:spPr>
        <p:txBody>
          <a:bodyPr wrap="square" lIns="0" tIns="0" rIns="0" bIns="0" rtlCol="0" anchor="t"/>
          <a:lstStyle/>
          <a:p>
            <a:pPr indent="0" marL="0">
              <a:buNone/>
            </a:pPr>
            <a:r>
              <a:rPr lang="en-US" sz="1600" b="1" dirty="0">
                <a:solidFill>
                  <a:schemeClr val="tx1"/>
                </a:solidFill>
              </a:rPr>
              <a:t>Plot and map</a:t>
            </a:r>
            <a:endParaRPr lang="en-US" sz="1600" dirty="0"/>
          </a:p>
        </p:txBody>
      </p:sp>
      <p:sp>
        <p:nvSpPr>
          <p:cNvPr id="35" name="Text 33"/>
          <p:cNvSpPr txBox="1"/>
          <p:nvPr/>
        </p:nvSpPr>
        <p:spPr>
          <a:xfrm>
            <a:off x="9171203" y="5486400"/>
            <a:ext cx="2069516" cy="32004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barh(), line_geo()</a:t>
            </a:r>
            <a:endParaRPr lang="en-US" sz="12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1 · CREATING A DATAFRAME</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A dictionary becomes a table</a:t>
            </a:r>
            <a:endParaRPr lang="en-US" sz="3400" dirty="0"/>
          </a:p>
        </p:txBody>
      </p:sp>
      <p:sp>
        <p:nvSpPr>
          <p:cNvPr id="4" name="Create code panel"/>
          <p:cNvSpPr/>
          <p:nvPr/>
        </p:nvSpPr>
        <p:spPr>
          <a:xfrm>
            <a:off x="813816" y="1965960"/>
            <a:ext cx="5989320" cy="1828800"/>
          </a:xfrm>
          <a:prstGeom prst="roundRect">
            <a:avLst>
              <a:gd name="adj" fmla="val 6000"/>
            </a:avLst>
          </a:prstGeom>
          <a:solidFill>
            <a:schemeClr val="tx1"/>
          </a:solidFill>
          <a:ln w="12700">
            <a:solidFill>
              <a:schemeClr val="tx1"/>
            </a:solidFill>
            <a:prstDash val="solid"/>
          </a:ln>
        </p:spPr>
      </p:sp>
      <p:sp>
        <p:nvSpPr>
          <p:cNvPr id="5" name="Create code"/>
          <p:cNvSpPr txBox="1"/>
          <p:nvPr/>
        </p:nvSpPr>
        <p:spPr>
          <a:xfrm>
            <a:off x="1042416" y="1965960"/>
            <a:ext cx="5532120" cy="1828800"/>
          </a:xfrm>
          <a:prstGeom prst="rect">
            <a:avLst/>
          </a:prstGeom>
          <a:noFill/>
          <a:ln/>
        </p:spPr>
        <p:txBody>
          <a:bodyPr wrap="square" lIns="0" tIns="0" rIns="0" bIns="0" rtlCol="0" anchor="ctr"/>
          <a:lstStyle/>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VOYAGES = pandas.DataFrame({</a:t>
            </a:r>
            <a:endParaRPr lang="en-US" sz="1200" dirty="0"/>
          </a:p>
          <a:p>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  "voyage"</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[1, 2, 3, 4],</a:t>
            </a:r>
            <a:endParaRPr lang="en-US" sz="1200" dirty="0"/>
          </a:p>
          <a:p>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  "depart_port"</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"Palos"</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"Cadiz"</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"Sanlucar"</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"Cadiz"</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  "num_ships"</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[3, 17, 6, 4],</a:t>
            </a:r>
            <a:endParaRPr lang="en-US" sz="1200" dirty="0"/>
          </a:p>
          <a:p>
            <a:pPr indent="0" marL="0">
              <a:lnSpc>
                <a:spcPct val="120000"/>
              </a:lnSpc>
              <a:buNone/>
            </a:pPr>
            <a:r>
              <a:rPr lang="en-US" sz="1200" dirty="0">
                <a:solidFill>
                  <a:srgbClr val="9FB0CC"/>
                </a:solidFill>
                <a:latin typeface="Courier New" pitchFamily="34" charset="0"/>
                <a:ea typeface="Courier New" pitchFamily="34" charset="-122"/>
                <a:cs typeface="Courier New" pitchFamily="34" charset="-120"/>
              </a:rPr>
              <a:t>  # ... depart_date, return_date, first_landfall</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p:txBody>
      </p:sp>
      <p:graphicFrame>
        <p:nvGraphicFramePr>
          <p:cNvPr id="5" name="VOYAGES table"/>
          <p:cNvGraphicFramePr>
            <a:graphicFrameLocks noGrp="1"/>
          </p:cNvGraphicFramePr>
          <p:nvPr>
            <p:extLst>
              <p:ext uri="{D42A27DB-BD31-4B8C-83A1-F6EECF244321}">
                <p14:modId xmlns:p14="http://schemas.microsoft.com/office/powerpoint/2010/main" val="1579011935"/>
              </p:ext>
            </p:extLst>
          </p:nvPr>
        </p:nvGraphicFramePr>
        <p:xfrm>
          <a:off x="7077456" y="1965960"/>
          <a:ext cx="4300423" cy="914400"/>
        </p:xfrm>
        <a:graphic>
          <a:graphicData uri="http://schemas.openxmlformats.org/drawingml/2006/table">
            <a:tbl>
              <a:tblPr/>
              <a:tblGrid>
                <a:gridCol w="548640"/>
                <a:gridCol w="960120"/>
                <a:gridCol w="1600200"/>
                <a:gridCol w="1191463"/>
              </a:tblGrid>
              <a:tr h="384048">
                <a:tc>
                  <a:txBody>
                    <a:bodyPr/>
                    <a:lstStyle/>
                    <a:p>
                      <a:pPr indent="0" marL="0">
                        <a:buNone/>
                      </a:pP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voyage</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depart_port</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latin typeface="Courier New" pitchFamily="34" charset="0"/>
                          <a:ea typeface="Courier New" pitchFamily="34" charset="-122"/>
                          <a:cs typeface="Courier New" pitchFamily="34" charset="-120"/>
                        </a:rPr>
                        <a:t>num_ships</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Palos</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8404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1</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Cadiz</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17</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8404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Sanlucar</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6</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84048">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3</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Cadiz</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4</a:t>
                      </a:r>
                      <a:endParaRPr lang="en-US" sz="13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7" name="Create points"/>
          <p:cNvSpPr txBox="1"/>
          <p:nvPr/>
        </p:nvSpPr>
        <p:spPr>
          <a:xfrm>
            <a:off x="7077456" y="4206240"/>
            <a:ext cx="4300423"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2"/>
                </a:solidFill>
              </a:rPr>
              <a:t>Each </a:t>
            </a:r>
            <a:pPr indent="0" marL="0">
              <a:spcAft>
                <a:spcPts val="600"/>
              </a:spcAft>
              <a:buNone/>
            </a:pPr>
            <a:r>
              <a:rPr lang="en-US" sz="1600" b="1" dirty="0">
                <a:solidFill>
                  <a:schemeClr val="tx2"/>
                </a:solidFill>
              </a:rPr>
              <a:t>key</a:t>
            </a:r>
            <a:pPr indent="0" marL="0">
              <a:spcAft>
                <a:spcPts val="600"/>
              </a:spcAft>
              <a:buNone/>
            </a:pPr>
            <a:r>
              <a:rPr lang="en-US" sz="1600" dirty="0">
                <a:solidFill>
                  <a:schemeClr val="tx2"/>
                </a:solidFill>
              </a:rPr>
              <a:t> becomes a column label.</a:t>
            </a:r>
            <a:endParaRPr lang="en-US" sz="1600" dirty="0"/>
          </a:p>
          <a:p>
            <a:pPr marL="342900" indent="-342900">
              <a:spcAft>
                <a:spcPts val="600"/>
              </a:spcAft>
              <a:buSzPct val="100000"/>
              <a:buChar char="•"/>
            </a:pPr>
            <a:r>
              <a:rPr lang="en-US" sz="1600" dirty="0">
                <a:solidFill>
                  <a:schemeClr val="tx2"/>
                </a:solidFill>
              </a:rPr>
              <a:t>Each </a:t>
            </a:r>
            <a:pPr indent="0" marL="0">
              <a:spcAft>
                <a:spcPts val="600"/>
              </a:spcAft>
              <a:buNone/>
            </a:pPr>
            <a:r>
              <a:rPr lang="en-US" sz="1600" b="1" dirty="0">
                <a:solidFill>
                  <a:schemeClr val="tx2"/>
                </a:solidFill>
              </a:rPr>
              <a:t>list</a:t>
            </a:r>
            <a:pPr indent="0" marL="0">
              <a:spcAft>
                <a:spcPts val="600"/>
              </a:spcAft>
              <a:buNone/>
            </a:pPr>
            <a:r>
              <a:rPr lang="en-US" sz="1600" dirty="0">
                <a:solidFill>
                  <a:schemeClr val="tx2"/>
                </a:solidFill>
              </a:rPr>
              <a:t> holds one value per row.</a:t>
            </a:r>
            <a:endParaRPr lang="en-US" sz="1600" dirty="0"/>
          </a:p>
          <a:p>
            <a:pPr marL="342900" indent="-342900">
              <a:spcAft>
                <a:spcPts val="600"/>
              </a:spcAft>
              <a:buSzPct val="100000"/>
              <a:buChar char="•"/>
            </a:pPr>
            <a:r>
              <a:rPr lang="en-US" sz="1600" dirty="0">
                <a:solidFill>
                  <a:schemeClr val="tx2"/>
                </a:solidFill>
              </a:rPr>
              <a:t>pandas adds the </a:t>
            </a:r>
            <a:pPr indent="0" marL="0">
              <a:spcAft>
                <a:spcPts val="600"/>
              </a:spcAft>
              <a:buNone/>
            </a:pPr>
            <a:r>
              <a:rPr lang="en-US" sz="1600" b="1" dirty="0">
                <a:solidFill>
                  <a:schemeClr val="tx2"/>
                </a:solidFill>
              </a:rPr>
              <a:t>index</a:t>
            </a:r>
            <a:pPr indent="0" marL="0">
              <a:spcAft>
                <a:spcPts val="600"/>
              </a:spcAft>
              <a:buNone/>
            </a:pPr>
            <a:r>
              <a:rPr lang="en-US" sz="1600" dirty="0">
                <a:solidFill>
                  <a:schemeClr val="tx2"/>
                </a:solidFill>
              </a:rPr>
              <a:t> 0, 1, 2, 3 (in orange).</a:t>
            </a:r>
            <a:endParaRPr lang="en-US" sz="16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2 · INSPECTING</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Five things to check on any new table</a:t>
            </a:r>
            <a:endParaRPr lang="en-US" sz="3400" dirty="0"/>
          </a:p>
        </p:txBody>
      </p:sp>
      <p:graphicFrame>
        <p:nvGraphicFramePr>
          <p:cNvPr id="6" name="Inspect table"/>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2651760"/>
                <a:gridCol w="4526280"/>
                <a:gridCol w="3386023"/>
              </a:tblGrid>
              <a:tr h="438912">
                <a:tc>
                  <a:txBody>
                    <a:bodyPr/>
                    <a:lstStyle/>
                    <a:p>
                      <a:pPr indent="0" marL="0">
                        <a:buNone/>
                      </a:pPr>
                      <a:r>
                        <a:rPr lang="en-US" sz="1500" b="1" dirty="0">
                          <a:solidFill>
                            <a:schemeClr val="tx1"/>
                          </a:solidFill>
                        </a:rPr>
                        <a:t>Code</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What it tells you</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For VOYAGES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438912">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df.head()</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The first rows (5 by default)</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All 4 voyages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df.shape</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(rows, columns)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(4, 6)</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df.columns</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The column labels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voyage, depart_date, …</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df.dtypes</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The data type of each column</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Dates are stored as text</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df.info()</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All of the above, plus missing values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No missing values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5" name="Dates warning card"/>
          <p:cNvSpPr/>
          <p:nvPr/>
        </p:nvSpPr>
        <p:spPr>
          <a:xfrm>
            <a:off x="813816" y="4937760"/>
            <a:ext cx="10564063" cy="868680"/>
          </a:xfrm>
          <a:prstGeom prst="roundRect">
            <a:avLst>
              <a:gd name="adj" fmla="val 12632"/>
            </a:avLst>
          </a:prstGeom>
          <a:solidFill>
            <a:srgbClr val="FBF8F1"/>
          </a:solidFill>
          <a:ln w="9525">
            <a:solidFill>
              <a:srgbClr val="DCD2BE"/>
            </a:solidFill>
            <a:prstDash val="solid"/>
          </a:ln>
        </p:spPr>
      </p:sp>
      <p:sp>
        <p:nvSpPr>
          <p:cNvPr id="6" name="Dates warning badge"/>
          <p:cNvSpPr/>
          <p:nvPr/>
        </p:nvSpPr>
        <p:spPr>
          <a:xfrm>
            <a:off x="1042416" y="5189220"/>
            <a:ext cx="365760" cy="365760"/>
          </a:xfrm>
          <a:prstGeom prst="ellipse">
            <a:avLst/>
          </a:prstGeom>
          <a:solidFill>
            <a:schemeClr val="accent1"/>
          </a:solidFill>
          <a:ln w="12700">
            <a:solidFill>
              <a:schemeClr val="accent1"/>
            </a:solidFill>
            <a:prstDash val="solid"/>
          </a:ln>
        </p:spPr>
      </p:sp>
      <p:sp>
        <p:nvSpPr>
          <p:cNvPr id="7" name="Text 4"/>
          <p:cNvSpPr txBox="1"/>
          <p:nvPr/>
        </p:nvSpPr>
        <p:spPr>
          <a:xfrm>
            <a:off x="1042416" y="518922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Dates warning"/>
          <p:cNvSpPr txBox="1"/>
          <p:nvPr/>
        </p:nvSpPr>
        <p:spPr>
          <a:xfrm>
            <a:off x="1591056" y="4937760"/>
            <a:ext cx="9558223" cy="868680"/>
          </a:xfrm>
          <a:prstGeom prst="rect">
            <a:avLst/>
          </a:prstGeom>
          <a:noFill/>
          <a:ln/>
        </p:spPr>
        <p:txBody>
          <a:bodyPr wrap="square" lIns="0" tIns="0" rIns="0" bIns="0" rtlCol="0" anchor="ctr"/>
          <a:lstStyle/>
          <a:p>
            <a:pPr indent="0" marL="0">
              <a:buNone/>
            </a:pPr>
            <a:r>
              <a:rPr lang="en-US" sz="1500" b="1" dirty="0">
                <a:solidFill>
                  <a:schemeClr val="tx2"/>
                </a:solidFill>
              </a:rPr>
              <a:t>Watch the dates: </a:t>
            </a:r>
            <a:pPr indent="0" marL="0">
              <a:buNone/>
            </a:pPr>
            <a:r>
              <a:rPr lang="en-US" sz="1500" dirty="0">
                <a:solidFill>
                  <a:schemeClr val="tx2"/>
                </a:solidFill>
              </a:rPr>
              <a:t>stored as text, they can't be subtracted to get a voyage's length. We fix this in Section 5.</a:t>
            </a:r>
            <a:endParaRPr lang="en-US" sz="15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3 · SELECTING</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Picking columns and rows</a:t>
            </a:r>
            <a:endParaRPr lang="en-US" sz="3400" dirty="0"/>
          </a:p>
        </p:txBody>
      </p:sp>
      <p:graphicFrame>
        <p:nvGraphicFramePr>
          <p:cNvPr id="7" name="Select table"/>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4023360"/>
                <a:gridCol w="3566160"/>
                <a:gridCol w="2974543"/>
              </a:tblGrid>
              <a:tr h="457200">
                <a:tc>
                  <a:txBody>
                    <a:bodyPr/>
                    <a:lstStyle/>
                    <a:p>
                      <a:pPr indent="0" marL="0">
                        <a:buNone/>
                      </a:pPr>
                      <a:r>
                        <a:rPr lang="en-US" sz="1500" b="1" dirty="0">
                          <a:solidFill>
                            <a:schemeClr val="tx1"/>
                          </a:solidFill>
                        </a:rPr>
                        <a:t>Code</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Selects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1"/>
                          </a:solidFill>
                        </a:rPr>
                        <a:t>Returns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457200">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df["depart_port"]</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One column</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 Series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df[["voyage", "num_ships"]]</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Several columns</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 DataFrame</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df.loc[2]</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The row with label 2</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 Series (one row)</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57200">
                <a:tc>
                  <a:txBody>
                    <a:bodyPr/>
                    <a:lstStyle/>
                    <a:p>
                      <a:pPr indent="0" marL="0">
                        <a:buNone/>
                      </a:pPr>
                      <a:r>
                        <a:rPr lang="en-US" sz="1500" dirty="0">
                          <a:solidFill>
                            <a:schemeClr val="tx1"/>
                          </a:solidFill>
                          <a:latin typeface="Courier New" pitchFamily="34" charset="0"/>
                          <a:ea typeface="Courier New" pitchFamily="34" charset="-122"/>
                          <a:cs typeface="Courier New" pitchFamily="34" charset="-120"/>
                        </a:rPr>
                        <a:t>df.iloc[0]</a:t>
                      </a:r>
                      <a:endParaRPr lang="en-US" sz="15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The first row, by position</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500" dirty="0">
                          <a:solidFill>
                            <a:schemeClr val="tx1"/>
                          </a:solidFill>
                        </a:rPr>
                        <a:t>A Series (one row)</a:t>
                      </a:r>
                      <a:endParaRPr lang="en-US" sz="15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5" name="Brackets tip card"/>
          <p:cNvSpPr/>
          <p:nvPr/>
        </p:nvSpPr>
        <p:spPr>
          <a:xfrm>
            <a:off x="813816" y="4617720"/>
            <a:ext cx="10564063" cy="868680"/>
          </a:xfrm>
          <a:prstGeom prst="roundRect">
            <a:avLst>
              <a:gd name="adj" fmla="val 12632"/>
            </a:avLst>
          </a:prstGeom>
          <a:solidFill>
            <a:srgbClr val="FBF8F1"/>
          </a:solidFill>
          <a:ln w="9525">
            <a:solidFill>
              <a:srgbClr val="DCD2BE"/>
            </a:solidFill>
            <a:prstDash val="solid"/>
          </a:ln>
        </p:spPr>
      </p:sp>
      <p:sp>
        <p:nvSpPr>
          <p:cNvPr id="6" name="Brackets tip badge"/>
          <p:cNvSpPr/>
          <p:nvPr/>
        </p:nvSpPr>
        <p:spPr>
          <a:xfrm>
            <a:off x="1042416" y="4869180"/>
            <a:ext cx="365760" cy="365760"/>
          </a:xfrm>
          <a:prstGeom prst="ellipse">
            <a:avLst/>
          </a:prstGeom>
          <a:solidFill>
            <a:schemeClr val="accent1"/>
          </a:solidFill>
          <a:ln w="12700">
            <a:solidFill>
              <a:schemeClr val="accent1"/>
            </a:solidFill>
            <a:prstDash val="solid"/>
          </a:ln>
        </p:spPr>
      </p:sp>
      <p:sp>
        <p:nvSpPr>
          <p:cNvPr id="7" name="Text 4"/>
          <p:cNvSpPr txBox="1"/>
          <p:nvPr/>
        </p:nvSpPr>
        <p:spPr>
          <a:xfrm>
            <a:off x="1042416" y="4869180"/>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i</a:t>
            </a:r>
            <a:endParaRPr lang="en-US" sz="1600" dirty="0"/>
          </a:p>
        </p:txBody>
      </p:sp>
      <p:sp>
        <p:nvSpPr>
          <p:cNvPr id="8" name="Brackets tip"/>
          <p:cNvSpPr txBox="1"/>
          <p:nvPr/>
        </p:nvSpPr>
        <p:spPr>
          <a:xfrm>
            <a:off x="1591056" y="4617720"/>
            <a:ext cx="9558223" cy="868680"/>
          </a:xfrm>
          <a:prstGeom prst="rect">
            <a:avLst/>
          </a:prstGeom>
          <a:noFill/>
          <a:ln/>
        </p:spPr>
        <p:txBody>
          <a:bodyPr wrap="square" lIns="0" tIns="0" rIns="0" bIns="0" rtlCol="0" anchor="ctr"/>
          <a:lstStyle/>
          <a:p>
            <a:pPr indent="0" marL="0">
              <a:buNone/>
            </a:pPr>
            <a:r>
              <a:rPr lang="en-US" sz="1500" b="1" dirty="0">
                <a:solidFill>
                  <a:schemeClr val="tx2"/>
                </a:solidFill>
              </a:rPr>
              <a:t>Double brackets </a:t>
            </a:r>
            <a:pPr indent="0" marL="0">
              <a:buNone/>
            </a:pPr>
            <a:r>
              <a:rPr lang="en-US" sz="1500" dirty="0">
                <a:solidFill>
                  <a:schemeClr val="tx2"/>
                </a:solidFill>
              </a:rPr>
              <a:t>select several columns: the inner [ ] is a Python list of column names.</a:t>
            </a:r>
            <a:endParaRPr lang="en-US" sz="15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4 · FILTERING AND MISSING VALUES</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Which ships have a known captain?</a:t>
            </a:r>
            <a:endParaRPr lang="en-US" sz="3400" dirty="0"/>
          </a:p>
        </p:txBody>
      </p:sp>
      <p:sp>
        <p:nvSpPr>
          <p:cNvPr id="4" name="Filter code panel"/>
          <p:cNvSpPr/>
          <p:nvPr/>
        </p:nvSpPr>
        <p:spPr>
          <a:xfrm>
            <a:off x="813816" y="1965960"/>
            <a:ext cx="5120640" cy="2286000"/>
          </a:xfrm>
          <a:prstGeom prst="roundRect">
            <a:avLst>
              <a:gd name="adj" fmla="val 4800"/>
            </a:avLst>
          </a:prstGeom>
          <a:solidFill>
            <a:schemeClr val="tx1"/>
          </a:solidFill>
          <a:ln w="12700">
            <a:solidFill>
              <a:schemeClr val="tx1"/>
            </a:solidFill>
            <a:prstDash val="solid"/>
          </a:ln>
        </p:spPr>
      </p:sp>
      <p:sp>
        <p:nvSpPr>
          <p:cNvPr id="5" name="Filter code"/>
          <p:cNvSpPr txBox="1"/>
          <p:nvPr/>
        </p:nvSpPr>
        <p:spPr>
          <a:xfrm>
            <a:off x="1042416" y="1965960"/>
            <a:ext cx="4663440" cy="2286000"/>
          </a:xfrm>
          <a:prstGeom prst="rect">
            <a:avLst/>
          </a:prstGeom>
          <a:noFill/>
          <a:ln/>
        </p:spPr>
        <p:txBody>
          <a:bodyPr wrap="square" lIns="0" tIns="0" rIns="0" bIns="0" rtlCol="0" anchor="ctr"/>
          <a:lstStyle/>
          <a:p>
            <a:pPr indent="0" marL="0">
              <a:lnSpc>
                <a:spcPct val="120000"/>
              </a:lnSpc>
              <a:buNone/>
            </a:pPr>
            <a:r>
              <a:rPr lang="en-US" sz="1200" dirty="0">
                <a:solidFill>
                  <a:srgbClr val="9FB0CC"/>
                </a:solidFill>
                <a:latin typeface="Courier New" pitchFamily="34" charset="0"/>
                <a:ea typeface="Courier New" pitchFamily="34" charset="-122"/>
                <a:cs typeface="Courier New" pitchFamily="34" charset="-120"/>
              </a:rPr>
              <a:t># keep the rows where the test is True</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SHIPS[SHIPS[</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"ship_type"</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 </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"caravel"</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9FB0CC"/>
                </a:solidFill>
                <a:latin typeface="Courier New" pitchFamily="34" charset="0"/>
                <a:ea typeface="Courier New" pitchFamily="34" charset="-122"/>
                <a:cs typeface="Courier New" pitchFamily="34" charset="-120"/>
              </a:rPr>
              <a:t># count the missing values per column</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SHIPS.isna().sum()</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9FB0CC"/>
                </a:solidFill>
                <a:latin typeface="Courier New" pitchFamily="34" charset="0"/>
                <a:ea typeface="Courier New" pitchFamily="34" charset="-122"/>
                <a:cs typeface="Courier New" pitchFamily="34" charset="-120"/>
              </a:rPr>
              <a:t># ships whose captain is unknown</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SHIPS[SHIPS[</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"captain"</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].isna()]</a:t>
            </a:r>
            <a:endParaRPr lang="en-US" sz="1200" dirty="0"/>
          </a:p>
        </p:txBody>
      </p:sp>
      <p:sp>
        <p:nvSpPr>
          <p:cNvPr id="6" name="Missing note"/>
          <p:cNvSpPr txBox="1"/>
          <p:nvPr/>
        </p:nvSpPr>
        <p:spPr>
          <a:xfrm>
            <a:off x="813816" y="4434840"/>
            <a:ext cx="5120640" cy="731520"/>
          </a:xfrm>
          <a:prstGeom prst="rect">
            <a:avLst/>
          </a:prstGeom>
          <a:noFill/>
          <a:ln/>
        </p:spPr>
        <p:txBody>
          <a:bodyPr wrap="square" lIns="0" tIns="0" rIns="0" bIns="0" rtlCol="0" anchor="t"/>
          <a:lstStyle/>
          <a:p>
            <a:pPr indent="0" marL="0">
              <a:buNone/>
            </a:pPr>
            <a:r>
              <a:rPr lang="en-US" sz="1500" dirty="0">
                <a:solidFill>
                  <a:schemeClr val="tx2"/>
                </a:solidFill>
              </a:rPr>
              <a:t>The article names the 4th voyage's ships but not their captains, so those cells are </a:t>
            </a:r>
            <a:pPr indent="0" marL="0">
              <a:buNone/>
            </a:pPr>
            <a:r>
              <a:rPr lang="en-US" sz="1500" b="1" dirty="0">
                <a:solidFill>
                  <a:schemeClr val="tx2"/>
                </a:solidFill>
              </a:rPr>
              <a:t>NaN</a:t>
            </a:r>
            <a:pPr indent="0" marL="0">
              <a:buNone/>
            </a:pPr>
            <a:r>
              <a:rPr lang="en-US" sz="1500" dirty="0">
                <a:solidFill>
                  <a:schemeClr val="tx2"/>
                </a:solidFill>
              </a:rPr>
              <a:t> (missing).</a:t>
            </a:r>
            <a:endParaRPr lang="en-US" sz="1500" dirty="0"/>
          </a:p>
        </p:txBody>
      </p:sp>
      <p:graphicFrame>
        <p:nvGraphicFramePr>
          <p:cNvPr id="8" name="SHIPS table"/>
          <p:cNvGraphicFramePr>
            <a:graphicFrameLocks noGrp="1"/>
          </p:cNvGraphicFramePr>
          <p:nvPr>
            <p:extLst>
              <p:ext uri="{D42A27DB-BD31-4B8C-83A1-F6EECF244321}">
                <p14:modId xmlns:p14="http://schemas.microsoft.com/office/powerpoint/2010/main" val="1579011935"/>
              </p:ext>
            </p:extLst>
          </p:nvPr>
        </p:nvGraphicFramePr>
        <p:xfrm>
          <a:off x="6254496" y="1965960"/>
          <a:ext cx="5123383" cy="914400"/>
        </p:xfrm>
        <a:graphic>
          <a:graphicData uri="http://schemas.openxmlformats.org/drawingml/2006/table">
            <a:tbl>
              <a:tblPr/>
              <a:tblGrid>
                <a:gridCol w="914400"/>
                <a:gridCol w="2011680"/>
                <a:gridCol w="2197303"/>
              </a:tblGrid>
              <a:tr h="438912">
                <a:tc>
                  <a:txBody>
                    <a:bodyPr/>
                    <a:lstStyle/>
                    <a:p>
                      <a:pPr indent="0" marL="0">
                        <a:buNone/>
                      </a:pPr>
                      <a:r>
                        <a:rPr lang="en-US" sz="1400" b="1" dirty="0">
                          <a:solidFill>
                            <a:schemeClr val="tx1"/>
                          </a:solidFill>
                        </a:rPr>
                        <a:t>voyage</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ship</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captain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1</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Santa Maria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Christopher Columbus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1</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Pinta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Martin Alonso Pinzon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1</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Nina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Vicente Yanez Pinzon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4</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Capitana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Christopher Columbus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4</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Gallega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b="1" dirty="0">
                          <a:solidFill>
                            <a:schemeClr val="accent1"/>
                          </a:solidFill>
                        </a:rPr>
                        <a:t>NaN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4</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Vizcaina</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b="1" dirty="0">
                          <a:solidFill>
                            <a:schemeClr val="accent1"/>
                          </a:solidFill>
                        </a:rPr>
                        <a:t>NaN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38912">
                <a:tc>
                  <a:txBody>
                    <a:bodyPr/>
                    <a:lstStyle/>
                    <a:p>
                      <a:pPr indent="0" marL="0">
                        <a:buNone/>
                      </a:pPr>
                      <a:r>
                        <a:rPr lang="en-US" sz="1400" dirty="0">
                          <a:solidFill>
                            <a:schemeClr val="tx1"/>
                          </a:solidFill>
                        </a:rPr>
                        <a:t>4</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rPr>
                        <a:t>Santiago de Palos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b="1" dirty="0">
                          <a:solidFill>
                            <a:schemeClr val="accent1"/>
                          </a:solidFill>
                        </a:rPr>
                        <a:t>NaN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5 · DATES, NEW COLUMNS AND SORTING</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From text to dates, and from dates to days</a:t>
            </a:r>
            <a:endParaRPr lang="en-US" sz="3400" dirty="0"/>
          </a:p>
        </p:txBody>
      </p:sp>
      <p:sp>
        <p:nvSpPr>
          <p:cNvPr id="4" name="Dates code panel"/>
          <p:cNvSpPr/>
          <p:nvPr/>
        </p:nvSpPr>
        <p:spPr>
          <a:xfrm>
            <a:off x="813816" y="1965960"/>
            <a:ext cx="10564063" cy="1447800"/>
          </a:xfrm>
          <a:prstGeom prst="roundRect">
            <a:avLst>
              <a:gd name="adj" fmla="val 7579"/>
            </a:avLst>
          </a:prstGeom>
          <a:solidFill>
            <a:schemeClr val="tx1"/>
          </a:solidFill>
          <a:ln w="12700">
            <a:solidFill>
              <a:schemeClr val="tx1"/>
            </a:solidFill>
            <a:prstDash val="solid"/>
          </a:ln>
        </p:spPr>
      </p:sp>
      <p:sp>
        <p:nvSpPr>
          <p:cNvPr id="5" name="Dates code"/>
          <p:cNvSpPr txBox="1"/>
          <p:nvPr/>
        </p:nvSpPr>
        <p:spPr>
          <a:xfrm>
            <a:off x="1042416" y="1965960"/>
            <a:ext cx="10106863" cy="1447800"/>
          </a:xfrm>
          <a:prstGeom prst="rect">
            <a:avLst/>
          </a:prstGeom>
          <a:noFill/>
          <a:ln/>
        </p:spPr>
        <p:txBody>
          <a:bodyPr wrap="square" lIns="0" tIns="0" rIns="0" bIns="0" rtlCol="0" anchor="ctr"/>
          <a:lstStyle/>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"depart_date"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 pandas.to_datetime(VOYAGES[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"depart_date"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"return_date"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 pandas.to_datetime(VOYAGES[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"return_date"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a:t>
            </a:r>
            <a:endParaRPr lang="en-US" sz="1300" dirty="0"/>
          </a:p>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"duration_days"</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 (VOYAGES[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"return_date"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 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"depart_date"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]).dt.days</a:t>
            </a:r>
            <a:endParaRPr lang="en-US" sz="1300" dirty="0"/>
          </a:p>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VOYAGES.sort_values(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"duration_days"</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ascending=False)</a:t>
            </a:r>
            <a:endParaRPr lang="en-US" sz="1300" dirty="0"/>
          </a:p>
        </p:txBody>
      </p:sp>
      <p:graphicFrame>
        <p:nvGraphicFramePr>
          <p:cNvPr id="9" name="Sorted voyages table"/>
          <p:cNvGraphicFramePr>
            <a:graphicFrameLocks noGrp="1"/>
          </p:cNvGraphicFramePr>
          <p:nvPr>
            <p:extLst>
              <p:ext uri="{D42A27DB-BD31-4B8C-83A1-F6EECF244321}">
                <p14:modId xmlns:p14="http://schemas.microsoft.com/office/powerpoint/2010/main" val="1579011935"/>
              </p:ext>
            </p:extLst>
          </p:nvPr>
        </p:nvGraphicFramePr>
        <p:xfrm>
          <a:off x="813816" y="3733800"/>
          <a:ext cx="10564063" cy="914400"/>
        </p:xfrm>
        <a:graphic>
          <a:graphicData uri="http://schemas.openxmlformats.org/drawingml/2006/table">
            <a:tbl>
              <a:tblPr/>
              <a:tblGrid>
                <a:gridCol w="1645920"/>
                <a:gridCol w="3017520"/>
                <a:gridCol w="3017520"/>
                <a:gridCol w="2883103"/>
              </a:tblGrid>
              <a:tr h="411480">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voyage</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depart_date</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return_date</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duration_days</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1493-09-24</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1496-06-11</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991</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1502-05-12</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1504-11-07</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910</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1498-05-30</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1500-08-23</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815</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1492-08-03</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1493-03-04</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213</a:t>
                      </a:r>
                      <a:endParaRPr lang="en-US" sz="1400" dirty="0">
                        <a:latin typeface="Courier New" charset="0"/>
                        <a:ea typeface="Courier New" charset="0"/>
                        <a:cs typeface="Courier New" charset="0"/>
                      </a:endParaRPr>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5 · YOUR FIRST PLOT</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The 2nd voyage was the longest</a:t>
            </a:r>
            <a:endParaRPr lang="en-US" sz="3400" dirty="0"/>
          </a:p>
        </p:txBody>
      </p:sp>
      <p:sp>
        <p:nvSpPr>
          <p:cNvPr id="4" name="Big number"/>
          <p:cNvSpPr txBox="1"/>
          <p:nvPr/>
        </p:nvSpPr>
        <p:spPr>
          <a:xfrm>
            <a:off x="813816" y="2240280"/>
            <a:ext cx="3840480" cy="109728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991 days</a:t>
            </a:r>
            <a:endParaRPr lang="en-US" sz="6600" dirty="0"/>
          </a:p>
        </p:txBody>
      </p:sp>
      <p:sp>
        <p:nvSpPr>
          <p:cNvPr id="5" name="Shortest note"/>
          <p:cNvSpPr txBox="1"/>
          <p:nvPr/>
        </p:nvSpPr>
        <p:spPr>
          <a:xfrm>
            <a:off x="813816" y="3429000"/>
            <a:ext cx="3657600" cy="914400"/>
          </a:xfrm>
          <a:prstGeom prst="rect">
            <a:avLst/>
          </a:prstGeom>
          <a:noFill/>
          <a:ln/>
        </p:spPr>
        <p:txBody>
          <a:bodyPr wrap="square" lIns="0" tIns="0" rIns="0" bIns="0" rtlCol="0" anchor="t"/>
          <a:lstStyle/>
          <a:p>
            <a:pPr indent="0" marL="0">
              <a:buNone/>
            </a:pPr>
            <a:r>
              <a:rPr lang="en-US" sz="1700" dirty="0">
                <a:solidFill>
                  <a:srgbClr val="C9D1E0"/>
                </a:solidFill>
              </a:rPr>
              <a:t>The 1st voyage, the most famous, was the shortest: 213 days.</a:t>
            </a:r>
            <a:endParaRPr lang="en-US" sz="1700" dirty="0"/>
          </a:p>
        </p:txBody>
      </p:sp>
      <p:sp>
        <p:nvSpPr>
          <p:cNvPr id="6" name="Plot code"/>
          <p:cNvSpPr txBox="1"/>
          <p:nvPr/>
        </p:nvSpPr>
        <p:spPr>
          <a:xfrm>
            <a:off x="813816" y="4526280"/>
            <a:ext cx="3840480" cy="548640"/>
          </a:xfrm>
          <a:prstGeom prst="rect">
            <a:avLst/>
          </a:prstGeom>
          <a:noFill/>
          <a:ln/>
        </p:spPr>
        <p:txBody>
          <a:bodyPr wrap="square" lIns="0" tIns="0" rIns="0" bIns="0" rtlCol="0" anchor="t"/>
          <a:lstStyle/>
          <a:p>
            <a:pPr indent="0" marL="0">
              <a:buNone/>
            </a:pPr>
            <a:r>
              <a:rPr lang="en-US" sz="1100" dirty="0">
                <a:solidFill>
                  <a:srgbClr val="9FB0CC"/>
                </a:solidFill>
                <a:latin typeface="Courier New" pitchFamily="34" charset="0"/>
                <a:ea typeface="Courier New" pitchFamily="34" charset="-122"/>
                <a:cs typeface="Courier New" pitchFamily="34" charset="-120"/>
              </a:rPr>
              <a:t>ax.barh(labels, plot_data["duration_days"])</a:t>
            </a:r>
            <a:endParaRPr lang="en-US" sz="1100" dirty="0"/>
          </a:p>
        </p:txBody>
      </p:sp>
      <p:sp>
        <p:nvSpPr>
          <p:cNvPr id="7" name="Chart frame"/>
          <p:cNvSpPr/>
          <p:nvPr/>
        </p:nvSpPr>
        <p:spPr>
          <a:xfrm>
            <a:off x="5074920" y="1965960"/>
            <a:ext cx="6302959" cy="4069080"/>
          </a:xfrm>
          <a:prstGeom prst="roundRect">
            <a:avLst>
              <a:gd name="adj" fmla="val 2697"/>
            </a:avLst>
          </a:prstGeom>
          <a:solidFill>
            <a:srgbClr val="FCFCFB"/>
          </a:solidFill>
          <a:ln w="9525">
            <a:solidFill>
              <a:srgbClr val="DCD2BE"/>
            </a:solidFill>
            <a:prstDash val="solid"/>
          </a:ln>
        </p:spPr>
      </p:sp>
      <p:graphicFrame>
        <p:nvGraphicFramePr>
          <p:cNvPr id="8" name="Duration chart" descr=""/>
          <p:cNvGraphicFramePr/>
          <p:nvPr/>
        </p:nvGraphicFramePr>
        <p:xfrm>
          <a:off x="5257800" y="2103120"/>
          <a:ext cx="5937199" cy="3794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9FB0C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6 · GROUPING AND COUNTING</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How many landfalls on each voyage?</a:t>
            </a:r>
            <a:endParaRPr lang="en-US" sz="3400" dirty="0"/>
          </a:p>
        </p:txBody>
      </p:sp>
      <p:sp>
        <p:nvSpPr>
          <p:cNvPr id="4" name="Group code panel"/>
          <p:cNvSpPr/>
          <p:nvPr/>
        </p:nvSpPr>
        <p:spPr>
          <a:xfrm>
            <a:off x="813816" y="1965960"/>
            <a:ext cx="10564063" cy="1200150"/>
          </a:xfrm>
          <a:prstGeom prst="roundRect">
            <a:avLst>
              <a:gd name="adj" fmla="val 9143"/>
            </a:avLst>
          </a:prstGeom>
          <a:solidFill>
            <a:schemeClr val="tx1"/>
          </a:solidFill>
          <a:ln w="12700">
            <a:solidFill>
              <a:schemeClr val="tx1"/>
            </a:solidFill>
            <a:prstDash val="solid"/>
          </a:ln>
        </p:spPr>
      </p:sp>
      <p:sp>
        <p:nvSpPr>
          <p:cNvPr id="5" name="Group code"/>
          <p:cNvSpPr txBox="1"/>
          <p:nvPr/>
        </p:nvSpPr>
        <p:spPr>
          <a:xfrm>
            <a:off x="1042416" y="1965960"/>
            <a:ext cx="10106863" cy="1200150"/>
          </a:xfrm>
          <a:prstGeom prst="rect">
            <a:avLst/>
          </a:prstGeom>
          <a:noFill/>
          <a:ln/>
        </p:spPr>
        <p:txBody>
          <a:bodyPr wrap="square" lIns="0" tIns="0" rIns="0" bIns="0" rtlCol="0" anchor="ctr"/>
          <a:lstStyle/>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LANDFALLS.groupby(</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"voyage"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"place"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].count()</a:t>
            </a:r>
            <a:endParaRPr lang="en-US" sz="1300" dirty="0"/>
          </a:p>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counts = LANDFALLS[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"place"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].value_counts()</a:t>
            </a:r>
            <a:endParaRPr lang="en-US" sz="1300" dirty="0"/>
          </a:p>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counts[counts &gt; 1]    </a:t>
            </a:r>
            <a:pPr indent="0" marL="0">
              <a:lnSpc>
                <a:spcPct val="120000"/>
              </a:lnSpc>
              <a:buNone/>
            </a:pPr>
            <a:r>
              <a:rPr lang="en-US" sz="1300" dirty="0">
                <a:solidFill>
                  <a:srgbClr val="9FB0CC"/>
                </a:solidFill>
                <a:latin typeface="Courier New" pitchFamily="34" charset="0"/>
                <a:ea typeface="Courier New" pitchFamily="34" charset="-122"/>
                <a:cs typeface="Courier New" pitchFamily="34" charset="-120"/>
              </a:rPr>
              <a:t># places visited on more than one voyage</a:t>
            </a:r>
            <a:endParaRPr lang="en-US" sz="1300" dirty="0"/>
          </a:p>
        </p:txBody>
      </p:sp>
      <p:sp>
        <p:nvSpPr>
          <p:cNvPr id="6" name="Count card 1"/>
          <p:cNvSpPr/>
          <p:nvPr/>
        </p:nvSpPr>
        <p:spPr>
          <a:xfrm>
            <a:off x="813816" y="3486150"/>
            <a:ext cx="2435276" cy="1280160"/>
          </a:xfrm>
          <a:prstGeom prst="roundRect">
            <a:avLst>
              <a:gd name="adj" fmla="val 8571"/>
            </a:avLst>
          </a:prstGeom>
          <a:solidFill>
            <a:srgbClr val="FBF8F1"/>
          </a:solidFill>
          <a:ln w="9525">
            <a:solidFill>
              <a:srgbClr val="DCD2BE"/>
            </a:solidFill>
            <a:prstDash val="solid"/>
          </a:ln>
        </p:spPr>
      </p:sp>
      <p:sp>
        <p:nvSpPr>
          <p:cNvPr id="7" name="Count 1"/>
          <p:cNvSpPr txBox="1"/>
          <p:nvPr/>
        </p:nvSpPr>
        <p:spPr>
          <a:xfrm>
            <a:off x="1088136" y="3595878"/>
            <a:ext cx="1886636"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a:t>
            </a:r>
            <a:endParaRPr lang="en-US" sz="4000" dirty="0"/>
          </a:p>
        </p:txBody>
      </p:sp>
      <p:sp>
        <p:nvSpPr>
          <p:cNvPr id="8" name="Text 6"/>
          <p:cNvSpPr txBox="1"/>
          <p:nvPr/>
        </p:nvSpPr>
        <p:spPr>
          <a:xfrm>
            <a:off x="1088136" y="4263390"/>
            <a:ext cx="1886636" cy="365760"/>
          </a:xfrm>
          <a:prstGeom prst="rect">
            <a:avLst/>
          </a:prstGeom>
          <a:noFill/>
          <a:ln/>
        </p:spPr>
        <p:txBody>
          <a:bodyPr wrap="square" lIns="0" tIns="0" rIns="0" bIns="0" rtlCol="0" anchor="ctr"/>
          <a:lstStyle/>
          <a:p>
            <a:pPr indent="0" marL="0">
              <a:buNone/>
            </a:pPr>
            <a:r>
              <a:rPr lang="en-US" sz="1400" dirty="0">
                <a:solidFill>
                  <a:schemeClr val="tx2"/>
                </a:solidFill>
              </a:rPr>
              <a:t>landfalls, voyage 1</a:t>
            </a:r>
            <a:endParaRPr lang="en-US" sz="1400" dirty="0"/>
          </a:p>
        </p:txBody>
      </p:sp>
      <p:sp>
        <p:nvSpPr>
          <p:cNvPr id="9" name="Count card 2"/>
          <p:cNvSpPr/>
          <p:nvPr/>
        </p:nvSpPr>
        <p:spPr>
          <a:xfrm>
            <a:off x="3523412" y="3486150"/>
            <a:ext cx="2435276" cy="1280160"/>
          </a:xfrm>
          <a:prstGeom prst="roundRect">
            <a:avLst>
              <a:gd name="adj" fmla="val 8571"/>
            </a:avLst>
          </a:prstGeom>
          <a:solidFill>
            <a:srgbClr val="FBF8F1"/>
          </a:solidFill>
          <a:ln w="9525">
            <a:solidFill>
              <a:srgbClr val="DCD2BE"/>
            </a:solidFill>
            <a:prstDash val="solid"/>
          </a:ln>
        </p:spPr>
      </p:sp>
      <p:sp>
        <p:nvSpPr>
          <p:cNvPr id="10" name="Count 2"/>
          <p:cNvSpPr txBox="1"/>
          <p:nvPr/>
        </p:nvSpPr>
        <p:spPr>
          <a:xfrm>
            <a:off x="3797732" y="3595878"/>
            <a:ext cx="1886636"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6</a:t>
            </a:r>
            <a:endParaRPr lang="en-US" sz="4000" dirty="0"/>
          </a:p>
        </p:txBody>
      </p:sp>
      <p:sp>
        <p:nvSpPr>
          <p:cNvPr id="11" name="Text 9"/>
          <p:cNvSpPr txBox="1"/>
          <p:nvPr/>
        </p:nvSpPr>
        <p:spPr>
          <a:xfrm>
            <a:off x="3797732" y="4263390"/>
            <a:ext cx="1886636" cy="365760"/>
          </a:xfrm>
          <a:prstGeom prst="rect">
            <a:avLst/>
          </a:prstGeom>
          <a:noFill/>
          <a:ln/>
        </p:spPr>
        <p:txBody>
          <a:bodyPr wrap="square" lIns="0" tIns="0" rIns="0" bIns="0" rtlCol="0" anchor="ctr"/>
          <a:lstStyle/>
          <a:p>
            <a:pPr indent="0" marL="0">
              <a:buNone/>
            </a:pPr>
            <a:r>
              <a:rPr lang="en-US" sz="1400" dirty="0">
                <a:solidFill>
                  <a:schemeClr val="tx2"/>
                </a:solidFill>
              </a:rPr>
              <a:t>landfalls, voyage 2</a:t>
            </a:r>
            <a:endParaRPr lang="en-US" sz="1400" dirty="0"/>
          </a:p>
        </p:txBody>
      </p:sp>
      <p:sp>
        <p:nvSpPr>
          <p:cNvPr id="12" name="Count card 3"/>
          <p:cNvSpPr/>
          <p:nvPr/>
        </p:nvSpPr>
        <p:spPr>
          <a:xfrm>
            <a:off x="6233008" y="3486150"/>
            <a:ext cx="2435276" cy="1280160"/>
          </a:xfrm>
          <a:prstGeom prst="roundRect">
            <a:avLst>
              <a:gd name="adj" fmla="val 8571"/>
            </a:avLst>
          </a:prstGeom>
          <a:solidFill>
            <a:srgbClr val="FBF8F1"/>
          </a:solidFill>
          <a:ln w="9525">
            <a:solidFill>
              <a:srgbClr val="DCD2BE"/>
            </a:solidFill>
            <a:prstDash val="solid"/>
          </a:ln>
        </p:spPr>
      </p:sp>
      <p:sp>
        <p:nvSpPr>
          <p:cNvPr id="13" name="Count 3"/>
          <p:cNvSpPr txBox="1"/>
          <p:nvPr/>
        </p:nvSpPr>
        <p:spPr>
          <a:xfrm>
            <a:off x="6507328" y="3595878"/>
            <a:ext cx="1886636"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4</a:t>
            </a:r>
            <a:endParaRPr lang="en-US" sz="4000" dirty="0"/>
          </a:p>
        </p:txBody>
      </p:sp>
      <p:sp>
        <p:nvSpPr>
          <p:cNvPr id="14" name="Text 12"/>
          <p:cNvSpPr txBox="1"/>
          <p:nvPr/>
        </p:nvSpPr>
        <p:spPr>
          <a:xfrm>
            <a:off x="6507328" y="4263390"/>
            <a:ext cx="1886636" cy="365760"/>
          </a:xfrm>
          <a:prstGeom prst="rect">
            <a:avLst/>
          </a:prstGeom>
          <a:noFill/>
          <a:ln/>
        </p:spPr>
        <p:txBody>
          <a:bodyPr wrap="square" lIns="0" tIns="0" rIns="0" bIns="0" rtlCol="0" anchor="ctr"/>
          <a:lstStyle/>
          <a:p>
            <a:pPr indent="0" marL="0">
              <a:buNone/>
            </a:pPr>
            <a:r>
              <a:rPr lang="en-US" sz="1400" dirty="0">
                <a:solidFill>
                  <a:schemeClr val="tx2"/>
                </a:solidFill>
              </a:rPr>
              <a:t>landfalls, voyage 3</a:t>
            </a:r>
            <a:endParaRPr lang="en-US" sz="1400" dirty="0"/>
          </a:p>
        </p:txBody>
      </p:sp>
      <p:sp>
        <p:nvSpPr>
          <p:cNvPr id="15" name="Count card 4"/>
          <p:cNvSpPr/>
          <p:nvPr/>
        </p:nvSpPr>
        <p:spPr>
          <a:xfrm>
            <a:off x="8942603" y="3486150"/>
            <a:ext cx="2435276" cy="1280160"/>
          </a:xfrm>
          <a:prstGeom prst="roundRect">
            <a:avLst>
              <a:gd name="adj" fmla="val 8571"/>
            </a:avLst>
          </a:prstGeom>
          <a:solidFill>
            <a:srgbClr val="FBF8F1"/>
          </a:solidFill>
          <a:ln w="9525">
            <a:solidFill>
              <a:srgbClr val="DCD2BE"/>
            </a:solidFill>
            <a:prstDash val="solid"/>
          </a:ln>
        </p:spPr>
      </p:sp>
      <p:sp>
        <p:nvSpPr>
          <p:cNvPr id="16" name="Count 4"/>
          <p:cNvSpPr txBox="1"/>
          <p:nvPr/>
        </p:nvSpPr>
        <p:spPr>
          <a:xfrm>
            <a:off x="9216923" y="3595878"/>
            <a:ext cx="1886636" cy="685800"/>
          </a:xfrm>
          <a:prstGeom prst="rect">
            <a:avLst/>
          </a:prstGeom>
          <a:noFill/>
          <a:ln/>
        </p:spPr>
        <p:txBody>
          <a:bodyPr wrap="square" lIns="0" tIns="0" rIns="0" bIns="0" rtlCol="0" anchor="ctr"/>
          <a:lstStyle/>
          <a:p>
            <a:pPr indent="0" marL="0">
              <a:buNone/>
            </a:pPr>
            <a:r>
              <a:rPr lang="en-US" sz="4000" b="1" dirty="0">
                <a:solidFill>
                  <a:schemeClr val="tx1"/>
                </a:solidFill>
                <a:latin typeface="Cambria" pitchFamily="34" charset="0"/>
                <a:ea typeface="Cambria" pitchFamily="34" charset="-122"/>
                <a:cs typeface="Cambria" pitchFamily="34" charset="-120"/>
              </a:rPr>
              <a:t>7</a:t>
            </a:r>
            <a:endParaRPr lang="en-US" sz="4000" dirty="0"/>
          </a:p>
        </p:txBody>
      </p:sp>
      <p:sp>
        <p:nvSpPr>
          <p:cNvPr id="17" name="Text 15"/>
          <p:cNvSpPr txBox="1"/>
          <p:nvPr/>
        </p:nvSpPr>
        <p:spPr>
          <a:xfrm>
            <a:off x="9216923" y="4263390"/>
            <a:ext cx="1886636" cy="365760"/>
          </a:xfrm>
          <a:prstGeom prst="rect">
            <a:avLst/>
          </a:prstGeom>
          <a:noFill/>
          <a:ln/>
        </p:spPr>
        <p:txBody>
          <a:bodyPr wrap="square" lIns="0" tIns="0" rIns="0" bIns="0" rtlCol="0" anchor="ctr"/>
          <a:lstStyle/>
          <a:p>
            <a:pPr indent="0" marL="0">
              <a:buNone/>
            </a:pPr>
            <a:r>
              <a:rPr lang="en-US" sz="1400" dirty="0">
                <a:solidFill>
                  <a:schemeClr val="tx2"/>
                </a:solidFill>
              </a:rPr>
              <a:t>landfalls, voyage 4</a:t>
            </a:r>
            <a:endParaRPr lang="en-US" sz="1400" dirty="0"/>
          </a:p>
        </p:txBody>
      </p:sp>
      <p:sp>
        <p:nvSpPr>
          <p:cNvPr id="18" name="Hispaniola note"/>
          <p:cNvSpPr txBox="1"/>
          <p:nvPr/>
        </p:nvSpPr>
        <p:spPr>
          <a:xfrm>
            <a:off x="813816" y="4994910"/>
            <a:ext cx="10564063" cy="457200"/>
          </a:xfrm>
          <a:prstGeom prst="rect">
            <a:avLst/>
          </a:prstGeom>
          <a:noFill/>
          <a:ln/>
        </p:spPr>
        <p:txBody>
          <a:bodyPr wrap="square" lIns="0" tIns="0" rIns="0" bIns="0" rtlCol="0" anchor="ctr"/>
          <a:lstStyle/>
          <a:p>
            <a:pPr indent="0" marL="0">
              <a:buNone/>
            </a:pPr>
            <a:r>
              <a:rPr lang="en-US" sz="1700" b="1" dirty="0">
                <a:solidFill>
                  <a:schemeClr val="tx2"/>
                </a:solidFill>
              </a:rPr>
              <a:t>Hispaniola</a:t>
            </a:r>
            <a:pPr indent="0" marL="0">
              <a:buNone/>
            </a:pPr>
            <a:r>
              <a:rPr lang="en-US" sz="1700" dirty="0">
                <a:solidFill>
                  <a:schemeClr val="tx2"/>
                </a:solidFill>
              </a:rPr>
              <a:t> is the only place on more than one voyage: it appears 3 times.</a:t>
            </a:r>
            <a:endParaRPr lang="en-US" sz="17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7 · MAPPING</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Each row becomes a point on the map</a:t>
            </a:r>
            <a:endParaRPr lang="en-US" sz="3400" dirty="0"/>
          </a:p>
        </p:txBody>
      </p:sp>
      <p:sp>
        <p:nvSpPr>
          <p:cNvPr id="4" name="Landfall map frame"/>
          <p:cNvSpPr/>
          <p:nvPr/>
        </p:nvSpPr>
        <p:spPr>
          <a:xfrm>
            <a:off x="813816" y="1965960"/>
            <a:ext cx="6400800" cy="3794760"/>
          </a:xfrm>
          <a:prstGeom prst="roundRect">
            <a:avLst>
              <a:gd name="adj" fmla="val 2892"/>
            </a:avLst>
          </a:prstGeom>
          <a:solidFill>
            <a:srgbClr val="FCFCFB"/>
          </a:solidFill>
          <a:ln w="9525">
            <a:solidFill>
              <a:srgbClr val="DCD2BE"/>
            </a:solidFill>
            <a:prstDash val="solid"/>
          </a:ln>
        </p:spPr>
      </p:sp>
      <p:pic>
        <p:nvPicPr>
          <p:cNvPr id="5" name="Landfall map" descr="Map of the Caribbean with the main landfalls of each voyage joined by lines, one color and marker shape per voyage">    </p:cNvPr>
          <p:cNvPicPr>
            <a:picLocks noChangeAspect="1"/>
          </p:cNvPicPr>
          <p:nvPr/>
        </p:nvPicPr>
        <p:blipFill>
          <a:blip r:embed="rId1"/>
          <a:stretch>
            <a:fillRect/>
          </a:stretch>
        </p:blipFill>
        <p:spPr>
          <a:xfrm>
            <a:off x="859536" y="2011680"/>
            <a:ext cx="6309360" cy="3685032"/>
          </a:xfrm>
          <a:prstGeom prst="rect">
            <a:avLst/>
          </a:prstGeom>
        </p:spPr>
      </p:pic>
      <p:sp>
        <p:nvSpPr>
          <p:cNvPr id="6" name="Map code panel"/>
          <p:cNvSpPr/>
          <p:nvPr/>
        </p:nvSpPr>
        <p:spPr>
          <a:xfrm>
            <a:off x="7534656" y="1965960"/>
            <a:ext cx="3843223" cy="1600200"/>
          </a:xfrm>
          <a:prstGeom prst="roundRect">
            <a:avLst>
              <a:gd name="adj" fmla="val 6857"/>
            </a:avLst>
          </a:prstGeom>
          <a:solidFill>
            <a:schemeClr val="tx1"/>
          </a:solidFill>
          <a:ln w="12700">
            <a:solidFill>
              <a:schemeClr val="tx1"/>
            </a:solidFill>
            <a:prstDash val="solid"/>
          </a:ln>
        </p:spPr>
      </p:sp>
      <p:sp>
        <p:nvSpPr>
          <p:cNvPr id="7" name="Map code"/>
          <p:cNvSpPr txBox="1"/>
          <p:nvPr/>
        </p:nvSpPr>
        <p:spPr>
          <a:xfrm>
            <a:off x="7763256" y="1965960"/>
            <a:ext cx="3386023" cy="1600200"/>
          </a:xfrm>
          <a:prstGeom prst="rect">
            <a:avLst/>
          </a:prstGeom>
          <a:noFill/>
          <a:ln/>
        </p:spPr>
        <p:txBody>
          <a:bodyPr wrap="square" lIns="0" tIns="0" rIns="0" bIns="0" rtlCol="0" anchor="ctr"/>
          <a:lstStyle/>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px.line_geo(map_data,</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lat=</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"lat"</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lon=</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"lon"</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color=</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"voyage"</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symbol=</a:t>
            </a:r>
            <a:pPr indent="0" marL="0">
              <a:lnSpc>
                <a:spcPct val="120000"/>
              </a:lnSpc>
              <a:buNone/>
            </a:pPr>
            <a:r>
              <a:rPr lang="en-US" sz="1200" dirty="0">
                <a:solidFill>
                  <a:srgbClr val="E8B36A"/>
                </a:solidFill>
                <a:latin typeface="Courier New" pitchFamily="34" charset="0"/>
                <a:ea typeface="Courier New" pitchFamily="34" charset="-122"/>
                <a:cs typeface="Courier New" pitchFamily="34" charset="-120"/>
              </a:rPr>
              <a:t>"voyage"</a:t>
            </a:r>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F5EFE3"/>
                </a:solidFill>
                <a:latin typeface="Courier New" pitchFamily="34" charset="0"/>
                <a:ea typeface="Courier New" pitchFamily="34" charset="-122"/>
                <a:cs typeface="Courier New" pitchFamily="34" charset="-120"/>
              </a:rPr>
              <a:t>  markers=True)</a:t>
            </a:r>
            <a:endParaRPr lang="en-US" sz="1200" dirty="0"/>
          </a:p>
        </p:txBody>
      </p:sp>
      <p:sp>
        <p:nvSpPr>
          <p:cNvPr id="8" name="Map points"/>
          <p:cNvSpPr txBox="1"/>
          <p:nvPr/>
        </p:nvSpPr>
        <p:spPr>
          <a:xfrm>
            <a:off x="7534656" y="3840480"/>
            <a:ext cx="3843223" cy="164592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lat, lon: </a:t>
            </a:r>
            <a:pPr indent="0" marL="0">
              <a:spcAft>
                <a:spcPts val="600"/>
              </a:spcAft>
              <a:buNone/>
            </a:pPr>
            <a:r>
              <a:rPr lang="en-US" sz="1500" dirty="0">
                <a:solidFill>
                  <a:schemeClr val="tx2"/>
                </a:solidFill>
              </a:rPr>
              <a:t>where each point goes</a:t>
            </a:r>
            <a:endParaRPr lang="en-US" sz="1500" dirty="0"/>
          </a:p>
          <a:p>
            <a:pPr marL="342900" indent="-342900">
              <a:spcAft>
                <a:spcPts val="600"/>
              </a:spcAft>
              <a:buSzPct val="100000"/>
              <a:buChar char="•"/>
            </a:pPr>
            <a:r>
              <a:rPr lang="en-US" sz="1500" b="1" dirty="0">
                <a:solidFill>
                  <a:schemeClr val="tx2"/>
                </a:solidFill>
              </a:rPr>
              <a:t>color, symbol: </a:t>
            </a:r>
            <a:pPr indent="0" marL="0">
              <a:spcAft>
                <a:spcPts val="600"/>
              </a:spcAft>
              <a:buNone/>
            </a:pPr>
            <a:r>
              <a:rPr lang="en-US" sz="1500" dirty="0">
                <a:solidFill>
                  <a:schemeClr val="tx2"/>
                </a:solidFill>
              </a:rPr>
              <a:t>one style per voyage</a:t>
            </a:r>
            <a:endParaRPr lang="en-US" sz="1500" dirty="0"/>
          </a:p>
          <a:p>
            <a:pPr marL="342900" indent="-342900">
              <a:spcAft>
                <a:spcPts val="600"/>
              </a:spcAft>
              <a:buSzPct val="100000"/>
              <a:buChar char="•"/>
            </a:pPr>
            <a:r>
              <a:rPr lang="en-US" sz="1500" dirty="0">
                <a:solidFill>
                  <a:schemeClr val="tx2"/>
                </a:solidFill>
              </a:rPr>
              <a:t>Lines join landfalls in date order, not the real routes</a:t>
            </a:r>
            <a:endParaRPr lang="en-US" sz="15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8 · BONUS: COMBINING TABLES</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Joining each ship to its voyage</a:t>
            </a:r>
            <a:endParaRPr lang="en-US" sz="3400" dirty="0"/>
          </a:p>
        </p:txBody>
      </p:sp>
      <p:sp>
        <p:nvSpPr>
          <p:cNvPr id="4" name="Merge code panel"/>
          <p:cNvSpPr/>
          <p:nvPr/>
        </p:nvSpPr>
        <p:spPr>
          <a:xfrm>
            <a:off x="813816" y="1965960"/>
            <a:ext cx="10564063" cy="704850"/>
          </a:xfrm>
          <a:prstGeom prst="roundRect">
            <a:avLst>
              <a:gd name="adj" fmla="val 15568"/>
            </a:avLst>
          </a:prstGeom>
          <a:solidFill>
            <a:schemeClr val="tx1"/>
          </a:solidFill>
          <a:ln w="12700">
            <a:solidFill>
              <a:schemeClr val="tx1"/>
            </a:solidFill>
            <a:prstDash val="solid"/>
          </a:ln>
        </p:spPr>
      </p:sp>
      <p:sp>
        <p:nvSpPr>
          <p:cNvPr id="5" name="Merge code"/>
          <p:cNvSpPr txBox="1"/>
          <p:nvPr/>
        </p:nvSpPr>
        <p:spPr>
          <a:xfrm>
            <a:off x="1042416" y="1965960"/>
            <a:ext cx="10106863" cy="704850"/>
          </a:xfrm>
          <a:prstGeom prst="rect">
            <a:avLst/>
          </a:prstGeom>
          <a:noFill/>
          <a:ln/>
        </p:spPr>
        <p:txBody>
          <a:bodyPr wrap="square" lIns="0" tIns="0" rIns="0" bIns="0" rtlCol="0" anchor="ctr"/>
          <a:lstStyle/>
          <a:p>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pandas.merge(SHIPS, VOYAGES[[</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"voyage"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"depart_port"</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"depart_date"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 on=</a:t>
            </a:r>
            <a:pPr indent="0" marL="0">
              <a:lnSpc>
                <a:spcPct val="120000"/>
              </a:lnSpc>
              <a:buNone/>
            </a:pPr>
            <a:r>
              <a:rPr lang="en-US" sz="1300" dirty="0">
                <a:solidFill>
                  <a:srgbClr val="E8B36A"/>
                </a:solidFill>
                <a:latin typeface="Courier New" pitchFamily="34" charset="0"/>
                <a:ea typeface="Courier New" pitchFamily="34" charset="-122"/>
                <a:cs typeface="Courier New" pitchFamily="34" charset="-120"/>
              </a:rPr>
              <a:t>"voyage"</a:t>
            </a:r>
            <a:pPr indent="0" marL="0">
              <a:lnSpc>
                <a:spcPct val="120000"/>
              </a:lnSpc>
              <a:buNone/>
            </a:pPr>
            <a:r>
              <a:rPr lang="en-US" sz="1300" dirty="0">
                <a:solidFill>
                  <a:srgbClr val="F5EFE3"/>
                </a:solidFill>
                <a:latin typeface="Courier New" pitchFamily="34" charset="0"/>
                <a:ea typeface="Courier New" pitchFamily="34" charset="-122"/>
                <a:cs typeface="Courier New" pitchFamily="34" charset="-120"/>
              </a:rPr>
              <a:t>)</a:t>
            </a:r>
            <a:endParaRPr lang="en-US" sz="1300" dirty="0"/>
          </a:p>
        </p:txBody>
      </p:sp>
      <p:graphicFrame>
        <p:nvGraphicFramePr>
          <p:cNvPr id="13" name="Merged table"/>
          <p:cNvGraphicFramePr>
            <a:graphicFrameLocks noGrp="1"/>
          </p:cNvGraphicFramePr>
          <p:nvPr>
            <p:extLst>
              <p:ext uri="{D42A27DB-BD31-4B8C-83A1-F6EECF244321}">
                <p14:modId xmlns:p14="http://schemas.microsoft.com/office/powerpoint/2010/main" val="1579011935"/>
              </p:ext>
            </p:extLst>
          </p:nvPr>
        </p:nvGraphicFramePr>
        <p:xfrm>
          <a:off x="813816" y="2945130"/>
          <a:ext cx="6766560" cy="914400"/>
        </p:xfrm>
        <a:graphic>
          <a:graphicData uri="http://schemas.openxmlformats.org/drawingml/2006/table">
            <a:tbl>
              <a:tblPr/>
              <a:tblGrid>
                <a:gridCol w="2286000"/>
                <a:gridCol w="1097280"/>
                <a:gridCol w="1554480"/>
                <a:gridCol w="1828800"/>
              </a:tblGrid>
              <a:tr h="365760">
                <a:tc>
                  <a:txBody>
                    <a:bodyPr/>
                    <a:lstStyle/>
                    <a:p>
                      <a:pPr indent="0" marL="0">
                        <a:buNone/>
                      </a:pPr>
                      <a:r>
                        <a:rPr lang="en-US" sz="1300" b="1" dirty="0">
                          <a:solidFill>
                            <a:schemeClr val="tx1"/>
                          </a:solidFill>
                        </a:rPr>
                        <a:t>ship</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voyage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depart_port</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depart_date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Santa Maria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Palos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1492-08-03</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Pinta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Palos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1492-08-03</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Nina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Palos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1492-08-03</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Capitana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Cadiz</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1502-05-12</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Gallega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Cadiz</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1502-05-12</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Vizcaina</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Cadiz</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1502-05-12</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65760">
                <a:tc>
                  <a:txBody>
                    <a:bodyPr/>
                    <a:lstStyle/>
                    <a:p>
                      <a:pPr indent="0" marL="0">
                        <a:buNone/>
                      </a:pPr>
                      <a:r>
                        <a:rPr lang="en-US" sz="1300" dirty="0">
                          <a:solidFill>
                            <a:schemeClr val="tx1"/>
                          </a:solidFill>
                        </a:rPr>
                        <a:t>Santiago de Palos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4</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Cadiz</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1502-05-12</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7" name="Merge question card"/>
          <p:cNvSpPr/>
          <p:nvPr/>
        </p:nvSpPr>
        <p:spPr>
          <a:xfrm>
            <a:off x="7900416" y="2945130"/>
            <a:ext cx="3477463" cy="1828800"/>
          </a:xfrm>
          <a:prstGeom prst="roundRect">
            <a:avLst>
              <a:gd name="adj" fmla="val 6000"/>
            </a:avLst>
          </a:prstGeom>
          <a:solidFill>
            <a:srgbClr val="FBF8F1"/>
          </a:solidFill>
          <a:ln w="9525">
            <a:solidFill>
              <a:srgbClr val="DCD2BE"/>
            </a:solidFill>
            <a:prstDash val="solid"/>
          </a:ln>
        </p:spPr>
      </p:sp>
      <p:sp>
        <p:nvSpPr>
          <p:cNvPr id="8" name="Merge question"/>
          <p:cNvSpPr txBox="1"/>
          <p:nvPr/>
        </p:nvSpPr>
        <p:spPr>
          <a:xfrm>
            <a:off x="8174736" y="3128010"/>
            <a:ext cx="2928823" cy="1463040"/>
          </a:xfrm>
          <a:prstGeom prst="rect">
            <a:avLst/>
          </a:prstGeom>
          <a:noFill/>
          <a:ln/>
        </p:spPr>
        <p:txBody>
          <a:bodyPr wrap="square" lIns="0" tIns="0" rIns="0" bIns="0" rtlCol="0" anchor="ctr"/>
          <a:lstStyle/>
          <a:p>
            <a:pPr indent="0" marL="0">
              <a:spcAft>
                <a:spcPts val="800"/>
              </a:spcAft>
              <a:buNone/>
            </a:pPr>
            <a:r>
              <a:rPr lang="en-US" sz="1800" b="1" dirty="0">
                <a:solidFill>
                  <a:schemeClr val="tx1"/>
                </a:solidFill>
              </a:rPr>
              <a:t>Voyages 2 and 3 are missing. Why?</a:t>
            </a:r>
            <a:endParaRPr lang="en-US" sz="1800" dirty="0"/>
          </a:p>
          <a:p>
            <a:pPr indent="0" marL="0">
              <a:spcAft>
                <a:spcPts val="800"/>
              </a:spcAft>
              <a:buNone/>
            </a:pPr>
            <a:r>
              <a:rPr lang="en-US" sz="1500" dirty="0">
                <a:solidFill>
                  <a:schemeClr val="tx2"/>
                </a:solidFill>
              </a:rPr>
              <a:t>Hint: look up the </a:t>
            </a:r>
            <a:pPr indent="0" marL="0">
              <a:spcAft>
                <a:spcPts val="800"/>
              </a:spcAft>
              <a:buNone/>
            </a:pPr>
            <a:r>
              <a:rPr lang="en-US" sz="1500" b="1" dirty="0">
                <a:solidFill>
                  <a:schemeClr val="tx2"/>
                </a:solidFill>
                <a:latin typeface="Courier New" pitchFamily="34" charset="0"/>
                <a:ea typeface="Courier New" pitchFamily="34" charset="-122"/>
                <a:cs typeface="Courier New" pitchFamily="34" charset="-120"/>
              </a:rPr>
              <a:t>how=</a:t>
            </a:r>
            <a:pPr indent="0" marL="0">
              <a:spcAft>
                <a:spcPts val="800"/>
              </a:spcAft>
              <a:buNone/>
            </a:pPr>
            <a:r>
              <a:rPr lang="en-US" sz="1500" dirty="0">
                <a:solidFill>
                  <a:schemeClr val="tx2"/>
                </a:solidFill>
              </a:rPr>
              <a:t> argument of pandas.merge.</a:t>
            </a:r>
            <a:endParaRPr lang="en-US" sz="18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YOUR TURN</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Seventeen exercises, marked #TODO in the notebook</a:t>
            </a:r>
            <a:endParaRPr lang="en-US" sz="3400" dirty="0"/>
          </a:p>
        </p:txBody>
      </p:sp>
      <p:graphicFrame>
        <p:nvGraphicFramePr>
          <p:cNvPr id="14" name="Exercises table"/>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2651760"/>
                <a:gridCol w="7912303"/>
              </a:tblGrid>
              <a:tr h="420624">
                <a:tc>
                  <a:txBody>
                    <a:bodyPr/>
                    <a:lstStyle/>
                    <a:p>
                      <a:pPr indent="0" marL="0">
                        <a:buNone/>
                      </a:pPr>
                      <a:r>
                        <a:rPr lang="en-US" sz="1400" b="1" dirty="0">
                          <a:solidFill>
                            <a:schemeClr val="tx1"/>
                          </a:solidFill>
                        </a:rPr>
                        <a:t>Section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rgbClr val="DCD2BE"/>
                    </a:solidFill>
                  </a:tcPr>
                </a:tc>
                <a:tc>
                  <a:txBody>
                    <a:bodyPr/>
                    <a:lstStyle/>
                    <a:p>
                      <a:pPr indent="0" marL="0">
                        <a:buNone/>
                      </a:pPr>
                      <a:r>
                        <a:rPr lang="en-US" sz="1400" b="1" dirty="0">
                          <a:solidFill>
                            <a:schemeClr val="tx1"/>
                          </a:solidFill>
                        </a:rPr>
                        <a:t>Exercises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rgbClr val="DCD2BE"/>
                    </a:solidFill>
                  </a:tcPr>
                </a:tc>
              </a:tr>
              <a:tr h="420624">
                <a:tc>
                  <a:txBody>
                    <a:bodyPr/>
                    <a:lstStyle/>
                    <a:p>
                      <a:pPr indent="0" marL="0">
                        <a:buNone/>
                      </a:pPr>
                      <a:r>
                        <a:rPr lang="en-US" sz="1400" dirty="0">
                          <a:solidFill>
                            <a:schemeClr val="tx1"/>
                          </a:solidFill>
                        </a:rPr>
                        <a:t>2 · Inspecting</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2.1 shape · 2.2 data types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3 · Selecting</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3.1 two columns · 3.2 one row with .loc</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4 · Filtering</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4.1 the caravels · 4.2 Columbus's ships · 4.3 count missing values · 4.4 unknown captains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5 · Dates and plots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5.1 duration_days · 5.2 sort by duration · 5.3 bar chart of num_ships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6 · Grouping</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6.1 landfalls per voyage · 6.2 top countries · 6.3 repeated places · 6.4 challenge: first and last dates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7 · Mapping</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7.1 map only the first voyage</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20624">
                <a:tc>
                  <a:txBody>
                    <a:bodyPr/>
                    <a:lstStyle/>
                    <a:p>
                      <a:pPr indent="0" marL="0">
                        <a:buNone/>
                      </a:pPr>
                      <a:r>
                        <a:rPr lang="en-US" sz="1400" dirty="0">
                          <a:solidFill>
                            <a:schemeClr val="tx1"/>
                          </a:solidFill>
                        </a:rPr>
                        <a:t>9 · Excel and CSV</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9.1 load landfalls.csv with read_csv and check an Excel answer</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bl>
          </a:graphicData>
        </a:graphic>
      </p:graphicFrame>
      <p:sp>
        <p:nvSpPr>
          <p:cNvPr id="5" name="Solutions note"/>
          <p:cNvSpPr txBox="1"/>
          <p:nvPr/>
        </p:nvSpPr>
        <p:spPr>
          <a:xfrm>
            <a:off x="813816" y="5577840"/>
            <a:ext cx="10564063" cy="411480"/>
          </a:xfrm>
          <a:prstGeom prst="rect">
            <a:avLst/>
          </a:prstGeom>
          <a:noFill/>
          <a:ln/>
        </p:spPr>
        <p:txBody>
          <a:bodyPr wrap="square" lIns="0" tIns="0" rIns="0" bIns="0" rtlCol="0" anchor="ctr"/>
          <a:lstStyle/>
          <a:p>
            <a:pPr indent="0" marL="0">
              <a:buNone/>
            </a:pPr>
            <a:r>
              <a:rPr lang="en-US" sz="1500" dirty="0">
                <a:solidFill>
                  <a:schemeClr val="tx2"/>
                </a:solidFill>
              </a:rPr>
              <a:t>Suggested solutions and the Excel answers are at the end of the notebook. Try each exercise first.</a:t>
            </a:r>
            <a:endParaRPr lang="en-US" sz="15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TRY IT IN EXCEL</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The same questions, answered in a spreadsheet</a:t>
            </a:r>
            <a:endParaRPr lang="en-US" sz="3400" dirty="0"/>
          </a:p>
        </p:txBody>
      </p:sp>
      <p:graphicFrame>
        <p:nvGraphicFramePr>
          <p:cNvPr id="15" name="Excel questions table"/>
          <p:cNvGraphicFramePr>
            <a:graphicFrameLocks noGrp="1"/>
          </p:cNvGraphicFramePr>
          <p:nvPr>
            <p:extLst>
              <p:ext uri="{D42A27DB-BD31-4B8C-83A1-F6EECF244321}">
                <p14:modId xmlns:p14="http://schemas.microsoft.com/office/powerpoint/2010/main" val="1579011935"/>
              </p:ext>
            </p:extLst>
          </p:nvPr>
        </p:nvGraphicFramePr>
        <p:xfrm>
          <a:off x="813816" y="1874520"/>
          <a:ext cx="10564063" cy="914400"/>
        </p:xfrm>
        <a:graphic>
          <a:graphicData uri="http://schemas.openxmlformats.org/drawingml/2006/table">
            <a:tbl>
              <a:tblPr/>
              <a:tblGrid>
                <a:gridCol w="457200"/>
                <a:gridCol w="5394960"/>
                <a:gridCol w="1645920"/>
                <a:gridCol w="3065983"/>
              </a:tblGrid>
              <a:tr h="329184">
                <a:tc>
                  <a:txBody>
                    <a:bodyPr/>
                    <a:lstStyle/>
                    <a:p>
                      <a:pPr indent="0" marL="0">
                        <a:buNone/>
                      </a:pPr>
                      <a:r>
                        <a:rPr lang="en-US" sz="1300" b="1" dirty="0">
                          <a:solidFill>
                            <a:schemeClr val="tx1"/>
                          </a:solidFill>
                        </a:rPr>
                        <a:t>#</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Question</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File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In Excel</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2"/>
                    </a:solidFill>
                  </a:tcPr>
                </a:tc>
              </a:tr>
              <a:tr h="329184">
                <a:tc>
                  <a:txBody>
                    <a:bodyPr/>
                    <a:lstStyle/>
                    <a:p>
                      <a:pPr indent="0" marL="0">
                        <a:buNone/>
                      </a:pPr>
                      <a:r>
                        <a:rPr lang="en-US" sz="1300" dirty="0">
                          <a:solidFill>
                            <a:schemeClr val="tx1"/>
                          </a:solidFill>
                        </a:rPr>
                        <a:t>1</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Which ships were caravels?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ships.csv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Filter</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2</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Which ships have no known captain?</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ships.csv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Filter: (Blanks)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3</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How many days did each voyage last? Sort longest first.</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voyages.csv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Formula, then Sort</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4</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How many landfalls on each voyage?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landfalls.csv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COUNTIF or PivotTable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5</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Which modern country appears most often?</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landfalls.csv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PivotTable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6</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Which place appears on more than one voyage?</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landfalls.csv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COUNTIF</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r h="329184">
                <a:tc>
                  <a:txBody>
                    <a:bodyPr/>
                    <a:lstStyle/>
                    <a:p>
                      <a:pPr indent="0" marL="0">
                        <a:buNone/>
                      </a:pPr>
                      <a:r>
                        <a:rPr lang="en-US" sz="1300" dirty="0">
                          <a:solidFill>
                            <a:schemeClr val="tx1"/>
                          </a:solidFill>
                        </a:rPr>
                        <a:t>7</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Make a bar chart of the voyage durations.</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voyages.csv</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c>
                  <a:txBody>
                    <a:bodyPr/>
                    <a:lstStyle/>
                    <a:p>
                      <a:pPr indent="0" marL="0">
                        <a:buNone/>
                      </a:pPr>
                      <a:r>
                        <a:rPr lang="en-US" sz="1300" dirty="0">
                          <a:solidFill>
                            <a:schemeClr val="tx1"/>
                          </a:solidFill>
                        </a:rPr>
                        <a:t>Insert › Bar chart</a:t>
                      </a:r>
                      <a:endParaRPr lang="en-US" sz="13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tcPr>
                </a:tc>
              </a:tr>
            </a:tbl>
          </a:graphicData>
        </a:graphic>
      </p:graphicFrame>
      <p:sp>
        <p:nvSpPr>
          <p:cNvPr id="5" name="Excel dates card"/>
          <p:cNvSpPr/>
          <p:nvPr/>
        </p:nvSpPr>
        <p:spPr>
          <a:xfrm>
            <a:off x="813816" y="4919472"/>
            <a:ext cx="10564063" cy="1097280"/>
          </a:xfrm>
          <a:prstGeom prst="roundRect">
            <a:avLst>
              <a:gd name="adj" fmla="val 10000"/>
            </a:avLst>
          </a:prstGeom>
          <a:solidFill>
            <a:srgbClr val="FBF8F1"/>
          </a:solidFill>
          <a:ln w="9525">
            <a:solidFill>
              <a:srgbClr val="DCD2BE"/>
            </a:solidFill>
            <a:prstDash val="solid"/>
          </a:ln>
        </p:spPr>
      </p:sp>
      <p:sp>
        <p:nvSpPr>
          <p:cNvPr id="6" name="Excel dates badge"/>
          <p:cNvSpPr/>
          <p:nvPr/>
        </p:nvSpPr>
        <p:spPr>
          <a:xfrm>
            <a:off x="1042416" y="5285232"/>
            <a:ext cx="365760" cy="365760"/>
          </a:xfrm>
          <a:prstGeom prst="ellipse">
            <a:avLst/>
          </a:prstGeom>
          <a:solidFill>
            <a:schemeClr val="accent1"/>
          </a:solidFill>
          <a:ln w="12700">
            <a:solidFill>
              <a:schemeClr val="accent1"/>
            </a:solidFill>
            <a:prstDash val="solid"/>
          </a:ln>
        </p:spPr>
      </p:sp>
      <p:sp>
        <p:nvSpPr>
          <p:cNvPr id="7" name="Text 4"/>
          <p:cNvSpPr txBox="1"/>
          <p:nvPr/>
        </p:nvSpPr>
        <p:spPr>
          <a:xfrm>
            <a:off x="1042416" y="5285232"/>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Excel dates tip"/>
          <p:cNvSpPr txBox="1"/>
          <p:nvPr/>
        </p:nvSpPr>
        <p:spPr>
          <a:xfrm>
            <a:off x="1591056" y="4919472"/>
            <a:ext cx="9558223" cy="1097280"/>
          </a:xfrm>
          <a:prstGeom prst="rect">
            <a:avLst/>
          </a:prstGeom>
          <a:noFill/>
          <a:ln/>
        </p:spPr>
        <p:txBody>
          <a:bodyPr wrap="square" lIns="0" tIns="0" rIns="0" bIns="0" rtlCol="0" anchor="ctr"/>
          <a:lstStyle/>
          <a:p>
            <a:pPr indent="0" marL="0">
              <a:spcAft>
                <a:spcPts val="400"/>
              </a:spcAft>
              <a:buNone/>
            </a:pPr>
            <a:r>
              <a:rPr lang="en-US" sz="1400" b="1" dirty="0">
                <a:solidFill>
                  <a:schemeClr val="tx2"/>
                </a:solidFill>
              </a:rPr>
              <a:t>Excel can't store dates before 1900, </a:t>
            </a:r>
            <a:pPr indent="0" marL="0">
              <a:spcAft>
                <a:spcPts val="400"/>
              </a:spcAft>
              <a:buNone/>
            </a:pPr>
            <a:r>
              <a:rPr lang="en-US" sz="1400" dirty="0">
                <a:solidFill>
                  <a:schemeClr val="tx2"/>
                </a:solidFill>
              </a:rPr>
              <a:t>so the dates open as text. For question 3, add 800 years (the leap years repeat every 400):</a:t>
            </a:r>
            <a:endParaRPr lang="en-US" sz="1400" dirty="0"/>
          </a:p>
          <a:p>
            <a:pPr indent="0" marL="0">
              <a:spcAft>
                <a:spcPts val="400"/>
              </a:spcAft>
              <a:buNone/>
            </a:pPr>
            <a:r>
              <a:rPr lang="en-US" sz="1200" dirty="0">
                <a:solidFill>
                  <a:schemeClr val="tx1"/>
                </a:solidFill>
                <a:latin typeface="Courier New" pitchFamily="34" charset="0"/>
                <a:ea typeface="Courier New" pitchFamily="34" charset="-122"/>
                <a:cs typeface="Courier New" pitchFamily="34" charset="-120"/>
              </a:rPr>
              <a:t>=DATE(LEFT(C2,4)+800,MID(C2,6,2),RIGHT(C2,2)) - DATE(LEFT(B2,4)+800,MID(B2,6,2),RIGHT(B2,2))</a:t>
            </a:r>
            <a:endParaRPr lang="en-US" sz="1400" dirty="0"/>
          </a:p>
        </p:txBody>
      </p:sp>
      <p:sp>
        <p:nvSpPr>
          <p:cNvPr id="9" name="CSV location"/>
          <p:cNvSpPr txBox="1"/>
          <p:nvPr/>
        </p:nvSpPr>
        <p:spPr>
          <a:xfrm>
            <a:off x="6400800" y="6263640"/>
            <a:ext cx="4297680" cy="320040"/>
          </a:xfrm>
          <a:prstGeom prst="rect">
            <a:avLst/>
          </a:prstGeom>
          <a:noFill/>
          <a:ln/>
        </p:spPr>
        <p:txBody>
          <a:bodyPr wrap="square" lIns="0" tIns="0" rIns="0" bIns="0" rtlCol="0" anchor="ctr"/>
          <a:lstStyle/>
          <a:p>
            <a:pPr algn="r" indent="0" marL="0">
              <a:buNone/>
            </a:pPr>
            <a:r>
              <a:rPr lang="en-US" sz="1100" dirty="0">
                <a:solidFill>
                  <a:srgbClr val="5A6378"/>
                </a:solidFill>
              </a:rPr>
              <a:t>CSV files in module-bd/columbus/</a:t>
            </a:r>
            <a:endParaRPr lang="en-US" sz="11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1"/>
                </a:solidFill>
              </a:rPr>
              <a:t>TRY IT IN EXCEL · ANSWERS</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Answers to the Excel questions</a:t>
            </a:r>
            <a:endParaRPr lang="en-US" sz="3400" dirty="0"/>
          </a:p>
        </p:txBody>
      </p:sp>
      <p:graphicFrame>
        <p:nvGraphicFramePr>
          <p:cNvPr id="16" name="Excel answers table"/>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457200"/>
                <a:gridCol w="4206240"/>
                <a:gridCol w="5900623"/>
              </a:tblGrid>
              <a:tr h="457200">
                <a:tc>
                  <a:txBody>
                    <a:bodyPr/>
                    <a:lstStyle/>
                    <a:p>
                      <a:pPr indent="0" marL="0">
                        <a:buNone/>
                      </a:pPr>
                      <a:r>
                        <a:rPr lang="en-US" sz="1400" b="1" dirty="0">
                          <a:solidFill>
                            <a:schemeClr val="tx1"/>
                          </a:solidFill>
                        </a:rPr>
                        <a:t>#</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rgbClr val="DCD2BE"/>
                    </a:solidFill>
                  </a:tcPr>
                </a:tc>
                <a:tc>
                  <a:txBody>
                    <a:bodyPr/>
                    <a:lstStyle/>
                    <a:p>
                      <a:pPr indent="0" marL="0">
                        <a:buNone/>
                      </a:pPr>
                      <a:r>
                        <a:rPr lang="en-US" sz="1400" b="1" dirty="0">
                          <a:solidFill>
                            <a:schemeClr val="tx1"/>
                          </a:solidFill>
                        </a:rPr>
                        <a:t>Question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rgbClr val="DCD2BE"/>
                    </a:solidFill>
                  </a:tcPr>
                </a:tc>
                <a:tc>
                  <a:txBody>
                    <a:bodyPr/>
                    <a:lstStyle/>
                    <a:p>
                      <a:pPr indent="0" marL="0">
                        <a:buNone/>
                      </a:pPr>
                      <a:r>
                        <a:rPr lang="en-US" sz="1400" b="1" dirty="0">
                          <a:solidFill>
                            <a:schemeClr val="tx1"/>
                          </a:solidFill>
                        </a:rPr>
                        <a:t>Answer</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rgbClr val="DCD2BE"/>
                    </a:solidFill>
                  </a:tcPr>
                </a:tc>
              </a:tr>
              <a:tr h="457200">
                <a:tc>
                  <a:txBody>
                    <a:bodyPr/>
                    <a:lstStyle/>
                    <a:p>
                      <a:pPr indent="0" marL="0">
                        <a:buNone/>
                      </a:pPr>
                      <a:r>
                        <a:rPr lang="en-US" sz="1400" dirty="0">
                          <a:solidFill>
                            <a:schemeClr val="tx1"/>
                          </a:solidFill>
                        </a:rPr>
                        <a:t>1</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ships were caravels?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Pinta, Nina, Capitana, Gallega, Vizcaina, Santiago de Palos (6 of 7)</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2</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ships have no known captain?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Gallega, Vizcaina, Santiago de Palos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3</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many days did each voyage last?</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Voyage 2: 991 · voyage 4: 910 · voyage 3: 815 · voyage 1: 213</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4</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many landfalls on each voyage?</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Voyage 1: 4 · voyage 2: 6 · voyage 3: 4 · voyage 4: 7</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5</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modern country appears most often?</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Dominican Republic, 3 times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6</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place appears on more than one voyage?</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Hispaniola, 3 times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7</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Bar chart of the voyage durations</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same ranking as the notebook's chart in Section 5</a:t>
                      </a:r>
                      <a:endParaRPr lang="en-US" sz="1400" dirty="0"/>
                    </a:p>
                  </a:txBody>
                  <a:tcPr marL="91440" marR="91440" marT="54864" marB="54864" anchor="ctr">
                    <a:lnL w="9525" cap="flat" cmpd="sng" algn="ctr">
                      <a:solidFill>
                        <a:srgbClr val="DCD2BE"/>
                      </a:solidFill>
                      <a:prstDash val="solid"/>
                      <a:round/>
                      <a:headEnd type="none" w="med" len="med"/>
                      <a:tailEnd type="none" w="med" len="med"/>
                    </a:lnL>
                    <a:lnR w="9525" cap="flat" cmpd="sng" algn="ctr">
                      <a:solidFill>
                        <a:srgbClr val="DCD2BE"/>
                      </a:solidFill>
                      <a:prstDash val="solid"/>
                      <a:round/>
                      <a:headEnd type="none" w="med" len="med"/>
                      <a:tailEnd type="none" w="med" len="med"/>
                    </a:lnR>
                    <a:lnT w="9525" cap="flat" cmpd="sng" algn="ctr">
                      <a:solidFill>
                        <a:srgbClr val="DCD2BE"/>
                      </a:solidFill>
                      <a:prstDash val="solid"/>
                      <a:round/>
                      <a:headEnd type="none" w="med" len="med"/>
                      <a:tailEnd type="none" w="med" len="med"/>
                    </a:lnT>
                    <a:lnB w="9525" cap="flat" cmpd="sng" algn="ctr">
                      <a:solidFill>
                        <a:srgbClr val="DCD2B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5A63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13816" y="566928"/>
            <a:ext cx="10564063"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RECAP</a:t>
            </a:r>
            <a:endParaRPr lang="en-US" sz="1300" dirty="0"/>
          </a:p>
        </p:txBody>
      </p:sp>
      <p:sp>
        <p:nvSpPr>
          <p:cNvPr id="3" name="Text 0"/>
          <p:cNvSpPr/>
          <p:nvPr>
            <p:ph idx="101" type="title" hasCustomPrompt="1"/>
          </p:nvPr>
        </p:nvSpPr>
        <p:spPr>
          <a:xfrm>
            <a:off x="813816" y="932688"/>
            <a:ext cx="10564063" cy="77724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A few commands cover most everyday work</a:t>
            </a:r>
            <a:endParaRPr lang="en-US" sz="3400" dirty="0"/>
          </a:p>
        </p:txBody>
      </p:sp>
      <p:sp>
        <p:nvSpPr>
          <p:cNvPr id="4" name="Command pill 1"/>
          <p:cNvSpPr/>
          <p:nvPr/>
        </p:nvSpPr>
        <p:spPr>
          <a:xfrm>
            <a:off x="813816" y="1965960"/>
            <a:ext cx="2642616" cy="548640"/>
          </a:xfrm>
          <a:prstGeom prst="roundRect">
            <a:avLst>
              <a:gd name="adj" fmla="val 16667"/>
            </a:avLst>
          </a:prstGeom>
          <a:solidFill>
            <a:srgbClr val="22325A"/>
          </a:solidFill>
          <a:ln w="12700">
            <a:solidFill>
              <a:srgbClr val="22325A"/>
            </a:solidFill>
            <a:prstDash val="solid"/>
          </a:ln>
        </p:spPr>
      </p:sp>
      <p:sp>
        <p:nvSpPr>
          <p:cNvPr id="5" name="Command 1"/>
          <p:cNvSpPr txBox="1"/>
          <p:nvPr/>
        </p:nvSpPr>
        <p:spPr>
          <a:xfrm>
            <a:off x="813816" y="1965960"/>
            <a:ext cx="2642616"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pandas.DataFrame()</a:t>
            </a:r>
            <a:endParaRPr lang="en-US" sz="1500" dirty="0"/>
          </a:p>
        </p:txBody>
      </p:sp>
      <p:sp>
        <p:nvSpPr>
          <p:cNvPr id="6" name="Command pill 2"/>
          <p:cNvSpPr/>
          <p:nvPr/>
        </p:nvSpPr>
        <p:spPr>
          <a:xfrm>
            <a:off x="3639312" y="1965960"/>
            <a:ext cx="1216152" cy="548640"/>
          </a:xfrm>
          <a:prstGeom prst="roundRect">
            <a:avLst>
              <a:gd name="adj" fmla="val 16667"/>
            </a:avLst>
          </a:prstGeom>
          <a:solidFill>
            <a:srgbClr val="22325A"/>
          </a:solidFill>
          <a:ln w="12700">
            <a:solidFill>
              <a:srgbClr val="22325A"/>
            </a:solidFill>
            <a:prstDash val="solid"/>
          </a:ln>
        </p:spPr>
      </p:sp>
      <p:sp>
        <p:nvSpPr>
          <p:cNvPr id="7" name="Command 2"/>
          <p:cNvSpPr txBox="1"/>
          <p:nvPr/>
        </p:nvSpPr>
        <p:spPr>
          <a:xfrm>
            <a:off x="3639312" y="1965960"/>
            <a:ext cx="1216152"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head()</a:t>
            </a:r>
            <a:endParaRPr lang="en-US" sz="1500" dirty="0"/>
          </a:p>
        </p:txBody>
      </p:sp>
      <p:sp>
        <p:nvSpPr>
          <p:cNvPr id="8" name="Command pill 3"/>
          <p:cNvSpPr/>
          <p:nvPr/>
        </p:nvSpPr>
        <p:spPr>
          <a:xfrm>
            <a:off x="5038344" y="1965960"/>
            <a:ext cx="1097280" cy="548640"/>
          </a:xfrm>
          <a:prstGeom prst="roundRect">
            <a:avLst>
              <a:gd name="adj" fmla="val 16667"/>
            </a:avLst>
          </a:prstGeom>
          <a:solidFill>
            <a:srgbClr val="22325A"/>
          </a:solidFill>
          <a:ln w="12700">
            <a:solidFill>
              <a:srgbClr val="22325A"/>
            </a:solidFill>
            <a:prstDash val="solid"/>
          </a:ln>
        </p:spPr>
      </p:sp>
      <p:sp>
        <p:nvSpPr>
          <p:cNvPr id="9" name="Command 3"/>
          <p:cNvSpPr txBox="1"/>
          <p:nvPr/>
        </p:nvSpPr>
        <p:spPr>
          <a:xfrm>
            <a:off x="5038344" y="1965960"/>
            <a:ext cx="1097280"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shape</a:t>
            </a:r>
            <a:endParaRPr lang="en-US" sz="1500" dirty="0"/>
          </a:p>
        </p:txBody>
      </p:sp>
      <p:sp>
        <p:nvSpPr>
          <p:cNvPr id="10" name="Command pill 4"/>
          <p:cNvSpPr/>
          <p:nvPr/>
        </p:nvSpPr>
        <p:spPr>
          <a:xfrm>
            <a:off x="6318504" y="1965960"/>
            <a:ext cx="1216152" cy="548640"/>
          </a:xfrm>
          <a:prstGeom prst="roundRect">
            <a:avLst>
              <a:gd name="adj" fmla="val 16667"/>
            </a:avLst>
          </a:prstGeom>
          <a:solidFill>
            <a:srgbClr val="22325A"/>
          </a:solidFill>
          <a:ln w="12700">
            <a:solidFill>
              <a:srgbClr val="22325A"/>
            </a:solidFill>
            <a:prstDash val="solid"/>
          </a:ln>
        </p:spPr>
      </p:sp>
      <p:sp>
        <p:nvSpPr>
          <p:cNvPr id="11" name="Command 4"/>
          <p:cNvSpPr txBox="1"/>
          <p:nvPr/>
        </p:nvSpPr>
        <p:spPr>
          <a:xfrm>
            <a:off x="6318504" y="1965960"/>
            <a:ext cx="1216152"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dtypes</a:t>
            </a:r>
            <a:endParaRPr lang="en-US" sz="1500" dirty="0"/>
          </a:p>
        </p:txBody>
      </p:sp>
      <p:sp>
        <p:nvSpPr>
          <p:cNvPr id="12" name="Command pill 5"/>
          <p:cNvSpPr/>
          <p:nvPr/>
        </p:nvSpPr>
        <p:spPr>
          <a:xfrm>
            <a:off x="7717536" y="1965960"/>
            <a:ext cx="1572768" cy="548640"/>
          </a:xfrm>
          <a:prstGeom prst="roundRect">
            <a:avLst>
              <a:gd name="adj" fmla="val 16667"/>
            </a:avLst>
          </a:prstGeom>
          <a:solidFill>
            <a:srgbClr val="22325A"/>
          </a:solidFill>
          <a:ln w="12700">
            <a:solidFill>
              <a:srgbClr val="22325A"/>
            </a:solidFill>
            <a:prstDash val="solid"/>
          </a:ln>
        </p:spPr>
      </p:sp>
      <p:sp>
        <p:nvSpPr>
          <p:cNvPr id="13" name="Command 5"/>
          <p:cNvSpPr txBox="1"/>
          <p:nvPr/>
        </p:nvSpPr>
        <p:spPr>
          <a:xfrm>
            <a:off x="7717536" y="1965960"/>
            <a:ext cx="1572768"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df["col"]</a:t>
            </a:r>
            <a:endParaRPr lang="en-US" sz="1500" dirty="0"/>
          </a:p>
        </p:txBody>
      </p:sp>
      <p:sp>
        <p:nvSpPr>
          <p:cNvPr id="14" name="Command pill 6"/>
          <p:cNvSpPr/>
          <p:nvPr/>
        </p:nvSpPr>
        <p:spPr>
          <a:xfrm>
            <a:off x="9473184" y="1965960"/>
            <a:ext cx="1335024" cy="548640"/>
          </a:xfrm>
          <a:prstGeom prst="roundRect">
            <a:avLst>
              <a:gd name="adj" fmla="val 16667"/>
            </a:avLst>
          </a:prstGeom>
          <a:solidFill>
            <a:srgbClr val="22325A"/>
          </a:solidFill>
          <a:ln w="12700">
            <a:solidFill>
              <a:srgbClr val="22325A"/>
            </a:solidFill>
            <a:prstDash val="solid"/>
          </a:ln>
        </p:spPr>
      </p:sp>
      <p:sp>
        <p:nvSpPr>
          <p:cNvPr id="15" name="Command 6"/>
          <p:cNvSpPr txBox="1"/>
          <p:nvPr/>
        </p:nvSpPr>
        <p:spPr>
          <a:xfrm>
            <a:off x="9473184" y="1965960"/>
            <a:ext cx="1335024"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.loc[ ]</a:t>
            </a:r>
            <a:endParaRPr lang="en-US" sz="1500" dirty="0"/>
          </a:p>
        </p:txBody>
      </p:sp>
      <p:sp>
        <p:nvSpPr>
          <p:cNvPr id="16" name="Command pill 7"/>
          <p:cNvSpPr/>
          <p:nvPr/>
        </p:nvSpPr>
        <p:spPr>
          <a:xfrm>
            <a:off x="813816" y="2697480"/>
            <a:ext cx="2048256" cy="548640"/>
          </a:xfrm>
          <a:prstGeom prst="roundRect">
            <a:avLst>
              <a:gd name="adj" fmla="val 16667"/>
            </a:avLst>
          </a:prstGeom>
          <a:solidFill>
            <a:srgbClr val="22325A"/>
          </a:solidFill>
          <a:ln w="12700">
            <a:solidFill>
              <a:srgbClr val="22325A"/>
            </a:solidFill>
            <a:prstDash val="solid"/>
          </a:ln>
        </p:spPr>
      </p:sp>
      <p:sp>
        <p:nvSpPr>
          <p:cNvPr id="17" name="Command 7"/>
          <p:cNvSpPr txBox="1"/>
          <p:nvPr/>
        </p:nvSpPr>
        <p:spPr>
          <a:xfrm>
            <a:off x="813816" y="2697480"/>
            <a:ext cx="2048256"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df[condition]</a:t>
            </a:r>
            <a:endParaRPr lang="en-US" sz="1500" dirty="0"/>
          </a:p>
        </p:txBody>
      </p:sp>
      <p:sp>
        <p:nvSpPr>
          <p:cNvPr id="18" name="Command pill 8"/>
          <p:cNvSpPr/>
          <p:nvPr/>
        </p:nvSpPr>
        <p:spPr>
          <a:xfrm>
            <a:off x="3044952" y="2697480"/>
            <a:ext cx="1929384" cy="548640"/>
          </a:xfrm>
          <a:prstGeom prst="roundRect">
            <a:avLst>
              <a:gd name="adj" fmla="val 16667"/>
            </a:avLst>
          </a:prstGeom>
          <a:solidFill>
            <a:srgbClr val="22325A"/>
          </a:solidFill>
          <a:ln w="12700">
            <a:solidFill>
              <a:srgbClr val="22325A"/>
            </a:solidFill>
            <a:prstDash val="solid"/>
          </a:ln>
        </p:spPr>
      </p:sp>
      <p:sp>
        <p:nvSpPr>
          <p:cNvPr id="19" name="Command 8"/>
          <p:cNvSpPr txBox="1"/>
          <p:nvPr/>
        </p:nvSpPr>
        <p:spPr>
          <a:xfrm>
            <a:off x="3044952" y="2697480"/>
            <a:ext cx="1929384"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isna().sum()</a:t>
            </a:r>
            <a:endParaRPr lang="en-US" sz="1500" dirty="0"/>
          </a:p>
        </p:txBody>
      </p:sp>
      <p:sp>
        <p:nvSpPr>
          <p:cNvPr id="20" name="Command pill 9"/>
          <p:cNvSpPr/>
          <p:nvPr/>
        </p:nvSpPr>
        <p:spPr>
          <a:xfrm>
            <a:off x="5157216" y="2697480"/>
            <a:ext cx="2048256" cy="548640"/>
          </a:xfrm>
          <a:prstGeom prst="roundRect">
            <a:avLst>
              <a:gd name="adj" fmla="val 16667"/>
            </a:avLst>
          </a:prstGeom>
          <a:solidFill>
            <a:srgbClr val="22325A"/>
          </a:solidFill>
          <a:ln w="12700">
            <a:solidFill>
              <a:srgbClr val="22325A"/>
            </a:solidFill>
            <a:prstDash val="solid"/>
          </a:ln>
        </p:spPr>
      </p:sp>
      <p:sp>
        <p:nvSpPr>
          <p:cNvPr id="21" name="Command 9"/>
          <p:cNvSpPr txBox="1"/>
          <p:nvPr/>
        </p:nvSpPr>
        <p:spPr>
          <a:xfrm>
            <a:off x="5157216" y="2697480"/>
            <a:ext cx="2048256"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to_datetime()</a:t>
            </a:r>
            <a:endParaRPr lang="en-US" sz="1500" dirty="0"/>
          </a:p>
        </p:txBody>
      </p:sp>
      <p:sp>
        <p:nvSpPr>
          <p:cNvPr id="22" name="Command pill 10"/>
          <p:cNvSpPr/>
          <p:nvPr/>
        </p:nvSpPr>
        <p:spPr>
          <a:xfrm>
            <a:off x="7388352" y="2697480"/>
            <a:ext cx="2048256" cy="548640"/>
          </a:xfrm>
          <a:prstGeom prst="roundRect">
            <a:avLst>
              <a:gd name="adj" fmla="val 16667"/>
            </a:avLst>
          </a:prstGeom>
          <a:solidFill>
            <a:srgbClr val="22325A"/>
          </a:solidFill>
          <a:ln w="12700">
            <a:solidFill>
              <a:srgbClr val="22325A"/>
            </a:solidFill>
            <a:prstDash val="solid"/>
          </a:ln>
        </p:spPr>
      </p:sp>
      <p:sp>
        <p:nvSpPr>
          <p:cNvPr id="23" name="Command 10"/>
          <p:cNvSpPr txBox="1"/>
          <p:nvPr/>
        </p:nvSpPr>
        <p:spPr>
          <a:xfrm>
            <a:off x="7388352" y="2697480"/>
            <a:ext cx="2048256"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sort_values()</a:t>
            </a:r>
            <a:endParaRPr lang="en-US" sz="1500" dirty="0"/>
          </a:p>
        </p:txBody>
      </p:sp>
      <p:sp>
        <p:nvSpPr>
          <p:cNvPr id="24" name="Command pill 11"/>
          <p:cNvSpPr/>
          <p:nvPr/>
        </p:nvSpPr>
        <p:spPr>
          <a:xfrm>
            <a:off x="813816" y="3429000"/>
            <a:ext cx="2167128" cy="548640"/>
          </a:xfrm>
          <a:prstGeom prst="roundRect">
            <a:avLst>
              <a:gd name="adj" fmla="val 16667"/>
            </a:avLst>
          </a:prstGeom>
          <a:solidFill>
            <a:srgbClr val="22325A"/>
          </a:solidFill>
          <a:ln w="12700">
            <a:solidFill>
              <a:srgbClr val="22325A"/>
            </a:solidFill>
            <a:prstDash val="solid"/>
          </a:ln>
        </p:spPr>
      </p:sp>
      <p:sp>
        <p:nvSpPr>
          <p:cNvPr id="25" name="Command 11"/>
          <p:cNvSpPr txBox="1"/>
          <p:nvPr/>
        </p:nvSpPr>
        <p:spPr>
          <a:xfrm>
            <a:off x="813816" y="3429000"/>
            <a:ext cx="2167128"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value_counts()</a:t>
            </a:r>
            <a:endParaRPr lang="en-US" sz="1500" dirty="0"/>
          </a:p>
        </p:txBody>
      </p:sp>
      <p:sp>
        <p:nvSpPr>
          <p:cNvPr id="26" name="Command pill 12"/>
          <p:cNvSpPr/>
          <p:nvPr/>
        </p:nvSpPr>
        <p:spPr>
          <a:xfrm>
            <a:off x="3163824" y="3429000"/>
            <a:ext cx="1572768" cy="548640"/>
          </a:xfrm>
          <a:prstGeom prst="roundRect">
            <a:avLst>
              <a:gd name="adj" fmla="val 16667"/>
            </a:avLst>
          </a:prstGeom>
          <a:solidFill>
            <a:srgbClr val="22325A"/>
          </a:solidFill>
          <a:ln w="12700">
            <a:solidFill>
              <a:srgbClr val="22325A"/>
            </a:solidFill>
            <a:prstDash val="solid"/>
          </a:ln>
        </p:spPr>
      </p:sp>
      <p:sp>
        <p:nvSpPr>
          <p:cNvPr id="27" name="Command 12"/>
          <p:cNvSpPr txBox="1"/>
          <p:nvPr/>
        </p:nvSpPr>
        <p:spPr>
          <a:xfrm>
            <a:off x="3163824" y="3429000"/>
            <a:ext cx="1572768"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groupby()</a:t>
            </a:r>
            <a:endParaRPr lang="en-US" sz="1500" dirty="0"/>
          </a:p>
        </p:txBody>
      </p:sp>
      <p:sp>
        <p:nvSpPr>
          <p:cNvPr id="28" name="Command pill 13"/>
          <p:cNvSpPr/>
          <p:nvPr/>
        </p:nvSpPr>
        <p:spPr>
          <a:xfrm>
            <a:off x="4919472" y="3429000"/>
            <a:ext cx="1335024" cy="548640"/>
          </a:xfrm>
          <a:prstGeom prst="roundRect">
            <a:avLst>
              <a:gd name="adj" fmla="val 16667"/>
            </a:avLst>
          </a:prstGeom>
          <a:solidFill>
            <a:srgbClr val="22325A"/>
          </a:solidFill>
          <a:ln w="12700">
            <a:solidFill>
              <a:srgbClr val="22325A"/>
            </a:solidFill>
            <a:prstDash val="solid"/>
          </a:ln>
        </p:spPr>
      </p:sp>
      <p:sp>
        <p:nvSpPr>
          <p:cNvPr id="29" name="Command 13"/>
          <p:cNvSpPr txBox="1"/>
          <p:nvPr/>
        </p:nvSpPr>
        <p:spPr>
          <a:xfrm>
            <a:off x="4919472" y="3429000"/>
            <a:ext cx="1335024" cy="548640"/>
          </a:xfrm>
          <a:prstGeom prst="rect">
            <a:avLst/>
          </a:prstGeom>
          <a:noFill/>
          <a:ln/>
        </p:spPr>
        <p:txBody>
          <a:bodyPr wrap="square" lIns="0" tIns="0" rIns="0" bIns="0" rtlCol="0" anchor="ctr"/>
          <a:lstStyle/>
          <a:p>
            <a:pPr algn="ctr" indent="0" marL="0">
              <a:buNone/>
            </a:pPr>
            <a:r>
              <a:rPr lang="en-US" sz="1500" dirty="0">
                <a:solidFill>
                  <a:schemeClr val="bg1"/>
                </a:solidFill>
                <a:latin typeface="Courier New" pitchFamily="34" charset="0"/>
                <a:ea typeface="Courier New" pitchFamily="34" charset="-122"/>
                <a:cs typeface="Courier New" pitchFamily="34" charset="-120"/>
              </a:rPr>
              <a:t>merge()</a:t>
            </a:r>
            <a:endParaRPr lang="en-US" sz="1500" dirty="0"/>
          </a:p>
        </p:txBody>
      </p:sp>
      <p:sp>
        <p:nvSpPr>
          <p:cNvPr id="30" name="Next step"/>
          <p:cNvSpPr txBox="1"/>
          <p:nvPr/>
        </p:nvSpPr>
        <p:spPr>
          <a:xfrm>
            <a:off x="813816" y="5257800"/>
            <a:ext cx="10564063" cy="548640"/>
          </a:xfrm>
          <a:prstGeom prst="rect">
            <a:avLst/>
          </a:prstGeom>
          <a:noFill/>
          <a:ln/>
        </p:spPr>
        <p:txBody>
          <a:bodyPr wrap="square" lIns="0" tIns="0" rIns="0" bIns="0" rtlCol="0" anchor="ctr"/>
          <a:lstStyle/>
          <a:p>
            <a:pPr indent="0" marL="0">
              <a:buNone/>
            </a:pPr>
            <a:r>
              <a:rPr lang="en-US" sz="2000" b="1" dirty="0">
                <a:solidFill>
                  <a:schemeClr val="accent3"/>
                </a:solidFill>
              </a:rPr>
              <a:t>Next: Session 1. </a:t>
            </a:r>
            <a:pPr indent="0" marL="0">
              <a:buNone/>
            </a:pPr>
            <a:r>
              <a:rPr lang="en-US" sz="2000" dirty="0">
                <a:solidFill>
                  <a:srgbClr val="C9D1E0"/>
                </a:solidFill>
              </a:rPr>
              <a:t>The same tools, on real system data.</a:t>
            </a:r>
            <a:endParaRPr lang="en-US" sz="2000" dirty="0"/>
          </a:p>
        </p:txBody>
      </p:sp>
      <p:sp>
        <p:nvSpPr>
          <p:cNvPr id="25" name="Slide Number Placeholder 0"/>
          <p:cNvSpPr>
            <a:spLocks noGrp="1"/>
          </p:cNvSpPr>
          <p:nvPr>
            <p:ph type="sldNum" sz="quarter" idx="4294967295"/>
          </p:nvPr>
        </p:nvSpPr>
        <p:spPr>
          <a:xfrm>
            <a:off x="10829239" y="6263640"/>
            <a:ext cx="548640" cy="32004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9FB0C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lumbus Warm-up">
  <a:themeElements>
    <a:clrScheme name="Columbus Warm-up">
      <a:dk1>
        <a:srgbClr val="14213D"/>
      </a:dk1>
      <a:lt1>
        <a:srgbClr val="F5EFE3"/>
      </a:lt1>
      <a:dk2>
        <a:srgbClr val="3E4A61"/>
      </a:dk2>
      <a:lt2>
        <a:srgbClr val="EBE3D2"/>
      </a:lt2>
      <a:accent1>
        <a:srgbClr val="9A4F12"/>
      </a:accent1>
      <a:accent2>
        <a:srgbClr val="2A78D6"/>
      </a:accent2>
      <a:accent3>
        <a:srgbClr val="E8B36A"/>
      </a:accent3>
      <a:accent4>
        <a:srgbClr val="1BAF7A"/>
      </a:accent4>
      <a:accent5>
        <a:srgbClr val="4A3AA7"/>
      </a:accent5>
      <a:accent6>
        <a:srgbClr val="A3301F"/>
      </a:accent6>
      <a:hlink>
        <a:srgbClr val="2A78D6"/>
      </a:hlink>
      <a:folHlink>
        <a:srgbClr val="4A3AA7"/>
      </a:folHlink>
    </a:clrScheme>
    <a:fontScheme name="Columbus Warm-u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Pandas Warm-up: Columbus's Voyages</dc:title>
  <dc:subject>DeapSECURE Big Data module, warm-up exercise</dc:subject>
  <dc:creator>PptxGenJS</dc:creator>
  <cp:lastModifiedBy>PptxGenJS</cp:lastModifiedBy>
  <cp:revision>1</cp:revision>
  <dcterms:created xsi:type="dcterms:W3CDTF">2026-10-12T17:22:27Z</dcterms:created>
  <dcterms:modified xsi:type="dcterms:W3CDTF">2026-10-12T17:22:27Z</dcterms:modified>
</cp:coreProperties>
</file>
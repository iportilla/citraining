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1" r:id="rId3"/>
    <p:sldId id="257" r:id="rId4"/>
    <p:sldId id="258" r:id="rId5"/>
    <p:sldId id="259" r:id="rId6"/>
    <p:sldId id="260" r:id="rId7"/>
    <p:sldId id="261" r:id="rId8"/>
    <p:sldId id="262" r:id="rId9"/>
    <p:sldId id="263" r:id="rId10"/>
    <p:sldId id="264" r:id="rId11"/>
    <p:sldId id="265" r:id="rId12"/>
    <p:sldId id="266" r:id="rId13"/>
    <p:sldId id="267" r:id="rId14"/>
    <p:sldId id="268" r:id="rId15"/>
    <p:sldId id="270"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2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40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Before we load real security data, we warm up with a table small enough to check by eye: the four voyages of Columbus to the Americas. The data comes from the Wikipedia article on his voyages. Everything students learn here (creating a DataFrame, inspecting it, filtering, grouping, plotting) is used again in Session 1 on real data. The picture shows the two kinds of ship in the SHIPS table: the carrack was larger, with high castles at bow and stern; the caravel was smaller, lower and faster. Many caravels, like the Pinta, carried square sails as well as the triangular lateen sails drawn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routes of the four voyages, from Spain to the Caribbean and back. The first voyage reached the Bahamas, Cuba and Hispaniola. The second explored the Lesser Antilles, Puerto Rico and Jamaica. The third reached Trinidad and the coast of Venezuela. The fourth sailed along Central America and ended with the crew stranded on Jamaica for about a year. These are the voyages, ships and landfalls in the notebook's three tables.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skills the notebook covers, in order. None of them needs a large dataset: three small tables (voyages, ships, landfalls) are enough. Point out that every one of these commands comes back in Sessions 1 to 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table has one row per voyage. Ask students: which part of the output is the index, and which are the column labels? We never gave pandas an index, so it numbered the rows from 0. All the lists must have the same length, otherwise pandas raises an error.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Exercises 2.1 and 2.2 ask for the shape and the data types. The key observation is that depart_date and return_date come out as text (str), not as dates. Ask students whether they could subtract one from the other, then tell them we come back to this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column comes back as a Series; several columns come back as a DataFrame. .loc selects by label and .iloc by position. With the default index they look the same, which is a good moment to remind students that Session 1 shows a Series with an irregular index where they differ. Exercises 3.1 and 3.2.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comparison on a column gives a boolean Series, one True or False per row. Putting it inside the brackets keeps only the True rows. The missing captains are intentional: real data always has gaps, and isna().sum() is the first way to find them. On the first voyage Columbus commanded from the Santa Maria, which Juan de la Cosa owned. Exercises 4.1 to 4.4.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pandas.to_datetime turns text like 1492-08-03 into real dates. Subtracting two date columns gives a duration, and .dt.days turns it into a whole number of days. Assigning to a new column name adds that column. Exercise 5.1 builds duration_days and 5.2 sorts by it. Dates follow the Wikipedia infobox where the article text disagrees.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cell needs the duration_days column from Exercise 5.1, so students must finish that first or they get a KeyError. The data is sorted before plotting so the ranking is easy to read; ask students to try it unsorted. The 4th voyage comes second partly because the crew was stranded on Jamaica for about a year. Exercise 5.3 repeats the chart for num_ships.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LANDFALLS has one row per event, the same shape as most real datasets: security logs have one row per connection or login. groupby splits the rows by voyage and count summarizes each group. value_counts counts how often each value appears. Only the main landfalls are listed, not every island. Exercises 6.1 to 6.4; the challenge finds each voyage's first and last landfall date with agg min and max.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adds approximate lat and lon columns by assigning lists, then draws the map with plotly, which works offline. Like pandas, plotly takes the DataFrame and the names of its columns. In the notebook the map is interactive: hover a point to see the place and date. Hispaniola shows as three points because each voyage landed somewhere different. If plotly is missing on the cluster, run pip install plotly first. Exercise 7.1 maps only the first voyage.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tables share the column voyage, so merge can join them on it, like a SQL JOIN. The default is an inner join: only voyage numbers found in both tables survive. SHIPS lists ships for voyages 1 and 4 only, so voyages 2 and 3 drop out. With how="outer" or how="right" they come back, with NaN in the ship columns. Session 2 covers merge in detail.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through the notebook. Remind them that the duration plot needs Exercise 5.1 done first. Fast finishers can try the 6.4 challenge and the merge question in Section 8. Section 9 repeats seven of the questions in Excel on the CSV files in the columbus folder, then Exercise 9.1 loads one of them back into pandas with read_csv.</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CSV files in module-bd/columbus hold the same tables as the notebook: voyages.csv, ships.csv and landfalls.csv. Answers: 1. Pinta, Nina, Capitana, Gallega, Vizcaina and Santiago de Palos (6 caravels; only the Santa Maria is a carrack). 2. Gallega, Vizcaina and Santiago de Palos. 3. Voyage 2: 991 days, voyage 4: 910, voyage 3: 815, voyage 1: 213. 4. Voyage 1: 4, voyage 2: 6, voyage 3: 4, voyage 4: 7. 5. Dominican Republic, 3 times. 6. Hispaniola, 3 times. 7. The chart should match the one from the notebook. Discussion point: pandas handles dates from 1492 directly, while Excel needs a workaround. Spreadsheets are fine for 21 rows; the next sessions use datasets with hundreds of thousands of rows, where pandas is the better tool.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after students have tried the questions. Every answer matches what pandas gives in the notebook. Only the Santa Maria is a carrack. For question 3, students who subtracted the dates directly will have hit the pre-1900 problem; the 800-year shift gives exactly the same day counts as pandas. Question 5 is also Exercise 9.1 in the notebook, where students check it with read_csv and value_counts.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pointing out that none of these commands is specific to history data. In Session 1 students load CPU and memory measurements with read_csv and use the same selection, filtering and plotting tools.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EF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20096"/>
            <a:ext cx="10566466" cy="4673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92216"/>
            <a:ext cx="10566433" cy="4152984"/>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20096"/>
            <a:ext cx="10566466" cy="4673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92216"/>
            <a:ext cx="10566433" cy="4152984"/>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1593908"/>
            <a:ext cx="444754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DEAPSECURE · BIG DATA · WARM-UP</a:t>
            </a:r>
            <a:endParaRPr lang="en-US" sz="1300" dirty="0"/>
          </a:p>
        </p:txBody>
      </p:sp>
      <p:sp>
        <p:nvSpPr>
          <p:cNvPr id="3" name="Text 1"/>
          <p:cNvSpPr>
            <a:spLocks noGrp="1"/>
          </p:cNvSpPr>
          <p:nvPr>
            <p:ph type="title"/>
          </p:nvPr>
        </p:nvSpPr>
        <p:spPr>
          <a:xfrm>
            <a:off x="812767" y="2028238"/>
            <a:ext cx="4447540" cy="1447783"/>
          </a:xfrm>
          <a:prstGeom prst="rect">
            <a:avLst/>
          </a:prstGeom>
          <a:noFill/>
          <a:ln/>
        </p:spPr>
        <p:txBody>
          <a:bodyPr wrap="square" lIns="0" tIns="0" rIns="0" bIns="0" rtlCol="0" anchor="t">
            <a:normAutofit/>
          </a:bodyPr>
          <a:lstStyle/>
          <a:p>
            <a:pPr marL="0" indent="0" algn="l">
              <a:lnSpc>
                <a:spcPts val="5600"/>
              </a:lnSpc>
              <a:buNone/>
            </a:pPr>
            <a:r>
              <a:rPr lang="en-US" sz="5600" b="1" i="0" dirty="0">
                <a:solidFill>
                  <a:srgbClr val="14213D"/>
                </a:solidFill>
                <a:latin typeface="EB Garamond" pitchFamily="18" charset="0"/>
                <a:ea typeface="EB Garamond" pitchFamily="18" charset="-122"/>
                <a:cs typeface="EB Garamond" pitchFamily="18" charset="-120"/>
              </a:rPr>
              <a:t>Your First DataFrame</a:t>
            </a:r>
            <a:endParaRPr lang="en-US" sz="5600" dirty="0"/>
          </a:p>
        </p:txBody>
      </p:sp>
      <p:sp>
        <p:nvSpPr>
          <p:cNvPr id="4" name="Text 2"/>
          <p:cNvSpPr/>
          <p:nvPr/>
        </p:nvSpPr>
        <p:spPr>
          <a:xfrm>
            <a:off x="812767" y="3653813"/>
            <a:ext cx="4447540" cy="695871"/>
          </a:xfrm>
          <a:prstGeom prst="rect">
            <a:avLst/>
          </a:prstGeom>
          <a:noFill/>
          <a:ln/>
        </p:spPr>
        <p:txBody>
          <a:bodyPr wrap="square" lIns="0" tIns="0" rIns="0" bIns="0" rtlCol="0" anchor="t">
            <a:normAutofit/>
          </a:bodyPr>
          <a:lstStyle/>
          <a:p>
            <a:pPr marL="0" indent="0" algn="l">
              <a:lnSpc>
                <a:spcPts val="2640"/>
              </a:lnSpc>
              <a:buNone/>
            </a:pPr>
            <a:r>
              <a:rPr lang="en-US" sz="2200" i="1" dirty="0">
                <a:solidFill>
                  <a:srgbClr val="14213D"/>
                </a:solidFill>
                <a:latin typeface="EB Garamond" pitchFamily="18" charset="0"/>
                <a:ea typeface="EB Garamond" pitchFamily="18" charset="-122"/>
                <a:cs typeface="EB Garamond" pitchFamily="18" charset="-120"/>
              </a:rPr>
              <a:t>with the four voyages of Christopher Columbus, 1492–1504</a:t>
            </a:r>
            <a:endParaRPr lang="en-US" sz="2200" dirty="0"/>
          </a:p>
        </p:txBody>
      </p:sp>
      <p:sp>
        <p:nvSpPr>
          <p:cNvPr id="5" name="Text 3"/>
          <p:cNvSpPr/>
          <p:nvPr/>
        </p:nvSpPr>
        <p:spPr>
          <a:xfrm>
            <a:off x="812767" y="4527476"/>
            <a:ext cx="4447540" cy="558783"/>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61"/>
                </a:solidFill>
                <a:latin typeface="IBM Plex Sans" pitchFamily="34" charset="0"/>
                <a:ea typeface="IBM Plex Sans" pitchFamily="34" charset="-122"/>
                <a:cs typeface="IBM Plex Sans" pitchFamily="34" charset="-120"/>
              </a:rPr>
              <a:t>A short pandas exercise before Session 1, using small tables you can check by eye.</a:t>
            </a:r>
            <a:endParaRPr lang="en-US" sz="1500" dirty="0"/>
          </a:p>
        </p:txBody>
      </p:sp>
      <p:sp>
        <p:nvSpPr>
          <p:cNvPr id="6" name="Shape 4"/>
          <p:cNvSpPr/>
          <p:nvPr/>
        </p:nvSpPr>
        <p:spPr>
          <a:xfrm>
            <a:off x="5641942" y="1392320"/>
            <a:ext cx="5734033" cy="3306233"/>
          </a:xfrm>
          <a:prstGeom prst="roundRect">
            <a:avLst>
              <a:gd name="adj" fmla="val 2977"/>
            </a:avLst>
          </a:prstGeom>
          <a:solidFill>
            <a:srgbClr val="FBF8F1"/>
          </a:solidFill>
          <a:ln w="6350">
            <a:solidFill>
              <a:srgbClr val="DCD2BE"/>
            </a:solidFill>
            <a:prstDash val="solid"/>
          </a:ln>
        </p:spPr>
        <p:txBody>
          <a:bodyPr/>
          <a:lstStyle/>
          <a:p>
            <a:endParaRPr lang="en-US"/>
          </a:p>
        </p:txBody>
      </p:sp>
      <p:pic>
        <p:nvPicPr>
          <p:cNvPr id="7" name="Image 0" descr="Illustration of two ship types: on the left a carrack with high castles at bow and stern, two square sails and a triangular sail; on the right a smaller, lower caravel with three triangular lateen sails"/>
          <p:cNvPicPr>
            <a:picLocks noChangeAspect="1"/>
          </p:cNvPicPr>
          <p:nvPr/>
        </p:nvPicPr>
        <p:blipFill>
          <a:blip r:embed="rId3"/>
          <a:srcRect/>
          <a:stretch/>
        </p:blipFill>
        <p:spPr>
          <a:xfrm>
            <a:off x="5644059" y="1394437"/>
            <a:ext cx="5740383" cy="3302000"/>
          </a:xfrm>
          <a:custGeom>
            <a:avLst/>
            <a:gdLst/>
            <a:ahLst/>
            <a:cxnLst/>
            <a:rect l="l" t="t" r="r" b="b"/>
            <a:pathLst>
              <a:path w="5740383" h="3302000">
                <a:moveTo>
                  <a:pt x="0" y="96308"/>
                </a:moveTo>
                <a:arcTo wR="96308" hR="96308" stAng="10800000" swAng="5400000"/>
                <a:lnTo>
                  <a:pt x="5740383" y="0"/>
                </a:lnTo>
                <a:lnTo>
                  <a:pt x="5740383" y="3302000"/>
                </a:lnTo>
                <a:lnTo>
                  <a:pt x="96308" y="3302000"/>
                </a:lnTo>
                <a:arcTo wR="96308" hR="96308" stAng="5400000" swAng="5400000"/>
                <a:close/>
              </a:path>
            </a:pathLst>
          </a:custGeom>
        </p:spPr>
      </p:pic>
      <p:sp>
        <p:nvSpPr>
          <p:cNvPr id="8" name="Text 5"/>
          <p:cNvSpPr/>
          <p:nvPr/>
        </p:nvSpPr>
        <p:spPr>
          <a:xfrm>
            <a:off x="5638767" y="4803304"/>
            <a:ext cx="2851632" cy="487677"/>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E4A61"/>
                </a:solidFill>
                <a:latin typeface="IBM Plex Sans" pitchFamily="34" charset="0"/>
                <a:ea typeface="IBM Plex Sans" pitchFamily="34" charset="-122"/>
                <a:cs typeface="IBM Plex Sans" pitchFamily="34" charset="-120"/>
              </a:rPr>
              <a:t>Carrack:</a:t>
            </a:r>
            <a:r>
              <a:rPr lang="en-US" sz="1300" dirty="0">
                <a:solidFill>
                  <a:srgbClr val="3E4A61"/>
                </a:solidFill>
                <a:latin typeface="IBM Plex Sans" pitchFamily="34" charset="0"/>
                <a:ea typeface="IBM Plex Sans" pitchFamily="34" charset="-122"/>
                <a:cs typeface="IBM Plex Sans" pitchFamily="34" charset="-120"/>
              </a:rPr>
              <a:t> large, high castles (the Santa María)</a:t>
            </a:r>
            <a:endParaRPr lang="en-US" sz="1300" dirty="0"/>
          </a:p>
        </p:txBody>
      </p:sp>
      <p:sp>
        <p:nvSpPr>
          <p:cNvPr id="9" name="Text 6"/>
          <p:cNvSpPr/>
          <p:nvPr/>
        </p:nvSpPr>
        <p:spPr>
          <a:xfrm>
            <a:off x="8527475" y="4803304"/>
            <a:ext cx="2851675" cy="487677"/>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3E4A61"/>
                </a:solidFill>
                <a:latin typeface="IBM Plex Sans" pitchFamily="34" charset="0"/>
                <a:ea typeface="IBM Plex Sans" pitchFamily="34" charset="-122"/>
                <a:cs typeface="IBM Plex Sans" pitchFamily="34" charset="-120"/>
              </a:rPr>
              <a:t>Caravel:</a:t>
            </a:r>
            <a:r>
              <a:rPr lang="en-US" sz="1300" dirty="0">
                <a:solidFill>
                  <a:srgbClr val="3E4A61"/>
                </a:solidFill>
                <a:latin typeface="IBM Plex Sans" pitchFamily="34" charset="0"/>
                <a:ea typeface="IBM Plex Sans" pitchFamily="34" charset="-122"/>
                <a:cs typeface="IBM Plex Sans" pitchFamily="34" charset="-120"/>
              </a:rPr>
              <a:t> small and fast (the Pinta, the Niña)</a:t>
            </a:r>
            <a:endParaRPr lang="en-US" sz="1300" dirty="0"/>
          </a:p>
        </p:txBody>
      </p:sp>
      <p:sp>
        <p:nvSpPr>
          <p:cNvPr id="10" name="Text 7"/>
          <p:cNvSpPr/>
          <p:nvPr/>
        </p:nvSpPr>
        <p:spPr>
          <a:xfrm>
            <a:off x="812767" y="6238296"/>
            <a:ext cx="10883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Notebook: BigData-warmup-columbus.ipynb · Slides: slides/Pandas-Warmup-Columbus.pdf (also .pptx)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3">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THE VOYAGES</a:t>
            </a:r>
            <a:endParaRPr lang="en-US" sz="1300" dirty="0"/>
          </a:p>
        </p:txBody>
      </p:sp>
      <p:sp>
        <p:nvSpPr>
          <p:cNvPr id="3" name="Text 1"/>
          <p:cNvSpPr>
            <a:spLocks noGrp="1"/>
          </p:cNvSpPr>
          <p:nvPr>
            <p:ph type="title"/>
          </p:nvPr>
        </p:nvSpPr>
        <p:spPr>
          <a:xfrm>
            <a:off x="812767" y="1120093"/>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Four voyages across the Atlantic, 1492–1504</a:t>
            </a:r>
            <a:endParaRPr lang="en-US" sz="3200" dirty="0"/>
          </a:p>
        </p:txBody>
      </p:sp>
      <p:sp>
        <p:nvSpPr>
          <p:cNvPr id="5" name="Shape 2"/>
          <p:cNvSpPr/>
          <p:nvPr/>
        </p:nvSpPr>
        <p:spPr>
          <a:xfrm>
            <a:off x="812767" y="1851997"/>
            <a:ext cx="5950000" cy="4021034"/>
          </a:xfrm>
          <a:prstGeom prst="roundRect">
            <a:avLst>
              <a:gd name="adj" fmla="val 9080"/>
            </a:avLst>
          </a:prstGeom>
          <a:solidFill>
            <a:srgbClr val="FFFFFF"/>
          </a:solidFill>
          <a:ln w="6350">
            <a:solidFill>
              <a:srgbClr val="DCD2BE"/>
            </a:solidFill>
            <a:prstDash val="solid"/>
          </a:ln>
        </p:spPr>
        <p:txBody>
          <a:bodyPr/>
          <a:lstStyle/>
          <a:p>
            <a:endParaRPr lang="en-US"/>
          </a:p>
        </p:txBody>
      </p:sp>
      <p:pic>
        <p:nvPicPr>
          <p:cNvPr id="6" name="Route map" descr="Map of the routes of Columbus's four voyages between Spain and the Caribbean, one color per voyage"/>
          <p:cNvPicPr>
            <a:picLocks noChangeAspect="1"/>
          </p:cNvPicPr>
          <p:nvPr/>
        </p:nvPicPr>
        <p:blipFill>
          <a:blip r:embed="rId3"/>
          <a:srcRect/>
          <a:stretch/>
        </p:blipFill>
        <p:spPr>
          <a:xfrm>
            <a:off x="862767" y="1901997"/>
            <a:ext cx="5850000" cy="3921034"/>
          </a:xfrm>
          <a:prstGeom prst="rect">
            <a:avLst/>
          </a:prstGeom>
        </p:spPr>
      </p:pic>
      <p:sp>
        <p:nvSpPr>
          <p:cNvPr id="20" name="Stat card 1"/>
          <p:cNvSpPr/>
          <p:nvPr/>
        </p:nvSpPr>
        <p:spPr>
          <a:xfrm>
            <a:off x="7062767" y="1851997"/>
            <a:ext cx="4316466" cy="855258"/>
          </a:xfrm>
          <a:prstGeom prst="roundRect">
            <a:avLst>
              <a:gd name="adj" fmla="val 9080"/>
            </a:avLst>
          </a:prstGeom>
          <a:solidFill>
            <a:srgbClr val="FBF8F1"/>
          </a:solidFill>
          <a:ln w="6350">
            <a:solidFill>
              <a:srgbClr val="DCD2BE"/>
            </a:solidFill>
            <a:prstDash val="solid"/>
          </a:ln>
        </p:spPr>
        <p:txBody>
          <a:bodyPr/>
          <a:lstStyle/>
          <a:p>
            <a:endParaRPr lang="en-US"/>
          </a:p>
        </p:txBody>
      </p:sp>
      <p:sp>
        <p:nvSpPr>
          <p:cNvPr id="23" name="Stat card 2"/>
          <p:cNvSpPr/>
          <p:nvPr/>
        </p:nvSpPr>
        <p:spPr>
          <a:xfrm>
            <a:off x="7062767" y="2907255"/>
            <a:ext cx="4316466" cy="855258"/>
          </a:xfrm>
          <a:prstGeom prst="roundRect">
            <a:avLst>
              <a:gd name="adj" fmla="val 9080"/>
            </a:avLst>
          </a:prstGeom>
          <a:solidFill>
            <a:srgbClr val="FBF8F1"/>
          </a:solidFill>
          <a:ln w="6350">
            <a:solidFill>
              <a:srgbClr val="DCD2BE"/>
            </a:solidFill>
            <a:prstDash val="solid"/>
          </a:ln>
        </p:spPr>
        <p:txBody>
          <a:bodyPr/>
          <a:lstStyle/>
          <a:p>
            <a:endParaRPr lang="en-US"/>
          </a:p>
        </p:txBody>
      </p:sp>
      <p:sp>
        <p:nvSpPr>
          <p:cNvPr id="26" name="Stat card 3"/>
          <p:cNvSpPr/>
          <p:nvPr/>
        </p:nvSpPr>
        <p:spPr>
          <a:xfrm>
            <a:off x="7062767" y="3962513"/>
            <a:ext cx="4316466" cy="855258"/>
          </a:xfrm>
          <a:prstGeom prst="roundRect">
            <a:avLst>
              <a:gd name="adj" fmla="val 9080"/>
            </a:avLst>
          </a:prstGeom>
          <a:solidFill>
            <a:srgbClr val="FBF8F1"/>
          </a:solidFill>
          <a:ln w="6350">
            <a:solidFill>
              <a:srgbClr val="DCD2BE"/>
            </a:solidFill>
            <a:prstDash val="solid"/>
          </a:ln>
        </p:spPr>
        <p:txBody>
          <a:bodyPr/>
          <a:lstStyle/>
          <a:p>
            <a:endParaRPr lang="en-US"/>
          </a:p>
        </p:txBody>
      </p:sp>
      <p:sp>
        <p:nvSpPr>
          <p:cNvPr id="29" name="Stat card 4"/>
          <p:cNvSpPr/>
          <p:nvPr/>
        </p:nvSpPr>
        <p:spPr>
          <a:xfrm>
            <a:off x="7062767" y="5017771"/>
            <a:ext cx="4316466" cy="855258"/>
          </a:xfrm>
          <a:prstGeom prst="roundRect">
            <a:avLst>
              <a:gd name="adj" fmla="val 9080"/>
            </a:avLst>
          </a:prstGeom>
          <a:solidFill>
            <a:srgbClr val="FBF8F1"/>
          </a:solidFill>
          <a:ln w="6350">
            <a:solidFill>
              <a:srgbClr val="DCD2BE"/>
            </a:solidFill>
            <a:prstDash val="solid"/>
          </a:ln>
        </p:spPr>
        <p:txBody>
          <a:bodyPr/>
          <a:lstStyle/>
          <a:p>
            <a:endParaRPr lang="en-US"/>
          </a:p>
        </p:txBody>
      </p:sp>
      <p:sp>
        <p:nvSpPr>
          <p:cNvPr id="21" name="Stat num 1"/>
          <p:cNvSpPr/>
          <p:nvPr/>
        </p:nvSpPr>
        <p:spPr>
          <a:xfrm>
            <a:off x="7242767" y="1851997"/>
            <a:ext cx="1000000" cy="855258"/>
          </a:xfrm>
          <a:prstGeom prst="rect">
            <a:avLst/>
          </a:prstGeom>
          <a:noFill/>
          <a:ln/>
        </p:spPr>
        <p:txBody>
          <a:bodyPr wrap="square" lIns="0" tIns="0" rIns="0" bIns="0" rtlCol="0" anchor="ctr">
            <a:normAutofit/>
          </a:bodyPr>
          <a:lstStyle/>
          <a:p>
            <a:pPr marL="0" indent="0" algn="l">
              <a:buNone/>
            </a:pPr>
            <a:r>
              <a:rPr lang="en-US" sz="2800" b="1" dirty="0">
                <a:solidFill>
                  <a:srgbClr val="9A4F12"/>
                </a:solidFill>
                <a:latin typeface="EB Garamond" pitchFamily="34" charset="0"/>
                <a:ea typeface="EB Garamond" pitchFamily="34" charset="-122"/>
                <a:cs typeface="EB Garamond" pitchFamily="34" charset="-120"/>
              </a:rPr>
              <a:t>4</a:t>
            </a:r>
            <a:endParaRPr lang="en-US" sz="1300" dirty="0"/>
          </a:p>
        </p:txBody>
      </p:sp>
      <p:sp>
        <p:nvSpPr>
          <p:cNvPr id="22" name="Stat lab 1"/>
          <p:cNvSpPr/>
          <p:nvPr/>
        </p:nvSpPr>
        <p:spPr>
          <a:xfrm>
            <a:off x="8212767" y="1851997"/>
            <a:ext cx="3016466" cy="855258"/>
          </a:xfrm>
          <a:prstGeom prst="rect">
            <a:avLst/>
          </a:prstGeom>
          <a:noFill/>
          <a:ln/>
        </p:spPr>
        <p:txBody>
          <a:bodyPr wrap="square" lIns="0" tIns="0" rIns="0" bIns="0" rtlCol="0" anchor="ctr">
            <a:normAutofit/>
          </a:bodyPr>
          <a:lstStyle/>
          <a:p>
            <a:pPr marL="0" indent="0" algn="l">
              <a:buNone/>
            </a:pPr>
            <a:r>
              <a:rPr lang="en-US" sz="1400" dirty="0">
                <a:solidFill>
                  <a:srgbClr val="3E4A61"/>
                </a:solidFill>
                <a:latin typeface="IBM Plex Sans" pitchFamily="34" charset="0"/>
                <a:ea typeface="IBM Plex Sans" pitchFamily="34" charset="-122"/>
                <a:cs typeface="IBM Plex Sans" pitchFamily="34" charset="-120"/>
              </a:rPr>
              <a:t>voyages</a:t>
            </a:r>
            <a:endParaRPr lang="en-US" sz="1300" dirty="0"/>
          </a:p>
        </p:txBody>
      </p:sp>
      <p:sp>
        <p:nvSpPr>
          <p:cNvPr id="24" name="Stat num 2"/>
          <p:cNvSpPr/>
          <p:nvPr/>
        </p:nvSpPr>
        <p:spPr>
          <a:xfrm>
            <a:off x="7242767" y="2907255"/>
            <a:ext cx="1000000" cy="855258"/>
          </a:xfrm>
          <a:prstGeom prst="rect">
            <a:avLst/>
          </a:prstGeom>
          <a:noFill/>
          <a:ln/>
        </p:spPr>
        <p:txBody>
          <a:bodyPr wrap="square" lIns="0" tIns="0" rIns="0" bIns="0" rtlCol="0" anchor="ctr">
            <a:normAutofit/>
          </a:bodyPr>
          <a:lstStyle/>
          <a:p>
            <a:pPr marL="0" indent="0" algn="l">
              <a:buNone/>
            </a:pPr>
            <a:r>
              <a:rPr lang="en-US" sz="2800" b="1" dirty="0">
                <a:solidFill>
                  <a:srgbClr val="9A4F12"/>
                </a:solidFill>
                <a:latin typeface="EB Garamond" pitchFamily="34" charset="0"/>
                <a:ea typeface="EB Garamond" pitchFamily="34" charset="-122"/>
                <a:cs typeface="EB Garamond" pitchFamily="34" charset="-120"/>
              </a:rPr>
              <a:t>30</a:t>
            </a:r>
            <a:endParaRPr lang="en-US" sz="1300" dirty="0"/>
          </a:p>
        </p:txBody>
      </p:sp>
      <p:sp>
        <p:nvSpPr>
          <p:cNvPr id="25" name="Stat lab 2"/>
          <p:cNvSpPr/>
          <p:nvPr/>
        </p:nvSpPr>
        <p:spPr>
          <a:xfrm>
            <a:off x="8212767" y="2907255"/>
            <a:ext cx="3016466" cy="855258"/>
          </a:xfrm>
          <a:prstGeom prst="rect">
            <a:avLst/>
          </a:prstGeom>
          <a:noFill/>
          <a:ln/>
        </p:spPr>
        <p:txBody>
          <a:bodyPr wrap="square" lIns="0" tIns="0" rIns="0" bIns="0" rtlCol="0" anchor="ctr">
            <a:normAutofit/>
          </a:bodyPr>
          <a:lstStyle/>
          <a:p>
            <a:pPr marL="0" indent="0" algn="l">
              <a:buNone/>
            </a:pPr>
            <a:r>
              <a:rPr lang="en-US" sz="1400" dirty="0">
                <a:solidFill>
                  <a:srgbClr val="3E4A61"/>
                </a:solidFill>
                <a:latin typeface="IBM Plex Sans" pitchFamily="34" charset="0"/>
                <a:ea typeface="IBM Plex Sans" pitchFamily="34" charset="-122"/>
                <a:cs typeface="IBM Plex Sans" pitchFamily="34" charset="-120"/>
              </a:rPr>
              <a:t>ships in total (3 + 17 + 6 + 4)</a:t>
            </a:r>
            <a:endParaRPr lang="en-US" sz="1300" dirty="0"/>
          </a:p>
        </p:txBody>
      </p:sp>
      <p:sp>
        <p:nvSpPr>
          <p:cNvPr id="27" name="Stat num 3"/>
          <p:cNvSpPr/>
          <p:nvPr/>
        </p:nvSpPr>
        <p:spPr>
          <a:xfrm>
            <a:off x="7242767" y="3962513"/>
            <a:ext cx="1000000" cy="855258"/>
          </a:xfrm>
          <a:prstGeom prst="rect">
            <a:avLst/>
          </a:prstGeom>
          <a:noFill/>
          <a:ln/>
        </p:spPr>
        <p:txBody>
          <a:bodyPr wrap="square" lIns="0" tIns="0" rIns="0" bIns="0" rtlCol="0" anchor="ctr">
            <a:normAutofit/>
          </a:bodyPr>
          <a:lstStyle/>
          <a:p>
            <a:pPr marL="0" indent="0" algn="l">
              <a:buNone/>
            </a:pPr>
            <a:r>
              <a:rPr lang="en-US" sz="2800" b="1" dirty="0">
                <a:solidFill>
                  <a:srgbClr val="9A4F12"/>
                </a:solidFill>
                <a:latin typeface="EB Garamond" pitchFamily="34" charset="0"/>
                <a:ea typeface="EB Garamond" pitchFamily="34" charset="-122"/>
                <a:cs typeface="EB Garamond" pitchFamily="34" charset="-120"/>
              </a:rPr>
              <a:t>12</a:t>
            </a:r>
            <a:endParaRPr lang="en-US" sz="1300" dirty="0"/>
          </a:p>
        </p:txBody>
      </p:sp>
      <p:sp>
        <p:nvSpPr>
          <p:cNvPr id="28" name="Stat lab 3"/>
          <p:cNvSpPr/>
          <p:nvPr/>
        </p:nvSpPr>
        <p:spPr>
          <a:xfrm>
            <a:off x="8212767" y="3962513"/>
            <a:ext cx="3016466" cy="855258"/>
          </a:xfrm>
          <a:prstGeom prst="rect">
            <a:avLst/>
          </a:prstGeom>
          <a:noFill/>
          <a:ln/>
        </p:spPr>
        <p:txBody>
          <a:bodyPr wrap="square" lIns="0" tIns="0" rIns="0" bIns="0" rtlCol="0" anchor="ctr">
            <a:normAutofit/>
          </a:bodyPr>
          <a:lstStyle/>
          <a:p>
            <a:pPr marL="0" indent="0" algn="l">
              <a:buNone/>
            </a:pPr>
            <a:r>
              <a:rPr lang="en-US" sz="1400" dirty="0">
                <a:solidFill>
                  <a:srgbClr val="3E4A61"/>
                </a:solidFill>
                <a:latin typeface="IBM Plex Sans" pitchFamily="34" charset="0"/>
                <a:ea typeface="IBM Plex Sans" pitchFamily="34" charset="-122"/>
                <a:cs typeface="IBM Plex Sans" pitchFamily="34" charset="-120"/>
              </a:rPr>
              <a:t>years, from 1492 to 1504</a:t>
            </a:r>
            <a:endParaRPr lang="en-US" sz="1300" dirty="0"/>
          </a:p>
        </p:txBody>
      </p:sp>
      <p:sp>
        <p:nvSpPr>
          <p:cNvPr id="30" name="Stat num 4"/>
          <p:cNvSpPr/>
          <p:nvPr/>
        </p:nvSpPr>
        <p:spPr>
          <a:xfrm>
            <a:off x="7242767" y="5017771"/>
            <a:ext cx="1000000" cy="855258"/>
          </a:xfrm>
          <a:prstGeom prst="rect">
            <a:avLst/>
          </a:prstGeom>
          <a:noFill/>
          <a:ln/>
        </p:spPr>
        <p:txBody>
          <a:bodyPr wrap="square" lIns="0" tIns="0" rIns="0" bIns="0" rtlCol="0" anchor="ctr">
            <a:normAutofit/>
          </a:bodyPr>
          <a:lstStyle/>
          <a:p>
            <a:pPr marL="0" indent="0" algn="l">
              <a:buNone/>
            </a:pPr>
            <a:r>
              <a:rPr lang="en-US" sz="2800" b="1" dirty="0">
                <a:solidFill>
                  <a:srgbClr val="9A4F12"/>
                </a:solidFill>
                <a:latin typeface="EB Garamond" pitchFamily="34" charset="0"/>
                <a:ea typeface="EB Garamond" pitchFamily="34" charset="-122"/>
                <a:cs typeface="EB Garamond" pitchFamily="34" charset="-120"/>
              </a:rPr>
              <a:t>21</a:t>
            </a:r>
            <a:endParaRPr lang="en-US" sz="1300" dirty="0"/>
          </a:p>
        </p:txBody>
      </p:sp>
      <p:sp>
        <p:nvSpPr>
          <p:cNvPr id="31" name="Stat lab 4"/>
          <p:cNvSpPr/>
          <p:nvPr/>
        </p:nvSpPr>
        <p:spPr>
          <a:xfrm>
            <a:off x="8212767" y="5017771"/>
            <a:ext cx="3016466" cy="855258"/>
          </a:xfrm>
          <a:prstGeom prst="rect">
            <a:avLst/>
          </a:prstGeom>
          <a:noFill/>
          <a:ln/>
        </p:spPr>
        <p:txBody>
          <a:bodyPr wrap="square" lIns="0" tIns="0" rIns="0" bIns="0" rtlCol="0" anchor="ctr">
            <a:normAutofit/>
          </a:bodyPr>
          <a:lstStyle/>
          <a:p>
            <a:pPr marL="0" indent="0" algn="l">
              <a:buNone/>
            </a:pPr>
            <a:r>
              <a:rPr lang="en-US" sz="1400" dirty="0">
                <a:solidFill>
                  <a:srgbClr val="3E4A61"/>
                </a:solidFill>
                <a:latin typeface="IBM Plex Sans" pitchFamily="34" charset="0"/>
                <a:ea typeface="IBM Plex Sans" pitchFamily="34" charset="-122"/>
                <a:cs typeface="IBM Plex Sans" pitchFamily="34" charset="-120"/>
              </a:rPr>
              <a:t>main landfalls in our table</a:t>
            </a:r>
            <a:endParaRPr lang="en-US" sz="1300" dirty="0"/>
          </a:p>
        </p:txBody>
      </p:sp>
      <p:sp>
        <p:nvSpPr>
          <p:cNvPr id="9" name="Text 5"/>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 · Map: Phirosiberia, Wikimedia Commons, CC BY-SA 3.0</a:t>
            </a:r>
            <a:endParaRPr lang="en-US" sz="1200" dirty="0"/>
          </a:p>
        </p:txBody>
      </p:sp>
      <p:sp>
        <p:nvSpPr>
          <p:cNvPr id="10" name="Text 6"/>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WHAT YOU WILL PRACTICE</a:t>
            </a:r>
            <a:endParaRPr lang="en-US" sz="1300" dirty="0"/>
          </a:p>
        </p:txBody>
      </p:sp>
      <p:sp>
        <p:nvSpPr>
          <p:cNvPr id="3" name="Text 1"/>
          <p:cNvSpPr>
            <a:spLocks noGrp="1"/>
          </p:cNvSpPr>
          <p:nvPr>
            <p:ph type="title"/>
          </p:nvPr>
        </p:nvSpPr>
        <p:spPr>
          <a:xfrm>
            <a:off x="812767" y="1120097"/>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Eight pandas skills on one small dataset</a:t>
            </a:r>
            <a:endParaRPr lang="en-US" sz="3200" dirty="0"/>
          </a:p>
        </p:txBody>
      </p:sp>
      <p:sp>
        <p:nvSpPr>
          <p:cNvPr id="4" name="Shape 2"/>
          <p:cNvSpPr/>
          <p:nvPr/>
        </p:nvSpPr>
        <p:spPr>
          <a:xfrm>
            <a:off x="815942" y="1895359"/>
            <a:ext cx="2482842" cy="1568789"/>
          </a:xfrm>
          <a:prstGeom prst="roundRect">
            <a:avLst>
              <a:gd name="adj" fmla="val 6274"/>
            </a:avLst>
          </a:prstGeom>
          <a:solidFill>
            <a:srgbClr val="FBF8F1"/>
          </a:solidFill>
          <a:ln w="6350">
            <a:solidFill>
              <a:srgbClr val="DCD2BE"/>
            </a:solidFill>
            <a:prstDash val="solid"/>
          </a:ln>
        </p:spPr>
        <p:txBody>
          <a:bodyPr/>
          <a:lstStyle/>
          <a:p>
            <a:endParaRPr lang="en-US"/>
          </a:p>
        </p:txBody>
      </p:sp>
      <p:sp>
        <p:nvSpPr>
          <p:cNvPr id="5" name="Text 3"/>
          <p:cNvSpPr/>
          <p:nvPr/>
        </p:nvSpPr>
        <p:spPr>
          <a:xfrm>
            <a:off x="1021250" y="2100667"/>
            <a:ext cx="2134392" cy="330208"/>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9A4F12"/>
                </a:solidFill>
                <a:latin typeface="EB Garamond" pitchFamily="18" charset="0"/>
                <a:ea typeface="EB Garamond" pitchFamily="18" charset="-122"/>
                <a:cs typeface="EB Garamond" pitchFamily="18" charset="-120"/>
              </a:rPr>
              <a:t>1</a:t>
            </a:r>
            <a:endParaRPr lang="en-US" sz="2400" dirty="0"/>
          </a:p>
        </p:txBody>
      </p:sp>
      <p:sp>
        <p:nvSpPr>
          <p:cNvPr id="6" name="Text 4"/>
          <p:cNvSpPr/>
          <p:nvPr/>
        </p:nvSpPr>
        <p:spPr>
          <a:xfrm>
            <a:off x="1021250" y="2481667"/>
            <a:ext cx="21343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Create a DataFrame</a:t>
            </a:r>
            <a:endParaRPr lang="en-US" sz="1600" dirty="0"/>
          </a:p>
        </p:txBody>
      </p:sp>
      <p:sp>
        <p:nvSpPr>
          <p:cNvPr id="7" name="Text 5"/>
          <p:cNvSpPr/>
          <p:nvPr/>
        </p:nvSpPr>
        <p:spPr>
          <a:xfrm>
            <a:off x="1021250" y="2801689"/>
            <a:ext cx="2134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61"/>
                </a:solidFill>
                <a:latin typeface="JetBrains Mono" pitchFamily="49" charset="0"/>
                <a:ea typeface="JetBrains Mono" pitchFamily="49" charset="-122"/>
                <a:cs typeface="JetBrains Mono" pitchFamily="49" charset="-120"/>
              </a:rPr>
              <a:t>pandas.DataFrame()</a:t>
            </a:r>
            <a:endParaRPr lang="en-US" sz="1200" dirty="0"/>
          </a:p>
        </p:txBody>
      </p:sp>
      <p:sp>
        <p:nvSpPr>
          <p:cNvPr id="8" name="Shape 6"/>
          <p:cNvSpPr/>
          <p:nvPr/>
        </p:nvSpPr>
        <p:spPr>
          <a:xfrm>
            <a:off x="3508325" y="1895359"/>
            <a:ext cx="2482883" cy="1568789"/>
          </a:xfrm>
          <a:prstGeom prst="roundRect">
            <a:avLst>
              <a:gd name="adj" fmla="val 6274"/>
            </a:avLst>
          </a:prstGeom>
          <a:solidFill>
            <a:srgbClr val="FBF8F1"/>
          </a:solidFill>
          <a:ln w="6350">
            <a:solidFill>
              <a:srgbClr val="DCD2BE"/>
            </a:solidFill>
            <a:prstDash val="solid"/>
          </a:ln>
        </p:spPr>
        <p:txBody>
          <a:bodyPr/>
          <a:lstStyle/>
          <a:p>
            <a:endParaRPr lang="en-US"/>
          </a:p>
        </p:txBody>
      </p:sp>
      <p:sp>
        <p:nvSpPr>
          <p:cNvPr id="9" name="Text 7"/>
          <p:cNvSpPr/>
          <p:nvPr/>
        </p:nvSpPr>
        <p:spPr>
          <a:xfrm>
            <a:off x="3713634" y="2100667"/>
            <a:ext cx="2134434" cy="330208"/>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9A4F12"/>
                </a:solidFill>
                <a:latin typeface="EB Garamond" pitchFamily="18" charset="0"/>
                <a:ea typeface="EB Garamond" pitchFamily="18" charset="-122"/>
                <a:cs typeface="EB Garamond" pitchFamily="18" charset="-120"/>
              </a:rPr>
              <a:t>2</a:t>
            </a:r>
            <a:endParaRPr lang="en-US" sz="2400" dirty="0"/>
          </a:p>
        </p:txBody>
      </p:sp>
      <p:sp>
        <p:nvSpPr>
          <p:cNvPr id="10" name="Text 8"/>
          <p:cNvSpPr/>
          <p:nvPr/>
        </p:nvSpPr>
        <p:spPr>
          <a:xfrm>
            <a:off x="3713634" y="2481667"/>
            <a:ext cx="21344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Inspect it</a:t>
            </a:r>
            <a:endParaRPr lang="en-US" sz="1600" dirty="0"/>
          </a:p>
        </p:txBody>
      </p:sp>
      <p:sp>
        <p:nvSpPr>
          <p:cNvPr id="11" name="Text 9"/>
          <p:cNvSpPr/>
          <p:nvPr/>
        </p:nvSpPr>
        <p:spPr>
          <a:xfrm>
            <a:off x="3713634" y="2801689"/>
            <a:ext cx="21344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61"/>
                </a:solidFill>
                <a:latin typeface="JetBrains Mono" pitchFamily="49" charset="0"/>
                <a:ea typeface="JetBrains Mono" pitchFamily="49" charset="-122"/>
                <a:cs typeface="JetBrains Mono" pitchFamily="49" charset="-120"/>
              </a:rPr>
              <a:t>df.shape, df.dtypes</a:t>
            </a:r>
            <a:endParaRPr lang="en-US" sz="1200" dirty="0"/>
          </a:p>
        </p:txBody>
      </p:sp>
      <p:sp>
        <p:nvSpPr>
          <p:cNvPr id="12" name="Shape 10"/>
          <p:cNvSpPr/>
          <p:nvPr/>
        </p:nvSpPr>
        <p:spPr>
          <a:xfrm>
            <a:off x="6200750" y="1895359"/>
            <a:ext cx="2482883" cy="1568789"/>
          </a:xfrm>
          <a:prstGeom prst="roundRect">
            <a:avLst>
              <a:gd name="adj" fmla="val 6274"/>
            </a:avLst>
          </a:prstGeom>
          <a:solidFill>
            <a:srgbClr val="FBF8F1"/>
          </a:solidFill>
          <a:ln w="6350">
            <a:solidFill>
              <a:srgbClr val="DCD2BE"/>
            </a:solidFill>
            <a:prstDash val="solid"/>
          </a:ln>
        </p:spPr>
        <p:txBody>
          <a:bodyPr/>
          <a:lstStyle/>
          <a:p>
            <a:endParaRPr lang="en-US"/>
          </a:p>
        </p:txBody>
      </p:sp>
      <p:sp>
        <p:nvSpPr>
          <p:cNvPr id="13" name="Text 11"/>
          <p:cNvSpPr/>
          <p:nvPr/>
        </p:nvSpPr>
        <p:spPr>
          <a:xfrm>
            <a:off x="6406059" y="2100667"/>
            <a:ext cx="2134434" cy="330208"/>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9A4F12"/>
                </a:solidFill>
                <a:latin typeface="EB Garamond" pitchFamily="18" charset="0"/>
                <a:ea typeface="EB Garamond" pitchFamily="18" charset="-122"/>
                <a:cs typeface="EB Garamond" pitchFamily="18" charset="-120"/>
              </a:rPr>
              <a:t>3</a:t>
            </a:r>
            <a:endParaRPr lang="en-US" sz="2400" dirty="0"/>
          </a:p>
        </p:txBody>
      </p:sp>
      <p:sp>
        <p:nvSpPr>
          <p:cNvPr id="14" name="Text 12"/>
          <p:cNvSpPr/>
          <p:nvPr/>
        </p:nvSpPr>
        <p:spPr>
          <a:xfrm>
            <a:off x="6406059" y="2481667"/>
            <a:ext cx="2134434"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Select columns and rows</a:t>
            </a:r>
            <a:endParaRPr lang="en-US" sz="1600" dirty="0"/>
          </a:p>
        </p:txBody>
      </p:sp>
      <p:sp>
        <p:nvSpPr>
          <p:cNvPr id="15" name="Text 13"/>
          <p:cNvSpPr/>
          <p:nvPr/>
        </p:nvSpPr>
        <p:spPr>
          <a:xfrm>
            <a:off x="6406059" y="3045520"/>
            <a:ext cx="21344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61"/>
                </a:solidFill>
                <a:latin typeface="JetBrains Mono" pitchFamily="49" charset="0"/>
                <a:ea typeface="JetBrains Mono" pitchFamily="49" charset="-122"/>
                <a:cs typeface="JetBrains Mono" pitchFamily="49" charset="-120"/>
              </a:rPr>
              <a:t>df["col"], df.loc[2]</a:t>
            </a:r>
            <a:endParaRPr lang="en-US" sz="1200" dirty="0"/>
          </a:p>
        </p:txBody>
      </p:sp>
      <p:sp>
        <p:nvSpPr>
          <p:cNvPr id="16" name="Shape 14"/>
          <p:cNvSpPr/>
          <p:nvPr/>
        </p:nvSpPr>
        <p:spPr>
          <a:xfrm>
            <a:off x="8893175" y="1895359"/>
            <a:ext cx="2482883" cy="1568789"/>
          </a:xfrm>
          <a:prstGeom prst="roundRect">
            <a:avLst>
              <a:gd name="adj" fmla="val 6274"/>
            </a:avLst>
          </a:prstGeom>
          <a:solidFill>
            <a:srgbClr val="FBF8F1"/>
          </a:solidFill>
          <a:ln w="6350">
            <a:solidFill>
              <a:srgbClr val="DCD2BE"/>
            </a:solidFill>
            <a:prstDash val="solid"/>
          </a:ln>
        </p:spPr>
        <p:txBody>
          <a:bodyPr/>
          <a:lstStyle/>
          <a:p>
            <a:endParaRPr lang="en-US"/>
          </a:p>
        </p:txBody>
      </p:sp>
      <p:sp>
        <p:nvSpPr>
          <p:cNvPr id="17" name="Text 15"/>
          <p:cNvSpPr/>
          <p:nvPr/>
        </p:nvSpPr>
        <p:spPr>
          <a:xfrm>
            <a:off x="9098483" y="2100667"/>
            <a:ext cx="2134434" cy="330208"/>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9A4F12"/>
                </a:solidFill>
                <a:latin typeface="EB Garamond" pitchFamily="18" charset="0"/>
                <a:ea typeface="EB Garamond" pitchFamily="18" charset="-122"/>
                <a:cs typeface="EB Garamond" pitchFamily="18" charset="-120"/>
              </a:rPr>
              <a:t>4</a:t>
            </a:r>
            <a:endParaRPr lang="en-US" sz="2400" dirty="0"/>
          </a:p>
        </p:txBody>
      </p:sp>
      <p:sp>
        <p:nvSpPr>
          <p:cNvPr id="18" name="Text 16"/>
          <p:cNvSpPr/>
          <p:nvPr/>
        </p:nvSpPr>
        <p:spPr>
          <a:xfrm>
            <a:off x="9098483" y="2481667"/>
            <a:ext cx="21344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Filter rows</a:t>
            </a:r>
            <a:endParaRPr lang="en-US" sz="1600" dirty="0"/>
          </a:p>
        </p:txBody>
      </p:sp>
      <p:sp>
        <p:nvSpPr>
          <p:cNvPr id="19" name="Text 17"/>
          <p:cNvSpPr/>
          <p:nvPr/>
        </p:nvSpPr>
        <p:spPr>
          <a:xfrm>
            <a:off x="9098483" y="2801689"/>
            <a:ext cx="21344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61"/>
                </a:solidFill>
                <a:latin typeface="JetBrains Mono" pitchFamily="49" charset="0"/>
                <a:ea typeface="JetBrains Mono" pitchFamily="49" charset="-122"/>
                <a:cs typeface="JetBrains Mono" pitchFamily="49" charset="-120"/>
              </a:rPr>
              <a:t>df[df["col"] == x]</a:t>
            </a:r>
            <a:endParaRPr lang="en-US" sz="1200" dirty="0"/>
          </a:p>
        </p:txBody>
      </p:sp>
      <p:sp>
        <p:nvSpPr>
          <p:cNvPr id="20" name="Shape 18"/>
          <p:cNvSpPr/>
          <p:nvPr/>
        </p:nvSpPr>
        <p:spPr>
          <a:xfrm>
            <a:off x="815942" y="3673690"/>
            <a:ext cx="2482842" cy="1324959"/>
          </a:xfrm>
          <a:prstGeom prst="roundRect">
            <a:avLst>
              <a:gd name="adj" fmla="val 7429"/>
            </a:avLst>
          </a:prstGeom>
          <a:solidFill>
            <a:srgbClr val="FBF8F1"/>
          </a:solidFill>
          <a:ln w="6350">
            <a:solidFill>
              <a:srgbClr val="DCD2BE"/>
            </a:solidFill>
            <a:prstDash val="solid"/>
          </a:ln>
        </p:spPr>
        <p:txBody>
          <a:bodyPr/>
          <a:lstStyle/>
          <a:p>
            <a:endParaRPr lang="en-US"/>
          </a:p>
        </p:txBody>
      </p:sp>
      <p:sp>
        <p:nvSpPr>
          <p:cNvPr id="21" name="Text 19"/>
          <p:cNvSpPr/>
          <p:nvPr/>
        </p:nvSpPr>
        <p:spPr>
          <a:xfrm>
            <a:off x="1021250" y="3878998"/>
            <a:ext cx="2134392" cy="330208"/>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9A4F12"/>
                </a:solidFill>
                <a:latin typeface="EB Garamond" pitchFamily="18" charset="0"/>
                <a:ea typeface="EB Garamond" pitchFamily="18" charset="-122"/>
                <a:cs typeface="EB Garamond" pitchFamily="18" charset="-120"/>
              </a:rPr>
              <a:t>5</a:t>
            </a:r>
            <a:endParaRPr lang="en-US" sz="2400" dirty="0"/>
          </a:p>
        </p:txBody>
      </p:sp>
      <p:sp>
        <p:nvSpPr>
          <p:cNvPr id="22" name="Text 20"/>
          <p:cNvSpPr/>
          <p:nvPr/>
        </p:nvSpPr>
        <p:spPr>
          <a:xfrm>
            <a:off x="1021250" y="4259998"/>
            <a:ext cx="21343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Find missing values</a:t>
            </a:r>
            <a:endParaRPr lang="en-US" sz="1600" dirty="0"/>
          </a:p>
        </p:txBody>
      </p:sp>
      <p:sp>
        <p:nvSpPr>
          <p:cNvPr id="23" name="Text 21"/>
          <p:cNvSpPr/>
          <p:nvPr/>
        </p:nvSpPr>
        <p:spPr>
          <a:xfrm>
            <a:off x="1021250" y="4580020"/>
            <a:ext cx="2134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61"/>
                </a:solidFill>
                <a:latin typeface="JetBrains Mono" pitchFamily="49" charset="0"/>
                <a:ea typeface="JetBrains Mono" pitchFamily="49" charset="-122"/>
                <a:cs typeface="JetBrains Mono" pitchFamily="49" charset="-120"/>
              </a:rPr>
              <a:t>df.isna().sum()</a:t>
            </a:r>
            <a:endParaRPr lang="en-US" sz="1200" dirty="0"/>
          </a:p>
        </p:txBody>
      </p:sp>
      <p:sp>
        <p:nvSpPr>
          <p:cNvPr id="24" name="Shape 22"/>
          <p:cNvSpPr/>
          <p:nvPr/>
        </p:nvSpPr>
        <p:spPr>
          <a:xfrm>
            <a:off x="3508325" y="3673690"/>
            <a:ext cx="2482883" cy="1324959"/>
          </a:xfrm>
          <a:prstGeom prst="roundRect">
            <a:avLst>
              <a:gd name="adj" fmla="val 7429"/>
            </a:avLst>
          </a:prstGeom>
          <a:solidFill>
            <a:srgbClr val="FBF8F1"/>
          </a:solidFill>
          <a:ln w="6350">
            <a:solidFill>
              <a:srgbClr val="DCD2BE"/>
            </a:solidFill>
            <a:prstDash val="solid"/>
          </a:ln>
        </p:spPr>
        <p:txBody>
          <a:bodyPr/>
          <a:lstStyle/>
          <a:p>
            <a:endParaRPr lang="en-US"/>
          </a:p>
        </p:txBody>
      </p:sp>
      <p:sp>
        <p:nvSpPr>
          <p:cNvPr id="25" name="Text 23"/>
          <p:cNvSpPr/>
          <p:nvPr/>
        </p:nvSpPr>
        <p:spPr>
          <a:xfrm>
            <a:off x="3713634" y="3878998"/>
            <a:ext cx="2134434" cy="330208"/>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9A4F12"/>
                </a:solidFill>
                <a:latin typeface="EB Garamond" pitchFamily="18" charset="0"/>
                <a:ea typeface="EB Garamond" pitchFamily="18" charset="-122"/>
                <a:cs typeface="EB Garamond" pitchFamily="18" charset="-120"/>
              </a:rPr>
              <a:t>6</a:t>
            </a:r>
            <a:endParaRPr lang="en-US" sz="2400" dirty="0"/>
          </a:p>
        </p:txBody>
      </p:sp>
      <p:sp>
        <p:nvSpPr>
          <p:cNvPr id="26" name="Text 24"/>
          <p:cNvSpPr/>
          <p:nvPr/>
        </p:nvSpPr>
        <p:spPr>
          <a:xfrm>
            <a:off x="3713634" y="4259998"/>
            <a:ext cx="22744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Sort and add columns</a:t>
            </a:r>
            <a:endParaRPr lang="en-US" sz="1600" dirty="0"/>
          </a:p>
        </p:txBody>
      </p:sp>
      <p:sp>
        <p:nvSpPr>
          <p:cNvPr id="27" name="Text 25"/>
          <p:cNvSpPr/>
          <p:nvPr/>
        </p:nvSpPr>
        <p:spPr>
          <a:xfrm>
            <a:off x="3713634" y="4580020"/>
            <a:ext cx="21344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61"/>
                </a:solidFill>
                <a:latin typeface="JetBrains Mono" pitchFamily="49" charset="0"/>
                <a:ea typeface="JetBrains Mono" pitchFamily="49" charset="-122"/>
                <a:cs typeface="JetBrains Mono" pitchFamily="49" charset="-120"/>
              </a:rPr>
              <a:t>sort_values()</a:t>
            </a:r>
            <a:endParaRPr lang="en-US" sz="1200" dirty="0"/>
          </a:p>
        </p:txBody>
      </p:sp>
      <p:sp>
        <p:nvSpPr>
          <p:cNvPr id="28" name="Shape 26"/>
          <p:cNvSpPr/>
          <p:nvPr/>
        </p:nvSpPr>
        <p:spPr>
          <a:xfrm>
            <a:off x="6200750" y="3673690"/>
            <a:ext cx="2482883" cy="1324959"/>
          </a:xfrm>
          <a:prstGeom prst="roundRect">
            <a:avLst>
              <a:gd name="adj" fmla="val 7429"/>
            </a:avLst>
          </a:prstGeom>
          <a:solidFill>
            <a:srgbClr val="FBF8F1"/>
          </a:solidFill>
          <a:ln w="6350">
            <a:solidFill>
              <a:srgbClr val="DCD2BE"/>
            </a:solidFill>
            <a:prstDash val="solid"/>
          </a:ln>
        </p:spPr>
        <p:txBody>
          <a:bodyPr/>
          <a:lstStyle/>
          <a:p>
            <a:endParaRPr lang="en-US"/>
          </a:p>
        </p:txBody>
      </p:sp>
      <p:sp>
        <p:nvSpPr>
          <p:cNvPr id="29" name="Text 27"/>
          <p:cNvSpPr/>
          <p:nvPr/>
        </p:nvSpPr>
        <p:spPr>
          <a:xfrm>
            <a:off x="6406059" y="3878998"/>
            <a:ext cx="2134434" cy="330208"/>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9A4F12"/>
                </a:solidFill>
                <a:latin typeface="EB Garamond" pitchFamily="18" charset="0"/>
                <a:ea typeface="EB Garamond" pitchFamily="18" charset="-122"/>
                <a:cs typeface="EB Garamond" pitchFamily="18" charset="-120"/>
              </a:rPr>
              <a:t>7</a:t>
            </a:r>
            <a:endParaRPr lang="en-US" sz="2400" dirty="0"/>
          </a:p>
        </p:txBody>
      </p:sp>
      <p:sp>
        <p:nvSpPr>
          <p:cNvPr id="30" name="Text 28"/>
          <p:cNvSpPr/>
          <p:nvPr/>
        </p:nvSpPr>
        <p:spPr>
          <a:xfrm>
            <a:off x="6406059" y="4259998"/>
            <a:ext cx="21344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Group and count</a:t>
            </a:r>
            <a:endParaRPr lang="en-US" sz="1600" dirty="0"/>
          </a:p>
        </p:txBody>
      </p:sp>
      <p:sp>
        <p:nvSpPr>
          <p:cNvPr id="31" name="Text 29"/>
          <p:cNvSpPr/>
          <p:nvPr/>
        </p:nvSpPr>
        <p:spPr>
          <a:xfrm>
            <a:off x="6406059" y="4580020"/>
            <a:ext cx="21344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61"/>
                </a:solidFill>
                <a:latin typeface="JetBrains Mono" pitchFamily="49" charset="0"/>
                <a:ea typeface="JetBrains Mono" pitchFamily="49" charset="-122"/>
                <a:cs typeface="JetBrains Mono" pitchFamily="49" charset="-120"/>
              </a:rPr>
              <a:t>groupby().count()</a:t>
            </a:r>
            <a:endParaRPr lang="en-US" sz="1200" dirty="0"/>
          </a:p>
        </p:txBody>
      </p:sp>
      <p:sp>
        <p:nvSpPr>
          <p:cNvPr id="32" name="Shape 30"/>
          <p:cNvSpPr/>
          <p:nvPr/>
        </p:nvSpPr>
        <p:spPr>
          <a:xfrm>
            <a:off x="8893175" y="3673690"/>
            <a:ext cx="2482883" cy="1324959"/>
          </a:xfrm>
          <a:prstGeom prst="roundRect">
            <a:avLst>
              <a:gd name="adj" fmla="val 7429"/>
            </a:avLst>
          </a:prstGeom>
          <a:solidFill>
            <a:srgbClr val="FBF8F1"/>
          </a:solidFill>
          <a:ln w="6350">
            <a:solidFill>
              <a:srgbClr val="DCD2BE"/>
            </a:solidFill>
            <a:prstDash val="solid"/>
          </a:ln>
        </p:spPr>
        <p:txBody>
          <a:bodyPr/>
          <a:lstStyle/>
          <a:p>
            <a:endParaRPr lang="en-US"/>
          </a:p>
        </p:txBody>
      </p:sp>
      <p:sp>
        <p:nvSpPr>
          <p:cNvPr id="33" name="Text 31"/>
          <p:cNvSpPr/>
          <p:nvPr/>
        </p:nvSpPr>
        <p:spPr>
          <a:xfrm>
            <a:off x="9098483" y="3878998"/>
            <a:ext cx="2134434" cy="330208"/>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9A4F12"/>
                </a:solidFill>
                <a:latin typeface="EB Garamond" pitchFamily="18" charset="0"/>
                <a:ea typeface="EB Garamond" pitchFamily="18" charset="-122"/>
                <a:cs typeface="EB Garamond" pitchFamily="18" charset="-120"/>
              </a:rPr>
              <a:t>8</a:t>
            </a:r>
            <a:endParaRPr lang="en-US" sz="2400" dirty="0"/>
          </a:p>
        </p:txBody>
      </p:sp>
      <p:sp>
        <p:nvSpPr>
          <p:cNvPr id="34" name="Text 32"/>
          <p:cNvSpPr/>
          <p:nvPr/>
        </p:nvSpPr>
        <p:spPr>
          <a:xfrm>
            <a:off x="9098483" y="4259998"/>
            <a:ext cx="21344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Plot and map</a:t>
            </a:r>
            <a:endParaRPr lang="en-US" sz="1600" dirty="0"/>
          </a:p>
        </p:txBody>
      </p:sp>
      <p:sp>
        <p:nvSpPr>
          <p:cNvPr id="35" name="Text 33"/>
          <p:cNvSpPr/>
          <p:nvPr/>
        </p:nvSpPr>
        <p:spPr>
          <a:xfrm>
            <a:off x="9098483" y="4580020"/>
            <a:ext cx="21344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A61"/>
                </a:solidFill>
                <a:latin typeface="JetBrains Mono" pitchFamily="49" charset="0"/>
                <a:ea typeface="JetBrains Mono" pitchFamily="49" charset="-122"/>
                <a:cs typeface="JetBrains Mono" pitchFamily="49" charset="-120"/>
              </a:rPr>
              <a:t>barh(), line_geo()</a:t>
            </a:r>
            <a:endParaRPr lang="en-US" sz="1200" dirty="0"/>
          </a:p>
        </p:txBody>
      </p:sp>
      <p:sp>
        <p:nvSpPr>
          <p:cNvPr id="36" name="Text 3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37" name="Text 3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1 · CREATING A DATAFRAME</a:t>
            </a:r>
            <a:endParaRPr lang="en-US" sz="1300" dirty="0"/>
          </a:p>
        </p:txBody>
      </p:sp>
      <p:sp>
        <p:nvSpPr>
          <p:cNvPr id="3" name="Text 1"/>
          <p:cNvSpPr>
            <a:spLocks noGrp="1"/>
          </p:cNvSpPr>
          <p:nvPr>
            <p:ph type="title"/>
          </p:nvPr>
        </p:nvSpPr>
        <p:spPr>
          <a:xfrm>
            <a:off x="812767" y="1120096"/>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A dictionary becomes a table</a:t>
            </a:r>
            <a:endParaRPr lang="en-US" sz="3200" dirty="0"/>
          </a:p>
        </p:txBody>
      </p:sp>
      <p:sp>
        <p:nvSpPr>
          <p:cNvPr id="4" name="Text 2"/>
          <p:cNvSpPr/>
          <p:nvPr/>
        </p:nvSpPr>
        <p:spPr>
          <a:xfrm>
            <a:off x="812767" y="1892184"/>
            <a:ext cx="5842000" cy="1874242"/>
          </a:xfrm>
          <a:prstGeom prst="roundRect">
            <a:avLst>
              <a:gd name="adj" fmla="val 5421"/>
            </a:avLst>
          </a:prstGeom>
          <a:solidFill>
            <a:srgbClr val="14213D"/>
          </a:solidFill>
          <a:ln/>
        </p:spPr>
        <p:txBody>
          <a:bodyPr wrap="square" lIns="198818" tIns="198842" rIns="37272" bIns="173393" rtlCol="0" anchor="t">
            <a:normAutofit/>
          </a:bodyPr>
          <a:lstStyle/>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VOYAGES = pandas.DataFrame({</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"voyage"</a:t>
            </a:r>
            <a:r>
              <a:rPr lang="en-US" sz="1200" dirty="0">
                <a:solidFill>
                  <a:srgbClr val="F5EFE3"/>
                </a:solidFill>
                <a:latin typeface="JetBrains Mono" pitchFamily="49" charset="0"/>
                <a:ea typeface="JetBrains Mono" pitchFamily="49" charset="-122"/>
                <a:cs typeface="JetBrains Mono" pitchFamily="49" charset="-120"/>
              </a:rPr>
              <a:t>:      [1, 2, 3, 4],</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"depart_port"</a:t>
            </a: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"Palos"</a:t>
            </a: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"Cadiz"</a:t>
            </a: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"Sanlucar"</a:t>
            </a: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"Cadiz"</a:t>
            </a: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"num_ships"</a:t>
            </a:r>
            <a:r>
              <a:rPr lang="en-US" sz="1200" dirty="0">
                <a:solidFill>
                  <a:srgbClr val="F5EFE3"/>
                </a:solidFill>
                <a:latin typeface="JetBrains Mono" pitchFamily="49" charset="0"/>
                <a:ea typeface="JetBrains Mono" pitchFamily="49" charset="-122"/>
                <a:cs typeface="JetBrains Mono" pitchFamily="49" charset="-120"/>
              </a:rPr>
              <a:t>:   [3, 17, 6, 4],</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9FB0CC"/>
                </a:solidFill>
                <a:latin typeface="JetBrains Mono" pitchFamily="49" charset="0"/>
                <a:ea typeface="JetBrains Mono" pitchFamily="49" charset="-122"/>
                <a:cs typeface="JetBrains Mono" pitchFamily="49" charset="-120"/>
              </a:rPr>
              <a:t># ... depart_date, return_date, first_landfall</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70117" y="1902767"/>
          <a:ext cx="4409115" cy="1786145"/>
        </p:xfrm>
        <a:graphic>
          <a:graphicData uri="http://schemas.openxmlformats.org/drawingml/2006/table">
            <a:tbl>
              <a:tblPr/>
              <a:tblGrid>
                <a:gridCol w="617276">
                  <a:extLst>
                    <a:ext uri="{9D8B030D-6E8A-4147-A177-3AD203B41FA5}">
                      <a16:colId xmlns:a16="http://schemas.microsoft.com/office/drawing/2014/main" val="20000"/>
                    </a:ext>
                  </a:extLst>
                </a:gridCol>
                <a:gridCol w="970005">
                  <a:extLst>
                    <a:ext uri="{9D8B030D-6E8A-4147-A177-3AD203B41FA5}">
                      <a16:colId xmlns:a16="http://schemas.microsoft.com/office/drawing/2014/main" val="20001"/>
                    </a:ext>
                  </a:extLst>
                </a:gridCol>
                <a:gridCol w="1675464">
                  <a:extLst>
                    <a:ext uri="{9D8B030D-6E8A-4147-A177-3AD203B41FA5}">
                      <a16:colId xmlns:a16="http://schemas.microsoft.com/office/drawing/2014/main" val="20002"/>
                    </a:ext>
                  </a:extLst>
                </a:gridCol>
                <a:gridCol w="1146370">
                  <a:extLst>
                    <a:ext uri="{9D8B030D-6E8A-4147-A177-3AD203B41FA5}">
                      <a16:colId xmlns:a16="http://schemas.microsoft.com/office/drawing/2014/main" val="20003"/>
                    </a:ext>
                  </a:extLst>
                </a:gridCol>
              </a:tblGrid>
              <a:tr h="357229">
                <a:tc>
                  <a:txBody>
                    <a:bodyPr/>
                    <a:lstStyle/>
                    <a:p>
                      <a:pPr marL="0" indent="0">
                        <a:lnSpc>
                          <a:spcPts val="1820"/>
                        </a:lnSpc>
                        <a:buNone/>
                      </a:pP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820"/>
                        </a:lnSpc>
                        <a:buNone/>
                      </a:pPr>
                      <a:r>
                        <a:rPr lang="en-US" sz="1300" b="1" dirty="0">
                          <a:solidFill>
                            <a:srgbClr val="14213D"/>
                          </a:solidFill>
                          <a:latin typeface="JetBrains Mono" pitchFamily="49" charset="0"/>
                          <a:ea typeface="JetBrains Mono" pitchFamily="49" charset="-122"/>
                          <a:cs typeface="JetBrains Mono" pitchFamily="49" charset="-120"/>
                        </a:rPr>
                        <a:t>voyage</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820"/>
                        </a:lnSpc>
                        <a:buNone/>
                      </a:pPr>
                      <a:r>
                        <a:rPr lang="en-US" sz="1300" b="1" dirty="0">
                          <a:solidFill>
                            <a:srgbClr val="14213D"/>
                          </a:solidFill>
                          <a:latin typeface="JetBrains Mono" pitchFamily="49" charset="0"/>
                          <a:ea typeface="JetBrains Mono" pitchFamily="49" charset="-122"/>
                          <a:cs typeface="JetBrains Mono" pitchFamily="49" charset="-120"/>
                        </a:rPr>
                        <a:t>depart_port</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820"/>
                        </a:lnSpc>
                        <a:buNone/>
                      </a:pPr>
                      <a:r>
                        <a:rPr lang="en-US" sz="1300" b="1" dirty="0">
                          <a:solidFill>
                            <a:srgbClr val="14213D"/>
                          </a:solidFill>
                          <a:latin typeface="JetBrains Mono" pitchFamily="49" charset="0"/>
                          <a:ea typeface="JetBrains Mono" pitchFamily="49" charset="-122"/>
                          <a:cs typeface="JetBrains Mono" pitchFamily="49" charset="-120"/>
                        </a:rPr>
                        <a:t>num_ships</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extLst>
                  <a:ext uri="{0D108BD9-81ED-4DB2-BD59-A6C34878D82A}">
                    <a16:rowId xmlns:a16="http://schemas.microsoft.com/office/drawing/2014/main" val="10000"/>
                  </a:ext>
                </a:extLst>
              </a:tr>
              <a:tr h="357229">
                <a:tc>
                  <a:txBody>
                    <a:bodyPr/>
                    <a:lstStyle/>
                    <a:p>
                      <a:pPr marL="0" indent="0">
                        <a:lnSpc>
                          <a:spcPts val="1820"/>
                        </a:lnSpc>
                        <a:buNone/>
                      </a:pPr>
                      <a:r>
                        <a:rPr lang="en-US" sz="1300" dirty="0">
                          <a:solidFill>
                            <a:srgbClr val="9A4F12"/>
                          </a:solidFill>
                          <a:latin typeface="JetBrains Mono" pitchFamily="49" charset="0"/>
                          <a:ea typeface="JetBrains Mono" pitchFamily="49" charset="-122"/>
                          <a:cs typeface="JetBrains Mono" pitchFamily="49" charset="-120"/>
                        </a:rPr>
                        <a:t>0</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Palos</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3</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357229">
                <a:tc>
                  <a:txBody>
                    <a:bodyPr/>
                    <a:lstStyle/>
                    <a:p>
                      <a:pPr marL="0" indent="0">
                        <a:lnSpc>
                          <a:spcPts val="1820"/>
                        </a:lnSpc>
                        <a:buNone/>
                      </a:pPr>
                      <a:r>
                        <a:rPr lang="en-US" sz="1300" dirty="0">
                          <a:solidFill>
                            <a:srgbClr val="9A4F12"/>
                          </a:solidFill>
                          <a:latin typeface="JetBrains Mono" pitchFamily="49" charset="0"/>
                          <a:ea typeface="JetBrains Mono" pitchFamily="49" charset="-122"/>
                          <a:cs typeface="JetBrains Mono" pitchFamily="49" charset="-120"/>
                        </a:rPr>
                        <a:t>1</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2</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Cadiz</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17</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57229">
                <a:tc>
                  <a:txBody>
                    <a:bodyPr/>
                    <a:lstStyle/>
                    <a:p>
                      <a:pPr marL="0" indent="0">
                        <a:lnSpc>
                          <a:spcPts val="1820"/>
                        </a:lnSpc>
                        <a:buNone/>
                      </a:pPr>
                      <a:r>
                        <a:rPr lang="en-US" sz="1300" dirty="0">
                          <a:solidFill>
                            <a:srgbClr val="9A4F12"/>
                          </a:solidFill>
                          <a:latin typeface="JetBrains Mono" pitchFamily="49" charset="0"/>
                          <a:ea typeface="JetBrains Mono" pitchFamily="49" charset="-122"/>
                          <a:cs typeface="JetBrains Mono" pitchFamily="49" charset="-120"/>
                        </a:rPr>
                        <a:t>2</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3</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Sanlucar</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6</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57229">
                <a:tc>
                  <a:txBody>
                    <a:bodyPr/>
                    <a:lstStyle/>
                    <a:p>
                      <a:pPr marL="0" indent="0">
                        <a:lnSpc>
                          <a:spcPts val="1820"/>
                        </a:lnSpc>
                        <a:buNone/>
                      </a:pPr>
                      <a:r>
                        <a:rPr lang="en-US" sz="1300" dirty="0">
                          <a:solidFill>
                            <a:srgbClr val="9A4F12"/>
                          </a:solidFill>
                          <a:latin typeface="JetBrains Mono" pitchFamily="49" charset="0"/>
                          <a:ea typeface="JetBrains Mono" pitchFamily="49" charset="-122"/>
                          <a:cs typeface="JetBrains Mono" pitchFamily="49" charset="-120"/>
                        </a:rPr>
                        <a:t>3</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4</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Cadiz</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4</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7037765" y="3841294"/>
            <a:ext cx="4466438" cy="798810"/>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3E4A61"/>
                </a:solidFill>
                <a:latin typeface="IBM Plex Sans" pitchFamily="34" charset="0"/>
                <a:ea typeface="IBM Plex Sans" pitchFamily="34" charset="-122"/>
                <a:cs typeface="IBM Plex Sans" pitchFamily="34" charset="-120"/>
              </a:rPr>
              <a:t>Each </a:t>
            </a:r>
            <a:r>
              <a:rPr lang="en-US" sz="1400" b="1" dirty="0">
                <a:solidFill>
                  <a:srgbClr val="3E4A61"/>
                </a:solidFill>
                <a:latin typeface="IBM Plex Sans" pitchFamily="34" charset="0"/>
                <a:ea typeface="IBM Plex Sans" pitchFamily="34" charset="-122"/>
                <a:cs typeface="IBM Plex Sans" pitchFamily="34" charset="-120"/>
              </a:rPr>
              <a:t>key</a:t>
            </a:r>
            <a:r>
              <a:rPr lang="en-US" sz="1400" dirty="0">
                <a:solidFill>
                  <a:srgbClr val="3E4A61"/>
                </a:solidFill>
                <a:latin typeface="IBM Plex Sans" pitchFamily="34" charset="0"/>
                <a:ea typeface="IBM Plex Sans" pitchFamily="34" charset="-122"/>
                <a:cs typeface="IBM Plex Sans" pitchFamily="34" charset="-120"/>
              </a:rPr>
              <a:t> becomes a column label.</a:t>
            </a:r>
            <a:endParaRPr lang="en-US" sz="1400" dirty="0"/>
          </a:p>
          <a:p>
            <a:pPr marL="175768" indent="-175768" algn="l">
              <a:lnSpc>
                <a:spcPts val="2030"/>
              </a:lnSpc>
              <a:buSzPct val="100000"/>
              <a:buChar char="•"/>
            </a:pPr>
            <a:r>
              <a:rPr lang="en-US" sz="1400" dirty="0">
                <a:solidFill>
                  <a:srgbClr val="3E4A61"/>
                </a:solidFill>
                <a:latin typeface="IBM Plex Sans" pitchFamily="34" charset="0"/>
                <a:ea typeface="IBM Plex Sans" pitchFamily="34" charset="-122"/>
                <a:cs typeface="IBM Plex Sans" pitchFamily="34" charset="-120"/>
              </a:rPr>
              <a:t>Each </a:t>
            </a:r>
            <a:r>
              <a:rPr lang="en-US" sz="1400" b="1" dirty="0">
                <a:solidFill>
                  <a:srgbClr val="3E4A61"/>
                </a:solidFill>
                <a:latin typeface="IBM Plex Sans" pitchFamily="34" charset="0"/>
                <a:ea typeface="IBM Plex Sans" pitchFamily="34" charset="-122"/>
                <a:cs typeface="IBM Plex Sans" pitchFamily="34" charset="-120"/>
              </a:rPr>
              <a:t>list</a:t>
            </a:r>
            <a:r>
              <a:rPr lang="en-US" sz="1400" dirty="0">
                <a:solidFill>
                  <a:srgbClr val="3E4A61"/>
                </a:solidFill>
                <a:latin typeface="IBM Plex Sans" pitchFamily="34" charset="0"/>
                <a:ea typeface="IBM Plex Sans" pitchFamily="34" charset="-122"/>
                <a:cs typeface="IBM Plex Sans" pitchFamily="34" charset="-120"/>
              </a:rPr>
              <a:t> holds one value per row.</a:t>
            </a:r>
            <a:endParaRPr lang="en-US" sz="1400" dirty="0"/>
          </a:p>
          <a:p>
            <a:pPr marL="175768" indent="-175768" algn="l">
              <a:lnSpc>
                <a:spcPts val="2030"/>
              </a:lnSpc>
              <a:buSzPct val="100000"/>
              <a:buChar char="•"/>
            </a:pPr>
            <a:r>
              <a:rPr lang="en-US" sz="1400" dirty="0">
                <a:solidFill>
                  <a:srgbClr val="3E4A61"/>
                </a:solidFill>
                <a:latin typeface="IBM Plex Sans" pitchFamily="34" charset="0"/>
                <a:ea typeface="IBM Plex Sans" pitchFamily="34" charset="-122"/>
                <a:cs typeface="IBM Plex Sans" pitchFamily="34" charset="-120"/>
              </a:rPr>
              <a:t>pandas adds the </a:t>
            </a:r>
            <a:r>
              <a:rPr lang="en-US" sz="1400" b="1" dirty="0">
                <a:solidFill>
                  <a:srgbClr val="3E4A61"/>
                </a:solidFill>
                <a:latin typeface="IBM Plex Sans" pitchFamily="34" charset="0"/>
                <a:ea typeface="IBM Plex Sans" pitchFamily="34" charset="-122"/>
                <a:cs typeface="IBM Plex Sans" pitchFamily="34" charset="-120"/>
              </a:rPr>
              <a:t>index</a:t>
            </a:r>
            <a:r>
              <a:rPr lang="en-US" sz="1400" dirty="0">
                <a:solidFill>
                  <a:srgbClr val="3E4A61"/>
                </a:solidFill>
                <a:latin typeface="IBM Plex Sans" pitchFamily="34" charset="0"/>
                <a:ea typeface="IBM Plex Sans" pitchFamily="34" charset="-122"/>
                <a:cs typeface="IBM Plex Sans" pitchFamily="34" charset="-120"/>
              </a:rPr>
              <a:t> 0, 1, 2, 3 (shown in orange).</a:t>
            </a:r>
            <a:endParaRPr lang="en-US" sz="1400" dirty="0"/>
          </a:p>
        </p:txBody>
      </p:sp>
      <p:sp>
        <p:nvSpPr>
          <p:cNvPr id="7"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8"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2 · INSPECTING</a:t>
            </a:r>
            <a:endParaRPr lang="en-US" sz="1300" dirty="0"/>
          </a:p>
        </p:txBody>
      </p:sp>
      <p:sp>
        <p:nvSpPr>
          <p:cNvPr id="3" name="Text 1"/>
          <p:cNvSpPr>
            <a:spLocks noGrp="1"/>
          </p:cNvSpPr>
          <p:nvPr>
            <p:ph type="title"/>
          </p:nvPr>
        </p:nvSpPr>
        <p:spPr>
          <a:xfrm>
            <a:off x="812767" y="1120096"/>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Five things to check on any new table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02767"/>
          <a:ext cx="10555883" cy="2303610"/>
        </p:xfrm>
        <a:graphic>
          <a:graphicData uri="http://schemas.openxmlformats.org/drawingml/2006/table">
            <a:tbl>
              <a:tblPr/>
              <a:tblGrid>
                <a:gridCol w="2533412">
                  <a:extLst>
                    <a:ext uri="{9D8B030D-6E8A-4147-A177-3AD203B41FA5}">
                      <a16:colId xmlns:a16="http://schemas.microsoft.com/office/drawing/2014/main" val="20000"/>
                    </a:ext>
                  </a:extLst>
                </a:gridCol>
                <a:gridCol w="4222353">
                  <a:extLst>
                    <a:ext uri="{9D8B030D-6E8A-4147-A177-3AD203B41FA5}">
                      <a16:colId xmlns:a16="http://schemas.microsoft.com/office/drawing/2014/main" val="20001"/>
                    </a:ext>
                  </a:extLst>
                </a:gridCol>
                <a:gridCol w="3800118">
                  <a:extLst>
                    <a:ext uri="{9D8B030D-6E8A-4147-A177-3AD203B41FA5}">
                      <a16:colId xmlns:a16="http://schemas.microsoft.com/office/drawing/2014/main" val="20002"/>
                    </a:ext>
                  </a:extLst>
                </a:gridCol>
              </a:tblGrid>
              <a:tr h="383935">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Code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What it tells you</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For VOYAGES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extLst>
                  <a:ext uri="{0D108BD9-81ED-4DB2-BD59-A6C34878D82A}">
                    <a16:rowId xmlns:a16="http://schemas.microsoft.com/office/drawing/2014/main" val="10000"/>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df.head()</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first rows (5 by default)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All 4 voyages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df.shape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(rows, columns)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(4, 6)</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df.columns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column labels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voyage, depart_date, …</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df.dtypes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data type of each column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Dates are stored as text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df.info()</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All of the above, plus missing values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missing values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815942" y="4514320"/>
            <a:ext cx="10560116" cy="639151"/>
          </a:xfrm>
          <a:prstGeom prst="roundRect">
            <a:avLst>
              <a:gd name="adj" fmla="val 11425"/>
            </a:avLst>
          </a:prstGeom>
          <a:solidFill>
            <a:srgbClr val="FBF8F1"/>
          </a:solidFill>
          <a:ln w="6350">
            <a:solidFill>
              <a:srgbClr val="DCD2BE"/>
            </a:solidFill>
            <a:prstDash val="solid"/>
          </a:ln>
        </p:spPr>
        <p:txBody>
          <a:bodyPr/>
          <a:lstStyle/>
          <a:p>
            <a:endParaRPr lang="en-US"/>
          </a:p>
        </p:txBody>
      </p:sp>
      <p:pic>
        <p:nvPicPr>
          <p:cNvPr id="6" name="Image 0" descr="Lightbulb"/>
          <p:cNvPicPr>
            <a:picLocks noChangeAspect="1"/>
          </p:cNvPicPr>
          <p:nvPr/>
        </p:nvPicPr>
        <p:blipFill>
          <a:blip r:embed="rId3"/>
          <a:srcRect/>
          <a:stretch/>
        </p:blipFill>
        <p:spPr>
          <a:xfrm>
            <a:off x="1021250" y="4694203"/>
            <a:ext cx="279383" cy="279383"/>
          </a:xfrm>
          <a:prstGeom prst="rect">
            <a:avLst/>
          </a:prstGeom>
        </p:spPr>
      </p:pic>
      <p:sp>
        <p:nvSpPr>
          <p:cNvPr id="7" name="Text 3"/>
          <p:cNvSpPr/>
          <p:nvPr/>
        </p:nvSpPr>
        <p:spPr>
          <a:xfrm>
            <a:off x="1453017" y="4709418"/>
            <a:ext cx="9919866" cy="27431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61"/>
                </a:solidFill>
                <a:latin typeface="IBM Plex Sans" pitchFamily="34" charset="0"/>
                <a:ea typeface="IBM Plex Sans" pitchFamily="34" charset="-122"/>
                <a:cs typeface="IBM Plex Sans" pitchFamily="34" charset="-120"/>
              </a:rPr>
              <a:t>Watch the dates:</a:t>
            </a:r>
            <a:r>
              <a:rPr lang="en-US" sz="1400" dirty="0">
                <a:solidFill>
                  <a:srgbClr val="3E4A61"/>
                </a:solidFill>
                <a:latin typeface="IBM Plex Sans" pitchFamily="34" charset="0"/>
                <a:ea typeface="IBM Plex Sans" pitchFamily="34" charset="-122"/>
                <a:cs typeface="IBM Plex Sans" pitchFamily="34" charset="-120"/>
              </a:rPr>
              <a:t> stored as text, they can't be subtracted to get a voyage's length. We fix this in Section 5.</a:t>
            </a:r>
            <a:endParaRPr lang="en-US" sz="1400" dirty="0"/>
          </a:p>
        </p:txBody>
      </p:sp>
      <p:sp>
        <p:nvSpPr>
          <p:cNvPr id="8"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9"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3 · SELECTING</a:t>
            </a:r>
            <a:endParaRPr lang="en-US" sz="1300" dirty="0"/>
          </a:p>
        </p:txBody>
      </p:sp>
      <p:sp>
        <p:nvSpPr>
          <p:cNvPr id="3" name="Text 1"/>
          <p:cNvSpPr>
            <a:spLocks noGrp="1"/>
          </p:cNvSpPr>
          <p:nvPr>
            <p:ph type="title"/>
          </p:nvPr>
        </p:nvSpPr>
        <p:spPr>
          <a:xfrm>
            <a:off x="812767" y="1120096"/>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Picking columns and rows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02766"/>
          <a:ext cx="10555883" cy="1919675"/>
        </p:xfrm>
        <a:graphic>
          <a:graphicData uri="http://schemas.openxmlformats.org/drawingml/2006/table">
            <a:tbl>
              <a:tblPr/>
              <a:tblGrid>
                <a:gridCol w="3800118">
                  <a:extLst>
                    <a:ext uri="{9D8B030D-6E8A-4147-A177-3AD203B41FA5}">
                      <a16:colId xmlns:a16="http://schemas.microsoft.com/office/drawing/2014/main" val="20000"/>
                    </a:ext>
                  </a:extLst>
                </a:gridCol>
                <a:gridCol w="3800118">
                  <a:extLst>
                    <a:ext uri="{9D8B030D-6E8A-4147-A177-3AD203B41FA5}">
                      <a16:colId xmlns:a16="http://schemas.microsoft.com/office/drawing/2014/main" val="20001"/>
                    </a:ext>
                  </a:extLst>
                </a:gridCol>
                <a:gridCol w="2955647">
                  <a:extLst>
                    <a:ext uri="{9D8B030D-6E8A-4147-A177-3AD203B41FA5}">
                      <a16:colId xmlns:a16="http://schemas.microsoft.com/office/drawing/2014/main" val="20002"/>
                    </a:ext>
                  </a:extLst>
                </a:gridCol>
              </a:tblGrid>
              <a:tr h="383935">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Code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Selects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Returns</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extLst>
                  <a:ext uri="{0D108BD9-81ED-4DB2-BD59-A6C34878D82A}">
                    <a16:rowId xmlns:a16="http://schemas.microsoft.com/office/drawing/2014/main" val="10000"/>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df["depart_port"]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One column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Series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df[["voyage", "num_ships"]]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Several columns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DataFrame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df.loc[2]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row with label 2</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Series (one row)</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83935">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df.iloc[0]</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first row, by position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Series (one row)</a:t>
                      </a:r>
                      <a:endParaRPr lang="en-US" sz="1400" dirty="0">
                        <a:latin typeface="IBM Plex Sans" charset="0"/>
                        <a:ea typeface="IBM Plex Sans" charset="0"/>
                        <a:cs typeface="IBM Plex Sans" charset="0"/>
                      </a:endParaRPr>
                    </a:p>
                  </a:txBody>
                  <a:tcPr marL="62230" marR="62230" marT="62230" marB="6223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815942" y="4130384"/>
            <a:ext cx="10560116" cy="639151"/>
          </a:xfrm>
          <a:prstGeom prst="roundRect">
            <a:avLst>
              <a:gd name="adj" fmla="val 11425"/>
            </a:avLst>
          </a:prstGeom>
          <a:solidFill>
            <a:srgbClr val="FBF8F1"/>
          </a:solidFill>
          <a:ln w="6350">
            <a:solidFill>
              <a:srgbClr val="DCD2BE"/>
            </a:solidFill>
            <a:prstDash val="solid"/>
          </a:ln>
        </p:spPr>
        <p:txBody>
          <a:bodyPr/>
          <a:lstStyle/>
          <a:p>
            <a:endParaRPr lang="en-US"/>
          </a:p>
        </p:txBody>
      </p:sp>
      <p:pic>
        <p:nvPicPr>
          <p:cNvPr id="6" name="Image 0" descr="Lightbulb"/>
          <p:cNvPicPr>
            <a:picLocks noChangeAspect="1"/>
          </p:cNvPicPr>
          <p:nvPr/>
        </p:nvPicPr>
        <p:blipFill>
          <a:blip r:embed="rId3"/>
          <a:srcRect/>
          <a:stretch/>
        </p:blipFill>
        <p:spPr>
          <a:xfrm>
            <a:off x="1021250" y="4310267"/>
            <a:ext cx="279383" cy="279383"/>
          </a:xfrm>
          <a:prstGeom prst="rect">
            <a:avLst/>
          </a:prstGeom>
        </p:spPr>
      </p:pic>
      <p:sp>
        <p:nvSpPr>
          <p:cNvPr id="7" name="Text 3"/>
          <p:cNvSpPr/>
          <p:nvPr/>
        </p:nvSpPr>
        <p:spPr>
          <a:xfrm>
            <a:off x="1453017" y="4325482"/>
            <a:ext cx="8232725" cy="27431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61"/>
                </a:solidFill>
                <a:latin typeface="IBM Plex Sans" pitchFamily="34" charset="0"/>
                <a:ea typeface="IBM Plex Sans" pitchFamily="34" charset="-122"/>
                <a:cs typeface="IBM Plex Sans" pitchFamily="34" charset="-120"/>
              </a:rPr>
              <a:t>Double brackets</a:t>
            </a:r>
            <a:r>
              <a:rPr lang="en-US" sz="1400" dirty="0">
                <a:solidFill>
                  <a:srgbClr val="3E4A61"/>
                </a:solidFill>
                <a:latin typeface="IBM Plex Sans" pitchFamily="34" charset="0"/>
                <a:ea typeface="IBM Plex Sans" pitchFamily="34" charset="-122"/>
                <a:cs typeface="IBM Plex Sans" pitchFamily="34" charset="-120"/>
              </a:rPr>
              <a:t> select several columns: the inner [ ] is a Python list of column names.</a:t>
            </a:r>
            <a:endParaRPr lang="en-US" sz="1400" dirty="0"/>
          </a:p>
        </p:txBody>
      </p:sp>
      <p:sp>
        <p:nvSpPr>
          <p:cNvPr id="8"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9"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4 · FILTERING AND MISSING VALUES</a:t>
            </a:r>
            <a:endParaRPr lang="en-US" sz="1300" dirty="0"/>
          </a:p>
        </p:txBody>
      </p:sp>
      <p:sp>
        <p:nvSpPr>
          <p:cNvPr id="3" name="Text 1"/>
          <p:cNvSpPr>
            <a:spLocks noGrp="1"/>
          </p:cNvSpPr>
          <p:nvPr>
            <p:ph type="title"/>
          </p:nvPr>
        </p:nvSpPr>
        <p:spPr>
          <a:xfrm>
            <a:off x="812767" y="1120096"/>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Which ships have a known captain?</a:t>
            </a:r>
            <a:endParaRPr lang="en-US" sz="3200" dirty="0"/>
          </a:p>
        </p:txBody>
      </p:sp>
      <p:sp>
        <p:nvSpPr>
          <p:cNvPr id="4" name="Text 2"/>
          <p:cNvSpPr/>
          <p:nvPr/>
        </p:nvSpPr>
        <p:spPr>
          <a:xfrm>
            <a:off x="812767" y="1892182"/>
            <a:ext cx="4826000" cy="2346606"/>
          </a:xfrm>
          <a:prstGeom prst="roundRect">
            <a:avLst>
              <a:gd name="adj" fmla="val 4330"/>
            </a:avLst>
          </a:prstGeom>
          <a:solidFill>
            <a:srgbClr val="14213D"/>
          </a:solidFill>
          <a:ln/>
        </p:spPr>
        <p:txBody>
          <a:bodyPr wrap="square" lIns="198818" tIns="198842" rIns="67752" bIns="173393" rtlCol="0" anchor="t">
            <a:normAutofit/>
          </a:bodyPr>
          <a:lstStyle/>
          <a:p>
            <a:pPr marL="0" indent="0" algn="l">
              <a:lnSpc>
                <a:spcPts val="1860"/>
              </a:lnSpc>
              <a:buNone/>
            </a:pPr>
            <a:r>
              <a:rPr lang="en-US" sz="1200" dirty="0">
                <a:solidFill>
                  <a:srgbClr val="9FB0CC"/>
                </a:solidFill>
                <a:latin typeface="JetBrains Mono" pitchFamily="49" charset="0"/>
                <a:ea typeface="JetBrains Mono" pitchFamily="49" charset="-122"/>
                <a:cs typeface="JetBrains Mono" pitchFamily="49" charset="-120"/>
              </a:rPr>
              <a:t># keep the rows where the test is True</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SHIPS[SHIPS[</a:t>
            </a:r>
            <a:r>
              <a:rPr lang="en-US" sz="1200" dirty="0">
                <a:solidFill>
                  <a:srgbClr val="E8B36A"/>
                </a:solidFill>
                <a:latin typeface="JetBrains Mono" pitchFamily="49" charset="0"/>
                <a:ea typeface="JetBrains Mono" pitchFamily="49" charset="-122"/>
                <a:cs typeface="JetBrains Mono" pitchFamily="49" charset="-120"/>
              </a:rPr>
              <a:t>"ship_type"</a:t>
            </a:r>
            <a:r>
              <a:rPr lang="en-US" sz="1200" dirty="0">
                <a:solidFill>
                  <a:srgbClr val="F5EFE3"/>
                </a:solidFill>
                <a:latin typeface="JetBrains Mono" pitchFamily="49" charset="0"/>
                <a:ea typeface="JetBrains Mono" pitchFamily="49" charset="-122"/>
                <a:cs typeface="JetBrains Mono" pitchFamily="49" charset="-120"/>
              </a:rPr>
              <a:t>] == </a:t>
            </a:r>
            <a:r>
              <a:rPr lang="en-US" sz="1200" dirty="0">
                <a:solidFill>
                  <a:srgbClr val="E8B36A"/>
                </a:solidFill>
                <a:latin typeface="JetBrains Mono" pitchFamily="49" charset="0"/>
                <a:ea typeface="JetBrains Mono" pitchFamily="49" charset="-122"/>
                <a:cs typeface="JetBrains Mono" pitchFamily="49" charset="-120"/>
              </a:rPr>
              <a:t>"caravel"</a:t>
            </a: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endParaRPr lang="en-US" sz="1200" dirty="0"/>
          </a:p>
          <a:p>
            <a:pPr marL="0" indent="0" algn="l">
              <a:lnSpc>
                <a:spcPts val="1860"/>
              </a:lnSpc>
              <a:buNone/>
            </a:pPr>
            <a:r>
              <a:rPr lang="en-US" sz="1200" dirty="0">
                <a:solidFill>
                  <a:srgbClr val="9FB0CC"/>
                </a:solidFill>
                <a:latin typeface="JetBrains Mono" pitchFamily="49" charset="0"/>
                <a:ea typeface="JetBrains Mono" pitchFamily="49" charset="-122"/>
                <a:cs typeface="JetBrains Mono" pitchFamily="49" charset="-120"/>
              </a:rPr>
              <a:t># count the missing values per column</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SHIPS.isna().sum()</a:t>
            </a:r>
            <a:endParaRPr lang="en-US" sz="1200" dirty="0"/>
          </a:p>
          <a:p>
            <a:pPr marL="0" indent="0" algn="l">
              <a:lnSpc>
                <a:spcPts val="1860"/>
              </a:lnSpc>
              <a:buNone/>
            </a:pPr>
            <a:endParaRPr lang="en-US" sz="1200" dirty="0"/>
          </a:p>
          <a:p>
            <a:pPr marL="0" indent="0" algn="l">
              <a:lnSpc>
                <a:spcPts val="1860"/>
              </a:lnSpc>
              <a:buNone/>
            </a:pPr>
            <a:r>
              <a:rPr lang="en-US" sz="1200" dirty="0">
                <a:solidFill>
                  <a:srgbClr val="9FB0CC"/>
                </a:solidFill>
                <a:latin typeface="JetBrains Mono" pitchFamily="49" charset="0"/>
                <a:ea typeface="JetBrains Mono" pitchFamily="49" charset="-122"/>
                <a:cs typeface="JetBrains Mono" pitchFamily="49" charset="-120"/>
              </a:rPr>
              <a:t># ships whose captain is unknown</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SHIPS[SHIPS[</a:t>
            </a:r>
            <a:r>
              <a:rPr lang="en-US" sz="1200" dirty="0">
                <a:solidFill>
                  <a:srgbClr val="E8B36A"/>
                </a:solidFill>
                <a:latin typeface="JetBrains Mono" pitchFamily="49" charset="0"/>
                <a:ea typeface="JetBrains Mono" pitchFamily="49" charset="-122"/>
                <a:cs typeface="JetBrains Mono" pitchFamily="49" charset="-120"/>
              </a:rPr>
              <a:t>"captain"</a:t>
            </a:r>
            <a:r>
              <a:rPr lang="en-US" sz="1200" dirty="0">
                <a:solidFill>
                  <a:srgbClr val="F5EFE3"/>
                </a:solidFill>
                <a:latin typeface="JetBrains Mono" pitchFamily="49" charset="0"/>
                <a:ea typeface="JetBrains Mono" pitchFamily="49" charset="-122"/>
                <a:cs typeface="JetBrains Mono" pitchFamily="49" charset="-120"/>
              </a:rPr>
              <a:t>].isna()]</a:t>
            </a:r>
            <a:endParaRPr lang="en-US" sz="1200" dirty="0"/>
          </a:p>
        </p:txBody>
      </p:sp>
      <p:sp>
        <p:nvSpPr>
          <p:cNvPr id="5" name="Text 3"/>
          <p:cNvSpPr/>
          <p:nvPr/>
        </p:nvSpPr>
        <p:spPr>
          <a:xfrm>
            <a:off x="812767" y="4416555"/>
            <a:ext cx="4970780" cy="54100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E4A61"/>
                </a:solidFill>
                <a:latin typeface="IBM Plex Sans" pitchFamily="34" charset="0"/>
                <a:ea typeface="IBM Plex Sans" pitchFamily="34" charset="-122"/>
                <a:cs typeface="IBM Plex Sans" pitchFamily="34" charset="-120"/>
              </a:rPr>
              <a:t>The article names the 4th voyage's ships but not their captains, so those cells are </a:t>
            </a:r>
            <a:r>
              <a:rPr lang="en-US" sz="1400" b="1" dirty="0">
                <a:solidFill>
                  <a:srgbClr val="3E4A61"/>
                </a:solidFill>
                <a:latin typeface="IBM Plex Sans" pitchFamily="34" charset="0"/>
                <a:ea typeface="IBM Plex Sans" pitchFamily="34" charset="-122"/>
                <a:cs typeface="IBM Plex Sans" pitchFamily="34" charset="-120"/>
              </a:rPr>
              <a:t>NaN</a:t>
            </a:r>
            <a:r>
              <a:rPr lang="en-US" sz="1400" dirty="0">
                <a:solidFill>
                  <a:srgbClr val="3E4A61"/>
                </a:solidFill>
                <a:latin typeface="IBM Plex Sans" pitchFamily="34" charset="0"/>
                <a:ea typeface="IBM Plex Sans" pitchFamily="34" charset="-122"/>
                <a:cs typeface="IBM Plex Sans" pitchFamily="34" charset="-120"/>
              </a:rPr>
              <a:t> (missing).</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54117" y="1902766"/>
          <a:ext cx="5425117" cy="2644512"/>
        </p:xfrm>
        <a:graphic>
          <a:graphicData uri="http://schemas.openxmlformats.org/drawingml/2006/table">
            <a:tbl>
              <a:tblPr/>
              <a:tblGrid>
                <a:gridCol w="868019">
                  <a:extLst>
                    <a:ext uri="{9D8B030D-6E8A-4147-A177-3AD203B41FA5}">
                      <a16:colId xmlns:a16="http://schemas.microsoft.com/office/drawing/2014/main" val="20000"/>
                    </a:ext>
                  </a:extLst>
                </a:gridCol>
                <a:gridCol w="1953042">
                  <a:extLst>
                    <a:ext uri="{9D8B030D-6E8A-4147-A177-3AD203B41FA5}">
                      <a16:colId xmlns:a16="http://schemas.microsoft.com/office/drawing/2014/main" val="20001"/>
                    </a:ext>
                  </a:extLst>
                </a:gridCol>
                <a:gridCol w="2604056">
                  <a:extLst>
                    <a:ext uri="{9D8B030D-6E8A-4147-A177-3AD203B41FA5}">
                      <a16:colId xmlns:a16="http://schemas.microsoft.com/office/drawing/2014/main" val="20002"/>
                    </a:ext>
                  </a:extLst>
                </a:gridCol>
              </a:tblGrid>
              <a:tr h="330564">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voyage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ship</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captain</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Santa Maria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Christopher Columbus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Pinta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Martin Alonso Pinzon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Nina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Vicente Yanez Pinzon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Capitana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Christopher Columbus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Gallega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9A4F12"/>
                          </a:solidFill>
                          <a:latin typeface="IBM Plex Sans" pitchFamily="34" charset="0"/>
                          <a:ea typeface="IBM Plex Sans" pitchFamily="34" charset="-122"/>
                          <a:cs typeface="IBM Plex Sans" pitchFamily="34" charset="-120"/>
                        </a:rPr>
                        <a:t>NaN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Vizcaina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9A4F12"/>
                          </a:solidFill>
                          <a:latin typeface="IBM Plex Sans" pitchFamily="34" charset="0"/>
                          <a:ea typeface="IBM Plex Sans" pitchFamily="34" charset="-122"/>
                          <a:cs typeface="IBM Plex Sans" pitchFamily="34" charset="-120"/>
                        </a:rPr>
                        <a:t>NaN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Santiago de Palos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9A4F12"/>
                          </a:solidFill>
                          <a:latin typeface="IBM Plex Sans" pitchFamily="34" charset="0"/>
                          <a:ea typeface="IBM Plex Sans" pitchFamily="34" charset="-122"/>
                          <a:cs typeface="IBM Plex Sans" pitchFamily="34" charset="-120"/>
                        </a:rPr>
                        <a:t>NaN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 4"/>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8" name="Text 5"/>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5 · DATES, NEW COLUMNS AND SORTING</a:t>
            </a:r>
            <a:endParaRPr lang="en-US" sz="1300" dirty="0"/>
          </a:p>
        </p:txBody>
      </p:sp>
      <p:sp>
        <p:nvSpPr>
          <p:cNvPr id="3" name="Text 1"/>
          <p:cNvSpPr>
            <a:spLocks noGrp="1"/>
          </p:cNvSpPr>
          <p:nvPr>
            <p:ph type="title"/>
          </p:nvPr>
        </p:nvSpPr>
        <p:spPr>
          <a:xfrm>
            <a:off x="812767" y="1120096"/>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From text to dates, and from dates to days</a:t>
            </a:r>
            <a:endParaRPr lang="en-US" sz="3200" dirty="0"/>
          </a:p>
        </p:txBody>
      </p:sp>
      <p:sp>
        <p:nvSpPr>
          <p:cNvPr id="4" name="Text 2"/>
          <p:cNvSpPr/>
          <p:nvPr/>
        </p:nvSpPr>
        <p:spPr>
          <a:xfrm>
            <a:off x="812767" y="1892182"/>
            <a:ext cx="10566466" cy="1401878"/>
          </a:xfrm>
          <a:prstGeom prst="roundRect">
            <a:avLst>
              <a:gd name="adj" fmla="val 7247"/>
            </a:avLst>
          </a:prstGeom>
          <a:solidFill>
            <a:srgbClr val="14213D"/>
          </a:solidFill>
          <a:ln/>
        </p:spPr>
        <p:txBody>
          <a:bodyPr wrap="square" lIns="198818" tIns="198842" rIns="0" bIns="173393" rtlCol="0" anchor="t">
            <a:normAutofit/>
          </a:bodyPr>
          <a:lstStyle/>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VOYAGES[</a:t>
            </a:r>
            <a:r>
              <a:rPr lang="en-US" sz="1200" dirty="0">
                <a:solidFill>
                  <a:srgbClr val="E8B36A"/>
                </a:solidFill>
                <a:latin typeface="JetBrains Mono" pitchFamily="49" charset="0"/>
                <a:ea typeface="JetBrains Mono" pitchFamily="49" charset="-122"/>
                <a:cs typeface="JetBrains Mono" pitchFamily="49" charset="-120"/>
              </a:rPr>
              <a:t>"depart_date"</a:t>
            </a:r>
            <a:r>
              <a:rPr lang="en-US" sz="1200" dirty="0">
                <a:solidFill>
                  <a:srgbClr val="F5EFE3"/>
                </a:solidFill>
                <a:latin typeface="JetBrains Mono" pitchFamily="49" charset="0"/>
                <a:ea typeface="JetBrains Mono" pitchFamily="49" charset="-122"/>
                <a:cs typeface="JetBrains Mono" pitchFamily="49" charset="-120"/>
              </a:rPr>
              <a:t>] = pandas.to_datetime(VOYAGES[</a:t>
            </a:r>
            <a:r>
              <a:rPr lang="en-US" sz="1200" dirty="0">
                <a:solidFill>
                  <a:srgbClr val="E8B36A"/>
                </a:solidFill>
                <a:latin typeface="JetBrains Mono" pitchFamily="49" charset="0"/>
                <a:ea typeface="JetBrains Mono" pitchFamily="49" charset="-122"/>
                <a:cs typeface="JetBrains Mono" pitchFamily="49" charset="-120"/>
              </a:rPr>
              <a:t>"depart_date"</a:t>
            </a: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VOYAGES[</a:t>
            </a:r>
            <a:r>
              <a:rPr lang="en-US" sz="1200" dirty="0">
                <a:solidFill>
                  <a:srgbClr val="E8B36A"/>
                </a:solidFill>
                <a:latin typeface="JetBrains Mono" pitchFamily="49" charset="0"/>
                <a:ea typeface="JetBrains Mono" pitchFamily="49" charset="-122"/>
                <a:cs typeface="JetBrains Mono" pitchFamily="49" charset="-120"/>
              </a:rPr>
              <a:t>"return_date"</a:t>
            </a:r>
            <a:r>
              <a:rPr lang="en-US" sz="1200" dirty="0">
                <a:solidFill>
                  <a:srgbClr val="F5EFE3"/>
                </a:solidFill>
                <a:latin typeface="JetBrains Mono" pitchFamily="49" charset="0"/>
                <a:ea typeface="JetBrains Mono" pitchFamily="49" charset="-122"/>
                <a:cs typeface="JetBrains Mono" pitchFamily="49" charset="-120"/>
              </a:rPr>
              <a:t>] = pandas.to_datetime(VOYAGES[</a:t>
            </a:r>
            <a:r>
              <a:rPr lang="en-US" sz="1200" dirty="0">
                <a:solidFill>
                  <a:srgbClr val="E8B36A"/>
                </a:solidFill>
                <a:latin typeface="JetBrains Mono" pitchFamily="49" charset="0"/>
                <a:ea typeface="JetBrains Mono" pitchFamily="49" charset="-122"/>
                <a:cs typeface="JetBrains Mono" pitchFamily="49" charset="-120"/>
              </a:rPr>
              <a:t>"return_date"</a:t>
            </a: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VOYAGES[</a:t>
            </a:r>
            <a:r>
              <a:rPr lang="en-US" sz="1200" dirty="0">
                <a:solidFill>
                  <a:srgbClr val="E8B36A"/>
                </a:solidFill>
                <a:latin typeface="JetBrains Mono" pitchFamily="49" charset="0"/>
                <a:ea typeface="JetBrains Mono" pitchFamily="49" charset="-122"/>
                <a:cs typeface="JetBrains Mono" pitchFamily="49" charset="-120"/>
              </a:rPr>
              <a:t>"duration_days"</a:t>
            </a:r>
            <a:r>
              <a:rPr lang="en-US" sz="1200" dirty="0">
                <a:solidFill>
                  <a:srgbClr val="F5EFE3"/>
                </a:solidFill>
                <a:latin typeface="JetBrains Mono" pitchFamily="49" charset="0"/>
                <a:ea typeface="JetBrains Mono" pitchFamily="49" charset="-122"/>
                <a:cs typeface="JetBrains Mono" pitchFamily="49" charset="-120"/>
              </a:rPr>
              <a:t>] = (VOYAGES[</a:t>
            </a:r>
            <a:r>
              <a:rPr lang="en-US" sz="1200" dirty="0">
                <a:solidFill>
                  <a:srgbClr val="E8B36A"/>
                </a:solidFill>
                <a:latin typeface="JetBrains Mono" pitchFamily="49" charset="0"/>
                <a:ea typeface="JetBrains Mono" pitchFamily="49" charset="-122"/>
                <a:cs typeface="JetBrains Mono" pitchFamily="49" charset="-120"/>
              </a:rPr>
              <a:t>"return_date"</a:t>
            </a:r>
            <a:r>
              <a:rPr lang="en-US" sz="1200" dirty="0">
                <a:solidFill>
                  <a:srgbClr val="F5EFE3"/>
                </a:solidFill>
                <a:latin typeface="JetBrains Mono" pitchFamily="49" charset="0"/>
                <a:ea typeface="JetBrains Mono" pitchFamily="49" charset="-122"/>
                <a:cs typeface="JetBrains Mono" pitchFamily="49" charset="-120"/>
              </a:rPr>
              <a:t>] - VOYAGES[</a:t>
            </a:r>
            <a:r>
              <a:rPr lang="en-US" sz="1200" dirty="0">
                <a:solidFill>
                  <a:srgbClr val="E8B36A"/>
                </a:solidFill>
                <a:latin typeface="JetBrains Mono" pitchFamily="49" charset="0"/>
                <a:ea typeface="JetBrains Mono" pitchFamily="49" charset="-122"/>
                <a:cs typeface="JetBrains Mono" pitchFamily="49" charset="-120"/>
              </a:rPr>
              <a:t>"depart_date"</a:t>
            </a:r>
            <a:r>
              <a:rPr lang="en-US" sz="1200" dirty="0">
                <a:solidFill>
                  <a:srgbClr val="F5EFE3"/>
                </a:solidFill>
                <a:latin typeface="JetBrains Mono" pitchFamily="49" charset="0"/>
                <a:ea typeface="JetBrains Mono" pitchFamily="49" charset="-122"/>
                <a:cs typeface="JetBrains Mono" pitchFamily="49" charset="-120"/>
              </a:rPr>
              <a:t>]).dt.days</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VOYAGES.sort_values(</a:t>
            </a:r>
            <a:r>
              <a:rPr lang="en-US" sz="1200" dirty="0">
                <a:solidFill>
                  <a:srgbClr val="E8B36A"/>
                </a:solidFill>
                <a:latin typeface="JetBrains Mono" pitchFamily="49" charset="0"/>
                <a:ea typeface="JetBrains Mono" pitchFamily="49" charset="-122"/>
                <a:cs typeface="JetBrains Mono" pitchFamily="49" charset="-120"/>
              </a:rPr>
              <a:t>"duration_days"</a:t>
            </a:r>
            <a:r>
              <a:rPr lang="en-US" sz="1200" dirty="0">
                <a:solidFill>
                  <a:srgbClr val="F5EFE3"/>
                </a:solidFill>
                <a:latin typeface="JetBrains Mono" pitchFamily="49" charset="0"/>
                <a:ea typeface="JetBrains Mono" pitchFamily="49" charset="-122"/>
                <a:cs typeface="JetBrains Mono" pitchFamily="49" charset="-120"/>
              </a:rPr>
              <a:t>, ascending=False)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50" y="3609412"/>
          <a:ext cx="10555882" cy="1786145"/>
        </p:xfrm>
        <a:graphic>
          <a:graphicData uri="http://schemas.openxmlformats.org/drawingml/2006/table">
            <a:tbl>
              <a:tblPr/>
              <a:tblGrid>
                <a:gridCol w="1688941">
                  <a:extLst>
                    <a:ext uri="{9D8B030D-6E8A-4147-A177-3AD203B41FA5}">
                      <a16:colId xmlns:a16="http://schemas.microsoft.com/office/drawing/2014/main" val="20000"/>
                    </a:ext>
                  </a:extLst>
                </a:gridCol>
                <a:gridCol w="2955647">
                  <a:extLst>
                    <a:ext uri="{9D8B030D-6E8A-4147-A177-3AD203B41FA5}">
                      <a16:colId xmlns:a16="http://schemas.microsoft.com/office/drawing/2014/main" val="20001"/>
                    </a:ext>
                  </a:extLst>
                </a:gridCol>
                <a:gridCol w="2955647">
                  <a:extLst>
                    <a:ext uri="{9D8B030D-6E8A-4147-A177-3AD203B41FA5}">
                      <a16:colId xmlns:a16="http://schemas.microsoft.com/office/drawing/2014/main" val="20002"/>
                    </a:ext>
                  </a:extLst>
                </a:gridCol>
                <a:gridCol w="2955647">
                  <a:extLst>
                    <a:ext uri="{9D8B030D-6E8A-4147-A177-3AD203B41FA5}">
                      <a16:colId xmlns:a16="http://schemas.microsoft.com/office/drawing/2014/main" val="20003"/>
                    </a:ext>
                  </a:extLst>
                </a:gridCol>
              </a:tblGrid>
              <a:tr h="357229">
                <a:tc>
                  <a:txBody>
                    <a:bodyPr/>
                    <a:lstStyle/>
                    <a:p>
                      <a:pPr marL="0" indent="0">
                        <a:lnSpc>
                          <a:spcPts val="1820"/>
                        </a:lnSpc>
                        <a:buNone/>
                      </a:pPr>
                      <a:r>
                        <a:rPr lang="en-US" sz="1300" b="1" dirty="0">
                          <a:solidFill>
                            <a:srgbClr val="14213D"/>
                          </a:solidFill>
                          <a:latin typeface="JetBrains Mono" pitchFamily="49" charset="0"/>
                          <a:ea typeface="JetBrains Mono" pitchFamily="49" charset="-122"/>
                          <a:cs typeface="JetBrains Mono" pitchFamily="49" charset="-120"/>
                        </a:rPr>
                        <a:t>voyage</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820"/>
                        </a:lnSpc>
                        <a:buNone/>
                      </a:pPr>
                      <a:r>
                        <a:rPr lang="en-US" sz="1300" b="1" dirty="0">
                          <a:solidFill>
                            <a:srgbClr val="14213D"/>
                          </a:solidFill>
                          <a:latin typeface="JetBrains Mono" pitchFamily="49" charset="0"/>
                          <a:ea typeface="JetBrains Mono" pitchFamily="49" charset="-122"/>
                          <a:cs typeface="JetBrains Mono" pitchFamily="49" charset="-120"/>
                        </a:rPr>
                        <a:t>depart_date</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820"/>
                        </a:lnSpc>
                        <a:buNone/>
                      </a:pPr>
                      <a:r>
                        <a:rPr lang="en-US" sz="1300" b="1" dirty="0">
                          <a:solidFill>
                            <a:srgbClr val="14213D"/>
                          </a:solidFill>
                          <a:latin typeface="JetBrains Mono" pitchFamily="49" charset="0"/>
                          <a:ea typeface="JetBrains Mono" pitchFamily="49" charset="-122"/>
                          <a:cs typeface="JetBrains Mono" pitchFamily="49" charset="-120"/>
                        </a:rPr>
                        <a:t>return_date</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gn="r">
                        <a:lnSpc>
                          <a:spcPts val="1820"/>
                        </a:lnSpc>
                        <a:buNone/>
                      </a:pPr>
                      <a:r>
                        <a:rPr lang="en-US" sz="1300" b="1" dirty="0">
                          <a:solidFill>
                            <a:srgbClr val="14213D"/>
                          </a:solidFill>
                          <a:latin typeface="JetBrains Mono" pitchFamily="49" charset="0"/>
                          <a:ea typeface="JetBrains Mono" pitchFamily="49" charset="-122"/>
                          <a:cs typeface="JetBrains Mono" pitchFamily="49" charset="-120"/>
                        </a:rPr>
                        <a:t>duration_days</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extLst>
                  <a:ext uri="{0D108BD9-81ED-4DB2-BD59-A6C34878D82A}">
                    <a16:rowId xmlns:a16="http://schemas.microsoft.com/office/drawing/2014/main" val="10000"/>
                  </a:ext>
                </a:extLst>
              </a:tr>
              <a:tr h="357229">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2</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1493-09-24</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1496-06-11</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991</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357229">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4</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1502-05-12</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1504-11-07</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910</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57229">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3</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1498-05-30</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1500-08-23</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815</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57229">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1492-08-03</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1493-03-04</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r">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213</a:t>
                      </a:r>
                      <a:endParaRPr lang="en-US" sz="1300" dirty="0">
                        <a:latin typeface="JetBrains Mono" charset="0"/>
                        <a:ea typeface="JetBrains Mono" charset="0"/>
                        <a:cs typeface="JetBrains Mono"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7" name="Text 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67" y="1886024"/>
            <a:ext cx="366268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E8B36A"/>
                </a:solidFill>
                <a:latin typeface="IBM Plex Sans" pitchFamily="34" charset="0"/>
                <a:ea typeface="IBM Plex Sans" pitchFamily="34" charset="-122"/>
                <a:cs typeface="IBM Plex Sans" pitchFamily="34" charset="-120"/>
              </a:rPr>
              <a:t>5 · YOUR FIRST PLOT</a:t>
            </a:r>
            <a:endParaRPr lang="en-US" sz="1300" dirty="0"/>
          </a:p>
        </p:txBody>
      </p:sp>
      <p:sp>
        <p:nvSpPr>
          <p:cNvPr id="3" name="Text 1"/>
          <p:cNvSpPr>
            <a:spLocks noGrp="1"/>
          </p:cNvSpPr>
          <p:nvPr>
            <p:ph type="title"/>
          </p:nvPr>
        </p:nvSpPr>
        <p:spPr>
          <a:xfrm>
            <a:off x="812767" y="2269545"/>
            <a:ext cx="3662680" cy="939783"/>
          </a:xfrm>
          <a:prstGeom prst="rect">
            <a:avLst/>
          </a:prstGeom>
          <a:noFill/>
          <a:ln/>
        </p:spPr>
        <p:txBody>
          <a:bodyPr wrap="none" lIns="0" tIns="0" rIns="0" bIns="0" rtlCol="0" anchor="t">
            <a:normAutofit/>
          </a:bodyPr>
          <a:lstStyle/>
          <a:p>
            <a:pPr marL="0" indent="0" algn="l">
              <a:lnSpc>
                <a:spcPts val="7200"/>
              </a:lnSpc>
              <a:buNone/>
            </a:pPr>
            <a:r>
              <a:rPr lang="en-US" sz="7200" b="1" i="0" dirty="0">
                <a:solidFill>
                  <a:srgbClr val="F5EFE3"/>
                </a:solidFill>
                <a:latin typeface="EB Garamond" pitchFamily="18" charset="0"/>
                <a:ea typeface="EB Garamond" pitchFamily="18" charset="-122"/>
                <a:cs typeface="EB Garamond" pitchFamily="18" charset="-120"/>
              </a:rPr>
              <a:t>991 days</a:t>
            </a:r>
            <a:endParaRPr lang="en-US" sz="7200" dirty="0"/>
          </a:p>
        </p:txBody>
      </p:sp>
      <p:sp>
        <p:nvSpPr>
          <p:cNvPr id="4" name="Text 2"/>
          <p:cNvSpPr/>
          <p:nvPr/>
        </p:nvSpPr>
        <p:spPr>
          <a:xfrm>
            <a:off x="812767" y="3336311"/>
            <a:ext cx="3662680" cy="878805"/>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1E0"/>
                </a:solidFill>
                <a:latin typeface="IBM Plex Sans" pitchFamily="34" charset="0"/>
                <a:ea typeface="IBM Plex Sans" pitchFamily="34" charset="-122"/>
                <a:cs typeface="IBM Plex Sans" pitchFamily="34" charset="-120"/>
              </a:rPr>
              <a:t>The </a:t>
            </a:r>
            <a:r>
              <a:rPr lang="en-US" sz="1600" b="1" dirty="0">
                <a:solidFill>
                  <a:srgbClr val="C9D1E0"/>
                </a:solidFill>
                <a:latin typeface="IBM Plex Sans" pitchFamily="34" charset="0"/>
                <a:ea typeface="IBM Plex Sans" pitchFamily="34" charset="-122"/>
                <a:cs typeface="IBM Plex Sans" pitchFamily="34" charset="-120"/>
              </a:rPr>
              <a:t>2nd voyage</a:t>
            </a:r>
            <a:r>
              <a:rPr lang="en-US" sz="1600" dirty="0">
                <a:solidFill>
                  <a:srgbClr val="C9D1E0"/>
                </a:solidFill>
                <a:latin typeface="IBM Plex Sans" pitchFamily="34" charset="0"/>
                <a:ea typeface="IBM Plex Sans" pitchFamily="34" charset="-122"/>
                <a:cs typeface="IBM Plex Sans" pitchFamily="34" charset="-120"/>
              </a:rPr>
              <a:t> was the longest. The 1st, the most famous, was the shortest: 213 days.</a:t>
            </a:r>
            <a:endParaRPr lang="en-US" sz="1600" dirty="0"/>
          </a:p>
        </p:txBody>
      </p:sp>
      <p:sp>
        <p:nvSpPr>
          <p:cNvPr id="5" name="Text 3"/>
          <p:cNvSpPr/>
          <p:nvPr/>
        </p:nvSpPr>
        <p:spPr>
          <a:xfrm>
            <a:off x="812767" y="4342098"/>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C"/>
                </a:solidFill>
                <a:latin typeface="JetBrains Mono" pitchFamily="49" charset="0"/>
                <a:ea typeface="JetBrains Mono" pitchFamily="49" charset="-122"/>
                <a:cs typeface="JetBrains Mono" pitchFamily="49" charset="-120"/>
              </a:rPr>
              <a:t>ax.barh(labels, plot_data["duration_days"])</a:t>
            </a:r>
            <a:endParaRPr lang="en-US" sz="1200" dirty="0"/>
          </a:p>
        </p:txBody>
      </p:sp>
      <p:sp>
        <p:nvSpPr>
          <p:cNvPr id="6" name="Shape 4"/>
          <p:cNvSpPr/>
          <p:nvPr/>
        </p:nvSpPr>
        <p:spPr>
          <a:xfrm>
            <a:off x="4673534" y="1774816"/>
            <a:ext cx="6705575" cy="3105092"/>
          </a:xfrm>
          <a:prstGeom prst="roundRect">
            <a:avLst>
              <a:gd name="adj" fmla="val 3272"/>
            </a:avLst>
          </a:prstGeom>
          <a:solidFill>
            <a:srgbClr val="FCFCFB"/>
          </a:solidFill>
          <a:ln/>
        </p:spPr>
        <p:txBody>
          <a:bodyPr/>
          <a:lstStyle/>
          <a:p>
            <a:endParaRPr lang="en-US"/>
          </a:p>
        </p:txBody>
      </p:sp>
      <p:pic>
        <p:nvPicPr>
          <p:cNvPr id="7" name="Image 0" descr="Horizontal bar chart of voyage durations: voyage 2, 991 days; voyage 4, 910 days; voyage 3, 815 days; voyage 1, 213 days"/>
          <p:cNvPicPr>
            <a:picLocks noChangeAspect="1"/>
          </p:cNvPicPr>
          <p:nvPr/>
        </p:nvPicPr>
        <p:blipFill>
          <a:blip r:embed="rId3"/>
          <a:srcRect/>
          <a:stretch/>
        </p:blipFill>
        <p:spPr>
          <a:xfrm>
            <a:off x="4825917" y="1927200"/>
            <a:ext cx="6400767" cy="2800325"/>
          </a:xfrm>
          <a:prstGeom prst="rect">
            <a:avLst/>
          </a:prstGeom>
        </p:spPr>
      </p:pic>
      <p:sp>
        <p:nvSpPr>
          <p:cNvPr id="8" name="Text 5"/>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C"/>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9" name="Text 6"/>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C"/>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BE3D2"/>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A4510"/>
                </a:solidFill>
                <a:latin typeface="IBM Plex Sans" pitchFamily="34" charset="0"/>
                <a:ea typeface="IBM Plex Sans" pitchFamily="34" charset="-122"/>
                <a:cs typeface="IBM Plex Sans" pitchFamily="34" charset="-120"/>
              </a:rPr>
              <a:t>6 · GROUPING AND COUNTING</a:t>
            </a:r>
            <a:endParaRPr lang="en-US" sz="1300" dirty="0"/>
          </a:p>
        </p:txBody>
      </p:sp>
      <p:sp>
        <p:nvSpPr>
          <p:cNvPr id="3" name="Text 1"/>
          <p:cNvSpPr>
            <a:spLocks noGrp="1"/>
          </p:cNvSpPr>
          <p:nvPr>
            <p:ph type="title"/>
          </p:nvPr>
        </p:nvSpPr>
        <p:spPr>
          <a:xfrm>
            <a:off x="812767" y="1120093"/>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How many landfalls on each voyage?</a:t>
            </a:r>
            <a:endParaRPr lang="en-US" sz="3200" dirty="0"/>
          </a:p>
        </p:txBody>
      </p:sp>
      <p:sp>
        <p:nvSpPr>
          <p:cNvPr id="4" name="Text 2"/>
          <p:cNvSpPr/>
          <p:nvPr/>
        </p:nvSpPr>
        <p:spPr>
          <a:xfrm>
            <a:off x="812767" y="1892182"/>
            <a:ext cx="10566466" cy="1165696"/>
          </a:xfrm>
          <a:prstGeom prst="roundRect">
            <a:avLst>
              <a:gd name="adj" fmla="val 8716"/>
            </a:avLst>
          </a:prstGeom>
          <a:solidFill>
            <a:srgbClr val="14213D"/>
          </a:solidFill>
          <a:ln/>
        </p:spPr>
        <p:txBody>
          <a:bodyPr wrap="square" lIns="198818" tIns="198842" rIns="0" bIns="173393" rtlCol="0" anchor="t">
            <a:normAutofit/>
          </a:bodyPr>
          <a:lstStyle/>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LANDFALLS.groupby(</a:t>
            </a:r>
            <a:r>
              <a:rPr lang="en-US" sz="1200" dirty="0">
                <a:solidFill>
                  <a:srgbClr val="E8B36A"/>
                </a:solidFill>
                <a:latin typeface="JetBrains Mono" pitchFamily="49" charset="0"/>
                <a:ea typeface="JetBrains Mono" pitchFamily="49" charset="-122"/>
                <a:cs typeface="JetBrains Mono" pitchFamily="49" charset="-120"/>
              </a:rPr>
              <a:t>"voyage"</a:t>
            </a:r>
            <a:r>
              <a:rPr lang="en-US" sz="1200" dirty="0">
                <a:solidFill>
                  <a:srgbClr val="F5EFE3"/>
                </a:solidFill>
                <a:latin typeface="JetBrains Mono" pitchFamily="49" charset="0"/>
                <a:ea typeface="JetBrains Mono" pitchFamily="49" charset="-122"/>
                <a:cs typeface="JetBrains Mono" pitchFamily="49" charset="-120"/>
              </a:rPr>
              <a:t>)[</a:t>
            </a:r>
            <a:r>
              <a:rPr lang="en-US" sz="1200" dirty="0">
                <a:solidFill>
                  <a:srgbClr val="E8B36A"/>
                </a:solidFill>
                <a:latin typeface="JetBrains Mono" pitchFamily="49" charset="0"/>
                <a:ea typeface="JetBrains Mono" pitchFamily="49" charset="-122"/>
                <a:cs typeface="JetBrains Mono" pitchFamily="49" charset="-120"/>
              </a:rPr>
              <a:t>"place"</a:t>
            </a:r>
            <a:r>
              <a:rPr lang="en-US" sz="1200" dirty="0">
                <a:solidFill>
                  <a:srgbClr val="F5EFE3"/>
                </a:solidFill>
                <a:latin typeface="JetBrains Mono" pitchFamily="49" charset="0"/>
                <a:ea typeface="JetBrains Mono" pitchFamily="49" charset="-122"/>
                <a:cs typeface="JetBrains Mono" pitchFamily="49" charset="-120"/>
              </a:rPr>
              <a:t>].count()</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counts = LANDFALLS[</a:t>
            </a:r>
            <a:r>
              <a:rPr lang="en-US" sz="1200" dirty="0">
                <a:solidFill>
                  <a:srgbClr val="E8B36A"/>
                </a:solidFill>
                <a:latin typeface="JetBrains Mono" pitchFamily="49" charset="0"/>
                <a:ea typeface="JetBrains Mono" pitchFamily="49" charset="-122"/>
                <a:cs typeface="JetBrains Mono" pitchFamily="49" charset="-120"/>
              </a:rPr>
              <a:t>"place"</a:t>
            </a:r>
            <a:r>
              <a:rPr lang="en-US" sz="1200" dirty="0">
                <a:solidFill>
                  <a:srgbClr val="F5EFE3"/>
                </a:solidFill>
                <a:latin typeface="JetBrains Mono" pitchFamily="49" charset="0"/>
                <a:ea typeface="JetBrains Mono" pitchFamily="49" charset="-122"/>
                <a:cs typeface="JetBrains Mono" pitchFamily="49" charset="-120"/>
              </a:rPr>
              <a:t>].value_counts()</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counts[counts &gt; 1]    </a:t>
            </a:r>
            <a:r>
              <a:rPr lang="en-US" sz="1200" dirty="0">
                <a:solidFill>
                  <a:srgbClr val="9FB0CC"/>
                </a:solidFill>
                <a:latin typeface="JetBrains Mono" pitchFamily="49" charset="0"/>
                <a:ea typeface="JetBrains Mono" pitchFamily="49" charset="-122"/>
                <a:cs typeface="JetBrains Mono" pitchFamily="49" charset="-120"/>
              </a:rPr>
              <a:t># places visited on more than one voyage</a:t>
            </a:r>
            <a:endParaRPr lang="en-US" sz="1200" dirty="0"/>
          </a:p>
        </p:txBody>
      </p:sp>
      <p:sp>
        <p:nvSpPr>
          <p:cNvPr id="5" name="Shape 3"/>
          <p:cNvSpPr/>
          <p:nvPr/>
        </p:nvSpPr>
        <p:spPr>
          <a:xfrm>
            <a:off x="815942" y="3365822"/>
            <a:ext cx="2482842" cy="1119163"/>
          </a:xfrm>
          <a:prstGeom prst="roundRect">
            <a:avLst>
              <a:gd name="adj" fmla="val 8795"/>
            </a:avLst>
          </a:prstGeom>
          <a:solidFill>
            <a:srgbClr val="FBF8F1"/>
          </a:solidFill>
          <a:ln w="6350">
            <a:solidFill>
              <a:srgbClr val="DCD2BE"/>
            </a:solidFill>
            <a:prstDash val="solid"/>
          </a:ln>
        </p:spPr>
        <p:txBody>
          <a:bodyPr/>
          <a:lstStyle/>
          <a:p>
            <a:endParaRPr lang="en-US"/>
          </a:p>
        </p:txBody>
      </p:sp>
      <p:sp>
        <p:nvSpPr>
          <p:cNvPr id="6" name="Text 4"/>
          <p:cNvSpPr/>
          <p:nvPr/>
        </p:nvSpPr>
        <p:spPr>
          <a:xfrm>
            <a:off x="1021250" y="3545706"/>
            <a:ext cx="2134392" cy="528274"/>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EB Garamond" pitchFamily="18" charset="0"/>
                <a:ea typeface="EB Garamond" pitchFamily="18" charset="-122"/>
                <a:cs typeface="EB Garamond" pitchFamily="18" charset="-120"/>
              </a:rPr>
              <a:t>4</a:t>
            </a:r>
            <a:endParaRPr lang="en-US" sz="3600" dirty="0"/>
          </a:p>
        </p:txBody>
      </p:sp>
      <p:sp>
        <p:nvSpPr>
          <p:cNvPr id="7" name="Text 5"/>
          <p:cNvSpPr/>
          <p:nvPr/>
        </p:nvSpPr>
        <p:spPr>
          <a:xfrm>
            <a:off x="1021250" y="4073959"/>
            <a:ext cx="2134392" cy="25653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61"/>
                </a:solidFill>
                <a:latin typeface="IBM Plex Sans" pitchFamily="34" charset="0"/>
                <a:ea typeface="IBM Plex Sans" pitchFamily="34" charset="-122"/>
                <a:cs typeface="IBM Plex Sans" pitchFamily="34" charset="-120"/>
              </a:rPr>
              <a:t>landfalls, voyage 1</a:t>
            </a:r>
            <a:endParaRPr lang="en-US" sz="1300" dirty="0"/>
          </a:p>
        </p:txBody>
      </p:sp>
      <p:sp>
        <p:nvSpPr>
          <p:cNvPr id="8" name="Shape 6"/>
          <p:cNvSpPr/>
          <p:nvPr/>
        </p:nvSpPr>
        <p:spPr>
          <a:xfrm>
            <a:off x="3508325" y="3365822"/>
            <a:ext cx="2482883" cy="1119163"/>
          </a:xfrm>
          <a:prstGeom prst="roundRect">
            <a:avLst>
              <a:gd name="adj" fmla="val 8795"/>
            </a:avLst>
          </a:prstGeom>
          <a:solidFill>
            <a:srgbClr val="FBF8F1"/>
          </a:solidFill>
          <a:ln w="6350">
            <a:solidFill>
              <a:srgbClr val="DCD2BE"/>
            </a:solidFill>
            <a:prstDash val="solid"/>
          </a:ln>
        </p:spPr>
        <p:txBody>
          <a:bodyPr/>
          <a:lstStyle/>
          <a:p>
            <a:endParaRPr lang="en-US"/>
          </a:p>
        </p:txBody>
      </p:sp>
      <p:sp>
        <p:nvSpPr>
          <p:cNvPr id="9" name="Text 7"/>
          <p:cNvSpPr/>
          <p:nvPr/>
        </p:nvSpPr>
        <p:spPr>
          <a:xfrm>
            <a:off x="3713634" y="3545706"/>
            <a:ext cx="2134434" cy="528274"/>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EB Garamond" pitchFamily="18" charset="0"/>
                <a:ea typeface="EB Garamond" pitchFamily="18" charset="-122"/>
                <a:cs typeface="EB Garamond" pitchFamily="18" charset="-120"/>
              </a:rPr>
              <a:t>6</a:t>
            </a:r>
            <a:endParaRPr lang="en-US" sz="3600" dirty="0"/>
          </a:p>
        </p:txBody>
      </p:sp>
      <p:sp>
        <p:nvSpPr>
          <p:cNvPr id="10" name="Text 8"/>
          <p:cNvSpPr/>
          <p:nvPr/>
        </p:nvSpPr>
        <p:spPr>
          <a:xfrm>
            <a:off x="3713634" y="4073959"/>
            <a:ext cx="2134434" cy="25653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61"/>
                </a:solidFill>
                <a:latin typeface="IBM Plex Sans" pitchFamily="34" charset="0"/>
                <a:ea typeface="IBM Plex Sans" pitchFamily="34" charset="-122"/>
                <a:cs typeface="IBM Plex Sans" pitchFamily="34" charset="-120"/>
              </a:rPr>
              <a:t>landfalls, voyage 2</a:t>
            </a:r>
            <a:endParaRPr lang="en-US" sz="1300" dirty="0"/>
          </a:p>
        </p:txBody>
      </p:sp>
      <p:sp>
        <p:nvSpPr>
          <p:cNvPr id="11" name="Shape 9"/>
          <p:cNvSpPr/>
          <p:nvPr/>
        </p:nvSpPr>
        <p:spPr>
          <a:xfrm>
            <a:off x="6200750" y="3365822"/>
            <a:ext cx="2482883" cy="1119163"/>
          </a:xfrm>
          <a:prstGeom prst="roundRect">
            <a:avLst>
              <a:gd name="adj" fmla="val 8795"/>
            </a:avLst>
          </a:prstGeom>
          <a:solidFill>
            <a:srgbClr val="FBF8F1"/>
          </a:solidFill>
          <a:ln w="6350">
            <a:solidFill>
              <a:srgbClr val="DCD2BE"/>
            </a:solidFill>
            <a:prstDash val="solid"/>
          </a:ln>
        </p:spPr>
        <p:txBody>
          <a:bodyPr/>
          <a:lstStyle/>
          <a:p>
            <a:endParaRPr lang="en-US"/>
          </a:p>
        </p:txBody>
      </p:sp>
      <p:sp>
        <p:nvSpPr>
          <p:cNvPr id="12" name="Text 10"/>
          <p:cNvSpPr/>
          <p:nvPr/>
        </p:nvSpPr>
        <p:spPr>
          <a:xfrm>
            <a:off x="6406059" y="3545706"/>
            <a:ext cx="2134434" cy="528274"/>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EB Garamond" pitchFamily="18" charset="0"/>
                <a:ea typeface="EB Garamond" pitchFamily="18" charset="-122"/>
                <a:cs typeface="EB Garamond" pitchFamily="18" charset="-120"/>
              </a:rPr>
              <a:t>4</a:t>
            </a:r>
            <a:endParaRPr lang="en-US" sz="3600" dirty="0"/>
          </a:p>
        </p:txBody>
      </p:sp>
      <p:sp>
        <p:nvSpPr>
          <p:cNvPr id="13" name="Text 11"/>
          <p:cNvSpPr/>
          <p:nvPr/>
        </p:nvSpPr>
        <p:spPr>
          <a:xfrm>
            <a:off x="6406059" y="4073959"/>
            <a:ext cx="2134434" cy="25653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61"/>
                </a:solidFill>
                <a:latin typeface="IBM Plex Sans" pitchFamily="34" charset="0"/>
                <a:ea typeface="IBM Plex Sans" pitchFamily="34" charset="-122"/>
                <a:cs typeface="IBM Plex Sans" pitchFamily="34" charset="-120"/>
              </a:rPr>
              <a:t>landfalls, voyage 3</a:t>
            </a:r>
            <a:endParaRPr lang="en-US" sz="1300" dirty="0"/>
          </a:p>
        </p:txBody>
      </p:sp>
      <p:sp>
        <p:nvSpPr>
          <p:cNvPr id="14" name="Shape 12"/>
          <p:cNvSpPr/>
          <p:nvPr/>
        </p:nvSpPr>
        <p:spPr>
          <a:xfrm>
            <a:off x="8893175" y="3365822"/>
            <a:ext cx="2482883" cy="1119163"/>
          </a:xfrm>
          <a:prstGeom prst="roundRect">
            <a:avLst>
              <a:gd name="adj" fmla="val 8795"/>
            </a:avLst>
          </a:prstGeom>
          <a:solidFill>
            <a:srgbClr val="FBF8F1"/>
          </a:solidFill>
          <a:ln w="6350">
            <a:solidFill>
              <a:srgbClr val="DCD2BE"/>
            </a:solidFill>
            <a:prstDash val="solid"/>
          </a:ln>
        </p:spPr>
        <p:txBody>
          <a:bodyPr/>
          <a:lstStyle/>
          <a:p>
            <a:endParaRPr lang="en-US"/>
          </a:p>
        </p:txBody>
      </p:sp>
      <p:sp>
        <p:nvSpPr>
          <p:cNvPr id="15" name="Text 13"/>
          <p:cNvSpPr/>
          <p:nvPr/>
        </p:nvSpPr>
        <p:spPr>
          <a:xfrm>
            <a:off x="9098483" y="3545706"/>
            <a:ext cx="2134434" cy="528274"/>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4213D"/>
                </a:solidFill>
                <a:latin typeface="EB Garamond" pitchFamily="18" charset="0"/>
                <a:ea typeface="EB Garamond" pitchFamily="18" charset="-122"/>
                <a:cs typeface="EB Garamond" pitchFamily="18" charset="-120"/>
              </a:rPr>
              <a:t>7</a:t>
            </a:r>
            <a:endParaRPr lang="en-US" sz="3600" dirty="0"/>
          </a:p>
        </p:txBody>
      </p:sp>
      <p:sp>
        <p:nvSpPr>
          <p:cNvPr id="16" name="Text 14"/>
          <p:cNvSpPr/>
          <p:nvPr/>
        </p:nvSpPr>
        <p:spPr>
          <a:xfrm>
            <a:off x="9098483" y="4073959"/>
            <a:ext cx="2134434" cy="25653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E4A61"/>
                </a:solidFill>
                <a:latin typeface="IBM Plex Sans" pitchFamily="34" charset="0"/>
                <a:ea typeface="IBM Plex Sans" pitchFamily="34" charset="-122"/>
                <a:cs typeface="IBM Plex Sans" pitchFamily="34" charset="-120"/>
              </a:rPr>
              <a:t>landfalls, voyage 4</a:t>
            </a:r>
            <a:endParaRPr lang="en-US" sz="1300" dirty="0"/>
          </a:p>
        </p:txBody>
      </p:sp>
      <p:sp>
        <p:nvSpPr>
          <p:cNvPr id="17" name="Text 15"/>
          <p:cNvSpPr/>
          <p:nvPr/>
        </p:nvSpPr>
        <p:spPr>
          <a:xfrm>
            <a:off x="812767" y="4792923"/>
            <a:ext cx="10883460" cy="292092"/>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E4A61"/>
                </a:solidFill>
                <a:latin typeface="IBM Plex Sans" pitchFamily="34" charset="0"/>
                <a:ea typeface="IBM Plex Sans" pitchFamily="34" charset="-122"/>
                <a:cs typeface="IBM Plex Sans" pitchFamily="34" charset="-120"/>
              </a:rPr>
              <a:t>Hispaniola</a:t>
            </a:r>
            <a:r>
              <a:rPr lang="en-US" sz="1500" dirty="0">
                <a:solidFill>
                  <a:srgbClr val="3E4A61"/>
                </a:solidFill>
                <a:latin typeface="IBM Plex Sans" pitchFamily="34" charset="0"/>
                <a:ea typeface="IBM Plex Sans" pitchFamily="34" charset="-122"/>
                <a:cs typeface="IBM Plex Sans" pitchFamily="34" charset="-120"/>
              </a:rPr>
              <a:t> is the only place on more than one voyage: it appears 3 times.</a:t>
            </a:r>
            <a:endParaRPr lang="en-US" sz="1500" dirty="0"/>
          </a:p>
        </p:txBody>
      </p:sp>
      <p:sp>
        <p:nvSpPr>
          <p:cNvPr id="18" name="Text 16"/>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19" name="Text 17"/>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7 · MAPPING</a:t>
            </a:r>
            <a:endParaRPr lang="en-US" sz="1300" dirty="0"/>
          </a:p>
        </p:txBody>
      </p:sp>
      <p:sp>
        <p:nvSpPr>
          <p:cNvPr id="3" name="Text 1"/>
          <p:cNvSpPr>
            <a:spLocks noGrp="1"/>
          </p:cNvSpPr>
          <p:nvPr>
            <p:ph type="title"/>
          </p:nvPr>
        </p:nvSpPr>
        <p:spPr>
          <a:xfrm>
            <a:off x="812767" y="1120093"/>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Each row becomes a point on the map</a:t>
            </a:r>
            <a:endParaRPr lang="en-US" sz="3200" dirty="0"/>
          </a:p>
        </p:txBody>
      </p:sp>
      <p:pic>
        <p:nvPicPr>
          <p:cNvPr id="4" name="Image 0" descr="Map of the Caribbean with the main landfalls of each voyage joined by lines: voyage 1 in the Bahamas, Cuba and Hispaniola; voyage 2 through the Lesser Antilles, Puerto Rico and Jamaica; voyage 3 to Trinidad and Venezuela; voyage 4 to Honduras, Panama and Jamaica"/>
          <p:cNvPicPr>
            <a:picLocks noChangeAspect="1"/>
          </p:cNvPicPr>
          <p:nvPr/>
        </p:nvPicPr>
        <p:blipFill>
          <a:blip r:embed="rId3"/>
          <a:srcRect l="-38" r="-38"/>
          <a:stretch/>
        </p:blipFill>
        <p:spPr>
          <a:xfrm>
            <a:off x="819117" y="1898532"/>
            <a:ext cx="6337300" cy="3702050"/>
          </a:xfrm>
          <a:prstGeom prst="roundRect">
            <a:avLst>
              <a:gd name="adj" fmla="val 2573"/>
            </a:avLst>
          </a:prstGeom>
        </p:spPr>
      </p:pic>
      <p:sp>
        <p:nvSpPr>
          <p:cNvPr id="5" name="Shape 2"/>
          <p:cNvSpPr/>
          <p:nvPr/>
        </p:nvSpPr>
        <p:spPr>
          <a:xfrm>
            <a:off x="815942" y="1895357"/>
            <a:ext cx="6343650" cy="3708400"/>
          </a:xfrm>
          <a:prstGeom prst="roundRect">
            <a:avLst>
              <a:gd name="adj" fmla="val 2654"/>
            </a:avLst>
          </a:prstGeom>
          <a:noFill/>
          <a:ln w="6350">
            <a:solidFill>
              <a:srgbClr val="DCD2BE"/>
            </a:solidFill>
            <a:prstDash val="solid"/>
          </a:ln>
        </p:spPr>
        <p:txBody>
          <a:bodyPr/>
          <a:lstStyle/>
          <a:p>
            <a:endParaRPr lang="en-US"/>
          </a:p>
        </p:txBody>
      </p:sp>
      <p:sp>
        <p:nvSpPr>
          <p:cNvPr id="6" name="Text 3"/>
          <p:cNvSpPr/>
          <p:nvPr/>
        </p:nvSpPr>
        <p:spPr>
          <a:xfrm>
            <a:off x="7467533" y="1892182"/>
            <a:ext cx="3911699" cy="1587293"/>
          </a:xfrm>
          <a:prstGeom prst="roundRect">
            <a:avLst>
              <a:gd name="adj" fmla="val 6401"/>
            </a:avLst>
          </a:prstGeom>
          <a:solidFill>
            <a:srgbClr val="14213D"/>
          </a:solidFill>
          <a:ln/>
        </p:spPr>
        <p:txBody>
          <a:bodyPr wrap="square" lIns="173435" tIns="173442" rIns="68274" bIns="148026" rtlCol="0" anchor="t">
            <a:normAutofit/>
          </a:bodyPr>
          <a:lstStyle/>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px.line_geo(map_data,</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  lat=</a:t>
            </a:r>
            <a:r>
              <a:rPr lang="en-US" sz="1200" dirty="0">
                <a:solidFill>
                  <a:srgbClr val="E8B36A"/>
                </a:solidFill>
                <a:latin typeface="JetBrains Mono" pitchFamily="49" charset="0"/>
                <a:ea typeface="JetBrains Mono" pitchFamily="49" charset="-122"/>
                <a:cs typeface="JetBrains Mono" pitchFamily="49" charset="-120"/>
              </a:rPr>
              <a:t>"lat"</a:t>
            </a:r>
            <a:r>
              <a:rPr lang="en-US" sz="1200" dirty="0">
                <a:solidFill>
                  <a:srgbClr val="F5EFE3"/>
                </a:solidFill>
                <a:latin typeface="JetBrains Mono" pitchFamily="49" charset="0"/>
                <a:ea typeface="JetBrains Mono" pitchFamily="49" charset="-122"/>
                <a:cs typeface="JetBrains Mono" pitchFamily="49" charset="-120"/>
              </a:rPr>
              <a:t>, lon=</a:t>
            </a:r>
            <a:r>
              <a:rPr lang="en-US" sz="1200" dirty="0">
                <a:solidFill>
                  <a:srgbClr val="E8B36A"/>
                </a:solidFill>
                <a:latin typeface="JetBrains Mono" pitchFamily="49" charset="0"/>
                <a:ea typeface="JetBrains Mono" pitchFamily="49" charset="-122"/>
                <a:cs typeface="JetBrains Mono" pitchFamily="49" charset="-120"/>
              </a:rPr>
              <a:t>"lon"</a:t>
            </a: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  color=</a:t>
            </a:r>
            <a:r>
              <a:rPr lang="en-US" sz="1200" dirty="0">
                <a:solidFill>
                  <a:srgbClr val="E8B36A"/>
                </a:solidFill>
                <a:latin typeface="JetBrains Mono" pitchFamily="49" charset="0"/>
                <a:ea typeface="JetBrains Mono" pitchFamily="49" charset="-122"/>
                <a:cs typeface="JetBrains Mono" pitchFamily="49" charset="-120"/>
              </a:rPr>
              <a:t>"voyage"</a:t>
            </a: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  symbol=</a:t>
            </a:r>
            <a:r>
              <a:rPr lang="en-US" sz="1200" dirty="0">
                <a:solidFill>
                  <a:srgbClr val="E8B36A"/>
                </a:solidFill>
                <a:latin typeface="JetBrains Mono" pitchFamily="49" charset="0"/>
                <a:ea typeface="JetBrains Mono" pitchFamily="49" charset="-122"/>
                <a:cs typeface="JetBrains Mono" pitchFamily="49" charset="-120"/>
              </a:rPr>
              <a:t>"voyage"</a:t>
            </a: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  markers=True)</a:t>
            </a:r>
            <a:endParaRPr lang="en-US" sz="1200" dirty="0"/>
          </a:p>
        </p:txBody>
      </p:sp>
      <p:sp>
        <p:nvSpPr>
          <p:cNvPr id="7" name="Text 4"/>
          <p:cNvSpPr/>
          <p:nvPr/>
        </p:nvSpPr>
        <p:spPr>
          <a:xfrm>
            <a:off x="7545765" y="3657240"/>
            <a:ext cx="3943198" cy="1021060"/>
          </a:xfrm>
          <a:prstGeom prst="rect">
            <a:avLst/>
          </a:prstGeom>
          <a:noFill/>
          <a:ln/>
        </p:spPr>
        <p:txBody>
          <a:bodyPr wrap="square" lIns="0" tIns="0" rIns="0" bIns="0" rtlCol="0" anchor="t">
            <a:normAutofit/>
          </a:bodyPr>
          <a:lstStyle/>
          <a:p>
            <a:pPr marL="175768" indent="-175768" algn="l">
              <a:lnSpc>
                <a:spcPts val="1960"/>
              </a:lnSpc>
              <a:buSzPct val="100000"/>
              <a:buChar char="•"/>
            </a:pPr>
            <a:r>
              <a:rPr lang="en-US" sz="1400" b="1" dirty="0">
                <a:solidFill>
                  <a:srgbClr val="3E4A61"/>
                </a:solidFill>
                <a:latin typeface="IBM Plex Sans" pitchFamily="34" charset="0"/>
                <a:ea typeface="IBM Plex Sans" pitchFamily="34" charset="-122"/>
                <a:cs typeface="IBM Plex Sans" pitchFamily="34" charset="-120"/>
              </a:rPr>
              <a:t>lat, lon:</a:t>
            </a:r>
            <a:r>
              <a:rPr lang="en-US" sz="1400" dirty="0">
                <a:solidFill>
                  <a:srgbClr val="3E4A61"/>
                </a:solidFill>
                <a:latin typeface="IBM Plex Sans" pitchFamily="34" charset="0"/>
                <a:ea typeface="IBM Plex Sans" pitchFamily="34" charset="-122"/>
                <a:cs typeface="IBM Plex Sans" pitchFamily="34" charset="-120"/>
              </a:rPr>
              <a:t> where each point goes</a:t>
            </a:r>
            <a:endParaRPr lang="en-US" sz="1400" dirty="0"/>
          </a:p>
          <a:p>
            <a:pPr marL="175768" indent="-175768" algn="l">
              <a:lnSpc>
                <a:spcPts val="1960"/>
              </a:lnSpc>
              <a:buSzPct val="100000"/>
              <a:buChar char="•"/>
            </a:pPr>
            <a:r>
              <a:rPr lang="en-US" sz="1400" b="1" dirty="0">
                <a:solidFill>
                  <a:srgbClr val="3E4A61"/>
                </a:solidFill>
                <a:latin typeface="IBM Plex Sans" pitchFamily="34" charset="0"/>
                <a:ea typeface="IBM Plex Sans" pitchFamily="34" charset="-122"/>
                <a:cs typeface="IBM Plex Sans" pitchFamily="34" charset="-120"/>
              </a:rPr>
              <a:t>color, symbol:</a:t>
            </a:r>
            <a:r>
              <a:rPr lang="en-US" sz="1400" dirty="0">
                <a:solidFill>
                  <a:srgbClr val="3E4A61"/>
                </a:solidFill>
                <a:latin typeface="IBM Plex Sans" pitchFamily="34" charset="0"/>
                <a:ea typeface="IBM Plex Sans" pitchFamily="34" charset="-122"/>
                <a:cs typeface="IBM Plex Sans" pitchFamily="34" charset="-120"/>
              </a:rPr>
              <a:t> one style per voyage</a:t>
            </a:r>
            <a:endParaRPr lang="en-US" sz="1400" dirty="0"/>
          </a:p>
          <a:p>
            <a:pPr marL="175768" indent="-175768" algn="l">
              <a:lnSpc>
                <a:spcPts val="1960"/>
              </a:lnSpc>
              <a:buSzPct val="100000"/>
              <a:buChar char="•"/>
            </a:pPr>
            <a:r>
              <a:rPr lang="en-US" sz="1400" dirty="0">
                <a:solidFill>
                  <a:srgbClr val="3E4A61"/>
                </a:solidFill>
                <a:latin typeface="IBM Plex Sans" pitchFamily="34" charset="0"/>
                <a:ea typeface="IBM Plex Sans" pitchFamily="34" charset="-122"/>
                <a:cs typeface="IBM Plex Sans" pitchFamily="34" charset="-120"/>
              </a:rPr>
              <a:t>Lines join landfalls in date order, not the real routes</a:t>
            </a:r>
            <a:endParaRPr lang="en-US" sz="1400" dirty="0"/>
          </a:p>
        </p:txBody>
      </p:sp>
      <p:sp>
        <p:nvSpPr>
          <p:cNvPr id="8" name="Text 5"/>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9" name="Text 6"/>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8 · BONUS: COMBINING TABLES</a:t>
            </a:r>
            <a:endParaRPr lang="en-US" sz="1300" dirty="0"/>
          </a:p>
        </p:txBody>
      </p:sp>
      <p:sp>
        <p:nvSpPr>
          <p:cNvPr id="3" name="Text 1"/>
          <p:cNvSpPr>
            <a:spLocks noGrp="1"/>
          </p:cNvSpPr>
          <p:nvPr>
            <p:ph type="title"/>
          </p:nvPr>
        </p:nvSpPr>
        <p:spPr>
          <a:xfrm>
            <a:off x="812767" y="1120093"/>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Joining each ship to its voyage</a:t>
            </a:r>
            <a:endParaRPr lang="en-US" sz="3200" dirty="0"/>
          </a:p>
        </p:txBody>
      </p:sp>
      <p:sp>
        <p:nvSpPr>
          <p:cNvPr id="4" name="Text 2"/>
          <p:cNvSpPr/>
          <p:nvPr/>
        </p:nvSpPr>
        <p:spPr>
          <a:xfrm>
            <a:off x="812767" y="1892182"/>
            <a:ext cx="10566466" cy="693332"/>
          </a:xfrm>
          <a:prstGeom prst="roundRect">
            <a:avLst>
              <a:gd name="adj" fmla="val 14654"/>
            </a:avLst>
          </a:prstGeom>
          <a:solidFill>
            <a:srgbClr val="14213D"/>
          </a:solidFill>
          <a:ln/>
        </p:spPr>
        <p:txBody>
          <a:bodyPr wrap="square" lIns="198818" tIns="198842" rIns="0" bIns="173393" rtlCol="0" anchor="t">
            <a:normAutofit/>
          </a:bodyPr>
          <a:lstStyle/>
          <a:p>
            <a:pPr marL="0" indent="0" algn="l">
              <a:lnSpc>
                <a:spcPts val="1860"/>
              </a:lnSpc>
              <a:buNone/>
            </a:pPr>
            <a:r>
              <a:rPr lang="en-US" sz="1200" dirty="0">
                <a:solidFill>
                  <a:srgbClr val="F5EFE3"/>
                </a:solidFill>
                <a:latin typeface="JetBrains Mono" pitchFamily="49" charset="0"/>
                <a:ea typeface="JetBrains Mono" pitchFamily="49" charset="-122"/>
                <a:cs typeface="JetBrains Mono" pitchFamily="49" charset="-120"/>
              </a:rPr>
              <a:t>pandas.merge(SHIPS, VOYAGES[[</a:t>
            </a:r>
            <a:r>
              <a:rPr lang="en-US" sz="1200" dirty="0">
                <a:solidFill>
                  <a:srgbClr val="E8B36A"/>
                </a:solidFill>
                <a:latin typeface="JetBrains Mono" pitchFamily="49" charset="0"/>
                <a:ea typeface="JetBrains Mono" pitchFamily="49" charset="-122"/>
                <a:cs typeface="JetBrains Mono" pitchFamily="49" charset="-120"/>
              </a:rPr>
              <a:t>"voyage"</a:t>
            </a: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"depart_port"</a:t>
            </a:r>
            <a:r>
              <a:rPr lang="en-US" sz="1200" dirty="0">
                <a:solidFill>
                  <a:srgbClr val="F5EFE3"/>
                </a:solidFill>
                <a:latin typeface="JetBrains Mono" pitchFamily="49" charset="0"/>
                <a:ea typeface="JetBrains Mono" pitchFamily="49" charset="-122"/>
                <a:cs typeface="JetBrains Mono" pitchFamily="49" charset="-120"/>
              </a:rPr>
              <a:t>, </a:t>
            </a:r>
            <a:r>
              <a:rPr lang="en-US" sz="1200" dirty="0">
                <a:solidFill>
                  <a:srgbClr val="E8B36A"/>
                </a:solidFill>
                <a:latin typeface="JetBrains Mono" pitchFamily="49" charset="0"/>
                <a:ea typeface="JetBrains Mono" pitchFamily="49" charset="-122"/>
                <a:cs typeface="JetBrains Mono" pitchFamily="49" charset="-120"/>
              </a:rPr>
              <a:t>"depart_date"</a:t>
            </a:r>
            <a:r>
              <a:rPr lang="en-US" sz="1200" dirty="0">
                <a:solidFill>
                  <a:srgbClr val="F5EFE3"/>
                </a:solidFill>
                <a:latin typeface="JetBrains Mono" pitchFamily="49" charset="0"/>
                <a:ea typeface="JetBrains Mono" pitchFamily="49" charset="-122"/>
                <a:cs typeface="JetBrains Mono" pitchFamily="49" charset="-120"/>
              </a:rPr>
              <a:t>]], on=</a:t>
            </a:r>
            <a:r>
              <a:rPr lang="en-US" sz="1200" dirty="0">
                <a:solidFill>
                  <a:srgbClr val="E8B36A"/>
                </a:solidFill>
                <a:latin typeface="JetBrains Mono" pitchFamily="49" charset="0"/>
                <a:ea typeface="JetBrains Mono" pitchFamily="49" charset="-122"/>
                <a:cs typeface="JetBrains Mono" pitchFamily="49" charset="-120"/>
              </a:rPr>
              <a:t>"voyage"</a:t>
            </a:r>
            <a:r>
              <a:rPr lang="en-US" sz="1200" dirty="0">
                <a:solidFill>
                  <a:srgbClr val="F5EFE3"/>
                </a:solidFill>
                <a:latin typeface="JetBrains Mono" pitchFamily="49" charset="0"/>
                <a:ea typeface="JetBrains Mono" pitchFamily="49" charset="-122"/>
                <a:cs typeface="JetBrains Mono" pitchFamily="49" charset="-120"/>
              </a:rPr>
              <a:t>)</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3350" y="2900863"/>
          <a:ext cx="6339417" cy="2644512"/>
        </p:xfrm>
        <a:graphic>
          <a:graphicData uri="http://schemas.openxmlformats.org/drawingml/2006/table">
            <a:tbl>
              <a:tblPr/>
              <a:tblGrid>
                <a:gridCol w="2282190">
                  <a:extLst>
                    <a:ext uri="{9D8B030D-6E8A-4147-A177-3AD203B41FA5}">
                      <a16:colId xmlns:a16="http://schemas.microsoft.com/office/drawing/2014/main" val="20000"/>
                    </a:ext>
                  </a:extLst>
                </a:gridCol>
                <a:gridCol w="1014307">
                  <a:extLst>
                    <a:ext uri="{9D8B030D-6E8A-4147-A177-3AD203B41FA5}">
                      <a16:colId xmlns:a16="http://schemas.microsoft.com/office/drawing/2014/main" val="20001"/>
                    </a:ext>
                  </a:extLst>
                </a:gridCol>
                <a:gridCol w="1394672">
                  <a:extLst>
                    <a:ext uri="{9D8B030D-6E8A-4147-A177-3AD203B41FA5}">
                      <a16:colId xmlns:a16="http://schemas.microsoft.com/office/drawing/2014/main" val="20002"/>
                    </a:ext>
                  </a:extLst>
                </a:gridCol>
                <a:gridCol w="1648248">
                  <a:extLst>
                    <a:ext uri="{9D8B030D-6E8A-4147-A177-3AD203B41FA5}">
                      <a16:colId xmlns:a16="http://schemas.microsoft.com/office/drawing/2014/main" val="20003"/>
                    </a:ext>
                  </a:extLst>
                </a:gridCol>
              </a:tblGrid>
              <a:tr h="330564">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ship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voyage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depart_port</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depart_date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Santa Maria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Palos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1492-08-03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Pinta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Palos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1492-08-03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Nina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Palos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1492-08-03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Capitana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Cadiz</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1502-05-12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Gallega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Cadiz</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1502-05-12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Vizcaina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Cadiz</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1502-05-12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Santiago de Palos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Cadiz</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1502-05-12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7470708" y="2893454"/>
            <a:ext cx="3905349" cy="1281757"/>
          </a:xfrm>
          <a:prstGeom prst="roundRect">
            <a:avLst>
              <a:gd name="adj" fmla="val 5697"/>
            </a:avLst>
          </a:prstGeom>
          <a:solidFill>
            <a:srgbClr val="FBF8F1"/>
          </a:solidFill>
          <a:ln w="6350">
            <a:solidFill>
              <a:srgbClr val="DCD2BE"/>
            </a:solidFill>
            <a:prstDash val="solid"/>
          </a:ln>
        </p:spPr>
        <p:txBody>
          <a:bodyPr/>
          <a:lstStyle/>
          <a:p>
            <a:endParaRPr lang="en-US"/>
          </a:p>
        </p:txBody>
      </p:sp>
      <p:sp>
        <p:nvSpPr>
          <p:cNvPr id="7" name="Text 4"/>
          <p:cNvSpPr/>
          <p:nvPr/>
        </p:nvSpPr>
        <p:spPr>
          <a:xfrm>
            <a:off x="7676017" y="3098763"/>
            <a:ext cx="3599574" cy="279359"/>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4213D"/>
                </a:solidFill>
                <a:latin typeface="IBM Plex Sans" pitchFamily="34" charset="0"/>
                <a:ea typeface="IBM Plex Sans" pitchFamily="34" charset="-122"/>
                <a:cs typeface="IBM Plex Sans" pitchFamily="34" charset="-120"/>
              </a:rPr>
              <a:t>Voyages 2 and 3 are missing. Why?</a:t>
            </a:r>
            <a:endParaRPr lang="en-US" sz="1600" dirty="0"/>
          </a:p>
        </p:txBody>
      </p:sp>
      <p:sp>
        <p:nvSpPr>
          <p:cNvPr id="8" name="Text 5"/>
          <p:cNvSpPr/>
          <p:nvPr/>
        </p:nvSpPr>
        <p:spPr>
          <a:xfrm>
            <a:off x="7676017" y="3454301"/>
            <a:ext cx="3599574" cy="54100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E4A61"/>
                </a:solidFill>
                <a:latin typeface="IBM Plex Sans" pitchFamily="34" charset="0"/>
                <a:ea typeface="IBM Plex Sans" pitchFamily="34" charset="-122"/>
                <a:cs typeface="IBM Plex Sans" pitchFamily="34" charset="-120"/>
              </a:rPr>
              <a:t>Hint: look up the </a:t>
            </a:r>
            <a:r>
              <a:rPr lang="en-US" sz="1400" b="1" dirty="0">
                <a:solidFill>
                  <a:srgbClr val="3E4A61"/>
                </a:solidFill>
                <a:latin typeface="IBM Plex Sans" pitchFamily="34" charset="0"/>
                <a:ea typeface="IBM Plex Sans" pitchFamily="34" charset="-122"/>
                <a:cs typeface="IBM Plex Sans" pitchFamily="34" charset="-120"/>
              </a:rPr>
              <a:t>how=</a:t>
            </a:r>
            <a:r>
              <a:rPr lang="en-US" sz="1400" dirty="0">
                <a:solidFill>
                  <a:srgbClr val="3E4A61"/>
                </a:solidFill>
                <a:latin typeface="IBM Plex Sans" pitchFamily="34" charset="0"/>
                <a:ea typeface="IBM Plex Sans" pitchFamily="34" charset="-122"/>
                <a:cs typeface="IBM Plex Sans" pitchFamily="34" charset="-120"/>
              </a:rPr>
              <a:t> argument of pandas.merge.</a:t>
            </a:r>
            <a:endParaRPr lang="en-US" sz="1400" dirty="0"/>
          </a:p>
        </p:txBody>
      </p:sp>
      <p:sp>
        <p:nvSpPr>
          <p:cNvPr id="9" name="Text 6"/>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10" name="Text 7"/>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EBE3D2"/>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A4510"/>
                </a:solidFill>
                <a:latin typeface="IBM Plex Sans" pitchFamily="34" charset="0"/>
                <a:ea typeface="IBM Plex Sans" pitchFamily="34" charset="-122"/>
                <a:cs typeface="IBM Plex Sans" pitchFamily="34" charset="-120"/>
              </a:rPr>
              <a:t>YOUR TURN</a:t>
            </a:r>
            <a:endParaRPr lang="en-US" sz="1300" dirty="0"/>
          </a:p>
        </p:txBody>
      </p:sp>
      <p:sp>
        <p:nvSpPr>
          <p:cNvPr id="3" name="Text 1"/>
          <p:cNvSpPr>
            <a:spLocks noGrp="1"/>
          </p:cNvSpPr>
          <p:nvPr>
            <p:ph type="title"/>
          </p:nvPr>
        </p:nvSpPr>
        <p:spPr>
          <a:xfrm>
            <a:off x="812767" y="1120093"/>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Seventeen exercises, marked #TODO in the notebook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902766"/>
          <a:ext cx="10555883" cy="2857832"/>
        </p:xfrm>
        <a:graphic>
          <a:graphicData uri="http://schemas.openxmlformats.org/drawingml/2006/table">
            <a:tbl>
              <a:tblPr/>
              <a:tblGrid>
                <a:gridCol w="2533412">
                  <a:extLst>
                    <a:ext uri="{9D8B030D-6E8A-4147-A177-3AD203B41FA5}">
                      <a16:colId xmlns:a16="http://schemas.microsoft.com/office/drawing/2014/main" val="20000"/>
                    </a:ext>
                  </a:extLst>
                </a:gridCol>
                <a:gridCol w="8022471">
                  <a:extLst>
                    <a:ext uri="{9D8B030D-6E8A-4147-A177-3AD203B41FA5}">
                      <a16:colId xmlns:a16="http://schemas.microsoft.com/office/drawing/2014/main" val="20001"/>
                    </a:ext>
                  </a:extLst>
                </a:gridCol>
              </a:tblGrid>
              <a:tr h="357229">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Section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B0A898"/>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B0A898"/>
                      </a:solidFill>
                      <a:prstDash val="solid"/>
                      <a:round/>
                      <a:headEnd type="none" w="med" len="med"/>
                      <a:tailEnd type="none" w="med" len="med"/>
                    </a:lnB>
                    <a:solidFill>
                      <a:srgbClr val="DCD2BE"/>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Exercises</a:t>
                      </a:r>
                      <a:endParaRPr lang="en-US" sz="1300" dirty="0">
                        <a:latin typeface="IBM Plex Sans" charset="0"/>
                        <a:ea typeface="IBM Plex Sans" charset="0"/>
                        <a:cs typeface="IBM Plex Sans" charset="0"/>
                      </a:endParaRPr>
                    </a:p>
                  </a:txBody>
                  <a:tcPr marL="57785" marR="57785" marT="57785" marB="57785">
                    <a:lnL w="12700" cap="flat" cmpd="sng" algn="ctr">
                      <a:solidFill>
                        <a:srgbClr val="B0A898"/>
                      </a:solidFill>
                      <a:prstDash val="solid"/>
                      <a:round/>
                      <a:headEnd type="none" w="med" len="med"/>
                      <a:tailEnd type="none" w="med" len="med"/>
                    </a:lnL>
                    <a:lnR w="12700" cap="flat" cmpd="sng" algn="ctr">
                      <a:solidFill>
                        <a:srgbClr val="B0A898"/>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B0A898"/>
                      </a:solidFill>
                      <a:prstDash val="solid"/>
                      <a:round/>
                      <a:headEnd type="none" w="med" len="med"/>
                      <a:tailEnd type="none" w="med" len="med"/>
                    </a:lnB>
                    <a:solidFill>
                      <a:srgbClr val="DCD2BE"/>
                    </a:solidFill>
                  </a:tcPr>
                </a:tc>
                <a:extLst>
                  <a:ext uri="{0D108BD9-81ED-4DB2-BD59-A6C34878D82A}">
                    <a16:rowId xmlns:a16="http://schemas.microsoft.com/office/drawing/2014/main" val="10000"/>
                  </a:ext>
                </a:extLst>
              </a:tr>
              <a:tr h="357229">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2 · Inspecting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0A898"/>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2.1 shape · 2.2 data types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0A898"/>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extLst>
                  <a:ext uri="{0D108BD9-81ED-4DB2-BD59-A6C34878D82A}">
                    <a16:rowId xmlns:a16="http://schemas.microsoft.com/office/drawing/2014/main" val="10001"/>
                  </a:ext>
                </a:extLst>
              </a:tr>
              <a:tr h="357229">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3 · Selecting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3.1 two columns · 3.2 one row with .loc</a:t>
                      </a:r>
                      <a:endParaRPr lang="en-US" sz="1300" dirty="0">
                        <a:latin typeface="IBM Plex Sans" charset="0"/>
                        <a:ea typeface="IBM Plex Sans" charset="0"/>
                        <a:cs typeface="IBM Plex Sans"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extLst>
                  <a:ext uri="{0D108BD9-81ED-4DB2-BD59-A6C34878D82A}">
                    <a16:rowId xmlns:a16="http://schemas.microsoft.com/office/drawing/2014/main" val="10002"/>
                  </a:ext>
                </a:extLst>
              </a:tr>
              <a:tr h="357229">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4 · Filtering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4.1 the caravels · 4.2 Columbus's ships · 4.3 count missing values · 4.4 unknown captains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extLst>
                  <a:ext uri="{0D108BD9-81ED-4DB2-BD59-A6C34878D82A}">
                    <a16:rowId xmlns:a16="http://schemas.microsoft.com/office/drawing/2014/main" val="10003"/>
                  </a:ext>
                </a:extLst>
              </a:tr>
              <a:tr h="357229">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5 · Dates and plots</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5.1 duration_days · 5.2 sort by duration · 5.3 bar chart of num_ships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extLst>
                  <a:ext uri="{0D108BD9-81ED-4DB2-BD59-A6C34878D82A}">
                    <a16:rowId xmlns:a16="http://schemas.microsoft.com/office/drawing/2014/main" val="10004"/>
                  </a:ext>
                </a:extLst>
              </a:tr>
              <a:tr h="357229">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6 · Grouping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6.1 landfalls per voyage · 6.2 top countries · 6.3 repeated places · 6.4 challenge: first and last dates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extLst>
                  <a:ext uri="{0D108BD9-81ED-4DB2-BD59-A6C34878D82A}">
                    <a16:rowId xmlns:a16="http://schemas.microsoft.com/office/drawing/2014/main" val="10005"/>
                  </a:ext>
                </a:extLst>
              </a:tr>
              <a:tr h="357229">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7 · Mapping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7.1 map only the first voyage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extLst>
                  <a:ext uri="{0D108BD9-81ED-4DB2-BD59-A6C34878D82A}">
                    <a16:rowId xmlns:a16="http://schemas.microsoft.com/office/drawing/2014/main" val="10006"/>
                  </a:ext>
                </a:extLst>
              </a:tr>
              <a:tr h="357229">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9 · Excel and CSV</a:t>
                      </a:r>
                      <a:endParaRPr lang="en-US" sz="1300" dirty="0">
                        <a:latin typeface="IBM Plex Sans" charset="0"/>
                        <a:ea typeface="IBM Plex Sans" charset="0"/>
                        <a:cs typeface="IBM Plex Sans" charset="0"/>
                      </a:endParaRPr>
                    </a:p>
                  </a:txBody>
                  <a:tcPr marL="57785" marR="57785" marT="57785" marB="57785">
                    <a:lnL w="12700" cap="flat" cmpd="sng" algn="ctr">
                      <a:solidFill>
                        <a:srgbClr val="BCB5A8"/>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9.1 load landfalls.csv with read_csv and check an Excel answer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solidFill>
                      <a:srgbClr val="F5EFE3"/>
                    </a:solidFill>
                  </a:tcPr>
                </a:tc>
                <a:extLst>
                  <a:ext uri="{0D108BD9-81ED-4DB2-BD59-A6C34878D82A}">
                    <a16:rowId xmlns:a16="http://schemas.microsoft.com/office/drawing/2014/main" val="10007"/>
                  </a:ext>
                </a:extLst>
              </a:tr>
            </a:tbl>
          </a:graphicData>
        </a:graphic>
      </p:graphicFrame>
      <p:sp>
        <p:nvSpPr>
          <p:cNvPr id="5" name="Text 2"/>
          <p:cNvSpPr/>
          <p:nvPr/>
        </p:nvSpPr>
        <p:spPr>
          <a:xfrm>
            <a:off x="812767" y="5065363"/>
            <a:ext cx="10883460" cy="27431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61"/>
                </a:solidFill>
                <a:latin typeface="IBM Plex Sans" pitchFamily="34" charset="0"/>
                <a:ea typeface="IBM Plex Sans" pitchFamily="34" charset="-122"/>
                <a:cs typeface="IBM Plex Sans" pitchFamily="34" charset="-120"/>
              </a:rPr>
              <a:t>Suggested solutions and the Excel answers are at the end of the notebook. Try each exercise first.</a:t>
            </a:r>
            <a:endParaRPr lang="en-US" sz="1400" dirty="0"/>
          </a:p>
        </p:txBody>
      </p:sp>
      <p:sp>
        <p:nvSpPr>
          <p:cNvPr id="6" name="Text 3"/>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7" name="Text 4"/>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TRY IT IN EXCEL</a:t>
            </a:r>
            <a:endParaRPr lang="en-US" sz="1300" dirty="0"/>
          </a:p>
        </p:txBody>
      </p:sp>
      <p:sp>
        <p:nvSpPr>
          <p:cNvPr id="3" name="Text 1"/>
          <p:cNvSpPr>
            <a:spLocks noGrp="1"/>
          </p:cNvSpPr>
          <p:nvPr>
            <p:ph type="title"/>
          </p:nvPr>
        </p:nvSpPr>
        <p:spPr>
          <a:xfrm>
            <a:off x="812767" y="1120093"/>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The same questions, answered in a spreadsheet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851997"/>
          <a:ext cx="10555883" cy="2644512"/>
        </p:xfrm>
        <a:graphic>
          <a:graphicData uri="http://schemas.openxmlformats.org/drawingml/2006/table">
            <a:tbl>
              <a:tblPr/>
              <a:tblGrid>
                <a:gridCol w="633353">
                  <a:extLst>
                    <a:ext uri="{9D8B030D-6E8A-4147-A177-3AD203B41FA5}">
                      <a16:colId xmlns:a16="http://schemas.microsoft.com/office/drawing/2014/main" val="20000"/>
                    </a:ext>
                  </a:extLst>
                </a:gridCol>
                <a:gridCol w="4855706">
                  <a:extLst>
                    <a:ext uri="{9D8B030D-6E8A-4147-A177-3AD203B41FA5}">
                      <a16:colId xmlns:a16="http://schemas.microsoft.com/office/drawing/2014/main" val="20001"/>
                    </a:ext>
                  </a:extLst>
                </a:gridCol>
                <a:gridCol w="2111177">
                  <a:extLst>
                    <a:ext uri="{9D8B030D-6E8A-4147-A177-3AD203B41FA5}">
                      <a16:colId xmlns:a16="http://schemas.microsoft.com/office/drawing/2014/main" val="20002"/>
                    </a:ext>
                  </a:extLst>
                </a:gridCol>
                <a:gridCol w="2955647">
                  <a:extLst>
                    <a:ext uri="{9D8B030D-6E8A-4147-A177-3AD203B41FA5}">
                      <a16:colId xmlns:a16="http://schemas.microsoft.com/office/drawing/2014/main" val="20003"/>
                    </a:ext>
                  </a:extLst>
                </a:gridCol>
              </a:tblGrid>
              <a:tr h="330564">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Question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File</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In Excel</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Which ships were caravels?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ships.csv</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Filter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Which ships have no known captain?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ships.csv</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Filter: (Blanks)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How many days did each voyage last? Sort longest first.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voyages.csv</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Formula, then Sort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How many landfalls on each voyage?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landfalls.csv</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COUNTIF or PivotTable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Which modern country appears most often?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landfalls.csv</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PivotTable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Which place appears on more than one voyage?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landfalls.csv</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COUNTIF</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Make a bar chart of the voyage durations.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voyages.csv</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Insert › Bar chart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815942" y="4753682"/>
            <a:ext cx="10560116" cy="804226"/>
          </a:xfrm>
          <a:prstGeom prst="roundRect">
            <a:avLst>
              <a:gd name="adj" fmla="val 9080"/>
            </a:avLst>
          </a:prstGeom>
          <a:solidFill>
            <a:srgbClr val="FBF8F1"/>
          </a:solidFill>
          <a:ln w="6350">
            <a:solidFill>
              <a:srgbClr val="DCD2BE"/>
            </a:solidFill>
            <a:prstDash val="solid"/>
          </a:ln>
        </p:spPr>
        <p:txBody>
          <a:bodyPr/>
          <a:lstStyle/>
          <a:p>
            <a:endParaRPr lang="en-US"/>
          </a:p>
        </p:txBody>
      </p:sp>
      <p:pic>
        <p:nvPicPr>
          <p:cNvPr id="6" name="Image 0" descr="Warning"/>
          <p:cNvPicPr>
            <a:picLocks noChangeAspect="1"/>
          </p:cNvPicPr>
          <p:nvPr/>
        </p:nvPicPr>
        <p:blipFill>
          <a:blip r:embed="rId3"/>
          <a:srcRect/>
          <a:stretch/>
        </p:blipFill>
        <p:spPr>
          <a:xfrm>
            <a:off x="1021250" y="5016085"/>
            <a:ext cx="279383" cy="279383"/>
          </a:xfrm>
          <a:prstGeom prst="rect">
            <a:avLst/>
          </a:prstGeom>
        </p:spPr>
      </p:pic>
      <p:sp>
        <p:nvSpPr>
          <p:cNvPr id="7" name="Text 3"/>
          <p:cNvSpPr/>
          <p:nvPr/>
        </p:nvSpPr>
        <p:spPr>
          <a:xfrm>
            <a:off x="1453017" y="4908184"/>
            <a:ext cx="10009264" cy="256538"/>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E4A61"/>
                </a:solidFill>
                <a:latin typeface="IBM Plex Sans" pitchFamily="34" charset="0"/>
                <a:ea typeface="IBM Plex Sans" pitchFamily="34" charset="-122"/>
                <a:cs typeface="IBM Plex Sans" pitchFamily="34" charset="-120"/>
              </a:rPr>
              <a:t>Excel can't store dates before 1900,</a:t>
            </a:r>
            <a:r>
              <a:rPr lang="en-US" sz="1300" dirty="0">
                <a:solidFill>
                  <a:srgbClr val="3E4A61"/>
                </a:solidFill>
                <a:latin typeface="IBM Plex Sans" pitchFamily="34" charset="0"/>
                <a:ea typeface="IBM Plex Sans" pitchFamily="34" charset="-122"/>
                <a:cs typeface="IBM Plex Sans" pitchFamily="34" charset="-120"/>
              </a:rPr>
              <a:t> so the dates open as text. For question 3, add 800 years (the leap years repeat every 400):</a:t>
            </a:r>
            <a:endParaRPr lang="en-US" sz="1300" dirty="0"/>
          </a:p>
        </p:txBody>
      </p:sp>
      <p:sp>
        <p:nvSpPr>
          <p:cNvPr id="8" name="Text 4"/>
          <p:cNvSpPr/>
          <p:nvPr/>
        </p:nvSpPr>
        <p:spPr>
          <a:xfrm>
            <a:off x="1453017" y="5190089"/>
            <a:ext cx="100092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=DATE(LEFT(C2,4)+800,MID(C2,6,2),RIGHT(C2,2)) - DATE(LEFT(B2,4)+800,MID(B2,6,2),RIGHT(B2,2))</a:t>
            </a:r>
            <a:endParaRPr lang="en-US" sz="1200" dirty="0"/>
          </a:p>
        </p:txBody>
      </p:sp>
      <p:sp>
        <p:nvSpPr>
          <p:cNvPr id="9" name="Text 5"/>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 · Files in module-bd/columbus/</a:t>
            </a:r>
            <a:endParaRPr lang="en-US" sz="1200" dirty="0"/>
          </a:p>
        </p:txBody>
      </p:sp>
      <p:sp>
        <p:nvSpPr>
          <p:cNvPr id="10" name="Text 6"/>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5EFE3"/>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9A4F12"/>
                </a:solidFill>
                <a:latin typeface="IBM Plex Sans" pitchFamily="34" charset="0"/>
                <a:ea typeface="IBM Plex Sans" pitchFamily="34" charset="-122"/>
                <a:cs typeface="IBM Plex Sans" pitchFamily="34" charset="-120"/>
              </a:rPr>
              <a:t>TRY IT IN EXCEL · ANSWERS</a:t>
            </a:r>
            <a:endParaRPr lang="en-US" sz="1300" dirty="0"/>
          </a:p>
        </p:txBody>
      </p:sp>
      <p:sp>
        <p:nvSpPr>
          <p:cNvPr id="3" name="Text 1"/>
          <p:cNvSpPr>
            <a:spLocks noGrp="1"/>
          </p:cNvSpPr>
          <p:nvPr>
            <p:ph type="title"/>
          </p:nvPr>
        </p:nvSpPr>
        <p:spPr>
          <a:xfrm>
            <a:off x="812767" y="1120093"/>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3D"/>
                </a:solidFill>
                <a:latin typeface="EB Garamond" pitchFamily="18" charset="0"/>
                <a:ea typeface="EB Garamond" pitchFamily="18" charset="-122"/>
                <a:cs typeface="EB Garamond" pitchFamily="18" charset="-120"/>
              </a:rPr>
              <a:t>Answers to the Excel questions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851997"/>
          <a:ext cx="10555883" cy="2644512"/>
        </p:xfrm>
        <a:graphic>
          <a:graphicData uri="http://schemas.openxmlformats.org/drawingml/2006/table">
            <a:tbl>
              <a:tblPr/>
              <a:tblGrid>
                <a:gridCol w="633353">
                  <a:extLst>
                    <a:ext uri="{9D8B030D-6E8A-4147-A177-3AD203B41FA5}">
                      <a16:colId xmlns:a16="http://schemas.microsoft.com/office/drawing/2014/main" val="20000"/>
                    </a:ext>
                  </a:extLst>
                </a:gridCol>
                <a:gridCol w="4855706">
                  <a:extLst>
                    <a:ext uri="{9D8B030D-6E8A-4147-A177-3AD203B41FA5}">
                      <a16:colId xmlns:a16="http://schemas.microsoft.com/office/drawing/2014/main" val="20001"/>
                    </a:ext>
                  </a:extLst>
                </a:gridCol>
                <a:gridCol w="5066824">
                  <a:extLst>
                    <a:ext uri="{9D8B030D-6E8A-4147-A177-3AD203B41FA5}">
                      <a16:colId xmlns:a16="http://schemas.microsoft.com/office/drawing/2014/main" val="20002"/>
                    </a:ext>
                  </a:extLst>
                </a:gridCol>
              </a:tblGrid>
              <a:tr h="330564">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Question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Answer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5A8"/>
                      </a:solidFill>
                      <a:prstDash val="solid"/>
                      <a:round/>
                      <a:headEnd type="none" w="med" len="med"/>
                      <a:tailEnd type="none" w="med" len="med"/>
                    </a:lnL>
                    <a:lnR w="12700" cap="flat" cmpd="sng" algn="ctr">
                      <a:solidFill>
                        <a:srgbClr val="BCB5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CB5A8"/>
                      </a:solidFill>
                      <a:prstDash val="solid"/>
                      <a:round/>
                      <a:headEnd type="none" w="med" len="med"/>
                      <a:tailEnd type="none" w="med" len="med"/>
                    </a:lnB>
                    <a:solidFill>
                      <a:srgbClr val="EBE3D2"/>
                    </a:solidFill>
                  </a:tcPr>
                </a:tc>
                <a:extLst>
                  <a:ext uri="{0D108BD9-81ED-4DB2-BD59-A6C34878D82A}">
                    <a16:rowId xmlns:a16="http://schemas.microsoft.com/office/drawing/2014/main" val="10000"/>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Which ships were caravels?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Pinta, Nina, Capitana, Gallega, Vizcaina, Santiago de Palos (6 of 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CB5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Which ships have no known captain?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Gallega, Vizcaina, Santiago de Palos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How many days did each voyage last?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Voyage 2: 991 · voyage 4: 910 · voyage 3: 815 · voyage 1: 213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How many landfalls on each voyage?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Voyage 1: 4 · voyage 2: 6 · voyage 3: 4 · voyage 4: 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Which modern country appears most often?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Dominican Republic, 3 times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Which place appears on more than one voyage?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Hispaniola, 3 times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r h="330564">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Bar chart of the voyage durations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The same ranking as the notebook's chart in Section 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Text 5"/>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378"/>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10" name="Text 6"/>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378"/>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56538"/>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E8B36A"/>
                </a:solidFill>
                <a:latin typeface="IBM Plex Sans" pitchFamily="34" charset="0"/>
                <a:ea typeface="IBM Plex Sans" pitchFamily="34" charset="-122"/>
                <a:cs typeface="IBM Plex Sans" pitchFamily="34" charset="-120"/>
              </a:rPr>
              <a:t>RECAP</a:t>
            </a:r>
            <a:endParaRPr lang="en-US" sz="1300" dirty="0"/>
          </a:p>
        </p:txBody>
      </p:sp>
      <p:sp>
        <p:nvSpPr>
          <p:cNvPr id="3" name="Text 1"/>
          <p:cNvSpPr>
            <a:spLocks noGrp="1"/>
          </p:cNvSpPr>
          <p:nvPr>
            <p:ph type="title"/>
          </p:nvPr>
        </p:nvSpPr>
        <p:spPr>
          <a:xfrm>
            <a:off x="812767" y="1120093"/>
            <a:ext cx="10883460"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5EFE3"/>
                </a:solidFill>
                <a:latin typeface="EB Garamond" pitchFamily="18" charset="0"/>
                <a:ea typeface="EB Garamond" pitchFamily="18" charset="-122"/>
                <a:cs typeface="EB Garamond" pitchFamily="18" charset="-120"/>
              </a:rPr>
              <a:t>These few commands cover most everyday exploration</a:t>
            </a:r>
            <a:endParaRPr lang="en-US" sz="3200" dirty="0"/>
          </a:p>
        </p:txBody>
      </p:sp>
      <p:sp>
        <p:nvSpPr>
          <p:cNvPr id="4" name="Text 2"/>
          <p:cNvSpPr/>
          <p:nvPr/>
        </p:nvSpPr>
        <p:spPr>
          <a:xfrm>
            <a:off x="812767" y="1892182"/>
            <a:ext cx="2362192"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pandas.DataFrame()</a:t>
            </a:r>
            <a:endParaRPr lang="en-US" sz="1500" dirty="0"/>
          </a:p>
        </p:txBody>
      </p:sp>
      <p:sp>
        <p:nvSpPr>
          <p:cNvPr id="5" name="Text 3"/>
          <p:cNvSpPr/>
          <p:nvPr/>
        </p:nvSpPr>
        <p:spPr>
          <a:xfrm>
            <a:off x="3301959" y="1892182"/>
            <a:ext cx="990575"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head()</a:t>
            </a:r>
            <a:endParaRPr lang="en-US" sz="1500" dirty="0"/>
          </a:p>
        </p:txBody>
      </p:sp>
      <p:sp>
        <p:nvSpPr>
          <p:cNvPr id="6" name="Text 4"/>
          <p:cNvSpPr/>
          <p:nvPr/>
        </p:nvSpPr>
        <p:spPr>
          <a:xfrm>
            <a:off x="4419534" y="1892182"/>
            <a:ext cx="876267"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shape</a:t>
            </a:r>
            <a:endParaRPr lang="en-US" sz="1500" dirty="0"/>
          </a:p>
        </p:txBody>
      </p:sp>
      <p:sp>
        <p:nvSpPr>
          <p:cNvPr id="7" name="Text 5"/>
          <p:cNvSpPr/>
          <p:nvPr/>
        </p:nvSpPr>
        <p:spPr>
          <a:xfrm>
            <a:off x="5422801" y="1892182"/>
            <a:ext cx="990575"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dtypes</a:t>
            </a:r>
            <a:endParaRPr lang="en-US" sz="1500" dirty="0"/>
          </a:p>
        </p:txBody>
      </p:sp>
      <p:sp>
        <p:nvSpPr>
          <p:cNvPr id="8" name="Text 6"/>
          <p:cNvSpPr/>
          <p:nvPr/>
        </p:nvSpPr>
        <p:spPr>
          <a:xfrm>
            <a:off x="6540376" y="1892182"/>
            <a:ext cx="1333500"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df["col"]</a:t>
            </a:r>
            <a:endParaRPr lang="en-US" sz="1500" dirty="0"/>
          </a:p>
        </p:txBody>
      </p:sp>
      <p:sp>
        <p:nvSpPr>
          <p:cNvPr id="9" name="Text 7"/>
          <p:cNvSpPr/>
          <p:nvPr/>
        </p:nvSpPr>
        <p:spPr>
          <a:xfrm>
            <a:off x="8000876" y="1892182"/>
            <a:ext cx="1104883"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.loc[ ]</a:t>
            </a:r>
            <a:endParaRPr lang="en-US" sz="1500" dirty="0"/>
          </a:p>
        </p:txBody>
      </p:sp>
      <p:sp>
        <p:nvSpPr>
          <p:cNvPr id="10" name="Text 8"/>
          <p:cNvSpPr/>
          <p:nvPr/>
        </p:nvSpPr>
        <p:spPr>
          <a:xfrm>
            <a:off x="9232759" y="1892182"/>
            <a:ext cx="1790692"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df[condition]</a:t>
            </a:r>
            <a:endParaRPr lang="en-US" sz="1500" dirty="0"/>
          </a:p>
        </p:txBody>
      </p:sp>
      <p:sp>
        <p:nvSpPr>
          <p:cNvPr id="11" name="Text 9"/>
          <p:cNvSpPr/>
          <p:nvPr/>
        </p:nvSpPr>
        <p:spPr>
          <a:xfrm>
            <a:off x="812767" y="2463639"/>
            <a:ext cx="1676383"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isna().sum()</a:t>
            </a:r>
            <a:endParaRPr lang="en-US" sz="1500" dirty="0"/>
          </a:p>
        </p:txBody>
      </p:sp>
      <p:sp>
        <p:nvSpPr>
          <p:cNvPr id="12" name="Text 10"/>
          <p:cNvSpPr/>
          <p:nvPr/>
        </p:nvSpPr>
        <p:spPr>
          <a:xfrm>
            <a:off x="2616150" y="2463639"/>
            <a:ext cx="1790692"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to_datetime()</a:t>
            </a:r>
            <a:endParaRPr lang="en-US" sz="1500" dirty="0"/>
          </a:p>
        </p:txBody>
      </p:sp>
      <p:sp>
        <p:nvSpPr>
          <p:cNvPr id="13" name="Text 11"/>
          <p:cNvSpPr/>
          <p:nvPr/>
        </p:nvSpPr>
        <p:spPr>
          <a:xfrm>
            <a:off x="4533842" y="2463639"/>
            <a:ext cx="1790692"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sort_values()</a:t>
            </a:r>
            <a:endParaRPr lang="en-US" sz="1500" dirty="0"/>
          </a:p>
        </p:txBody>
      </p:sp>
      <p:sp>
        <p:nvSpPr>
          <p:cNvPr id="14" name="Text 12"/>
          <p:cNvSpPr/>
          <p:nvPr/>
        </p:nvSpPr>
        <p:spPr>
          <a:xfrm>
            <a:off x="6451534" y="2463639"/>
            <a:ext cx="1905000"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value_counts()</a:t>
            </a:r>
            <a:endParaRPr lang="en-US" sz="1500" dirty="0"/>
          </a:p>
        </p:txBody>
      </p:sp>
      <p:sp>
        <p:nvSpPr>
          <p:cNvPr id="15" name="Text 13"/>
          <p:cNvSpPr/>
          <p:nvPr/>
        </p:nvSpPr>
        <p:spPr>
          <a:xfrm>
            <a:off x="8483533" y="2463639"/>
            <a:ext cx="1333500"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groupby()</a:t>
            </a:r>
            <a:endParaRPr lang="en-US" sz="1500" dirty="0"/>
          </a:p>
        </p:txBody>
      </p:sp>
      <p:sp>
        <p:nvSpPr>
          <p:cNvPr id="16" name="Text 14"/>
          <p:cNvSpPr/>
          <p:nvPr/>
        </p:nvSpPr>
        <p:spPr>
          <a:xfrm>
            <a:off x="9944033" y="2463639"/>
            <a:ext cx="1104883" cy="444459"/>
          </a:xfrm>
          <a:prstGeom prst="roundRect">
            <a:avLst>
              <a:gd name="adj" fmla="val 17144"/>
            </a:avLst>
          </a:prstGeom>
          <a:solidFill>
            <a:srgbClr val="22325A"/>
          </a:solidFill>
          <a:ln/>
        </p:spPr>
        <p:txBody>
          <a:bodyPr wrap="none" lIns="0" tIns="0" rIns="0" bIns="0" rtlCol="0" anchor="ctr">
            <a:normAutofit/>
          </a:bodyPr>
          <a:lstStyle/>
          <a:p>
            <a:pPr marL="0" indent="0" algn="ctr">
              <a:lnSpc>
                <a:spcPts val="2100"/>
              </a:lnSpc>
              <a:buNone/>
            </a:pPr>
            <a:r>
              <a:rPr lang="en-US" sz="1500" dirty="0">
                <a:solidFill>
                  <a:srgbClr val="F5EFE3"/>
                </a:solidFill>
                <a:latin typeface="JetBrains Mono" pitchFamily="49" charset="0"/>
                <a:ea typeface="JetBrains Mono" pitchFamily="49" charset="-122"/>
                <a:cs typeface="JetBrains Mono" pitchFamily="49" charset="-120"/>
              </a:rPr>
              <a:t>merge()</a:t>
            </a:r>
            <a:endParaRPr lang="en-US" sz="1500" dirty="0"/>
          </a:p>
        </p:txBody>
      </p:sp>
      <p:sp>
        <p:nvSpPr>
          <p:cNvPr id="17" name="Text 15"/>
          <p:cNvSpPr/>
          <p:nvPr/>
        </p:nvSpPr>
        <p:spPr>
          <a:xfrm>
            <a:off x="812767" y="5539792"/>
            <a:ext cx="10883460" cy="327604"/>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E8B36A"/>
                </a:solidFill>
                <a:latin typeface="IBM Plex Sans" pitchFamily="34" charset="0"/>
                <a:ea typeface="IBM Plex Sans" pitchFamily="34" charset="-122"/>
                <a:cs typeface="IBM Plex Sans" pitchFamily="34" charset="-120"/>
              </a:rPr>
              <a:t>Next: Session 1.</a:t>
            </a:r>
            <a:r>
              <a:rPr lang="en-US" sz="1700" dirty="0">
                <a:solidFill>
                  <a:srgbClr val="C9D1E0"/>
                </a:solidFill>
                <a:latin typeface="IBM Plex Sans" pitchFamily="34" charset="0"/>
                <a:ea typeface="IBM Plex Sans" pitchFamily="34" charset="-122"/>
                <a:cs typeface="IBM Plex Sans" pitchFamily="34" charset="-120"/>
              </a:rPr>
              <a:t> The same tools, on real system data.</a:t>
            </a:r>
            <a:endParaRPr lang="en-US" sz="1700" dirty="0"/>
          </a:p>
        </p:txBody>
      </p:sp>
      <p:sp>
        <p:nvSpPr>
          <p:cNvPr id="18" name="Text 16"/>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C"/>
                </a:solidFill>
                <a:latin typeface="IBM Plex Sans" pitchFamily="34" charset="0"/>
                <a:ea typeface="IBM Plex Sans" pitchFamily="34" charset="-122"/>
                <a:cs typeface="IBM Plex Sans" pitchFamily="34" charset="-120"/>
              </a:rPr>
              <a:t>Pandas warm-up · Columbus's voyages</a:t>
            </a:r>
            <a:endParaRPr lang="en-US" sz="1200" dirty="0"/>
          </a:p>
        </p:txBody>
      </p:sp>
      <p:sp>
        <p:nvSpPr>
          <p:cNvPr id="19" name="Text 17"/>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C"/>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theme/theme1.xml><?xml version="1.0" encoding="utf-8"?>
<a:theme xmlns:a="http://schemas.openxmlformats.org/drawingml/2006/main" name="Pandas Warm-up: Columbus's Voyages">
  <a:themeElements>
    <a:clrScheme name="Pandas Warm-up: Columbus's Voyages">
      <a:dk1>
        <a:srgbClr val="14213D"/>
      </a:dk1>
      <a:lt1>
        <a:srgbClr val="F5EFE3"/>
      </a:lt1>
      <a:dk2>
        <a:srgbClr val="4C5567"/>
      </a:dk2>
      <a:lt2>
        <a:srgbClr val="DFDAD2"/>
      </a:lt2>
      <a:accent1>
        <a:srgbClr val="9A4F12"/>
      </a:accent1>
      <a:accent2>
        <a:srgbClr val="22325A"/>
      </a:accent2>
      <a:accent3>
        <a:srgbClr val="9FB0CC"/>
      </a:accent3>
      <a:accent4>
        <a:srgbClr val="E8B36A"/>
      </a:accent4>
      <a:accent5>
        <a:srgbClr val="8A4510"/>
      </a:accent5>
      <a:accent6>
        <a:srgbClr val="3E4A61"/>
      </a:accent6>
      <a:hlink>
        <a:srgbClr val="0563C1"/>
      </a:hlink>
      <a:folHlink>
        <a:srgbClr val="954F72"/>
      </a:folHlink>
    </a:clrScheme>
    <a:fontScheme name="Pandas Warm-up: Columbus's Voyages">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3000</Words>
  <Application>Microsoft Macintosh PowerPoint</Application>
  <PresentationFormat>Widescreen</PresentationFormat>
  <Paragraphs>397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EB Garamond</vt:lpstr>
      <vt:lpstr>IBM Plex Sans</vt:lpstr>
      <vt:lpstr>JetBrains Mono</vt:lpstr>
      <vt:lpstr>Pandas Warm-up: Columbus's Voyages</vt:lpstr>
      <vt:lpstr>Your First DataFrame</vt:lpstr>
      <vt:lpstr>Four voyages across the Atlantic, 1492–1504</vt:lpstr>
      <vt:lpstr>Eight pandas skills on one small dataset</vt:lpstr>
      <vt:lpstr>A dictionary becomes a table</vt:lpstr>
      <vt:lpstr>Five things to check on any new table</vt:lpstr>
      <vt:lpstr>Picking columns and rows</vt:lpstr>
      <vt:lpstr>Which ships have a known captain?</vt:lpstr>
      <vt:lpstr>From text to dates, and from dates to days</vt:lpstr>
      <vt:lpstr>991 days</vt:lpstr>
      <vt:lpstr>How many landfalls on each voyage?</vt:lpstr>
      <vt:lpstr>Each row becomes a point on the map</vt:lpstr>
      <vt:lpstr>Joining each ship to its voyage</vt:lpstr>
      <vt:lpstr>Seventeen exercises, marked #TODO in the notebook</vt:lpstr>
      <vt:lpstr>The same questions, answered in a spreadsheet</vt:lpstr>
      <vt:lpstr>Answers to the Excel questions</vt:lpstr>
      <vt:lpstr>These few commands cover most everyday exploration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Pandas Warm-up: Columbus's Voyages</dc:title>
  <dc:subject/>
  <dc:creator/>
  <cp:lastModifiedBy>Ivan Portilla</cp:lastModifiedBy>
  <cp:revision>1</cp:revision>
  <dcterms:created xsi:type="dcterms:W3CDTF">2026-10-12T16:52:36Z</dcterms:created>
  <dcterms:modified xsi:type="dcterms:W3CDTF">2026-10-12T17:45:39Z</dcterms:modified>
</cp:coreProperties>
</file>
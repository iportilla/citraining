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docProps/app.xml" ContentType="application/vnd.openxmlformats-officedocument.extended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Default Extension="png" ContentType="image/png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docProps/custom.xml" ContentType="application/vnd.openxmlformats-officedocument.custom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</p:sldIdLst>
  <p:sldSz cx="12192000" cy="6858000"/>
  <p:notesSz cx="12192000" cy="6858000"/>
  <p:defaultTextStyle>
    <a:defPPr>
      <a:defRPr kern="0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viewProps" Target="viewProps.xml"/><Relationship Id="rId4" Type="http://schemas.openxmlformats.org/officeDocument/2006/relationships/presProps" Target="pres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2.xml"/><Relationship Id="rId18" Type="http://schemas.openxmlformats.org/officeDocument/2006/relationships/slide" Target="slides/slide13.xml"/><Relationship Id="rId19" Type="http://schemas.openxmlformats.org/officeDocument/2006/relationships/slide" Target="slides/slide14.xml"/><Relationship Id="rId20" Type="http://schemas.openxmlformats.org/officeDocument/2006/relationships/slide" Target="slides/slide15.xml"/><Relationship Id="rId21" Type="http://schemas.openxmlformats.org/officeDocument/2006/relationships/slide" Target="slides/slide16.xml"/><Relationship Id="rId22" Type="http://schemas.openxmlformats.org/officeDocument/2006/relationships/slide" Target="slides/slide17.xml"/><Relationship Id="rId23" Type="http://schemas.openxmlformats.org/officeDocument/2006/relationships/slide" Target="slides/slide18.xml"/><Relationship Id="rId24" Type="http://schemas.openxmlformats.org/officeDocument/2006/relationships/slide" Target="slides/slide19.xml"/><Relationship Id="rId25" Type="http://schemas.openxmlformats.org/officeDocument/2006/relationships/slide" Target="slides/slide20.xml"/><Relationship Id="rId26" Type="http://schemas.openxmlformats.org/officeDocument/2006/relationships/slide" Target="slides/slide21.xml"/><Relationship Id="rId27" Type="http://schemas.openxmlformats.org/officeDocument/2006/relationships/slide" Target="slides/slide22.xml"/></Relationships>
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14400" y="2125980"/>
            <a:ext cx="103632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150" b="1" i="0">
                <a:solidFill>
                  <a:srgbClr val="13203C"/>
                </a:solidFill>
                <a:latin typeface="Arial"/>
                <a:cs typeface="Arial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150" b="1" i="0">
                <a:solidFill>
                  <a:srgbClr val="13203C"/>
                </a:solidFill>
                <a:latin typeface="Arial"/>
                <a:cs typeface="Arial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b="0" i="0">
                <a:solidFill>
                  <a:schemeClr val="tx1"/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 showMasterSp="0">
  <p:cSld name="Two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-62"/>
            <a:ext cx="12189460" cy="6859905"/>
          </a:xfrm>
          <a:custGeom>
            <a:avLst/>
            <a:gdLst/>
            <a:ahLst/>
            <a:cxnLst/>
            <a:rect l="l" t="t" r="r" b="b"/>
            <a:pathLst>
              <a:path w="12189460" h="6859905">
                <a:moveTo>
                  <a:pt x="12188952" y="0"/>
                </a:moveTo>
                <a:lnTo>
                  <a:pt x="0" y="0"/>
                </a:lnTo>
                <a:lnTo>
                  <a:pt x="0" y="6859778"/>
                </a:lnTo>
                <a:lnTo>
                  <a:pt x="12188952" y="6859778"/>
                </a:lnTo>
                <a:lnTo>
                  <a:pt x="12188952" y="0"/>
                </a:lnTo>
                <a:close/>
              </a:path>
            </a:pathLst>
          </a:custGeom>
          <a:solidFill>
            <a:srgbClr val="EDF0F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150" b="1" i="0">
                <a:solidFill>
                  <a:srgbClr val="13203C"/>
                </a:solidFill>
                <a:latin typeface="Arial"/>
                <a:cs typeface="Arial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idx="2" sz="half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idx="3" sz="half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Holder 6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7" name="Holder 7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150" b="1" i="0">
                <a:solidFill>
                  <a:srgbClr val="13203C"/>
                </a:solidFill>
                <a:latin typeface="Arial"/>
                <a:cs typeface="Arial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5" name="Holder 5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4" name="Holder 4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-62"/>
            <a:ext cx="12189460" cy="6859905"/>
          </a:xfrm>
          <a:custGeom>
            <a:avLst/>
            <a:gdLst/>
            <a:ahLst/>
            <a:cxnLst/>
            <a:rect l="l" t="t" r="r" b="b"/>
            <a:pathLst>
              <a:path w="12189460" h="6859905">
                <a:moveTo>
                  <a:pt x="12188952" y="0"/>
                </a:moveTo>
                <a:lnTo>
                  <a:pt x="0" y="0"/>
                </a:lnTo>
                <a:lnTo>
                  <a:pt x="0" y="6859778"/>
                </a:lnTo>
                <a:lnTo>
                  <a:pt x="12188952" y="6859778"/>
                </a:lnTo>
                <a:lnTo>
                  <a:pt x="12188952" y="0"/>
                </a:lnTo>
                <a:close/>
              </a:path>
            </a:pathLst>
          </a:custGeom>
          <a:solidFill>
            <a:srgbClr val="FAFAF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800480" y="1090294"/>
            <a:ext cx="10178415" cy="50926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150" b="1" i="0">
                <a:solidFill>
                  <a:srgbClr val="13203C"/>
                </a:solidFill>
                <a:latin typeface="Arial"/>
                <a:cs typeface="Arial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5654294" y="1914144"/>
            <a:ext cx="5766434" cy="331724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 folHlink="folHlink" hlink="hlink" accent1="accent1" accent2="accent2" accent3="accent3" accent4="accent4" accent5="accent5" accent6="accent6" tx2="dk2" bg2="lt2" tx1="dk1" bg1="lt1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3.xml"/></Relationships>
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3.xml"/></Relationships>

</file>

<file path=ppt/slides/_rels/slide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1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1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1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1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1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1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png"/></Relationships>

</file>

<file path=ppt/slides/_rels/slide1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.png"/></Relationships>

</file>

<file path=ppt/slides/_rels/slide1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.png"/></Relationships>

</file>

<file path=ppt/slides/_rels/slide1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.png"/></Relationships>

</file>

<file path=ppt/slides/_rels/slide1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7.png"/></Relationships>

</file>

<file path=ppt/slides/_rels/slide2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2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3.xml"/></Relationships>

</file>

<file path=ppt/slides/_rels/slide2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hyperlink" Target="https://deapsecure.gitlab.io/deapsecure-lesson02-bd/10-pandas-intro/index.html" TargetMode="External"/><Relationship Id="rId3" Type="http://schemas.openxmlformats.org/officeDocument/2006/relationships/hyperlink" Target="https://pandas.pydata.org/Pandas_Cheat_Sheet.pdf" TargetMode="External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-62"/>
            <a:ext cx="12189460" cy="6859905"/>
          </a:xfrm>
          <a:custGeom>
            <a:avLst/>
            <a:gdLst/>
            <a:ahLst/>
            <a:cxnLst/>
            <a:rect l="l" t="t" r="r" b="b"/>
            <a:pathLst>
              <a:path w="12189460" h="6859905">
                <a:moveTo>
                  <a:pt x="12188952" y="0"/>
                </a:moveTo>
                <a:lnTo>
                  <a:pt x="0" y="0"/>
                </a:lnTo>
                <a:lnTo>
                  <a:pt x="0" y="6859778"/>
                </a:lnTo>
                <a:lnTo>
                  <a:pt x="12188952" y="6859778"/>
                </a:lnTo>
                <a:lnTo>
                  <a:pt x="12188952" y="0"/>
                </a:lnTo>
                <a:close/>
              </a:path>
            </a:pathLst>
          </a:custGeom>
          <a:solidFill>
            <a:srgbClr val="13203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800480" y="810577"/>
            <a:ext cx="1929130" cy="26733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550" spc="95">
                <a:solidFill>
                  <a:srgbClr val="F1B544"/>
                </a:solidFill>
                <a:latin typeface="Arial"/>
                <a:cs typeface="Arial"/>
              </a:rPr>
              <a:t>import</a:t>
            </a:r>
            <a:r>
              <a:rPr dirty="0" sz="1550" spc="75">
                <a:solidFill>
                  <a:srgbClr val="F1B544"/>
                </a:solidFill>
                <a:latin typeface="Arial"/>
                <a:cs typeface="Arial"/>
              </a:rPr>
              <a:t> </a:t>
            </a:r>
            <a:r>
              <a:rPr dirty="0" sz="1550">
                <a:solidFill>
                  <a:srgbClr val="F1B544"/>
                </a:solidFill>
                <a:latin typeface="Arial"/>
                <a:cs typeface="Arial"/>
              </a:rPr>
              <a:t>pandas</a:t>
            </a:r>
            <a:r>
              <a:rPr dirty="0" sz="1550" spc="130">
                <a:solidFill>
                  <a:srgbClr val="F1B544"/>
                </a:solidFill>
                <a:latin typeface="Arial"/>
                <a:cs typeface="Arial"/>
              </a:rPr>
              <a:t> </a:t>
            </a:r>
            <a:r>
              <a:rPr dirty="0" sz="1550">
                <a:solidFill>
                  <a:srgbClr val="F1B544"/>
                </a:solidFill>
                <a:latin typeface="Arial"/>
                <a:cs typeface="Arial"/>
              </a:rPr>
              <a:t>as</a:t>
            </a:r>
            <a:r>
              <a:rPr dirty="0" sz="1550" spc="65">
                <a:solidFill>
                  <a:srgbClr val="F1B544"/>
                </a:solidFill>
                <a:latin typeface="Arial"/>
                <a:cs typeface="Arial"/>
              </a:rPr>
              <a:t> </a:t>
            </a:r>
            <a:r>
              <a:rPr dirty="0" sz="1550" spc="-25">
                <a:solidFill>
                  <a:srgbClr val="F1B544"/>
                </a:solidFill>
                <a:latin typeface="Arial"/>
                <a:cs typeface="Arial"/>
              </a:rPr>
              <a:t>pd</a:t>
            </a:r>
            <a:endParaRPr sz="155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800480" y="2069909"/>
            <a:ext cx="3716654" cy="26733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550" spc="225" b="1">
                <a:solidFill>
                  <a:srgbClr val="F1B544"/>
                </a:solidFill>
                <a:latin typeface="Arial"/>
                <a:cs typeface="Arial"/>
              </a:rPr>
              <a:t>IN</a:t>
            </a:r>
            <a:r>
              <a:rPr dirty="0" sz="1550" spc="-215" b="1">
                <a:solidFill>
                  <a:srgbClr val="F1B544"/>
                </a:solidFill>
                <a:latin typeface="Arial"/>
                <a:cs typeface="Arial"/>
              </a:rPr>
              <a:t> </a:t>
            </a:r>
            <a:r>
              <a:rPr dirty="0" sz="1550" spc="-35" b="1">
                <a:solidFill>
                  <a:srgbClr val="F1B544"/>
                </a:solidFill>
                <a:latin typeface="Arial"/>
                <a:cs typeface="Arial"/>
              </a:rPr>
              <a:t>T</a:t>
            </a:r>
            <a:r>
              <a:rPr dirty="0" sz="1550" spc="-210" b="1">
                <a:solidFill>
                  <a:srgbClr val="F1B544"/>
                </a:solidFill>
                <a:latin typeface="Arial"/>
                <a:cs typeface="Arial"/>
              </a:rPr>
              <a:t> </a:t>
            </a:r>
            <a:r>
              <a:rPr dirty="0" sz="1550" spc="-65" b="1">
                <a:solidFill>
                  <a:srgbClr val="F1B544"/>
                </a:solidFill>
                <a:latin typeface="Arial"/>
                <a:cs typeface="Arial"/>
              </a:rPr>
              <a:t>R</a:t>
            </a:r>
            <a:r>
              <a:rPr dirty="0" sz="1550" spc="-210" b="1">
                <a:solidFill>
                  <a:srgbClr val="F1B544"/>
                </a:solidFill>
                <a:latin typeface="Arial"/>
                <a:cs typeface="Arial"/>
              </a:rPr>
              <a:t> </a:t>
            </a:r>
            <a:r>
              <a:rPr dirty="0" sz="1550" b="1">
                <a:solidFill>
                  <a:srgbClr val="F1B544"/>
                </a:solidFill>
                <a:latin typeface="Arial"/>
                <a:cs typeface="Arial"/>
              </a:rPr>
              <a:t>O</a:t>
            </a:r>
            <a:r>
              <a:rPr dirty="0" sz="1550" spc="290" b="1">
                <a:solidFill>
                  <a:srgbClr val="F1B544"/>
                </a:solidFill>
                <a:latin typeface="Arial"/>
                <a:cs typeface="Arial"/>
              </a:rPr>
              <a:t> </a:t>
            </a:r>
            <a:r>
              <a:rPr dirty="0" sz="1550" spc="-35" b="1">
                <a:solidFill>
                  <a:srgbClr val="F1B544"/>
                </a:solidFill>
                <a:latin typeface="Arial"/>
                <a:cs typeface="Arial"/>
              </a:rPr>
              <a:t>T</a:t>
            </a:r>
            <a:r>
              <a:rPr dirty="0" sz="1550" spc="-210" b="1">
                <a:solidFill>
                  <a:srgbClr val="F1B544"/>
                </a:solidFill>
                <a:latin typeface="Arial"/>
                <a:cs typeface="Arial"/>
              </a:rPr>
              <a:t> </a:t>
            </a:r>
            <a:r>
              <a:rPr dirty="0" sz="1550" b="1">
                <a:solidFill>
                  <a:srgbClr val="F1B544"/>
                </a:solidFill>
                <a:latin typeface="Arial"/>
                <a:cs typeface="Arial"/>
              </a:rPr>
              <a:t>O</a:t>
            </a:r>
            <a:r>
              <a:rPr dirty="0" sz="1550" spc="365" b="1">
                <a:solidFill>
                  <a:srgbClr val="F1B544"/>
                </a:solidFill>
                <a:latin typeface="Arial"/>
                <a:cs typeface="Arial"/>
              </a:rPr>
              <a:t> </a:t>
            </a:r>
            <a:r>
              <a:rPr dirty="0" sz="1550" spc="80" b="1">
                <a:solidFill>
                  <a:srgbClr val="F1B544"/>
                </a:solidFill>
                <a:latin typeface="Arial"/>
                <a:cs typeface="Arial"/>
              </a:rPr>
              <a:t>PY</a:t>
            </a:r>
            <a:r>
              <a:rPr dirty="0" sz="1550" spc="-240" b="1">
                <a:solidFill>
                  <a:srgbClr val="F1B544"/>
                </a:solidFill>
                <a:latin typeface="Arial"/>
                <a:cs typeface="Arial"/>
              </a:rPr>
              <a:t> </a:t>
            </a:r>
            <a:r>
              <a:rPr dirty="0" sz="1550" spc="-35" b="1">
                <a:solidFill>
                  <a:srgbClr val="F1B544"/>
                </a:solidFill>
                <a:latin typeface="Arial"/>
                <a:cs typeface="Arial"/>
              </a:rPr>
              <a:t>T</a:t>
            </a:r>
            <a:r>
              <a:rPr dirty="0" sz="1550" spc="-210" b="1">
                <a:solidFill>
                  <a:srgbClr val="F1B544"/>
                </a:solidFill>
                <a:latin typeface="Arial"/>
                <a:cs typeface="Arial"/>
              </a:rPr>
              <a:t> </a:t>
            </a:r>
            <a:r>
              <a:rPr dirty="0" sz="1550" b="1">
                <a:solidFill>
                  <a:srgbClr val="F1B544"/>
                </a:solidFill>
                <a:latin typeface="Arial"/>
                <a:cs typeface="Arial"/>
              </a:rPr>
              <a:t>H</a:t>
            </a:r>
            <a:r>
              <a:rPr dirty="0" sz="1550" spc="-215" b="1">
                <a:solidFill>
                  <a:srgbClr val="F1B544"/>
                </a:solidFill>
                <a:latin typeface="Arial"/>
                <a:cs typeface="Arial"/>
              </a:rPr>
              <a:t> </a:t>
            </a:r>
            <a:r>
              <a:rPr dirty="0" sz="1550" spc="55" b="1">
                <a:solidFill>
                  <a:srgbClr val="F1B544"/>
                </a:solidFill>
                <a:latin typeface="Arial"/>
                <a:cs typeface="Arial"/>
              </a:rPr>
              <a:t>ON</a:t>
            </a:r>
            <a:r>
              <a:rPr dirty="0" sz="1550" spc="355" b="1">
                <a:solidFill>
                  <a:srgbClr val="F1B544"/>
                </a:solidFill>
                <a:latin typeface="Arial"/>
                <a:cs typeface="Arial"/>
              </a:rPr>
              <a:t> </a:t>
            </a:r>
            <a:r>
              <a:rPr dirty="0" sz="1550" spc="50" b="1">
                <a:solidFill>
                  <a:srgbClr val="F1B544"/>
                </a:solidFill>
                <a:latin typeface="Arial"/>
                <a:cs typeface="Arial"/>
              </a:rPr>
              <a:t>·</a:t>
            </a:r>
            <a:r>
              <a:rPr dirty="0" sz="1550" spc="360" b="1">
                <a:solidFill>
                  <a:srgbClr val="F1B544"/>
                </a:solidFill>
                <a:latin typeface="Arial"/>
                <a:cs typeface="Arial"/>
              </a:rPr>
              <a:t> </a:t>
            </a:r>
            <a:r>
              <a:rPr dirty="0" sz="1550" spc="-60" b="1">
                <a:solidFill>
                  <a:srgbClr val="F1B544"/>
                </a:solidFill>
                <a:latin typeface="Arial"/>
                <a:cs typeface="Arial"/>
              </a:rPr>
              <a:t>S</a:t>
            </a:r>
            <a:r>
              <a:rPr dirty="0" sz="1550" spc="-200" b="1">
                <a:solidFill>
                  <a:srgbClr val="F1B544"/>
                </a:solidFill>
                <a:latin typeface="Arial"/>
                <a:cs typeface="Arial"/>
              </a:rPr>
              <a:t> </a:t>
            </a:r>
            <a:r>
              <a:rPr dirty="0" sz="1550" b="1">
                <a:solidFill>
                  <a:srgbClr val="F1B544"/>
                </a:solidFill>
                <a:latin typeface="Arial"/>
                <a:cs typeface="Arial"/>
              </a:rPr>
              <a:t>ES</a:t>
            </a:r>
            <a:r>
              <a:rPr dirty="0" sz="1550" spc="-200" b="1">
                <a:solidFill>
                  <a:srgbClr val="F1B544"/>
                </a:solidFill>
                <a:latin typeface="Arial"/>
                <a:cs typeface="Arial"/>
              </a:rPr>
              <a:t> </a:t>
            </a:r>
            <a:r>
              <a:rPr dirty="0" sz="1550" spc="180" b="1">
                <a:solidFill>
                  <a:srgbClr val="F1B544"/>
                </a:solidFill>
                <a:latin typeface="Arial"/>
                <a:cs typeface="Arial"/>
              </a:rPr>
              <a:t>SI</a:t>
            </a:r>
            <a:r>
              <a:rPr dirty="0" sz="1550" spc="-185" b="1">
                <a:solidFill>
                  <a:srgbClr val="F1B544"/>
                </a:solidFill>
                <a:latin typeface="Arial"/>
                <a:cs typeface="Arial"/>
              </a:rPr>
              <a:t> </a:t>
            </a:r>
            <a:r>
              <a:rPr dirty="0" sz="1550" spc="55" b="1">
                <a:solidFill>
                  <a:srgbClr val="F1B544"/>
                </a:solidFill>
                <a:latin typeface="Arial"/>
                <a:cs typeface="Arial"/>
              </a:rPr>
              <a:t>ON</a:t>
            </a:r>
            <a:r>
              <a:rPr dirty="0" sz="1550" spc="355" b="1">
                <a:solidFill>
                  <a:srgbClr val="F1B544"/>
                </a:solidFill>
                <a:latin typeface="Arial"/>
                <a:cs typeface="Arial"/>
              </a:rPr>
              <a:t> </a:t>
            </a:r>
            <a:r>
              <a:rPr dirty="0" sz="1550" spc="35" b="1">
                <a:solidFill>
                  <a:srgbClr val="F1B544"/>
                </a:solidFill>
                <a:latin typeface="Arial"/>
                <a:cs typeface="Arial"/>
              </a:rPr>
              <a:t>1</a:t>
            </a:r>
            <a:endParaRPr sz="1550">
              <a:latin typeface="Arial"/>
              <a:cs typeface="Arial"/>
            </a:endParaRPr>
          </a:p>
        </p:txBody>
      </p:sp>
      <p:sp>
        <p:nvSpPr>
          <p:cNvPr id="5" name="object 5" descr="$PPTXTitle"/>
          <p:cNvSpPr txBox="1">
            <a:spLocks noGrp="1"/>
          </p:cNvSpPr>
          <p:nvPr>
            <p:ph type="title"/>
          </p:nvPr>
        </p:nvSpPr>
        <p:spPr>
          <a:xfrm>
            <a:off x="800480" y="2375166"/>
            <a:ext cx="5523230" cy="1864360"/>
          </a:xfrm>
          <a:prstGeom prst="rect"/>
        </p:spPr>
        <p:txBody>
          <a:bodyPr wrap="square" lIns="0" tIns="138430" rIns="0" bIns="0" rtlCol="0" vert="horz">
            <a:spAutoFit/>
          </a:bodyPr>
          <a:lstStyle/>
          <a:p>
            <a:pPr marL="12700" marR="5080">
              <a:lnSpc>
                <a:spcPts val="6780"/>
              </a:lnSpc>
              <a:spcBef>
                <a:spcPts val="1090"/>
              </a:spcBef>
            </a:pPr>
            <a:r>
              <a:rPr dirty="0" sz="6400" spc="-20">
                <a:solidFill>
                  <a:srgbClr val="F4F0EA"/>
                </a:solidFill>
              </a:rPr>
              <a:t>Fundamentals </a:t>
            </a:r>
            <a:r>
              <a:rPr dirty="0" sz="6400">
                <a:solidFill>
                  <a:srgbClr val="F4F0EA"/>
                </a:solidFill>
              </a:rPr>
              <a:t>of</a:t>
            </a:r>
            <a:r>
              <a:rPr dirty="0" sz="6400" spc="-415">
                <a:solidFill>
                  <a:srgbClr val="F4F0EA"/>
                </a:solidFill>
              </a:rPr>
              <a:t> </a:t>
            </a:r>
            <a:r>
              <a:rPr dirty="0" sz="6400" spc="-10">
                <a:solidFill>
                  <a:srgbClr val="F4F0EA"/>
                </a:solidFill>
              </a:rPr>
              <a:t>Pandas</a:t>
            </a:r>
            <a:endParaRPr sz="6400"/>
          </a:p>
        </p:txBody>
      </p:sp>
      <p:sp>
        <p:nvSpPr>
          <p:cNvPr id="6" name="object 6"/>
          <p:cNvSpPr txBox="1"/>
          <p:nvPr/>
        </p:nvSpPr>
        <p:spPr>
          <a:xfrm>
            <a:off x="800480" y="4471034"/>
            <a:ext cx="7614920" cy="334010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2000" spc="-20">
                <a:solidFill>
                  <a:srgbClr val="C8D2E2"/>
                </a:solidFill>
                <a:latin typeface="Arial"/>
                <a:cs typeface="Arial"/>
              </a:rPr>
              <a:t>Series,</a:t>
            </a:r>
            <a:r>
              <a:rPr dirty="0" sz="2000" spc="5">
                <a:solidFill>
                  <a:srgbClr val="C8D2E2"/>
                </a:solidFill>
                <a:latin typeface="Arial"/>
                <a:cs typeface="Arial"/>
              </a:rPr>
              <a:t> </a:t>
            </a:r>
            <a:r>
              <a:rPr dirty="0" sz="2000" spc="-25">
                <a:solidFill>
                  <a:srgbClr val="C8D2E2"/>
                </a:solidFill>
                <a:latin typeface="Arial"/>
                <a:cs typeface="Arial"/>
              </a:rPr>
              <a:t>DataFrames,</a:t>
            </a:r>
            <a:r>
              <a:rPr dirty="0" sz="2000" spc="-60">
                <a:solidFill>
                  <a:srgbClr val="C8D2E2"/>
                </a:solidFill>
                <a:latin typeface="Arial"/>
                <a:cs typeface="Arial"/>
              </a:rPr>
              <a:t> </a:t>
            </a:r>
            <a:r>
              <a:rPr dirty="0" sz="2000">
                <a:solidFill>
                  <a:srgbClr val="C8D2E2"/>
                </a:solidFill>
                <a:latin typeface="Arial"/>
                <a:cs typeface="Arial"/>
              </a:rPr>
              <a:t>indexing</a:t>
            </a:r>
            <a:r>
              <a:rPr dirty="0" sz="2000" spc="-70">
                <a:solidFill>
                  <a:srgbClr val="C8D2E2"/>
                </a:solidFill>
                <a:latin typeface="Arial"/>
                <a:cs typeface="Arial"/>
              </a:rPr>
              <a:t> </a:t>
            </a:r>
            <a:r>
              <a:rPr dirty="0" sz="2000">
                <a:solidFill>
                  <a:srgbClr val="C8D2E2"/>
                </a:solidFill>
                <a:latin typeface="Arial"/>
                <a:cs typeface="Arial"/>
              </a:rPr>
              <a:t>and</a:t>
            </a:r>
            <a:r>
              <a:rPr dirty="0" sz="2000" spc="-35">
                <a:solidFill>
                  <a:srgbClr val="C8D2E2"/>
                </a:solidFill>
                <a:latin typeface="Arial"/>
                <a:cs typeface="Arial"/>
              </a:rPr>
              <a:t> a</a:t>
            </a:r>
            <a:r>
              <a:rPr dirty="0" sz="2000" spc="-90">
                <a:solidFill>
                  <a:srgbClr val="C8D2E2"/>
                </a:solidFill>
                <a:latin typeface="Arial"/>
                <a:cs typeface="Arial"/>
              </a:rPr>
              <a:t> </a:t>
            </a:r>
            <a:r>
              <a:rPr dirty="0" sz="2000" spc="70">
                <a:solidFill>
                  <a:srgbClr val="C8D2E2"/>
                </a:solidFill>
                <a:latin typeface="Arial"/>
                <a:cs typeface="Arial"/>
              </a:rPr>
              <a:t>first</a:t>
            </a:r>
            <a:r>
              <a:rPr dirty="0" sz="2000" spc="-85">
                <a:solidFill>
                  <a:srgbClr val="C8D2E2"/>
                </a:solidFill>
                <a:latin typeface="Arial"/>
                <a:cs typeface="Arial"/>
              </a:rPr>
              <a:t> </a:t>
            </a:r>
            <a:r>
              <a:rPr dirty="0" sz="2000">
                <a:solidFill>
                  <a:srgbClr val="C8D2E2"/>
                </a:solidFill>
                <a:latin typeface="Arial"/>
                <a:cs typeface="Arial"/>
              </a:rPr>
              <a:t>look</a:t>
            </a:r>
            <a:r>
              <a:rPr dirty="0" sz="2000" spc="-75">
                <a:solidFill>
                  <a:srgbClr val="C8D2E2"/>
                </a:solidFill>
                <a:latin typeface="Arial"/>
                <a:cs typeface="Arial"/>
              </a:rPr>
              <a:t> </a:t>
            </a:r>
            <a:r>
              <a:rPr dirty="0" sz="2000" spc="55">
                <a:solidFill>
                  <a:srgbClr val="C8D2E2"/>
                </a:solidFill>
                <a:latin typeface="Arial"/>
                <a:cs typeface="Arial"/>
              </a:rPr>
              <a:t>at</a:t>
            </a:r>
            <a:r>
              <a:rPr dirty="0" sz="2000" spc="-80">
                <a:solidFill>
                  <a:srgbClr val="C8D2E2"/>
                </a:solidFill>
                <a:latin typeface="Arial"/>
                <a:cs typeface="Arial"/>
              </a:rPr>
              <a:t> </a:t>
            </a:r>
            <a:r>
              <a:rPr dirty="0" sz="2000">
                <a:solidFill>
                  <a:srgbClr val="C8D2E2"/>
                </a:solidFill>
                <a:latin typeface="Arial"/>
                <a:cs typeface="Arial"/>
              </a:rPr>
              <a:t>real</a:t>
            </a:r>
            <a:r>
              <a:rPr dirty="0" sz="2000" spc="10">
                <a:solidFill>
                  <a:srgbClr val="C8D2E2"/>
                </a:solidFill>
                <a:latin typeface="Arial"/>
                <a:cs typeface="Arial"/>
              </a:rPr>
              <a:t> </a:t>
            </a:r>
            <a:r>
              <a:rPr dirty="0" sz="2000">
                <a:solidFill>
                  <a:srgbClr val="C8D2E2"/>
                </a:solidFill>
                <a:latin typeface="Arial"/>
                <a:cs typeface="Arial"/>
              </a:rPr>
              <a:t>data</a:t>
            </a:r>
            <a:r>
              <a:rPr dirty="0" sz="2000" spc="-10">
                <a:solidFill>
                  <a:srgbClr val="C8D2E2"/>
                </a:solidFill>
                <a:latin typeface="Arial"/>
                <a:cs typeface="Arial"/>
              </a:rPr>
              <a:t> </a:t>
            </a:r>
            <a:r>
              <a:rPr dirty="0" sz="2000" spc="75">
                <a:solidFill>
                  <a:srgbClr val="C8D2E2"/>
                </a:solidFill>
                <a:latin typeface="Arial"/>
                <a:cs typeface="Arial"/>
              </a:rPr>
              <a:t>with</a:t>
            </a:r>
            <a:r>
              <a:rPr dirty="0" sz="2000" spc="-90">
                <a:solidFill>
                  <a:srgbClr val="C8D2E2"/>
                </a:solidFill>
                <a:latin typeface="Arial"/>
                <a:cs typeface="Arial"/>
              </a:rPr>
              <a:t> </a:t>
            </a:r>
            <a:r>
              <a:rPr dirty="0" sz="2000" spc="-10">
                <a:solidFill>
                  <a:srgbClr val="C8D2E2"/>
                </a:solidFill>
                <a:latin typeface="Arial"/>
                <a:cs typeface="Arial"/>
              </a:rPr>
              <a:t>plots</a:t>
            </a:r>
            <a:endParaRPr sz="2000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800480" y="5811075"/>
            <a:ext cx="2062480" cy="234315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1350" spc="60">
                <a:solidFill>
                  <a:srgbClr val="C8D2E2"/>
                </a:solidFill>
                <a:latin typeface="Arial"/>
                <a:cs typeface="Arial"/>
              </a:rPr>
              <a:t>[Instructor</a:t>
            </a:r>
            <a:r>
              <a:rPr dirty="0" sz="1350" spc="50">
                <a:solidFill>
                  <a:srgbClr val="C8D2E2"/>
                </a:solidFill>
                <a:latin typeface="Arial"/>
                <a:cs typeface="Arial"/>
              </a:rPr>
              <a:t> </a:t>
            </a:r>
            <a:r>
              <a:rPr dirty="0" sz="1350">
                <a:solidFill>
                  <a:srgbClr val="C8D2E2"/>
                </a:solidFill>
                <a:latin typeface="Arial"/>
                <a:cs typeface="Arial"/>
              </a:rPr>
              <a:t>name]</a:t>
            </a:r>
            <a:r>
              <a:rPr dirty="0" sz="1350" spc="55">
                <a:solidFill>
                  <a:srgbClr val="C8D2E2"/>
                </a:solidFill>
                <a:latin typeface="Arial"/>
                <a:cs typeface="Arial"/>
              </a:rPr>
              <a:t> </a:t>
            </a:r>
            <a:r>
              <a:rPr dirty="0" sz="1350">
                <a:solidFill>
                  <a:srgbClr val="C8D2E2"/>
                </a:solidFill>
                <a:latin typeface="Arial"/>
                <a:cs typeface="Arial"/>
              </a:rPr>
              <a:t>·</a:t>
            </a:r>
            <a:r>
              <a:rPr dirty="0" sz="1350" spc="40">
                <a:solidFill>
                  <a:srgbClr val="C8D2E2"/>
                </a:solidFill>
                <a:latin typeface="Arial"/>
                <a:cs typeface="Arial"/>
              </a:rPr>
              <a:t> </a:t>
            </a:r>
            <a:r>
              <a:rPr dirty="0" sz="1350" spc="-10">
                <a:solidFill>
                  <a:srgbClr val="C8D2E2"/>
                </a:solidFill>
                <a:latin typeface="Arial"/>
                <a:cs typeface="Arial"/>
              </a:rPr>
              <a:t>[Date]</a:t>
            </a:r>
            <a:endParaRPr sz="135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800480" y="819721"/>
            <a:ext cx="687070" cy="234315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1350" b="1">
                <a:solidFill>
                  <a:srgbClr val="B45209"/>
                </a:solidFill>
                <a:latin typeface="Arial"/>
                <a:cs typeface="Arial"/>
              </a:rPr>
              <a:t>TO</a:t>
            </a:r>
            <a:r>
              <a:rPr dirty="0" sz="1350" spc="-190" b="1">
                <a:solidFill>
                  <a:srgbClr val="B45209"/>
                </a:solidFill>
                <a:latin typeface="Arial"/>
                <a:cs typeface="Arial"/>
              </a:rPr>
              <a:t> </a:t>
            </a:r>
            <a:r>
              <a:rPr dirty="0" sz="1350" spc="-35" b="1">
                <a:solidFill>
                  <a:srgbClr val="B45209"/>
                </a:solidFill>
                <a:latin typeface="Arial"/>
                <a:cs typeface="Arial"/>
              </a:rPr>
              <a:t>D</a:t>
            </a:r>
            <a:r>
              <a:rPr dirty="0" sz="1350" spc="-160" b="1">
                <a:solidFill>
                  <a:srgbClr val="B45209"/>
                </a:solidFill>
                <a:latin typeface="Arial"/>
                <a:cs typeface="Arial"/>
              </a:rPr>
              <a:t> </a:t>
            </a:r>
            <a:r>
              <a:rPr dirty="0" sz="1350" spc="-25" b="1">
                <a:solidFill>
                  <a:srgbClr val="B45209"/>
                </a:solidFill>
                <a:latin typeface="Arial"/>
                <a:cs typeface="Arial"/>
              </a:rPr>
              <a:t>AY</a:t>
            </a:r>
            <a:endParaRPr sz="1350">
              <a:latin typeface="Arial"/>
              <a:cs typeface="Arial"/>
            </a:endParaRPr>
          </a:p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/>
              <a:t>Five</a:t>
            </a:r>
            <a:r>
              <a:rPr dirty="0" spc="-120"/>
              <a:t> </a:t>
            </a:r>
            <a:r>
              <a:rPr dirty="0"/>
              <a:t>steps</a:t>
            </a:r>
            <a:r>
              <a:rPr dirty="0" spc="-155"/>
              <a:t> </a:t>
            </a:r>
            <a:r>
              <a:rPr dirty="0"/>
              <a:t>from</a:t>
            </a:r>
            <a:r>
              <a:rPr dirty="0" spc="-95"/>
              <a:t> </a:t>
            </a:r>
            <a:r>
              <a:rPr dirty="0"/>
              <a:t>an</a:t>
            </a:r>
            <a:r>
              <a:rPr dirty="0" spc="-80"/>
              <a:t> </a:t>
            </a:r>
            <a:r>
              <a:rPr dirty="0"/>
              <a:t>empty</a:t>
            </a:r>
            <a:r>
              <a:rPr dirty="0" spc="-25"/>
              <a:t> </a:t>
            </a:r>
            <a:r>
              <a:rPr dirty="0" spc="-20"/>
              <a:t>notebook</a:t>
            </a:r>
            <a:r>
              <a:rPr dirty="0" spc="-95"/>
              <a:t> </a:t>
            </a:r>
            <a:r>
              <a:rPr dirty="0"/>
              <a:t>to</a:t>
            </a:r>
            <a:r>
              <a:rPr dirty="0" spc="-45"/>
              <a:t> </a:t>
            </a:r>
            <a:r>
              <a:rPr dirty="0" spc="50"/>
              <a:t>a</a:t>
            </a:r>
            <a:r>
              <a:rPr dirty="0" spc="-70"/>
              <a:t> </a:t>
            </a:r>
            <a:r>
              <a:rPr dirty="0" spc="-20"/>
              <a:t>plot</a:t>
            </a:r>
          </a:p>
        </p:txBody>
      </p:sp>
      <p:graphicFrame>
        <p:nvGraphicFramePr>
          <p:cNvPr id="4" name="object 4"/>
          <p:cNvGraphicFramePr>
            <a:graphicFrameLocks noGrp="1"/>
          </p:cNvGraphicFramePr>
          <p:nvPr/>
        </p:nvGraphicFramePr>
        <p:xfrm>
          <a:off x="813180" y="1966853"/>
          <a:ext cx="10643235" cy="281622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09270"/>
                <a:gridCol w="2553335"/>
                <a:gridCol w="7503795"/>
              </a:tblGrid>
              <a:tr h="48831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05"/>
                        </a:spcBef>
                      </a:pPr>
                      <a:r>
                        <a:rPr dirty="0" sz="2000" spc="-25" b="1">
                          <a:solidFill>
                            <a:srgbClr val="B45209"/>
                          </a:solidFill>
                          <a:latin typeface="Arial"/>
                          <a:cs typeface="Arial"/>
                        </a:rPr>
                        <a:t>01</a:t>
                      </a:r>
                      <a:endParaRPr sz="2000">
                        <a:latin typeface="Arial"/>
                        <a:cs typeface="Arial"/>
                      </a:endParaRPr>
                    </a:p>
                  </a:txBody>
                  <a:tcPr marL="0" marR="0" marB="0" marT="13335">
                    <a:lnB w="6350">
                      <a:solidFill>
                        <a:srgbClr val="D9DEE6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52729">
                        <a:lnSpc>
                          <a:spcPct val="100000"/>
                        </a:lnSpc>
                        <a:spcBef>
                          <a:spcPts val="65"/>
                        </a:spcBef>
                      </a:pPr>
                      <a:r>
                        <a:rPr dirty="0" sz="2000" spc="-10" b="1">
                          <a:solidFill>
                            <a:srgbClr val="13203C"/>
                          </a:solidFill>
                          <a:latin typeface="Arial"/>
                          <a:cs typeface="Arial"/>
                        </a:rPr>
                        <a:t>Setup</a:t>
                      </a:r>
                      <a:endParaRPr sz="2000">
                        <a:latin typeface="Arial"/>
                        <a:cs typeface="Arial"/>
                      </a:endParaRPr>
                    </a:p>
                  </a:txBody>
                  <a:tcPr marL="0" marR="0" marB="0" marT="8255">
                    <a:lnB w="6350">
                      <a:solidFill>
                        <a:srgbClr val="D9DEE6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48665">
                        <a:lnSpc>
                          <a:spcPct val="100000"/>
                        </a:lnSpc>
                        <a:spcBef>
                          <a:spcPts val="605"/>
                        </a:spcBef>
                      </a:pPr>
                      <a:r>
                        <a:rPr dirty="0" sz="1500" spc="-30">
                          <a:solidFill>
                            <a:srgbClr val="3C495C"/>
                          </a:solidFill>
                          <a:latin typeface="Arial"/>
                          <a:cs typeface="Arial"/>
                        </a:rPr>
                        <a:t>Load</a:t>
                      </a:r>
                      <a:r>
                        <a:rPr dirty="0" sz="1500" spc="10">
                          <a:solidFill>
                            <a:srgbClr val="3C495C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500">
                          <a:solidFill>
                            <a:srgbClr val="3C495C"/>
                          </a:solidFill>
                          <a:latin typeface="Arial"/>
                          <a:cs typeface="Arial"/>
                        </a:rPr>
                        <a:t>the</a:t>
                      </a:r>
                      <a:r>
                        <a:rPr dirty="0" sz="1500" spc="70">
                          <a:solidFill>
                            <a:srgbClr val="3C495C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500">
                          <a:solidFill>
                            <a:srgbClr val="3C495C"/>
                          </a:solidFill>
                          <a:latin typeface="Arial"/>
                          <a:cs typeface="Arial"/>
                        </a:rPr>
                        <a:t>libraries</a:t>
                      </a:r>
                      <a:r>
                        <a:rPr dirty="0" sz="1500" spc="10">
                          <a:solidFill>
                            <a:srgbClr val="3C495C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500">
                          <a:solidFill>
                            <a:srgbClr val="3C495C"/>
                          </a:solidFill>
                          <a:latin typeface="Arial"/>
                          <a:cs typeface="Arial"/>
                        </a:rPr>
                        <a:t>and</a:t>
                      </a:r>
                      <a:r>
                        <a:rPr dirty="0" sz="1500" spc="10">
                          <a:solidFill>
                            <a:srgbClr val="3C495C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500">
                          <a:solidFill>
                            <a:srgbClr val="3C495C"/>
                          </a:solidFill>
                          <a:latin typeface="Arial"/>
                          <a:cs typeface="Arial"/>
                        </a:rPr>
                        <a:t>get</a:t>
                      </a:r>
                      <a:r>
                        <a:rPr dirty="0" sz="1500" spc="-5">
                          <a:solidFill>
                            <a:srgbClr val="3C495C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500">
                          <a:solidFill>
                            <a:srgbClr val="3C495C"/>
                          </a:solidFill>
                          <a:latin typeface="Arial"/>
                          <a:cs typeface="Arial"/>
                        </a:rPr>
                        <a:t>the</a:t>
                      </a:r>
                      <a:r>
                        <a:rPr dirty="0" sz="1500" spc="-15">
                          <a:solidFill>
                            <a:srgbClr val="3C495C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500">
                          <a:solidFill>
                            <a:srgbClr val="3C495C"/>
                          </a:solidFill>
                          <a:latin typeface="Arial"/>
                          <a:cs typeface="Arial"/>
                        </a:rPr>
                        <a:t>notebook</a:t>
                      </a:r>
                      <a:r>
                        <a:rPr dirty="0" sz="1500" spc="25">
                          <a:solidFill>
                            <a:srgbClr val="3C495C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500" spc="-10">
                          <a:solidFill>
                            <a:srgbClr val="3C495C"/>
                          </a:solidFill>
                          <a:latin typeface="Arial"/>
                          <a:cs typeface="Arial"/>
                        </a:rPr>
                        <a:t>ready</a:t>
                      </a:r>
                      <a:endParaRPr sz="1500">
                        <a:latin typeface="Arial"/>
                        <a:cs typeface="Arial"/>
                      </a:endParaRPr>
                    </a:p>
                  </a:txBody>
                  <a:tcPr marL="0" marR="0" marB="0" marT="76835">
                    <a:lnB w="6350">
                      <a:solidFill>
                        <a:srgbClr val="D9DEE6"/>
                      </a:solidFill>
                      <a:prstDash val="solid"/>
                    </a:lnB>
                  </a:tcPr>
                </a:tc>
              </a:tr>
              <a:tr h="62166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145"/>
                        </a:spcBef>
                      </a:pPr>
                      <a:r>
                        <a:rPr dirty="0" sz="2000" spc="-25" b="1">
                          <a:solidFill>
                            <a:srgbClr val="B45209"/>
                          </a:solidFill>
                          <a:latin typeface="Arial"/>
                          <a:cs typeface="Arial"/>
                        </a:rPr>
                        <a:t>02</a:t>
                      </a:r>
                      <a:endParaRPr sz="2000">
                        <a:latin typeface="Arial"/>
                        <a:cs typeface="Arial"/>
                      </a:endParaRPr>
                    </a:p>
                  </a:txBody>
                  <a:tcPr marL="0" marR="0" marB="0" marT="145415">
                    <a:lnT w="6350">
                      <a:solidFill>
                        <a:srgbClr val="D9DEE6"/>
                      </a:solidFill>
                      <a:prstDash val="solid"/>
                    </a:lnT>
                    <a:lnB w="6350">
                      <a:solidFill>
                        <a:srgbClr val="D9DEE6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52729">
                        <a:lnSpc>
                          <a:spcPct val="100000"/>
                        </a:lnSpc>
                        <a:spcBef>
                          <a:spcPts val="1110"/>
                        </a:spcBef>
                      </a:pPr>
                      <a:r>
                        <a:rPr dirty="0" sz="2000" spc="-10" b="1">
                          <a:solidFill>
                            <a:srgbClr val="13203C"/>
                          </a:solidFill>
                          <a:latin typeface="Arial"/>
                          <a:cs typeface="Arial"/>
                        </a:rPr>
                        <a:t>Series</a:t>
                      </a:r>
                      <a:endParaRPr sz="2000">
                        <a:latin typeface="Arial"/>
                        <a:cs typeface="Arial"/>
                      </a:endParaRPr>
                    </a:p>
                  </a:txBody>
                  <a:tcPr marL="0" marR="0" marB="0" marT="140970">
                    <a:lnT w="6350">
                      <a:solidFill>
                        <a:srgbClr val="D9DEE6"/>
                      </a:solidFill>
                      <a:prstDash val="solid"/>
                    </a:lnT>
                    <a:lnB w="6350">
                      <a:solidFill>
                        <a:srgbClr val="D9DEE6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48665">
                        <a:lnSpc>
                          <a:spcPct val="100000"/>
                        </a:lnSpc>
                        <a:spcBef>
                          <a:spcPts val="1645"/>
                        </a:spcBef>
                      </a:pPr>
                      <a:r>
                        <a:rPr dirty="0" sz="1500" spc="-30">
                          <a:solidFill>
                            <a:srgbClr val="3C495C"/>
                          </a:solidFill>
                          <a:latin typeface="Arial"/>
                          <a:cs typeface="Arial"/>
                        </a:rPr>
                        <a:t>One</a:t>
                      </a:r>
                      <a:r>
                        <a:rPr dirty="0" sz="1500" spc="-60">
                          <a:solidFill>
                            <a:srgbClr val="3C495C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500">
                          <a:solidFill>
                            <a:srgbClr val="3C495C"/>
                          </a:solidFill>
                          <a:latin typeface="Arial"/>
                          <a:cs typeface="Arial"/>
                        </a:rPr>
                        <a:t>column</a:t>
                      </a:r>
                      <a:r>
                        <a:rPr dirty="0" sz="1500" spc="-90">
                          <a:solidFill>
                            <a:srgbClr val="3C495C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500">
                          <a:solidFill>
                            <a:srgbClr val="3C495C"/>
                          </a:solidFill>
                          <a:latin typeface="Arial"/>
                          <a:cs typeface="Arial"/>
                        </a:rPr>
                        <a:t>of</a:t>
                      </a:r>
                      <a:r>
                        <a:rPr dirty="0" sz="1500" spc="-5">
                          <a:solidFill>
                            <a:srgbClr val="3C495C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500">
                          <a:solidFill>
                            <a:srgbClr val="3C495C"/>
                          </a:solidFill>
                          <a:latin typeface="Arial"/>
                          <a:cs typeface="Arial"/>
                        </a:rPr>
                        <a:t>values,</a:t>
                      </a:r>
                      <a:r>
                        <a:rPr dirty="0" sz="1500" spc="5">
                          <a:solidFill>
                            <a:srgbClr val="3C495C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500" spc="-20">
                          <a:solidFill>
                            <a:srgbClr val="3C495C"/>
                          </a:solidFill>
                          <a:latin typeface="Arial"/>
                          <a:cs typeface="Arial"/>
                        </a:rPr>
                        <a:t>each</a:t>
                      </a:r>
                      <a:r>
                        <a:rPr dirty="0" sz="1500" spc="-90">
                          <a:solidFill>
                            <a:srgbClr val="3C495C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500" spc="60">
                          <a:solidFill>
                            <a:srgbClr val="3C495C"/>
                          </a:solidFill>
                          <a:latin typeface="Arial"/>
                          <a:cs typeface="Arial"/>
                        </a:rPr>
                        <a:t>with</a:t>
                      </a:r>
                      <a:r>
                        <a:rPr dirty="0" sz="1500" spc="-95">
                          <a:solidFill>
                            <a:srgbClr val="3C495C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500" spc="-40">
                          <a:solidFill>
                            <a:srgbClr val="3C495C"/>
                          </a:solidFill>
                          <a:latin typeface="Arial"/>
                          <a:cs typeface="Arial"/>
                        </a:rPr>
                        <a:t>a</a:t>
                      </a:r>
                      <a:r>
                        <a:rPr dirty="0" sz="1500" spc="-30">
                          <a:solidFill>
                            <a:srgbClr val="3C495C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500" spc="-10">
                          <a:solidFill>
                            <a:srgbClr val="3C495C"/>
                          </a:solidFill>
                          <a:latin typeface="Arial"/>
                          <a:cs typeface="Arial"/>
                        </a:rPr>
                        <a:t>label</a:t>
                      </a:r>
                      <a:endParaRPr sz="1500">
                        <a:latin typeface="Arial"/>
                        <a:cs typeface="Arial"/>
                      </a:endParaRPr>
                    </a:p>
                  </a:txBody>
                  <a:tcPr marL="0" marR="0" marB="0" marT="208915">
                    <a:lnT w="6350">
                      <a:solidFill>
                        <a:srgbClr val="D9DEE6"/>
                      </a:solidFill>
                      <a:prstDash val="solid"/>
                    </a:lnT>
                    <a:lnB w="6350">
                      <a:solidFill>
                        <a:srgbClr val="D9DEE6"/>
                      </a:solidFill>
                      <a:prstDash val="solid"/>
                    </a:lnB>
                  </a:tcPr>
                </a:tc>
              </a:tr>
              <a:tr h="62166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140"/>
                        </a:spcBef>
                      </a:pPr>
                      <a:r>
                        <a:rPr dirty="0" sz="2000" spc="-25" b="1">
                          <a:solidFill>
                            <a:srgbClr val="B45209"/>
                          </a:solidFill>
                          <a:latin typeface="Arial"/>
                          <a:cs typeface="Arial"/>
                        </a:rPr>
                        <a:t>03</a:t>
                      </a:r>
                      <a:endParaRPr sz="2000">
                        <a:latin typeface="Arial"/>
                        <a:cs typeface="Arial"/>
                      </a:endParaRPr>
                    </a:p>
                  </a:txBody>
                  <a:tcPr marL="0" marR="0" marB="0" marT="144780">
                    <a:lnT w="6350">
                      <a:solidFill>
                        <a:srgbClr val="D9DEE6"/>
                      </a:solidFill>
                      <a:prstDash val="solid"/>
                    </a:lnT>
                    <a:lnB w="6350">
                      <a:solidFill>
                        <a:srgbClr val="D9DEE6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52729">
                        <a:lnSpc>
                          <a:spcPct val="100000"/>
                        </a:lnSpc>
                        <a:spcBef>
                          <a:spcPts val="1105"/>
                        </a:spcBef>
                      </a:pPr>
                      <a:r>
                        <a:rPr dirty="0" sz="2000" spc="-10" b="1">
                          <a:solidFill>
                            <a:srgbClr val="13203C"/>
                          </a:solidFill>
                          <a:latin typeface="Arial"/>
                          <a:cs typeface="Arial"/>
                        </a:rPr>
                        <a:t>DataFrame</a:t>
                      </a:r>
                      <a:endParaRPr sz="2000">
                        <a:latin typeface="Arial"/>
                        <a:cs typeface="Arial"/>
                      </a:endParaRPr>
                    </a:p>
                  </a:txBody>
                  <a:tcPr marL="0" marR="0" marB="0" marT="140335">
                    <a:lnT w="6350">
                      <a:solidFill>
                        <a:srgbClr val="D9DEE6"/>
                      </a:solidFill>
                      <a:prstDash val="solid"/>
                    </a:lnT>
                    <a:lnB w="6350">
                      <a:solidFill>
                        <a:srgbClr val="D9DEE6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48665">
                        <a:lnSpc>
                          <a:spcPct val="100000"/>
                        </a:lnSpc>
                        <a:spcBef>
                          <a:spcPts val="1639"/>
                        </a:spcBef>
                      </a:pPr>
                      <a:r>
                        <a:rPr dirty="0" sz="1500">
                          <a:solidFill>
                            <a:srgbClr val="3C495C"/>
                          </a:solidFill>
                          <a:latin typeface="Arial"/>
                          <a:cs typeface="Arial"/>
                        </a:rPr>
                        <a:t>Build</a:t>
                      </a:r>
                      <a:r>
                        <a:rPr dirty="0" sz="1500" spc="-10">
                          <a:solidFill>
                            <a:srgbClr val="3C495C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500" spc="-40">
                          <a:solidFill>
                            <a:srgbClr val="3C495C"/>
                          </a:solidFill>
                          <a:latin typeface="Arial"/>
                          <a:cs typeface="Arial"/>
                        </a:rPr>
                        <a:t>a</a:t>
                      </a:r>
                      <a:r>
                        <a:rPr dirty="0" sz="1500" spc="-10">
                          <a:solidFill>
                            <a:srgbClr val="3C495C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500">
                          <a:solidFill>
                            <a:srgbClr val="3C495C"/>
                          </a:solidFill>
                          <a:latin typeface="Arial"/>
                          <a:cs typeface="Arial"/>
                        </a:rPr>
                        <a:t>table,</a:t>
                      </a:r>
                      <a:r>
                        <a:rPr dirty="0" sz="1500" spc="30">
                          <a:solidFill>
                            <a:srgbClr val="3C495C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500">
                          <a:solidFill>
                            <a:srgbClr val="3C495C"/>
                          </a:solidFill>
                          <a:latin typeface="Arial"/>
                          <a:cs typeface="Arial"/>
                        </a:rPr>
                        <a:t>load</a:t>
                      </a:r>
                      <a:r>
                        <a:rPr dirty="0" sz="1500" spc="-10">
                          <a:solidFill>
                            <a:srgbClr val="3C495C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500" spc="-40">
                          <a:solidFill>
                            <a:srgbClr val="3C495C"/>
                          </a:solidFill>
                          <a:latin typeface="Arial"/>
                          <a:cs typeface="Arial"/>
                        </a:rPr>
                        <a:t>a</a:t>
                      </a:r>
                      <a:r>
                        <a:rPr dirty="0" sz="1500" spc="-5">
                          <a:solidFill>
                            <a:srgbClr val="3C495C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500" spc="-130">
                          <a:solidFill>
                            <a:srgbClr val="3C495C"/>
                          </a:solidFill>
                          <a:latin typeface="Arial"/>
                          <a:cs typeface="Arial"/>
                        </a:rPr>
                        <a:t>CSV</a:t>
                      </a:r>
                      <a:r>
                        <a:rPr dirty="0" sz="1500" spc="20">
                          <a:solidFill>
                            <a:srgbClr val="3C495C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500">
                          <a:solidFill>
                            <a:srgbClr val="3C495C"/>
                          </a:solidFill>
                          <a:latin typeface="Arial"/>
                          <a:cs typeface="Arial"/>
                        </a:rPr>
                        <a:t>file</a:t>
                      </a:r>
                      <a:r>
                        <a:rPr dirty="0" sz="1500" spc="45">
                          <a:solidFill>
                            <a:srgbClr val="3C495C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500">
                          <a:solidFill>
                            <a:srgbClr val="3C495C"/>
                          </a:solidFill>
                          <a:latin typeface="Arial"/>
                          <a:cs typeface="Arial"/>
                        </a:rPr>
                        <a:t>and</a:t>
                      </a:r>
                      <a:r>
                        <a:rPr dirty="0" sz="1500" spc="-5">
                          <a:solidFill>
                            <a:srgbClr val="3C495C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500">
                          <a:solidFill>
                            <a:srgbClr val="3C495C"/>
                          </a:solidFill>
                          <a:latin typeface="Arial"/>
                          <a:cs typeface="Arial"/>
                        </a:rPr>
                        <a:t>explore</a:t>
                      </a:r>
                      <a:r>
                        <a:rPr dirty="0" sz="1500" spc="-40">
                          <a:solidFill>
                            <a:srgbClr val="3C495C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500" spc="40">
                          <a:solidFill>
                            <a:srgbClr val="3C495C"/>
                          </a:solidFill>
                          <a:latin typeface="Arial"/>
                          <a:cs typeface="Arial"/>
                        </a:rPr>
                        <a:t>it</a:t>
                      </a:r>
                      <a:endParaRPr sz="1500">
                        <a:latin typeface="Arial"/>
                        <a:cs typeface="Arial"/>
                      </a:endParaRPr>
                    </a:p>
                  </a:txBody>
                  <a:tcPr marL="0" marR="0" marB="0" marT="208279">
                    <a:lnT w="6350">
                      <a:solidFill>
                        <a:srgbClr val="D9DEE6"/>
                      </a:solidFill>
                      <a:prstDash val="solid"/>
                    </a:lnT>
                    <a:lnB w="6350">
                      <a:solidFill>
                        <a:srgbClr val="D9DEE6"/>
                      </a:solidFill>
                      <a:prstDash val="solid"/>
                    </a:lnB>
                  </a:tcPr>
                </a:tc>
              </a:tr>
              <a:tr h="61277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135"/>
                        </a:spcBef>
                      </a:pPr>
                      <a:r>
                        <a:rPr dirty="0" sz="2000" spc="-25" b="1">
                          <a:solidFill>
                            <a:srgbClr val="B45209"/>
                          </a:solidFill>
                          <a:latin typeface="Arial"/>
                          <a:cs typeface="Arial"/>
                        </a:rPr>
                        <a:t>04</a:t>
                      </a:r>
                      <a:endParaRPr sz="2000">
                        <a:latin typeface="Arial"/>
                        <a:cs typeface="Arial"/>
                      </a:endParaRPr>
                    </a:p>
                  </a:txBody>
                  <a:tcPr marL="0" marR="0" marB="0" marT="144145">
                    <a:lnT w="6350">
                      <a:solidFill>
                        <a:srgbClr val="D9DEE6"/>
                      </a:solidFill>
                      <a:prstDash val="solid"/>
                    </a:lnT>
                    <a:lnB w="6350">
                      <a:solidFill>
                        <a:srgbClr val="D9DEE6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52729">
                        <a:lnSpc>
                          <a:spcPct val="100000"/>
                        </a:lnSpc>
                        <a:spcBef>
                          <a:spcPts val="1095"/>
                        </a:spcBef>
                      </a:pPr>
                      <a:r>
                        <a:rPr dirty="0" sz="2000" spc="-10" b="1">
                          <a:solidFill>
                            <a:srgbClr val="13203C"/>
                          </a:solidFill>
                          <a:latin typeface="Arial"/>
                          <a:cs typeface="Arial"/>
                        </a:rPr>
                        <a:t>Indexing</a:t>
                      </a:r>
                      <a:endParaRPr sz="2000">
                        <a:latin typeface="Arial"/>
                        <a:cs typeface="Arial"/>
                      </a:endParaRPr>
                    </a:p>
                  </a:txBody>
                  <a:tcPr marL="0" marR="0" marB="0" marT="139065">
                    <a:lnT w="6350">
                      <a:solidFill>
                        <a:srgbClr val="D9DEE6"/>
                      </a:solidFill>
                      <a:prstDash val="solid"/>
                    </a:lnT>
                    <a:lnB w="6350">
                      <a:solidFill>
                        <a:srgbClr val="D9DEE6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48665">
                        <a:lnSpc>
                          <a:spcPct val="100000"/>
                        </a:lnSpc>
                        <a:spcBef>
                          <a:spcPts val="1635"/>
                        </a:spcBef>
                      </a:pPr>
                      <a:r>
                        <a:rPr dirty="0" sz="1500">
                          <a:solidFill>
                            <a:srgbClr val="3C495C"/>
                          </a:solidFill>
                          <a:latin typeface="Arial"/>
                          <a:cs typeface="Arial"/>
                        </a:rPr>
                        <a:t>Pick</a:t>
                      </a:r>
                      <a:r>
                        <a:rPr dirty="0" sz="1500" spc="-40">
                          <a:solidFill>
                            <a:srgbClr val="3C495C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500" spc="50">
                          <a:solidFill>
                            <a:srgbClr val="3C495C"/>
                          </a:solidFill>
                          <a:latin typeface="Arial"/>
                          <a:cs typeface="Arial"/>
                        </a:rPr>
                        <a:t>out</a:t>
                      </a:r>
                      <a:r>
                        <a:rPr dirty="0" sz="1500" spc="-65">
                          <a:solidFill>
                            <a:srgbClr val="3C495C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500">
                          <a:solidFill>
                            <a:srgbClr val="3C495C"/>
                          </a:solidFill>
                          <a:latin typeface="Arial"/>
                          <a:cs typeface="Arial"/>
                        </a:rPr>
                        <a:t>columns,</a:t>
                      </a:r>
                      <a:r>
                        <a:rPr dirty="0" sz="1500" spc="-20">
                          <a:solidFill>
                            <a:srgbClr val="3C495C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500">
                          <a:solidFill>
                            <a:srgbClr val="3C495C"/>
                          </a:solidFill>
                          <a:latin typeface="Arial"/>
                          <a:cs typeface="Arial"/>
                        </a:rPr>
                        <a:t>rows</a:t>
                      </a:r>
                      <a:r>
                        <a:rPr dirty="0" sz="1500" spc="-55">
                          <a:solidFill>
                            <a:srgbClr val="3C495C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500">
                          <a:solidFill>
                            <a:srgbClr val="3C495C"/>
                          </a:solidFill>
                          <a:latin typeface="Arial"/>
                          <a:cs typeface="Arial"/>
                        </a:rPr>
                        <a:t>and</a:t>
                      </a:r>
                      <a:r>
                        <a:rPr dirty="0" sz="1500" spc="-50">
                          <a:solidFill>
                            <a:srgbClr val="3C495C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500">
                          <a:solidFill>
                            <a:srgbClr val="3C495C"/>
                          </a:solidFill>
                          <a:latin typeface="Arial"/>
                          <a:cs typeface="Arial"/>
                        </a:rPr>
                        <a:t>single</a:t>
                      </a:r>
                      <a:r>
                        <a:rPr dirty="0" sz="1500" spc="-75">
                          <a:solidFill>
                            <a:srgbClr val="3C495C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500" spc="-20">
                          <a:solidFill>
                            <a:srgbClr val="3C495C"/>
                          </a:solidFill>
                          <a:latin typeface="Arial"/>
                          <a:cs typeface="Arial"/>
                        </a:rPr>
                        <a:t>cells</a:t>
                      </a:r>
                      <a:endParaRPr sz="1500">
                        <a:latin typeface="Arial"/>
                        <a:cs typeface="Arial"/>
                      </a:endParaRPr>
                    </a:p>
                  </a:txBody>
                  <a:tcPr marL="0" marR="0" marB="0" marT="207645">
                    <a:lnT w="6350">
                      <a:solidFill>
                        <a:srgbClr val="D9DEE6"/>
                      </a:solidFill>
                      <a:prstDash val="solid"/>
                    </a:lnT>
                    <a:lnB w="6350">
                      <a:solidFill>
                        <a:srgbClr val="D9DEE6"/>
                      </a:solidFill>
                      <a:prstDash val="solid"/>
                    </a:lnB>
                  </a:tcPr>
                </a:tc>
              </a:tr>
              <a:tr h="47180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200"/>
                        </a:spcBef>
                      </a:pPr>
                      <a:r>
                        <a:rPr dirty="0" sz="2000" spc="-25" b="1">
                          <a:solidFill>
                            <a:srgbClr val="B45209"/>
                          </a:solidFill>
                          <a:latin typeface="Arial"/>
                          <a:cs typeface="Arial"/>
                        </a:rPr>
                        <a:t>05</a:t>
                      </a:r>
                      <a:endParaRPr sz="2000">
                        <a:latin typeface="Arial"/>
                        <a:cs typeface="Arial"/>
                      </a:endParaRPr>
                    </a:p>
                  </a:txBody>
                  <a:tcPr marL="0" marR="0" marB="0" marT="152400">
                    <a:lnT w="6350">
                      <a:solidFill>
                        <a:srgbClr val="D9DEE6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252729">
                        <a:lnSpc>
                          <a:spcPct val="100000"/>
                        </a:lnSpc>
                        <a:spcBef>
                          <a:spcPts val="1160"/>
                        </a:spcBef>
                      </a:pPr>
                      <a:r>
                        <a:rPr dirty="0" sz="2000" spc="-10" b="1">
                          <a:solidFill>
                            <a:srgbClr val="13203C"/>
                          </a:solidFill>
                          <a:latin typeface="Arial"/>
                          <a:cs typeface="Arial"/>
                        </a:rPr>
                        <a:t>Visualization</a:t>
                      </a:r>
                      <a:endParaRPr sz="2000">
                        <a:latin typeface="Arial"/>
                        <a:cs typeface="Arial"/>
                      </a:endParaRPr>
                    </a:p>
                  </a:txBody>
                  <a:tcPr marL="0" marR="0" marB="0" marT="147320">
                    <a:lnT w="6350">
                      <a:solidFill>
                        <a:srgbClr val="D9DEE6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748665">
                        <a:lnSpc>
                          <a:spcPct val="100000"/>
                        </a:lnSpc>
                        <a:spcBef>
                          <a:spcPts val="1700"/>
                        </a:spcBef>
                      </a:pPr>
                      <a:r>
                        <a:rPr dirty="0" sz="1500" spc="-20">
                          <a:solidFill>
                            <a:srgbClr val="3C495C"/>
                          </a:solidFill>
                          <a:latin typeface="Arial"/>
                          <a:cs typeface="Arial"/>
                        </a:rPr>
                        <a:t>Line,</a:t>
                      </a:r>
                      <a:r>
                        <a:rPr dirty="0" sz="1500" spc="-60">
                          <a:solidFill>
                            <a:srgbClr val="3C495C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500">
                          <a:solidFill>
                            <a:srgbClr val="3C495C"/>
                          </a:solidFill>
                          <a:latin typeface="Arial"/>
                          <a:cs typeface="Arial"/>
                        </a:rPr>
                        <a:t>bar</a:t>
                      </a:r>
                      <a:r>
                        <a:rPr dirty="0" sz="1500" spc="-50">
                          <a:solidFill>
                            <a:srgbClr val="3C495C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500">
                          <a:solidFill>
                            <a:srgbClr val="3C495C"/>
                          </a:solidFill>
                          <a:latin typeface="Arial"/>
                          <a:cs typeface="Arial"/>
                        </a:rPr>
                        <a:t>and</a:t>
                      </a:r>
                      <a:r>
                        <a:rPr dirty="0" sz="1500" spc="-15">
                          <a:solidFill>
                            <a:srgbClr val="3C495C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500">
                          <a:solidFill>
                            <a:srgbClr val="3C495C"/>
                          </a:solidFill>
                          <a:latin typeface="Arial"/>
                          <a:cs typeface="Arial"/>
                        </a:rPr>
                        <a:t>pie</a:t>
                      </a:r>
                      <a:r>
                        <a:rPr dirty="0" sz="1500" spc="45">
                          <a:solidFill>
                            <a:srgbClr val="3C495C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500">
                          <a:solidFill>
                            <a:srgbClr val="3C495C"/>
                          </a:solidFill>
                          <a:latin typeface="Arial"/>
                          <a:cs typeface="Arial"/>
                        </a:rPr>
                        <a:t>charts,</a:t>
                      </a:r>
                      <a:r>
                        <a:rPr dirty="0" sz="1500" spc="30">
                          <a:solidFill>
                            <a:srgbClr val="3C495C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500">
                          <a:solidFill>
                            <a:srgbClr val="3C495C"/>
                          </a:solidFill>
                          <a:latin typeface="Arial"/>
                          <a:cs typeface="Arial"/>
                        </a:rPr>
                        <a:t>then</a:t>
                      </a:r>
                      <a:r>
                        <a:rPr dirty="0" sz="1500" spc="10">
                          <a:solidFill>
                            <a:srgbClr val="3C495C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500">
                          <a:solidFill>
                            <a:srgbClr val="3C495C"/>
                          </a:solidFill>
                          <a:latin typeface="Arial"/>
                          <a:cs typeface="Arial"/>
                        </a:rPr>
                        <a:t>plots</a:t>
                      </a:r>
                      <a:r>
                        <a:rPr dirty="0" sz="1500" spc="-10">
                          <a:solidFill>
                            <a:srgbClr val="3C495C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500">
                          <a:solidFill>
                            <a:srgbClr val="3C495C"/>
                          </a:solidFill>
                          <a:latin typeface="Arial"/>
                          <a:cs typeface="Arial"/>
                        </a:rPr>
                        <a:t>of</a:t>
                      </a:r>
                      <a:r>
                        <a:rPr dirty="0" sz="1500" spc="20">
                          <a:solidFill>
                            <a:srgbClr val="3C495C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500">
                          <a:solidFill>
                            <a:srgbClr val="3C495C"/>
                          </a:solidFill>
                          <a:latin typeface="Arial"/>
                          <a:cs typeface="Arial"/>
                        </a:rPr>
                        <a:t>real</a:t>
                      </a:r>
                      <a:r>
                        <a:rPr dirty="0" sz="1500" spc="30">
                          <a:solidFill>
                            <a:srgbClr val="3C495C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500">
                          <a:solidFill>
                            <a:srgbClr val="3C495C"/>
                          </a:solidFill>
                          <a:latin typeface="Arial"/>
                          <a:cs typeface="Arial"/>
                        </a:rPr>
                        <a:t>app</a:t>
                      </a:r>
                      <a:r>
                        <a:rPr dirty="0" sz="1500" spc="-15">
                          <a:solidFill>
                            <a:srgbClr val="3C495C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500" spc="-20">
                          <a:solidFill>
                            <a:srgbClr val="3C495C"/>
                          </a:solidFill>
                          <a:latin typeface="Arial"/>
                          <a:cs typeface="Arial"/>
                        </a:rPr>
                        <a:t>data</a:t>
                      </a:r>
                      <a:endParaRPr sz="1500">
                        <a:latin typeface="Arial"/>
                        <a:cs typeface="Arial"/>
                      </a:endParaRPr>
                    </a:p>
                  </a:txBody>
                  <a:tcPr marL="0" marR="0" marB="0" marT="215900">
                    <a:lnT w="6350">
                      <a:solidFill>
                        <a:srgbClr val="D9DEE6"/>
                      </a:solidFill>
                      <a:prstDash val="solid"/>
                    </a:lnT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-62"/>
            <a:ext cx="12189460" cy="6859905"/>
          </a:xfrm>
          <a:custGeom>
            <a:avLst/>
            <a:gdLst/>
            <a:ahLst/>
            <a:cxnLst/>
            <a:rect l="l" t="t" r="r" b="b"/>
            <a:pathLst>
              <a:path w="12189460" h="6859905">
                <a:moveTo>
                  <a:pt x="12188952" y="0"/>
                </a:moveTo>
                <a:lnTo>
                  <a:pt x="0" y="0"/>
                </a:lnTo>
                <a:lnTo>
                  <a:pt x="0" y="6859778"/>
                </a:lnTo>
                <a:lnTo>
                  <a:pt x="12188952" y="6859778"/>
                </a:lnTo>
                <a:lnTo>
                  <a:pt x="12188952" y="0"/>
                </a:lnTo>
                <a:close/>
              </a:path>
            </a:pathLst>
          </a:custGeom>
          <a:solidFill>
            <a:srgbClr val="FAFAF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800480" y="819721"/>
            <a:ext cx="1116965" cy="234315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1350" spc="65" b="1">
                <a:solidFill>
                  <a:srgbClr val="B45209"/>
                </a:solidFill>
                <a:latin typeface="Arial"/>
                <a:cs typeface="Arial"/>
              </a:rPr>
              <a:t>0</a:t>
            </a:r>
            <a:r>
              <a:rPr dirty="0" sz="1350" spc="-180" b="1">
                <a:solidFill>
                  <a:srgbClr val="B45209"/>
                </a:solidFill>
                <a:latin typeface="Arial"/>
                <a:cs typeface="Arial"/>
              </a:rPr>
              <a:t> </a:t>
            </a:r>
            <a:r>
              <a:rPr dirty="0" sz="1350" spc="65" b="1">
                <a:solidFill>
                  <a:srgbClr val="B45209"/>
                </a:solidFill>
                <a:latin typeface="Arial"/>
                <a:cs typeface="Arial"/>
              </a:rPr>
              <a:t>1</a:t>
            </a:r>
            <a:r>
              <a:rPr dirty="0" sz="1350" spc="290" b="1">
                <a:solidFill>
                  <a:srgbClr val="B45209"/>
                </a:solidFill>
                <a:latin typeface="Arial"/>
                <a:cs typeface="Arial"/>
              </a:rPr>
              <a:t> </a:t>
            </a:r>
            <a:r>
              <a:rPr dirty="0" sz="1350" b="1">
                <a:solidFill>
                  <a:srgbClr val="B45209"/>
                </a:solidFill>
                <a:latin typeface="Arial"/>
                <a:cs typeface="Arial"/>
              </a:rPr>
              <a:t>·</a:t>
            </a:r>
            <a:r>
              <a:rPr dirty="0" sz="1350" spc="335" b="1">
                <a:solidFill>
                  <a:srgbClr val="B45209"/>
                </a:solidFill>
                <a:latin typeface="Arial"/>
                <a:cs typeface="Arial"/>
              </a:rPr>
              <a:t> </a:t>
            </a:r>
            <a:r>
              <a:rPr dirty="0" sz="1350" b="1">
                <a:solidFill>
                  <a:srgbClr val="B45209"/>
                </a:solidFill>
                <a:latin typeface="Arial"/>
                <a:cs typeface="Arial"/>
              </a:rPr>
              <a:t>SE</a:t>
            </a:r>
            <a:r>
              <a:rPr dirty="0" sz="1350" spc="-185" b="1">
                <a:solidFill>
                  <a:srgbClr val="B45209"/>
                </a:solidFill>
                <a:latin typeface="Arial"/>
                <a:cs typeface="Arial"/>
              </a:rPr>
              <a:t> </a:t>
            </a:r>
            <a:r>
              <a:rPr dirty="0" sz="1350" b="1">
                <a:solidFill>
                  <a:srgbClr val="B45209"/>
                </a:solidFill>
                <a:latin typeface="Arial"/>
                <a:cs typeface="Arial"/>
              </a:rPr>
              <a:t>TU</a:t>
            </a:r>
            <a:r>
              <a:rPr dirty="0" sz="1350" spc="-160" b="1">
                <a:solidFill>
                  <a:srgbClr val="B45209"/>
                </a:solidFill>
                <a:latin typeface="Arial"/>
                <a:cs typeface="Arial"/>
              </a:rPr>
              <a:t> </a:t>
            </a:r>
            <a:r>
              <a:rPr dirty="0" sz="1350" spc="-50" b="1">
                <a:solidFill>
                  <a:srgbClr val="B45209"/>
                </a:solidFill>
                <a:latin typeface="Arial"/>
                <a:cs typeface="Arial"/>
              </a:rPr>
              <a:t>P</a:t>
            </a:r>
            <a:endParaRPr sz="1350">
              <a:latin typeface="Arial"/>
              <a:cs typeface="Arial"/>
            </a:endParaRPr>
          </a:p>
        </p:txBody>
      </p:sp>
      <p:sp>
        <p:nvSpPr>
          <p:cNvPr id="4" name="object 4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pc="-35"/>
              <a:t>Four</a:t>
            </a:r>
            <a:r>
              <a:rPr dirty="0" spc="-50"/>
              <a:t> </a:t>
            </a:r>
            <a:r>
              <a:rPr dirty="0"/>
              <a:t>libraries,</a:t>
            </a:r>
            <a:r>
              <a:rPr dirty="0" spc="-25"/>
              <a:t> </a:t>
            </a:r>
            <a:r>
              <a:rPr dirty="0"/>
              <a:t>imported</a:t>
            </a:r>
            <a:r>
              <a:rPr dirty="0" spc="-35"/>
              <a:t> </a:t>
            </a:r>
            <a:r>
              <a:rPr dirty="0" spc="-55"/>
              <a:t>once</a:t>
            </a:r>
            <a:r>
              <a:rPr dirty="0" spc="-35"/>
              <a:t> </a:t>
            </a:r>
            <a:r>
              <a:rPr dirty="0" spc="135"/>
              <a:t>at</a:t>
            </a:r>
            <a:r>
              <a:rPr dirty="0" spc="-40"/>
              <a:t> </a:t>
            </a:r>
            <a:r>
              <a:rPr dirty="0"/>
              <a:t>the</a:t>
            </a:r>
            <a:r>
              <a:rPr dirty="0" spc="40"/>
              <a:t> </a:t>
            </a:r>
            <a:r>
              <a:rPr dirty="0" spc="-25"/>
              <a:t>top</a:t>
            </a:r>
          </a:p>
        </p:txBody>
      </p:sp>
      <p:sp>
        <p:nvSpPr>
          <p:cNvPr id="5" name="object 5"/>
          <p:cNvSpPr/>
          <p:nvPr/>
        </p:nvSpPr>
        <p:spPr>
          <a:xfrm>
            <a:off x="813816" y="1957323"/>
            <a:ext cx="6144895" cy="1729105"/>
          </a:xfrm>
          <a:custGeom>
            <a:avLst/>
            <a:gdLst/>
            <a:ahLst/>
            <a:cxnLst/>
            <a:rect l="l" t="t" r="r" b="b"/>
            <a:pathLst>
              <a:path w="6144895" h="1729104">
                <a:moveTo>
                  <a:pt x="6043041" y="0"/>
                </a:moveTo>
                <a:lnTo>
                  <a:pt x="101676" y="0"/>
                </a:lnTo>
                <a:lnTo>
                  <a:pt x="62097" y="7983"/>
                </a:lnTo>
                <a:lnTo>
                  <a:pt x="29778" y="29765"/>
                </a:lnTo>
                <a:lnTo>
                  <a:pt x="7989" y="62097"/>
                </a:lnTo>
                <a:lnTo>
                  <a:pt x="0" y="101726"/>
                </a:lnTo>
                <a:lnTo>
                  <a:pt x="0" y="1626870"/>
                </a:lnTo>
                <a:lnTo>
                  <a:pt x="7989" y="1666499"/>
                </a:lnTo>
                <a:lnTo>
                  <a:pt x="29778" y="1698831"/>
                </a:lnTo>
                <a:lnTo>
                  <a:pt x="62097" y="1720613"/>
                </a:lnTo>
                <a:lnTo>
                  <a:pt x="101676" y="1728596"/>
                </a:lnTo>
                <a:lnTo>
                  <a:pt x="6043041" y="1728596"/>
                </a:lnTo>
                <a:lnTo>
                  <a:pt x="6082670" y="1720613"/>
                </a:lnTo>
                <a:lnTo>
                  <a:pt x="6115002" y="1698831"/>
                </a:lnTo>
                <a:lnTo>
                  <a:pt x="6136784" y="1666499"/>
                </a:lnTo>
                <a:lnTo>
                  <a:pt x="6144768" y="1626870"/>
                </a:lnTo>
                <a:lnTo>
                  <a:pt x="6144768" y="101726"/>
                </a:lnTo>
                <a:lnTo>
                  <a:pt x="6136784" y="62097"/>
                </a:lnTo>
                <a:lnTo>
                  <a:pt x="6115002" y="29765"/>
                </a:lnTo>
                <a:lnTo>
                  <a:pt x="6082670" y="7983"/>
                </a:lnTo>
                <a:lnTo>
                  <a:pt x="6043041" y="0"/>
                </a:lnTo>
                <a:close/>
              </a:path>
            </a:pathLst>
          </a:custGeom>
          <a:solidFill>
            <a:srgbClr val="13203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/>
          <p:nvPr/>
        </p:nvSpPr>
        <p:spPr>
          <a:xfrm>
            <a:off x="800480" y="2170544"/>
            <a:ext cx="6331585" cy="214693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266700" marR="3423920">
              <a:lnSpc>
                <a:spcPct val="132300"/>
              </a:lnSpc>
              <a:spcBef>
                <a:spcPts val="95"/>
              </a:spcBef>
            </a:pPr>
            <a:r>
              <a:rPr dirty="0" sz="1500" spc="-10">
                <a:solidFill>
                  <a:srgbClr val="F4F0EA"/>
                </a:solidFill>
                <a:latin typeface="Arial"/>
                <a:cs typeface="Arial"/>
              </a:rPr>
              <a:t>import</a:t>
            </a:r>
            <a:r>
              <a:rPr dirty="0" sz="1500" spc="-114">
                <a:solidFill>
                  <a:srgbClr val="F4F0EA"/>
                </a:solidFill>
                <a:latin typeface="Arial"/>
                <a:cs typeface="Arial"/>
              </a:rPr>
              <a:t> </a:t>
            </a:r>
            <a:r>
              <a:rPr dirty="0" sz="1500" spc="-95">
                <a:solidFill>
                  <a:srgbClr val="F4F0EA"/>
                </a:solidFill>
                <a:latin typeface="Arial"/>
                <a:cs typeface="Arial"/>
              </a:rPr>
              <a:t>pandas,</a:t>
            </a:r>
            <a:r>
              <a:rPr dirty="0" sz="1500" spc="-55">
                <a:solidFill>
                  <a:srgbClr val="F4F0EA"/>
                </a:solidFill>
                <a:latin typeface="Arial"/>
                <a:cs typeface="Arial"/>
              </a:rPr>
              <a:t> </a:t>
            </a:r>
            <a:r>
              <a:rPr dirty="0" sz="1500" spc="-80">
                <a:solidFill>
                  <a:srgbClr val="F4F0EA"/>
                </a:solidFill>
                <a:latin typeface="Arial"/>
                <a:cs typeface="Arial"/>
              </a:rPr>
              <a:t>numpy,</a:t>
            </a:r>
            <a:r>
              <a:rPr dirty="0" sz="1500" spc="-55">
                <a:solidFill>
                  <a:srgbClr val="F4F0EA"/>
                </a:solidFill>
                <a:latin typeface="Arial"/>
                <a:cs typeface="Arial"/>
              </a:rPr>
              <a:t> </a:t>
            </a:r>
            <a:r>
              <a:rPr dirty="0" sz="1500" spc="-10">
                <a:solidFill>
                  <a:srgbClr val="F4F0EA"/>
                </a:solidFill>
                <a:latin typeface="Arial"/>
                <a:cs typeface="Arial"/>
              </a:rPr>
              <a:t>matplotlib import</a:t>
            </a:r>
            <a:r>
              <a:rPr dirty="0" sz="1500" spc="-114">
                <a:solidFill>
                  <a:srgbClr val="F4F0EA"/>
                </a:solidFill>
                <a:latin typeface="Arial"/>
                <a:cs typeface="Arial"/>
              </a:rPr>
              <a:t> </a:t>
            </a:r>
            <a:r>
              <a:rPr dirty="0" sz="1500" spc="-10">
                <a:solidFill>
                  <a:srgbClr val="F4F0EA"/>
                </a:solidFill>
                <a:latin typeface="Arial"/>
                <a:cs typeface="Arial"/>
              </a:rPr>
              <a:t>seaborn</a:t>
            </a:r>
            <a:endParaRPr sz="1500">
              <a:latin typeface="Arial"/>
              <a:cs typeface="Arial"/>
            </a:endParaRPr>
          </a:p>
          <a:p>
            <a:pPr marL="266700">
              <a:lnSpc>
                <a:spcPct val="100000"/>
              </a:lnSpc>
              <a:spcBef>
                <a:spcPts val="650"/>
              </a:spcBef>
            </a:pPr>
            <a:r>
              <a:rPr dirty="0" sz="1500" spc="-20">
                <a:solidFill>
                  <a:srgbClr val="F4F0EA"/>
                </a:solidFill>
                <a:latin typeface="Arial"/>
                <a:cs typeface="Arial"/>
              </a:rPr>
              <a:t>from</a:t>
            </a:r>
            <a:r>
              <a:rPr dirty="0" sz="1500" spc="-40">
                <a:solidFill>
                  <a:srgbClr val="F4F0EA"/>
                </a:solidFill>
                <a:latin typeface="Arial"/>
                <a:cs typeface="Arial"/>
              </a:rPr>
              <a:t> </a:t>
            </a:r>
            <a:r>
              <a:rPr dirty="0" sz="1500" spc="-25">
                <a:solidFill>
                  <a:srgbClr val="F4F0EA"/>
                </a:solidFill>
                <a:latin typeface="Arial"/>
                <a:cs typeface="Arial"/>
              </a:rPr>
              <a:t>matplotlib</a:t>
            </a:r>
            <a:r>
              <a:rPr dirty="0" sz="1500" spc="-50">
                <a:solidFill>
                  <a:srgbClr val="F4F0EA"/>
                </a:solidFill>
                <a:latin typeface="Arial"/>
                <a:cs typeface="Arial"/>
              </a:rPr>
              <a:t> </a:t>
            </a:r>
            <a:r>
              <a:rPr dirty="0" sz="1500" spc="-10">
                <a:solidFill>
                  <a:srgbClr val="F4F0EA"/>
                </a:solidFill>
                <a:latin typeface="Arial"/>
                <a:cs typeface="Arial"/>
              </a:rPr>
              <a:t>import</a:t>
            </a:r>
            <a:r>
              <a:rPr dirty="0" sz="1500" spc="-125">
                <a:solidFill>
                  <a:srgbClr val="F4F0EA"/>
                </a:solidFill>
                <a:latin typeface="Arial"/>
                <a:cs typeface="Arial"/>
              </a:rPr>
              <a:t> </a:t>
            </a:r>
            <a:r>
              <a:rPr dirty="0" sz="1500" spc="-10">
                <a:solidFill>
                  <a:srgbClr val="F4F0EA"/>
                </a:solidFill>
                <a:latin typeface="Arial"/>
                <a:cs typeface="Arial"/>
              </a:rPr>
              <a:t>pyplot</a:t>
            </a:r>
            <a:endParaRPr sz="1500">
              <a:latin typeface="Arial"/>
              <a:cs typeface="Arial"/>
            </a:endParaRPr>
          </a:p>
          <a:p>
            <a:pPr marL="266700">
              <a:lnSpc>
                <a:spcPct val="100000"/>
              </a:lnSpc>
              <a:spcBef>
                <a:spcPts val="580"/>
              </a:spcBef>
            </a:pPr>
            <a:r>
              <a:rPr dirty="0" sz="1500" spc="-45">
                <a:solidFill>
                  <a:srgbClr val="F1B544"/>
                </a:solidFill>
                <a:latin typeface="Arial"/>
                <a:cs typeface="Arial"/>
              </a:rPr>
              <a:t>%matplotlib</a:t>
            </a:r>
            <a:r>
              <a:rPr dirty="0" sz="1500" spc="-70">
                <a:solidFill>
                  <a:srgbClr val="F1B544"/>
                </a:solidFill>
                <a:latin typeface="Arial"/>
                <a:cs typeface="Arial"/>
              </a:rPr>
              <a:t> </a:t>
            </a:r>
            <a:r>
              <a:rPr dirty="0" sz="1500" spc="-10">
                <a:solidFill>
                  <a:srgbClr val="F1B544"/>
                </a:solidFill>
                <a:latin typeface="Arial"/>
                <a:cs typeface="Arial"/>
              </a:rPr>
              <a:t>inline</a:t>
            </a:r>
            <a:endParaRPr sz="15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345"/>
              </a:spcBef>
            </a:pPr>
            <a:endParaRPr sz="1500">
              <a:latin typeface="Arial"/>
              <a:cs typeface="Arial"/>
            </a:endParaRPr>
          </a:p>
          <a:p>
            <a:pPr marL="12700" marR="5080">
              <a:lnSpc>
                <a:spcPct val="124600"/>
              </a:lnSpc>
              <a:spcBef>
                <a:spcPts val="5"/>
              </a:spcBef>
            </a:pPr>
            <a:r>
              <a:rPr dirty="0" sz="1350">
                <a:solidFill>
                  <a:srgbClr val="3C495C"/>
                </a:solidFill>
                <a:latin typeface="Arial"/>
                <a:cs typeface="Arial"/>
              </a:rPr>
              <a:t>The</a:t>
            </a:r>
            <a:r>
              <a:rPr dirty="0" sz="1350" spc="30">
                <a:solidFill>
                  <a:srgbClr val="3C495C"/>
                </a:solidFill>
                <a:latin typeface="Arial"/>
                <a:cs typeface="Arial"/>
              </a:rPr>
              <a:t> </a:t>
            </a:r>
            <a:r>
              <a:rPr dirty="0" sz="1350">
                <a:solidFill>
                  <a:srgbClr val="3C495C"/>
                </a:solidFill>
                <a:latin typeface="Arial"/>
                <a:cs typeface="Arial"/>
              </a:rPr>
              <a:t>last</a:t>
            </a:r>
            <a:r>
              <a:rPr dirty="0" sz="1350" spc="100">
                <a:solidFill>
                  <a:srgbClr val="3C495C"/>
                </a:solidFill>
                <a:latin typeface="Arial"/>
                <a:cs typeface="Arial"/>
              </a:rPr>
              <a:t> </a:t>
            </a:r>
            <a:r>
              <a:rPr dirty="0" sz="1350">
                <a:solidFill>
                  <a:srgbClr val="3C495C"/>
                </a:solidFill>
                <a:latin typeface="Arial"/>
                <a:cs typeface="Arial"/>
              </a:rPr>
              <a:t>line</a:t>
            </a:r>
            <a:r>
              <a:rPr dirty="0" sz="1350" spc="30">
                <a:solidFill>
                  <a:srgbClr val="3C495C"/>
                </a:solidFill>
                <a:latin typeface="Arial"/>
                <a:cs typeface="Arial"/>
              </a:rPr>
              <a:t> </a:t>
            </a:r>
            <a:r>
              <a:rPr dirty="0" sz="1350">
                <a:solidFill>
                  <a:srgbClr val="3C495C"/>
                </a:solidFill>
                <a:latin typeface="Arial"/>
                <a:cs typeface="Arial"/>
              </a:rPr>
              <a:t>makes</a:t>
            </a:r>
            <a:r>
              <a:rPr dirty="0" sz="1350" spc="45">
                <a:solidFill>
                  <a:srgbClr val="3C495C"/>
                </a:solidFill>
                <a:latin typeface="Arial"/>
                <a:cs typeface="Arial"/>
              </a:rPr>
              <a:t> </a:t>
            </a:r>
            <a:r>
              <a:rPr dirty="0" sz="1350" spc="60">
                <a:solidFill>
                  <a:srgbClr val="3C495C"/>
                </a:solidFill>
                <a:latin typeface="Arial"/>
                <a:cs typeface="Arial"/>
              </a:rPr>
              <a:t>plots</a:t>
            </a:r>
            <a:r>
              <a:rPr dirty="0" sz="1350" spc="45">
                <a:solidFill>
                  <a:srgbClr val="3C495C"/>
                </a:solidFill>
                <a:latin typeface="Arial"/>
                <a:cs typeface="Arial"/>
              </a:rPr>
              <a:t> </a:t>
            </a:r>
            <a:r>
              <a:rPr dirty="0" sz="1350">
                <a:solidFill>
                  <a:srgbClr val="3C495C"/>
                </a:solidFill>
                <a:latin typeface="Arial"/>
                <a:cs typeface="Arial"/>
              </a:rPr>
              <a:t>appear</a:t>
            </a:r>
            <a:r>
              <a:rPr dirty="0" sz="1350" spc="-20">
                <a:solidFill>
                  <a:srgbClr val="3C495C"/>
                </a:solidFill>
                <a:latin typeface="Arial"/>
                <a:cs typeface="Arial"/>
              </a:rPr>
              <a:t> </a:t>
            </a:r>
            <a:r>
              <a:rPr dirty="0" sz="1350" spc="55">
                <a:solidFill>
                  <a:srgbClr val="3C495C"/>
                </a:solidFill>
                <a:latin typeface="Arial"/>
                <a:cs typeface="Arial"/>
              </a:rPr>
              <a:t>right</a:t>
            </a:r>
            <a:r>
              <a:rPr dirty="0" sz="1350" spc="5">
                <a:solidFill>
                  <a:srgbClr val="3C495C"/>
                </a:solidFill>
                <a:latin typeface="Arial"/>
                <a:cs typeface="Arial"/>
              </a:rPr>
              <a:t> </a:t>
            </a:r>
            <a:r>
              <a:rPr dirty="0" sz="1350">
                <a:solidFill>
                  <a:srgbClr val="3C495C"/>
                </a:solidFill>
                <a:latin typeface="Arial"/>
                <a:cs typeface="Arial"/>
              </a:rPr>
              <a:t>below</a:t>
            </a:r>
            <a:r>
              <a:rPr dirty="0" sz="1350" spc="15">
                <a:solidFill>
                  <a:srgbClr val="3C495C"/>
                </a:solidFill>
                <a:latin typeface="Arial"/>
                <a:cs typeface="Arial"/>
              </a:rPr>
              <a:t> </a:t>
            </a:r>
            <a:r>
              <a:rPr dirty="0" sz="1350" spc="50">
                <a:solidFill>
                  <a:srgbClr val="3C495C"/>
                </a:solidFill>
                <a:latin typeface="Arial"/>
                <a:cs typeface="Arial"/>
              </a:rPr>
              <a:t>the</a:t>
            </a:r>
            <a:r>
              <a:rPr dirty="0" sz="1350" spc="30">
                <a:solidFill>
                  <a:srgbClr val="3C495C"/>
                </a:solidFill>
                <a:latin typeface="Arial"/>
                <a:cs typeface="Arial"/>
              </a:rPr>
              <a:t> </a:t>
            </a:r>
            <a:r>
              <a:rPr dirty="0" sz="1350">
                <a:solidFill>
                  <a:srgbClr val="3C495C"/>
                </a:solidFill>
                <a:latin typeface="Arial"/>
                <a:cs typeface="Arial"/>
              </a:rPr>
              <a:t>cell.</a:t>
            </a:r>
            <a:r>
              <a:rPr dirty="0" sz="1350" spc="60">
                <a:solidFill>
                  <a:srgbClr val="3C495C"/>
                </a:solidFill>
                <a:latin typeface="Arial"/>
                <a:cs typeface="Arial"/>
              </a:rPr>
              <a:t> </a:t>
            </a:r>
            <a:r>
              <a:rPr dirty="0" sz="1350">
                <a:solidFill>
                  <a:srgbClr val="3C495C"/>
                </a:solidFill>
                <a:latin typeface="Arial"/>
                <a:cs typeface="Arial"/>
              </a:rPr>
              <a:t>Missing</a:t>
            </a:r>
            <a:r>
              <a:rPr dirty="0" sz="1350" spc="60">
                <a:solidFill>
                  <a:srgbClr val="3C495C"/>
                </a:solidFill>
                <a:latin typeface="Arial"/>
                <a:cs typeface="Arial"/>
              </a:rPr>
              <a:t> </a:t>
            </a:r>
            <a:r>
              <a:rPr dirty="0" sz="1350">
                <a:solidFill>
                  <a:srgbClr val="3C495C"/>
                </a:solidFill>
                <a:latin typeface="Arial"/>
                <a:cs typeface="Arial"/>
              </a:rPr>
              <a:t>seaborn?</a:t>
            </a:r>
            <a:r>
              <a:rPr dirty="0" sz="1350" spc="65">
                <a:solidFill>
                  <a:srgbClr val="3C495C"/>
                </a:solidFill>
                <a:latin typeface="Arial"/>
                <a:cs typeface="Arial"/>
              </a:rPr>
              <a:t> </a:t>
            </a:r>
            <a:r>
              <a:rPr dirty="0" sz="1350">
                <a:solidFill>
                  <a:srgbClr val="3C495C"/>
                </a:solidFill>
                <a:latin typeface="Arial"/>
                <a:cs typeface="Arial"/>
              </a:rPr>
              <a:t>Run</a:t>
            </a:r>
            <a:r>
              <a:rPr dirty="0" sz="1350" spc="204">
                <a:solidFill>
                  <a:srgbClr val="3C495C"/>
                </a:solidFill>
                <a:latin typeface="Arial"/>
                <a:cs typeface="Arial"/>
              </a:rPr>
              <a:t> </a:t>
            </a:r>
            <a:r>
              <a:rPr dirty="0" sz="1350" spc="-20">
                <a:solidFill>
                  <a:srgbClr val="B45209"/>
                </a:solidFill>
                <a:latin typeface="Arial"/>
                <a:cs typeface="Arial"/>
              </a:rPr>
              <a:t>!pip </a:t>
            </a:r>
            <a:r>
              <a:rPr dirty="0" sz="1350" spc="45">
                <a:solidFill>
                  <a:srgbClr val="B45209"/>
                </a:solidFill>
                <a:latin typeface="Arial"/>
                <a:cs typeface="Arial"/>
              </a:rPr>
              <a:t>install</a:t>
            </a:r>
            <a:r>
              <a:rPr dirty="0" sz="1350" spc="95">
                <a:solidFill>
                  <a:srgbClr val="B45209"/>
                </a:solidFill>
                <a:latin typeface="Arial"/>
                <a:cs typeface="Arial"/>
              </a:rPr>
              <a:t> </a:t>
            </a:r>
            <a:r>
              <a:rPr dirty="0" sz="1350">
                <a:solidFill>
                  <a:srgbClr val="B45209"/>
                </a:solidFill>
                <a:latin typeface="Arial"/>
                <a:cs typeface="Arial"/>
              </a:rPr>
              <a:t>seaborn</a:t>
            </a:r>
            <a:r>
              <a:rPr dirty="0" sz="1350">
                <a:solidFill>
                  <a:srgbClr val="3C495C"/>
                </a:solidFill>
                <a:latin typeface="Arial"/>
                <a:cs typeface="Arial"/>
              </a:rPr>
              <a:t>,</a:t>
            </a:r>
            <a:r>
              <a:rPr dirty="0" sz="1350" spc="100">
                <a:solidFill>
                  <a:srgbClr val="3C495C"/>
                </a:solidFill>
                <a:latin typeface="Arial"/>
                <a:cs typeface="Arial"/>
              </a:rPr>
              <a:t> </a:t>
            </a:r>
            <a:r>
              <a:rPr dirty="0" sz="1350">
                <a:solidFill>
                  <a:srgbClr val="3C495C"/>
                </a:solidFill>
                <a:latin typeface="Arial"/>
                <a:cs typeface="Arial"/>
              </a:rPr>
              <a:t>restart</a:t>
            </a:r>
            <a:r>
              <a:rPr dirty="0" sz="1350" spc="150">
                <a:solidFill>
                  <a:srgbClr val="3C495C"/>
                </a:solidFill>
                <a:latin typeface="Arial"/>
                <a:cs typeface="Arial"/>
              </a:rPr>
              <a:t> </a:t>
            </a:r>
            <a:r>
              <a:rPr dirty="0" sz="1350">
                <a:solidFill>
                  <a:srgbClr val="3C495C"/>
                </a:solidFill>
                <a:latin typeface="Arial"/>
                <a:cs typeface="Arial"/>
              </a:rPr>
              <a:t>the</a:t>
            </a:r>
            <a:r>
              <a:rPr dirty="0" sz="1350" spc="165">
                <a:solidFill>
                  <a:srgbClr val="3C495C"/>
                </a:solidFill>
                <a:latin typeface="Arial"/>
                <a:cs typeface="Arial"/>
              </a:rPr>
              <a:t> </a:t>
            </a:r>
            <a:r>
              <a:rPr dirty="0" sz="1350">
                <a:solidFill>
                  <a:srgbClr val="3C495C"/>
                </a:solidFill>
                <a:latin typeface="Arial"/>
                <a:cs typeface="Arial"/>
              </a:rPr>
              <a:t>kernel,</a:t>
            </a:r>
            <a:r>
              <a:rPr dirty="0" sz="1350" spc="100">
                <a:solidFill>
                  <a:srgbClr val="3C495C"/>
                </a:solidFill>
                <a:latin typeface="Arial"/>
                <a:cs typeface="Arial"/>
              </a:rPr>
              <a:t> </a:t>
            </a:r>
            <a:r>
              <a:rPr dirty="0" sz="1350">
                <a:solidFill>
                  <a:srgbClr val="3C495C"/>
                </a:solidFill>
                <a:latin typeface="Arial"/>
                <a:cs typeface="Arial"/>
              </a:rPr>
              <a:t>and</a:t>
            </a:r>
            <a:r>
              <a:rPr dirty="0" sz="1350" spc="15">
                <a:solidFill>
                  <a:srgbClr val="3C495C"/>
                </a:solidFill>
                <a:latin typeface="Arial"/>
                <a:cs typeface="Arial"/>
              </a:rPr>
              <a:t> </a:t>
            </a:r>
            <a:r>
              <a:rPr dirty="0" sz="1350" spc="70">
                <a:solidFill>
                  <a:srgbClr val="3C495C"/>
                </a:solidFill>
                <a:latin typeface="Arial"/>
                <a:cs typeface="Arial"/>
              </a:rPr>
              <a:t>import</a:t>
            </a:r>
            <a:r>
              <a:rPr dirty="0" sz="1350" spc="45">
                <a:solidFill>
                  <a:srgbClr val="3C495C"/>
                </a:solidFill>
                <a:latin typeface="Arial"/>
                <a:cs typeface="Arial"/>
              </a:rPr>
              <a:t> </a:t>
            </a:r>
            <a:r>
              <a:rPr dirty="0" sz="1350" spc="-10">
                <a:solidFill>
                  <a:srgbClr val="3C495C"/>
                </a:solidFill>
                <a:latin typeface="Arial"/>
                <a:cs typeface="Arial"/>
              </a:rPr>
              <a:t>again.</a:t>
            </a:r>
            <a:endParaRPr sz="1350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7306309" y="1932431"/>
            <a:ext cx="3872865" cy="30099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800" spc="-20" b="1">
                <a:solidFill>
                  <a:srgbClr val="13203C"/>
                </a:solidFill>
                <a:latin typeface="Arial"/>
                <a:cs typeface="Arial"/>
              </a:rPr>
              <a:t>Short</a:t>
            </a:r>
            <a:r>
              <a:rPr dirty="0" sz="1800" spc="-95" b="1">
                <a:solidFill>
                  <a:srgbClr val="13203C"/>
                </a:solidFill>
                <a:latin typeface="Arial"/>
                <a:cs typeface="Arial"/>
              </a:rPr>
              <a:t> </a:t>
            </a:r>
            <a:r>
              <a:rPr dirty="0" sz="1800" spc="-25" b="1">
                <a:solidFill>
                  <a:srgbClr val="13203C"/>
                </a:solidFill>
                <a:latin typeface="Arial"/>
                <a:cs typeface="Arial"/>
              </a:rPr>
              <a:t>names</a:t>
            </a:r>
            <a:r>
              <a:rPr dirty="0" sz="1800" spc="-85" b="1">
                <a:solidFill>
                  <a:srgbClr val="13203C"/>
                </a:solidFill>
                <a:latin typeface="Arial"/>
                <a:cs typeface="Arial"/>
              </a:rPr>
              <a:t> </a:t>
            </a:r>
            <a:r>
              <a:rPr dirty="0" sz="1800" spc="-45" b="1">
                <a:solidFill>
                  <a:srgbClr val="13203C"/>
                </a:solidFill>
                <a:latin typeface="Arial"/>
                <a:cs typeface="Arial"/>
              </a:rPr>
              <a:t>you</a:t>
            </a:r>
            <a:r>
              <a:rPr dirty="0" sz="1800" spc="-35" b="1">
                <a:solidFill>
                  <a:srgbClr val="13203C"/>
                </a:solidFill>
                <a:latin typeface="Arial"/>
                <a:cs typeface="Arial"/>
              </a:rPr>
              <a:t> </a:t>
            </a:r>
            <a:r>
              <a:rPr dirty="0" sz="1800" b="1">
                <a:solidFill>
                  <a:srgbClr val="13203C"/>
                </a:solidFill>
                <a:latin typeface="Arial"/>
                <a:cs typeface="Arial"/>
              </a:rPr>
              <a:t>will</a:t>
            </a:r>
            <a:r>
              <a:rPr dirty="0" sz="1800" spc="-5" b="1">
                <a:solidFill>
                  <a:srgbClr val="13203C"/>
                </a:solidFill>
                <a:latin typeface="Arial"/>
                <a:cs typeface="Arial"/>
              </a:rPr>
              <a:t> </a:t>
            </a:r>
            <a:r>
              <a:rPr dirty="0" sz="1800" spc="-10" b="1">
                <a:solidFill>
                  <a:srgbClr val="13203C"/>
                </a:solidFill>
                <a:latin typeface="Arial"/>
                <a:cs typeface="Arial"/>
              </a:rPr>
              <a:t>see</a:t>
            </a:r>
            <a:r>
              <a:rPr dirty="0" sz="1800" spc="-40" b="1">
                <a:solidFill>
                  <a:srgbClr val="13203C"/>
                </a:solidFill>
                <a:latin typeface="Arial"/>
                <a:cs typeface="Arial"/>
              </a:rPr>
              <a:t> </a:t>
            </a:r>
            <a:r>
              <a:rPr dirty="0" sz="1800" spc="-10" b="1">
                <a:solidFill>
                  <a:srgbClr val="13203C"/>
                </a:solidFill>
                <a:latin typeface="Arial"/>
                <a:cs typeface="Arial"/>
              </a:rPr>
              <a:t>elsewhere</a:t>
            </a:r>
            <a:endParaRPr sz="1800">
              <a:latin typeface="Arial"/>
              <a:cs typeface="Arial"/>
            </a:endParaRPr>
          </a:p>
        </p:txBody>
      </p:sp>
      <p:graphicFrame>
        <p:nvGraphicFramePr>
          <p:cNvPr id="8" name="object 8"/>
          <p:cNvGraphicFramePr>
            <a:graphicFrameLocks noGrp="1"/>
          </p:cNvGraphicFramePr>
          <p:nvPr/>
        </p:nvGraphicFramePr>
        <p:xfrm>
          <a:off x="7317613" y="2366391"/>
          <a:ext cx="4141470" cy="205105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823720"/>
                <a:gridCol w="2228850"/>
              </a:tblGrid>
              <a:tr h="410209">
                <a:tc>
                  <a:txBody>
                    <a:bodyPr/>
                    <a:lstStyle/>
                    <a:p>
                      <a:pPr marL="71755">
                        <a:lnSpc>
                          <a:spcPct val="100000"/>
                        </a:lnSpc>
                        <a:spcBef>
                          <a:spcPts val="640"/>
                        </a:spcBef>
                      </a:pPr>
                      <a:r>
                        <a:rPr dirty="0" sz="1500" spc="-10" b="1">
                          <a:solidFill>
                            <a:srgbClr val="13203C"/>
                          </a:solidFill>
                          <a:latin typeface="Arial"/>
                          <a:cs typeface="Arial"/>
                        </a:rPr>
                        <a:t>Library</a:t>
                      </a:r>
                      <a:endParaRPr sz="1500">
                        <a:latin typeface="Arial"/>
                        <a:cs typeface="Arial"/>
                      </a:endParaRPr>
                    </a:p>
                  </a:txBody>
                  <a:tcPr marL="0" marR="0" marB="0" marT="81280">
                    <a:lnL w="12700">
                      <a:solidFill>
                        <a:srgbClr val="C7C7C5"/>
                      </a:solidFill>
                      <a:prstDash val="solid"/>
                    </a:lnL>
                    <a:lnR w="12700">
                      <a:solidFill>
                        <a:srgbClr val="BDC0C3"/>
                      </a:solidFill>
                      <a:prstDash val="solid"/>
                    </a:lnR>
                    <a:lnT w="12700">
                      <a:solidFill>
                        <a:srgbClr val="C7C7C5"/>
                      </a:solidFill>
                      <a:prstDash val="solid"/>
                    </a:lnT>
                    <a:lnB w="12700">
                      <a:solidFill>
                        <a:srgbClr val="BDC0C3"/>
                      </a:solidFill>
                      <a:prstDash val="solid"/>
                    </a:lnB>
                    <a:solidFill>
                      <a:srgbClr val="EDF0F5"/>
                    </a:solidFill>
                  </a:tcPr>
                </a:tc>
                <a:tc>
                  <a:txBody>
                    <a:bodyPr/>
                    <a:lstStyle/>
                    <a:p>
                      <a:pPr marL="73660">
                        <a:lnSpc>
                          <a:spcPct val="100000"/>
                        </a:lnSpc>
                        <a:spcBef>
                          <a:spcPts val="640"/>
                        </a:spcBef>
                      </a:pPr>
                      <a:r>
                        <a:rPr dirty="0" sz="1500" spc="-50" b="1">
                          <a:solidFill>
                            <a:srgbClr val="13203C"/>
                          </a:solidFill>
                          <a:latin typeface="Arial"/>
                          <a:cs typeface="Arial"/>
                        </a:rPr>
                        <a:t>Common </a:t>
                      </a:r>
                      <a:r>
                        <a:rPr dirty="0" sz="1500" spc="-20" b="1">
                          <a:solidFill>
                            <a:srgbClr val="13203C"/>
                          </a:solidFill>
                          <a:latin typeface="Arial"/>
                          <a:cs typeface="Arial"/>
                        </a:rPr>
                        <a:t>alias</a:t>
                      </a:r>
                      <a:endParaRPr sz="1500">
                        <a:latin typeface="Arial"/>
                        <a:cs typeface="Arial"/>
                      </a:endParaRPr>
                    </a:p>
                  </a:txBody>
                  <a:tcPr marL="0" marR="0" marB="0" marT="81280">
                    <a:lnL w="12700">
                      <a:solidFill>
                        <a:srgbClr val="BDC0C3"/>
                      </a:solidFill>
                      <a:prstDash val="solid"/>
                    </a:lnL>
                    <a:lnR w="12700">
                      <a:solidFill>
                        <a:srgbClr val="BDC0C3"/>
                      </a:solidFill>
                      <a:prstDash val="solid"/>
                    </a:lnR>
                    <a:lnT w="12700">
                      <a:solidFill>
                        <a:srgbClr val="C7C7C5"/>
                      </a:solidFill>
                      <a:prstDash val="solid"/>
                    </a:lnT>
                    <a:lnB w="12700">
                      <a:solidFill>
                        <a:srgbClr val="BDC0C3"/>
                      </a:solidFill>
                      <a:prstDash val="solid"/>
                    </a:lnB>
                    <a:solidFill>
                      <a:srgbClr val="EDF0F5"/>
                    </a:solidFill>
                  </a:tcPr>
                </a:tc>
              </a:tr>
              <a:tr h="410209">
                <a:tc>
                  <a:txBody>
                    <a:bodyPr/>
                    <a:lstStyle/>
                    <a:p>
                      <a:pPr marL="71755">
                        <a:lnSpc>
                          <a:spcPct val="100000"/>
                        </a:lnSpc>
                        <a:spcBef>
                          <a:spcPts val="645"/>
                        </a:spcBef>
                      </a:pPr>
                      <a:r>
                        <a:rPr dirty="0" sz="1500" spc="-10">
                          <a:solidFill>
                            <a:srgbClr val="13203C"/>
                          </a:solidFill>
                          <a:latin typeface="Arial"/>
                          <a:cs typeface="Arial"/>
                        </a:rPr>
                        <a:t>pandas</a:t>
                      </a:r>
                      <a:endParaRPr sz="1500">
                        <a:latin typeface="Arial"/>
                        <a:cs typeface="Arial"/>
                      </a:endParaRPr>
                    </a:p>
                  </a:txBody>
                  <a:tcPr marL="0" marR="0" marB="0" marT="81915">
                    <a:lnL w="12700">
                      <a:solidFill>
                        <a:srgbClr val="C7C7C5"/>
                      </a:solidFill>
                      <a:prstDash val="solid"/>
                    </a:lnL>
                    <a:lnR w="12700">
                      <a:solidFill>
                        <a:srgbClr val="C7C7C5"/>
                      </a:solidFill>
                      <a:prstDash val="solid"/>
                    </a:lnR>
                    <a:lnT w="12700">
                      <a:solidFill>
                        <a:srgbClr val="BDC0C3"/>
                      </a:solidFill>
                      <a:prstDash val="solid"/>
                    </a:lnT>
                    <a:lnB w="12700">
                      <a:solidFill>
                        <a:srgbClr val="C7C7C5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3660">
                        <a:lnSpc>
                          <a:spcPct val="100000"/>
                        </a:lnSpc>
                        <a:spcBef>
                          <a:spcPts val="645"/>
                        </a:spcBef>
                      </a:pPr>
                      <a:r>
                        <a:rPr dirty="0" sz="1500" spc="-25">
                          <a:solidFill>
                            <a:srgbClr val="13203C"/>
                          </a:solidFill>
                          <a:latin typeface="Arial"/>
                          <a:cs typeface="Arial"/>
                        </a:rPr>
                        <a:t>pd</a:t>
                      </a:r>
                      <a:endParaRPr sz="1500">
                        <a:latin typeface="Arial"/>
                        <a:cs typeface="Arial"/>
                      </a:endParaRPr>
                    </a:p>
                  </a:txBody>
                  <a:tcPr marL="0" marR="0" marB="0" marT="81915">
                    <a:lnL w="12700">
                      <a:solidFill>
                        <a:srgbClr val="C7C7C5"/>
                      </a:solidFill>
                      <a:prstDash val="solid"/>
                    </a:lnL>
                    <a:lnR w="12700">
                      <a:solidFill>
                        <a:srgbClr val="C7C7C5"/>
                      </a:solidFill>
                      <a:prstDash val="solid"/>
                    </a:lnR>
                    <a:lnT w="12700">
                      <a:solidFill>
                        <a:srgbClr val="BDC0C3"/>
                      </a:solidFill>
                      <a:prstDash val="solid"/>
                    </a:lnT>
                    <a:lnB w="12700">
                      <a:solidFill>
                        <a:srgbClr val="C7C7C5"/>
                      </a:solidFill>
                      <a:prstDash val="solid"/>
                    </a:lnB>
                  </a:tcPr>
                </a:tc>
              </a:tr>
              <a:tr h="410209">
                <a:tc>
                  <a:txBody>
                    <a:bodyPr/>
                    <a:lstStyle/>
                    <a:p>
                      <a:pPr marL="71755">
                        <a:lnSpc>
                          <a:spcPct val="100000"/>
                        </a:lnSpc>
                        <a:spcBef>
                          <a:spcPts val="650"/>
                        </a:spcBef>
                      </a:pPr>
                      <a:r>
                        <a:rPr dirty="0" sz="1500" spc="-10">
                          <a:solidFill>
                            <a:srgbClr val="13203C"/>
                          </a:solidFill>
                          <a:latin typeface="Arial"/>
                          <a:cs typeface="Arial"/>
                        </a:rPr>
                        <a:t>numpy</a:t>
                      </a:r>
                      <a:endParaRPr sz="1500">
                        <a:latin typeface="Arial"/>
                        <a:cs typeface="Arial"/>
                      </a:endParaRPr>
                    </a:p>
                  </a:txBody>
                  <a:tcPr marL="0" marR="0" marB="0" marT="82550">
                    <a:lnL w="12700">
                      <a:solidFill>
                        <a:srgbClr val="C7C7C5"/>
                      </a:solidFill>
                      <a:prstDash val="solid"/>
                    </a:lnL>
                    <a:lnR w="12700">
                      <a:solidFill>
                        <a:srgbClr val="C7C7C5"/>
                      </a:solidFill>
                      <a:prstDash val="solid"/>
                    </a:lnR>
                    <a:lnT w="12700">
                      <a:solidFill>
                        <a:srgbClr val="C7C7C5"/>
                      </a:solidFill>
                      <a:prstDash val="solid"/>
                    </a:lnT>
                    <a:lnB w="12700">
                      <a:solidFill>
                        <a:srgbClr val="C7C7C5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3660">
                        <a:lnSpc>
                          <a:spcPct val="100000"/>
                        </a:lnSpc>
                        <a:spcBef>
                          <a:spcPts val="650"/>
                        </a:spcBef>
                      </a:pPr>
                      <a:r>
                        <a:rPr dirty="0" sz="1500" spc="-25">
                          <a:solidFill>
                            <a:srgbClr val="13203C"/>
                          </a:solidFill>
                          <a:latin typeface="Arial"/>
                          <a:cs typeface="Arial"/>
                        </a:rPr>
                        <a:t>np</a:t>
                      </a:r>
                      <a:endParaRPr sz="1500">
                        <a:latin typeface="Arial"/>
                        <a:cs typeface="Arial"/>
                      </a:endParaRPr>
                    </a:p>
                  </a:txBody>
                  <a:tcPr marL="0" marR="0" marB="0" marT="82550">
                    <a:lnL w="12700">
                      <a:solidFill>
                        <a:srgbClr val="C7C7C5"/>
                      </a:solidFill>
                      <a:prstDash val="solid"/>
                    </a:lnL>
                    <a:lnR w="12700">
                      <a:solidFill>
                        <a:srgbClr val="C7C7C5"/>
                      </a:solidFill>
                      <a:prstDash val="solid"/>
                    </a:lnR>
                    <a:lnT w="12700">
                      <a:solidFill>
                        <a:srgbClr val="C7C7C5"/>
                      </a:solidFill>
                      <a:prstDash val="solid"/>
                    </a:lnT>
                    <a:lnB w="12700">
                      <a:solidFill>
                        <a:srgbClr val="C7C7C5"/>
                      </a:solidFill>
                      <a:prstDash val="solid"/>
                    </a:lnB>
                  </a:tcPr>
                </a:tc>
              </a:tr>
              <a:tr h="410209">
                <a:tc>
                  <a:txBody>
                    <a:bodyPr/>
                    <a:lstStyle/>
                    <a:p>
                      <a:pPr marL="71755">
                        <a:lnSpc>
                          <a:spcPct val="100000"/>
                        </a:lnSpc>
                        <a:spcBef>
                          <a:spcPts val="655"/>
                        </a:spcBef>
                      </a:pPr>
                      <a:r>
                        <a:rPr dirty="0" sz="1500" spc="-10">
                          <a:solidFill>
                            <a:srgbClr val="13203C"/>
                          </a:solidFill>
                          <a:latin typeface="Arial"/>
                          <a:cs typeface="Arial"/>
                        </a:rPr>
                        <a:t>pyplot</a:t>
                      </a:r>
                      <a:endParaRPr sz="1500">
                        <a:latin typeface="Arial"/>
                        <a:cs typeface="Arial"/>
                      </a:endParaRPr>
                    </a:p>
                  </a:txBody>
                  <a:tcPr marL="0" marR="0" marB="0" marT="83185">
                    <a:lnL w="12700">
                      <a:solidFill>
                        <a:srgbClr val="C7C7C5"/>
                      </a:solidFill>
                      <a:prstDash val="solid"/>
                    </a:lnL>
                    <a:lnR w="12700">
                      <a:solidFill>
                        <a:srgbClr val="C7C7C5"/>
                      </a:solidFill>
                      <a:prstDash val="solid"/>
                    </a:lnR>
                    <a:lnT w="12700">
                      <a:solidFill>
                        <a:srgbClr val="C7C7C5"/>
                      </a:solidFill>
                      <a:prstDash val="solid"/>
                    </a:lnT>
                    <a:lnB w="12700">
                      <a:solidFill>
                        <a:srgbClr val="C7C7C5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3660">
                        <a:lnSpc>
                          <a:spcPct val="100000"/>
                        </a:lnSpc>
                        <a:spcBef>
                          <a:spcPts val="655"/>
                        </a:spcBef>
                      </a:pPr>
                      <a:r>
                        <a:rPr dirty="0" sz="1500" spc="45">
                          <a:solidFill>
                            <a:srgbClr val="13203C"/>
                          </a:solidFill>
                          <a:latin typeface="Arial"/>
                          <a:cs typeface="Arial"/>
                        </a:rPr>
                        <a:t>plt</a:t>
                      </a:r>
                      <a:endParaRPr sz="1500">
                        <a:latin typeface="Arial"/>
                        <a:cs typeface="Arial"/>
                      </a:endParaRPr>
                    </a:p>
                  </a:txBody>
                  <a:tcPr marL="0" marR="0" marB="0" marT="83185">
                    <a:lnL w="12700">
                      <a:solidFill>
                        <a:srgbClr val="C7C7C5"/>
                      </a:solidFill>
                      <a:prstDash val="solid"/>
                    </a:lnL>
                    <a:lnR w="12700">
                      <a:solidFill>
                        <a:srgbClr val="C7C7C5"/>
                      </a:solidFill>
                      <a:prstDash val="solid"/>
                    </a:lnR>
                    <a:lnT w="12700">
                      <a:solidFill>
                        <a:srgbClr val="C7C7C5"/>
                      </a:solidFill>
                      <a:prstDash val="solid"/>
                    </a:lnT>
                    <a:lnB w="12700">
                      <a:solidFill>
                        <a:srgbClr val="C7C7C5"/>
                      </a:solidFill>
                      <a:prstDash val="solid"/>
                    </a:lnB>
                  </a:tcPr>
                </a:tc>
              </a:tr>
              <a:tr h="410209">
                <a:tc>
                  <a:txBody>
                    <a:bodyPr/>
                    <a:lstStyle/>
                    <a:p>
                      <a:pPr marL="71755">
                        <a:lnSpc>
                          <a:spcPct val="100000"/>
                        </a:lnSpc>
                        <a:spcBef>
                          <a:spcPts val="660"/>
                        </a:spcBef>
                      </a:pPr>
                      <a:r>
                        <a:rPr dirty="0" sz="1500" spc="-10">
                          <a:solidFill>
                            <a:srgbClr val="13203C"/>
                          </a:solidFill>
                          <a:latin typeface="Arial"/>
                          <a:cs typeface="Arial"/>
                        </a:rPr>
                        <a:t>seaborn</a:t>
                      </a:r>
                      <a:endParaRPr sz="1500">
                        <a:latin typeface="Arial"/>
                        <a:cs typeface="Arial"/>
                      </a:endParaRPr>
                    </a:p>
                  </a:txBody>
                  <a:tcPr marL="0" marR="0" marB="0" marT="83820">
                    <a:lnL w="12700">
                      <a:solidFill>
                        <a:srgbClr val="C7C7C5"/>
                      </a:solidFill>
                      <a:prstDash val="solid"/>
                    </a:lnL>
                    <a:lnR w="12700">
                      <a:solidFill>
                        <a:srgbClr val="C7C7C5"/>
                      </a:solidFill>
                      <a:prstDash val="solid"/>
                    </a:lnR>
                    <a:lnT w="12700">
                      <a:solidFill>
                        <a:srgbClr val="C7C7C5"/>
                      </a:solidFill>
                      <a:prstDash val="solid"/>
                    </a:lnT>
                    <a:lnB w="12700">
                      <a:solidFill>
                        <a:srgbClr val="C7C7C5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3660">
                        <a:lnSpc>
                          <a:spcPct val="100000"/>
                        </a:lnSpc>
                        <a:spcBef>
                          <a:spcPts val="660"/>
                        </a:spcBef>
                      </a:pPr>
                      <a:r>
                        <a:rPr dirty="0" sz="1500" spc="-25">
                          <a:solidFill>
                            <a:srgbClr val="13203C"/>
                          </a:solidFill>
                          <a:latin typeface="Arial"/>
                          <a:cs typeface="Arial"/>
                        </a:rPr>
                        <a:t>sns</a:t>
                      </a:r>
                      <a:endParaRPr sz="1500">
                        <a:latin typeface="Arial"/>
                        <a:cs typeface="Arial"/>
                      </a:endParaRPr>
                    </a:p>
                  </a:txBody>
                  <a:tcPr marL="0" marR="0" marB="0" marT="83820">
                    <a:lnL w="12700">
                      <a:solidFill>
                        <a:srgbClr val="C7C7C5"/>
                      </a:solidFill>
                      <a:prstDash val="solid"/>
                    </a:lnL>
                    <a:lnR w="12700">
                      <a:solidFill>
                        <a:srgbClr val="C7C7C5"/>
                      </a:solidFill>
                      <a:prstDash val="solid"/>
                    </a:lnR>
                    <a:lnT w="12700">
                      <a:solidFill>
                        <a:srgbClr val="C7C7C5"/>
                      </a:solidFill>
                      <a:prstDash val="solid"/>
                    </a:lnT>
                    <a:lnB w="12700">
                      <a:solidFill>
                        <a:srgbClr val="C7C7C5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9" name="object 9"/>
          <p:cNvSpPr txBox="1"/>
          <p:nvPr/>
        </p:nvSpPr>
        <p:spPr>
          <a:xfrm>
            <a:off x="7306309" y="4525226"/>
            <a:ext cx="4120515" cy="483234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15500"/>
              </a:lnSpc>
              <a:spcBef>
                <a:spcPts val="100"/>
              </a:spcBef>
            </a:pPr>
            <a:r>
              <a:rPr dirty="0" sz="1300" spc="-20">
                <a:solidFill>
                  <a:srgbClr val="3C495C"/>
                </a:solidFill>
                <a:latin typeface="Arial"/>
                <a:cs typeface="Arial"/>
              </a:rPr>
              <a:t>The</a:t>
            </a:r>
            <a:r>
              <a:rPr dirty="0" sz="1300" spc="95">
                <a:solidFill>
                  <a:srgbClr val="3C495C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3C495C"/>
                </a:solidFill>
                <a:latin typeface="Arial"/>
                <a:cs typeface="Arial"/>
              </a:rPr>
              <a:t>notebook</a:t>
            </a:r>
            <a:r>
              <a:rPr dirty="0" sz="1300" spc="50">
                <a:solidFill>
                  <a:srgbClr val="3C495C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3C495C"/>
                </a:solidFill>
                <a:latin typeface="Arial"/>
                <a:cs typeface="Arial"/>
              </a:rPr>
              <a:t>writes</a:t>
            </a:r>
            <a:r>
              <a:rPr dirty="0" sz="1300" spc="20">
                <a:solidFill>
                  <a:srgbClr val="3C495C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3C495C"/>
                </a:solidFill>
                <a:latin typeface="Arial"/>
                <a:cs typeface="Arial"/>
              </a:rPr>
              <a:t>the</a:t>
            </a:r>
            <a:r>
              <a:rPr dirty="0" sz="1300" spc="10">
                <a:solidFill>
                  <a:srgbClr val="3C495C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3C495C"/>
                </a:solidFill>
                <a:latin typeface="Arial"/>
                <a:cs typeface="Arial"/>
              </a:rPr>
              <a:t>full</a:t>
            </a:r>
            <a:r>
              <a:rPr dirty="0" sz="1300" spc="10">
                <a:solidFill>
                  <a:srgbClr val="3C495C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3C495C"/>
                </a:solidFill>
                <a:latin typeface="Arial"/>
                <a:cs typeface="Arial"/>
              </a:rPr>
              <a:t>names,</a:t>
            </a:r>
            <a:r>
              <a:rPr dirty="0" sz="1300" spc="10">
                <a:solidFill>
                  <a:srgbClr val="3C495C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3C495C"/>
                </a:solidFill>
                <a:latin typeface="Arial"/>
                <a:cs typeface="Arial"/>
              </a:rPr>
              <a:t>like</a:t>
            </a:r>
            <a:r>
              <a:rPr dirty="0" sz="1300" spc="95">
                <a:solidFill>
                  <a:srgbClr val="3C495C"/>
                </a:solidFill>
                <a:latin typeface="Arial"/>
                <a:cs typeface="Arial"/>
              </a:rPr>
              <a:t> </a:t>
            </a:r>
            <a:r>
              <a:rPr dirty="0" sz="1300" spc="-10">
                <a:solidFill>
                  <a:srgbClr val="B45209"/>
                </a:solidFill>
                <a:latin typeface="Arial"/>
                <a:cs typeface="Arial"/>
              </a:rPr>
              <a:t>pandas.Series</a:t>
            </a:r>
            <a:r>
              <a:rPr dirty="0" sz="1300" spc="-10">
                <a:solidFill>
                  <a:srgbClr val="3C495C"/>
                </a:solidFill>
                <a:latin typeface="Arial"/>
                <a:cs typeface="Arial"/>
              </a:rPr>
              <a:t>. </a:t>
            </a:r>
            <a:r>
              <a:rPr dirty="0" sz="1300" spc="-85">
                <a:solidFill>
                  <a:srgbClr val="3C495C"/>
                </a:solidFill>
                <a:latin typeface="Arial"/>
                <a:cs typeface="Arial"/>
              </a:rPr>
              <a:t>So</a:t>
            </a:r>
            <a:r>
              <a:rPr dirty="0" sz="1300" spc="-10">
                <a:solidFill>
                  <a:srgbClr val="3C495C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3C495C"/>
                </a:solidFill>
                <a:latin typeface="Arial"/>
                <a:cs typeface="Arial"/>
              </a:rPr>
              <a:t>do</a:t>
            </a:r>
            <a:r>
              <a:rPr dirty="0" sz="1300" spc="-5">
                <a:solidFill>
                  <a:srgbClr val="3C495C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3C495C"/>
                </a:solidFill>
                <a:latin typeface="Arial"/>
                <a:cs typeface="Arial"/>
              </a:rPr>
              <a:t>these</a:t>
            </a:r>
            <a:r>
              <a:rPr dirty="0" sz="1300" spc="-65">
                <a:solidFill>
                  <a:srgbClr val="3C495C"/>
                </a:solidFill>
                <a:latin typeface="Arial"/>
                <a:cs typeface="Arial"/>
              </a:rPr>
              <a:t> </a:t>
            </a:r>
            <a:r>
              <a:rPr dirty="0" sz="1300" spc="-10">
                <a:solidFill>
                  <a:srgbClr val="3C495C"/>
                </a:solidFill>
                <a:latin typeface="Arial"/>
                <a:cs typeface="Arial"/>
              </a:rPr>
              <a:t>slides.</a:t>
            </a:r>
            <a:endParaRPr sz="13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800480" y="819721"/>
            <a:ext cx="1202690" cy="234315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1350" spc="65" b="1">
                <a:solidFill>
                  <a:srgbClr val="B45209"/>
                </a:solidFill>
                <a:latin typeface="Arial"/>
                <a:cs typeface="Arial"/>
              </a:rPr>
              <a:t>0</a:t>
            </a:r>
            <a:r>
              <a:rPr dirty="0" sz="1350" spc="-190" b="1">
                <a:solidFill>
                  <a:srgbClr val="B45209"/>
                </a:solidFill>
                <a:latin typeface="Arial"/>
                <a:cs typeface="Arial"/>
              </a:rPr>
              <a:t> </a:t>
            </a:r>
            <a:r>
              <a:rPr dirty="0" sz="1350" spc="65" b="1">
                <a:solidFill>
                  <a:srgbClr val="B45209"/>
                </a:solidFill>
                <a:latin typeface="Arial"/>
                <a:cs typeface="Arial"/>
              </a:rPr>
              <a:t>2</a:t>
            </a:r>
            <a:r>
              <a:rPr dirty="0" sz="1350" spc="275" b="1">
                <a:solidFill>
                  <a:srgbClr val="B45209"/>
                </a:solidFill>
                <a:latin typeface="Arial"/>
                <a:cs typeface="Arial"/>
              </a:rPr>
              <a:t> </a:t>
            </a:r>
            <a:r>
              <a:rPr dirty="0" sz="1350" b="1">
                <a:solidFill>
                  <a:srgbClr val="B45209"/>
                </a:solidFill>
                <a:latin typeface="Arial"/>
                <a:cs typeface="Arial"/>
              </a:rPr>
              <a:t>·</a:t>
            </a:r>
            <a:r>
              <a:rPr dirty="0" sz="1350" spc="310" b="1">
                <a:solidFill>
                  <a:srgbClr val="B45209"/>
                </a:solidFill>
                <a:latin typeface="Arial"/>
                <a:cs typeface="Arial"/>
              </a:rPr>
              <a:t> </a:t>
            </a:r>
            <a:r>
              <a:rPr dirty="0" sz="1350" b="1">
                <a:solidFill>
                  <a:srgbClr val="B45209"/>
                </a:solidFill>
                <a:latin typeface="Arial"/>
                <a:cs typeface="Arial"/>
              </a:rPr>
              <a:t>SE</a:t>
            </a:r>
            <a:r>
              <a:rPr dirty="0" sz="1350" spc="-190" b="1">
                <a:solidFill>
                  <a:srgbClr val="B45209"/>
                </a:solidFill>
                <a:latin typeface="Arial"/>
                <a:cs typeface="Arial"/>
              </a:rPr>
              <a:t> </a:t>
            </a:r>
            <a:r>
              <a:rPr dirty="0" sz="1350" spc="114" b="1">
                <a:solidFill>
                  <a:srgbClr val="B45209"/>
                </a:solidFill>
                <a:latin typeface="Arial"/>
                <a:cs typeface="Arial"/>
              </a:rPr>
              <a:t>RIE</a:t>
            </a:r>
            <a:r>
              <a:rPr dirty="0" sz="1350" spc="-190" b="1">
                <a:solidFill>
                  <a:srgbClr val="B45209"/>
                </a:solidFill>
                <a:latin typeface="Arial"/>
                <a:cs typeface="Arial"/>
              </a:rPr>
              <a:t> </a:t>
            </a:r>
            <a:r>
              <a:rPr dirty="0" sz="1350" spc="-50" b="1">
                <a:solidFill>
                  <a:srgbClr val="B45209"/>
                </a:solidFill>
                <a:latin typeface="Arial"/>
                <a:cs typeface="Arial"/>
              </a:rPr>
              <a:t>S</a:t>
            </a:r>
            <a:endParaRPr sz="1350">
              <a:latin typeface="Arial"/>
              <a:cs typeface="Arial"/>
            </a:endParaRPr>
          </a:p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/>
              <a:t>Pandas</a:t>
            </a:r>
            <a:r>
              <a:rPr dirty="0" spc="-135"/>
              <a:t> </a:t>
            </a:r>
            <a:r>
              <a:rPr dirty="0" spc="-20"/>
              <a:t>stores</a:t>
            </a:r>
            <a:r>
              <a:rPr dirty="0" spc="-195"/>
              <a:t> </a:t>
            </a:r>
            <a:r>
              <a:rPr dirty="0" spc="80"/>
              <a:t>data</a:t>
            </a:r>
            <a:r>
              <a:rPr dirty="0" spc="-110"/>
              <a:t> </a:t>
            </a:r>
            <a:r>
              <a:rPr dirty="0"/>
              <a:t>in</a:t>
            </a:r>
            <a:r>
              <a:rPr dirty="0" spc="-135"/>
              <a:t> </a:t>
            </a:r>
            <a:r>
              <a:rPr dirty="0" spc="70"/>
              <a:t>two</a:t>
            </a:r>
            <a:r>
              <a:rPr dirty="0" spc="-95"/>
              <a:t> </a:t>
            </a:r>
            <a:r>
              <a:rPr dirty="0" spc="-10"/>
              <a:t>shapes</a:t>
            </a:r>
          </a:p>
        </p:txBody>
      </p:sp>
      <p:grpSp>
        <p:nvGrpSpPr>
          <p:cNvPr id="4" name="object 4"/>
          <p:cNvGrpSpPr/>
          <p:nvPr/>
        </p:nvGrpSpPr>
        <p:grpSpPr>
          <a:xfrm>
            <a:off x="815213" y="1913001"/>
            <a:ext cx="3938270" cy="4140835"/>
            <a:chOff x="815213" y="1913001"/>
            <a:chExt cx="3938270" cy="4140835"/>
          </a:xfrm>
        </p:grpSpPr>
        <p:sp>
          <p:nvSpPr>
            <p:cNvPr id="5" name="object 5"/>
            <p:cNvSpPr/>
            <p:nvPr/>
          </p:nvSpPr>
          <p:spPr>
            <a:xfrm>
              <a:off x="818388" y="1916176"/>
              <a:ext cx="3931920" cy="4134485"/>
            </a:xfrm>
            <a:custGeom>
              <a:avLst/>
              <a:gdLst/>
              <a:ahLst/>
              <a:cxnLst/>
              <a:rect l="l" t="t" r="r" b="b"/>
              <a:pathLst>
                <a:path w="3931920" h="4134485">
                  <a:moveTo>
                    <a:pt x="3833495" y="0"/>
                  </a:moveTo>
                  <a:lnTo>
                    <a:pt x="98450" y="0"/>
                  </a:lnTo>
                  <a:lnTo>
                    <a:pt x="60130" y="7735"/>
                  </a:lnTo>
                  <a:lnTo>
                    <a:pt x="28836" y="28829"/>
                  </a:lnTo>
                  <a:lnTo>
                    <a:pt x="7737" y="60114"/>
                  </a:lnTo>
                  <a:lnTo>
                    <a:pt x="0" y="98425"/>
                  </a:lnTo>
                  <a:lnTo>
                    <a:pt x="0" y="4035615"/>
                  </a:lnTo>
                  <a:lnTo>
                    <a:pt x="7737" y="4073944"/>
                  </a:lnTo>
                  <a:lnTo>
                    <a:pt x="28836" y="4105246"/>
                  </a:lnTo>
                  <a:lnTo>
                    <a:pt x="60130" y="4126351"/>
                  </a:lnTo>
                  <a:lnTo>
                    <a:pt x="98450" y="4134091"/>
                  </a:lnTo>
                  <a:lnTo>
                    <a:pt x="3833495" y="4134091"/>
                  </a:lnTo>
                  <a:lnTo>
                    <a:pt x="3871805" y="4126351"/>
                  </a:lnTo>
                  <a:lnTo>
                    <a:pt x="3903091" y="4105246"/>
                  </a:lnTo>
                  <a:lnTo>
                    <a:pt x="3924184" y="4073944"/>
                  </a:lnTo>
                  <a:lnTo>
                    <a:pt x="3931920" y="4035615"/>
                  </a:lnTo>
                  <a:lnTo>
                    <a:pt x="3931920" y="98425"/>
                  </a:lnTo>
                  <a:lnTo>
                    <a:pt x="3924184" y="60114"/>
                  </a:lnTo>
                  <a:lnTo>
                    <a:pt x="3903091" y="28828"/>
                  </a:lnTo>
                  <a:lnTo>
                    <a:pt x="3871805" y="7735"/>
                  </a:lnTo>
                  <a:lnTo>
                    <a:pt x="3833495" y="0"/>
                  </a:lnTo>
                  <a:close/>
                </a:path>
              </a:pathLst>
            </a:custGeom>
            <a:solidFill>
              <a:srgbClr val="FAFAF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/>
            <p:cNvSpPr/>
            <p:nvPr/>
          </p:nvSpPr>
          <p:spPr>
            <a:xfrm>
              <a:off x="818388" y="1916176"/>
              <a:ext cx="3931920" cy="4134485"/>
            </a:xfrm>
            <a:custGeom>
              <a:avLst/>
              <a:gdLst/>
              <a:ahLst/>
              <a:cxnLst/>
              <a:rect l="l" t="t" r="r" b="b"/>
              <a:pathLst>
                <a:path w="3931920" h="4134485">
                  <a:moveTo>
                    <a:pt x="0" y="98425"/>
                  </a:moveTo>
                  <a:lnTo>
                    <a:pt x="7737" y="60114"/>
                  </a:lnTo>
                  <a:lnTo>
                    <a:pt x="28836" y="28829"/>
                  </a:lnTo>
                  <a:lnTo>
                    <a:pt x="60130" y="7735"/>
                  </a:lnTo>
                  <a:lnTo>
                    <a:pt x="98450" y="0"/>
                  </a:lnTo>
                  <a:lnTo>
                    <a:pt x="3833495" y="0"/>
                  </a:lnTo>
                  <a:lnTo>
                    <a:pt x="3871805" y="7735"/>
                  </a:lnTo>
                  <a:lnTo>
                    <a:pt x="3903091" y="28828"/>
                  </a:lnTo>
                  <a:lnTo>
                    <a:pt x="3924184" y="60114"/>
                  </a:lnTo>
                  <a:lnTo>
                    <a:pt x="3931920" y="98425"/>
                  </a:lnTo>
                  <a:lnTo>
                    <a:pt x="3931920" y="4035615"/>
                  </a:lnTo>
                  <a:lnTo>
                    <a:pt x="3924184" y="4073944"/>
                  </a:lnTo>
                  <a:lnTo>
                    <a:pt x="3903091" y="4105246"/>
                  </a:lnTo>
                  <a:lnTo>
                    <a:pt x="3871805" y="4126351"/>
                  </a:lnTo>
                  <a:lnTo>
                    <a:pt x="3833495" y="4134091"/>
                  </a:lnTo>
                  <a:lnTo>
                    <a:pt x="98450" y="4134091"/>
                  </a:lnTo>
                  <a:lnTo>
                    <a:pt x="60130" y="4126351"/>
                  </a:lnTo>
                  <a:lnTo>
                    <a:pt x="28836" y="4105246"/>
                  </a:lnTo>
                  <a:lnTo>
                    <a:pt x="7737" y="4073944"/>
                  </a:lnTo>
                  <a:lnTo>
                    <a:pt x="0" y="4035615"/>
                  </a:lnTo>
                  <a:lnTo>
                    <a:pt x="0" y="98425"/>
                  </a:lnTo>
                  <a:close/>
                </a:path>
              </a:pathLst>
            </a:custGeom>
            <a:ln w="6350">
              <a:solidFill>
                <a:srgbClr val="D9DEE6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7" name="object 7"/>
          <p:cNvSpPr txBox="1"/>
          <p:nvPr/>
        </p:nvSpPr>
        <p:spPr>
          <a:xfrm>
            <a:off x="1059980" y="2141791"/>
            <a:ext cx="3509645" cy="981710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dirty="0" sz="2000" spc="-10" b="1">
                <a:solidFill>
                  <a:srgbClr val="13203C"/>
                </a:solidFill>
                <a:latin typeface="Arial"/>
                <a:cs typeface="Arial"/>
              </a:rPr>
              <a:t>Series</a:t>
            </a:r>
            <a:endParaRPr sz="20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220"/>
              </a:spcBef>
            </a:pPr>
            <a:r>
              <a:rPr dirty="0" sz="1500" spc="-30">
                <a:solidFill>
                  <a:srgbClr val="3C495C"/>
                </a:solidFill>
                <a:latin typeface="Arial"/>
                <a:cs typeface="Arial"/>
              </a:rPr>
              <a:t>A</a:t>
            </a:r>
            <a:r>
              <a:rPr dirty="0" sz="1500" spc="-65">
                <a:solidFill>
                  <a:srgbClr val="3C495C"/>
                </a:solidFill>
                <a:latin typeface="Arial"/>
                <a:cs typeface="Arial"/>
              </a:rPr>
              <a:t> </a:t>
            </a:r>
            <a:r>
              <a:rPr dirty="0" sz="1500" spc="80">
                <a:solidFill>
                  <a:srgbClr val="3C495C"/>
                </a:solidFill>
                <a:latin typeface="Arial"/>
                <a:cs typeface="Arial"/>
              </a:rPr>
              <a:t>1-</a:t>
            </a:r>
            <a:r>
              <a:rPr dirty="0" sz="1500" spc="-85">
                <a:solidFill>
                  <a:srgbClr val="3C495C"/>
                </a:solidFill>
                <a:latin typeface="Arial"/>
                <a:cs typeface="Arial"/>
              </a:rPr>
              <a:t>D</a:t>
            </a:r>
            <a:r>
              <a:rPr dirty="0" sz="1500" spc="-35">
                <a:solidFill>
                  <a:srgbClr val="3C495C"/>
                </a:solidFill>
                <a:latin typeface="Arial"/>
                <a:cs typeface="Arial"/>
              </a:rPr>
              <a:t> </a:t>
            </a:r>
            <a:r>
              <a:rPr dirty="0" sz="1500">
                <a:solidFill>
                  <a:srgbClr val="3C495C"/>
                </a:solidFill>
                <a:latin typeface="Arial"/>
                <a:cs typeface="Arial"/>
              </a:rPr>
              <a:t>column</a:t>
            </a:r>
            <a:r>
              <a:rPr dirty="0" sz="1500" spc="-95">
                <a:solidFill>
                  <a:srgbClr val="3C495C"/>
                </a:solidFill>
                <a:latin typeface="Arial"/>
                <a:cs typeface="Arial"/>
              </a:rPr>
              <a:t> </a:t>
            </a:r>
            <a:r>
              <a:rPr dirty="0" sz="1500">
                <a:solidFill>
                  <a:srgbClr val="3C495C"/>
                </a:solidFill>
                <a:latin typeface="Arial"/>
                <a:cs typeface="Arial"/>
              </a:rPr>
              <a:t>of</a:t>
            </a:r>
            <a:r>
              <a:rPr dirty="0" sz="1500" spc="-10">
                <a:solidFill>
                  <a:srgbClr val="3C495C"/>
                </a:solidFill>
                <a:latin typeface="Arial"/>
                <a:cs typeface="Arial"/>
              </a:rPr>
              <a:t> values.</a:t>
            </a:r>
            <a:r>
              <a:rPr dirty="0" sz="1500" spc="-5">
                <a:solidFill>
                  <a:srgbClr val="3C495C"/>
                </a:solidFill>
                <a:latin typeface="Arial"/>
                <a:cs typeface="Arial"/>
              </a:rPr>
              <a:t> </a:t>
            </a:r>
            <a:r>
              <a:rPr dirty="0" sz="1500" spc="-60">
                <a:solidFill>
                  <a:srgbClr val="3C495C"/>
                </a:solidFill>
                <a:latin typeface="Arial"/>
                <a:cs typeface="Arial"/>
              </a:rPr>
              <a:t>Each</a:t>
            </a:r>
            <a:r>
              <a:rPr dirty="0" sz="1500" spc="-20">
                <a:solidFill>
                  <a:srgbClr val="3C495C"/>
                </a:solidFill>
                <a:latin typeface="Arial"/>
                <a:cs typeface="Arial"/>
              </a:rPr>
              <a:t> </a:t>
            </a:r>
            <a:r>
              <a:rPr dirty="0" sz="1500">
                <a:solidFill>
                  <a:srgbClr val="3C495C"/>
                </a:solidFill>
                <a:latin typeface="Arial"/>
                <a:cs typeface="Arial"/>
              </a:rPr>
              <a:t>value</a:t>
            </a:r>
            <a:r>
              <a:rPr dirty="0" sz="1500" spc="-65">
                <a:solidFill>
                  <a:srgbClr val="3C495C"/>
                </a:solidFill>
                <a:latin typeface="Arial"/>
                <a:cs typeface="Arial"/>
              </a:rPr>
              <a:t> </a:t>
            </a:r>
            <a:r>
              <a:rPr dirty="0" sz="1500" spc="-20">
                <a:solidFill>
                  <a:srgbClr val="3C495C"/>
                </a:solidFill>
                <a:latin typeface="Arial"/>
                <a:cs typeface="Arial"/>
              </a:rPr>
              <a:t>has</a:t>
            </a:r>
            <a:r>
              <a:rPr dirty="0" sz="1500" spc="-45">
                <a:solidFill>
                  <a:srgbClr val="3C495C"/>
                </a:solidFill>
                <a:latin typeface="Arial"/>
                <a:cs typeface="Arial"/>
              </a:rPr>
              <a:t> </a:t>
            </a:r>
            <a:r>
              <a:rPr dirty="0" sz="1500" spc="-50">
                <a:solidFill>
                  <a:srgbClr val="3C495C"/>
                </a:solidFill>
                <a:latin typeface="Arial"/>
                <a:cs typeface="Arial"/>
              </a:rPr>
              <a:t>a</a:t>
            </a:r>
            <a:endParaRPr sz="15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290"/>
              </a:spcBef>
            </a:pPr>
            <a:r>
              <a:rPr dirty="0" sz="1500" b="1">
                <a:solidFill>
                  <a:srgbClr val="3C495C"/>
                </a:solidFill>
                <a:latin typeface="Arial"/>
                <a:cs typeface="Arial"/>
              </a:rPr>
              <a:t>label</a:t>
            </a:r>
            <a:r>
              <a:rPr dirty="0" sz="1500">
                <a:solidFill>
                  <a:srgbClr val="3C495C"/>
                </a:solidFill>
                <a:latin typeface="Arial"/>
                <a:cs typeface="Arial"/>
              </a:rPr>
              <a:t>;</a:t>
            </a:r>
            <a:r>
              <a:rPr dirty="0" sz="1500" spc="-5">
                <a:solidFill>
                  <a:srgbClr val="3C495C"/>
                </a:solidFill>
                <a:latin typeface="Arial"/>
                <a:cs typeface="Arial"/>
              </a:rPr>
              <a:t> </a:t>
            </a:r>
            <a:r>
              <a:rPr dirty="0" sz="1500">
                <a:solidFill>
                  <a:srgbClr val="3C495C"/>
                </a:solidFill>
                <a:latin typeface="Arial"/>
                <a:cs typeface="Arial"/>
              </a:rPr>
              <a:t>all</a:t>
            </a:r>
            <a:r>
              <a:rPr dirty="0" sz="1500" spc="-55">
                <a:solidFill>
                  <a:srgbClr val="3C495C"/>
                </a:solidFill>
                <a:latin typeface="Arial"/>
                <a:cs typeface="Arial"/>
              </a:rPr>
              <a:t> </a:t>
            </a:r>
            <a:r>
              <a:rPr dirty="0" sz="1500" spc="-10">
                <a:solidFill>
                  <a:srgbClr val="3C495C"/>
                </a:solidFill>
                <a:latin typeface="Arial"/>
                <a:cs typeface="Arial"/>
              </a:rPr>
              <a:t>share</a:t>
            </a:r>
            <a:r>
              <a:rPr dirty="0" sz="1500" spc="-40">
                <a:solidFill>
                  <a:srgbClr val="3C495C"/>
                </a:solidFill>
                <a:latin typeface="Arial"/>
                <a:cs typeface="Arial"/>
              </a:rPr>
              <a:t> </a:t>
            </a:r>
            <a:r>
              <a:rPr dirty="0" sz="1500">
                <a:solidFill>
                  <a:srgbClr val="3C495C"/>
                </a:solidFill>
                <a:latin typeface="Arial"/>
                <a:cs typeface="Arial"/>
              </a:rPr>
              <a:t>one</a:t>
            </a:r>
            <a:r>
              <a:rPr dirty="0" sz="1500" spc="-15">
                <a:solidFill>
                  <a:srgbClr val="3C495C"/>
                </a:solidFill>
                <a:latin typeface="Arial"/>
                <a:cs typeface="Arial"/>
              </a:rPr>
              <a:t> </a:t>
            </a:r>
            <a:r>
              <a:rPr dirty="0" sz="1500" b="1">
                <a:solidFill>
                  <a:srgbClr val="3C495C"/>
                </a:solidFill>
                <a:latin typeface="Arial"/>
                <a:cs typeface="Arial"/>
              </a:rPr>
              <a:t>data</a:t>
            </a:r>
            <a:r>
              <a:rPr dirty="0" sz="1500" spc="10" b="1">
                <a:solidFill>
                  <a:srgbClr val="3C495C"/>
                </a:solidFill>
                <a:latin typeface="Arial"/>
                <a:cs typeface="Arial"/>
              </a:rPr>
              <a:t> </a:t>
            </a:r>
            <a:r>
              <a:rPr dirty="0" sz="1500" spc="-20" b="1">
                <a:solidFill>
                  <a:srgbClr val="3C495C"/>
                </a:solidFill>
                <a:latin typeface="Arial"/>
                <a:cs typeface="Arial"/>
              </a:rPr>
              <a:t>type</a:t>
            </a:r>
            <a:r>
              <a:rPr dirty="0" sz="1500" spc="-20">
                <a:solidFill>
                  <a:srgbClr val="3C495C"/>
                </a:solidFill>
                <a:latin typeface="Arial"/>
                <a:cs typeface="Arial"/>
              </a:rPr>
              <a:t>.</a:t>
            </a:r>
            <a:endParaRPr sz="1500">
              <a:latin typeface="Arial"/>
              <a:cs typeface="Arial"/>
            </a:endParaRPr>
          </a:p>
        </p:txBody>
      </p:sp>
      <p:pic>
        <p:nvPicPr>
          <p:cNvPr id="8" name="object 8" descr="A Series: an index column 0 to 4 beside one column called Name holding Apple, Berry, Coco, Dunkin and Ella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895220" y="3265296"/>
            <a:ext cx="1778254" cy="2094483"/>
          </a:xfrm>
          <a:prstGeom prst="rect">
            <a:avLst/>
          </a:prstGeom>
        </p:spPr>
      </p:pic>
      <p:grpSp>
        <p:nvGrpSpPr>
          <p:cNvPr id="9" name="object 9"/>
          <p:cNvGrpSpPr/>
          <p:nvPr/>
        </p:nvGrpSpPr>
        <p:grpSpPr>
          <a:xfrm>
            <a:off x="5003165" y="1913001"/>
            <a:ext cx="6379845" cy="4140835"/>
            <a:chOff x="5003165" y="1913001"/>
            <a:chExt cx="6379845" cy="4140835"/>
          </a:xfrm>
        </p:grpSpPr>
        <p:sp>
          <p:nvSpPr>
            <p:cNvPr id="10" name="object 10"/>
            <p:cNvSpPr/>
            <p:nvPr/>
          </p:nvSpPr>
          <p:spPr>
            <a:xfrm>
              <a:off x="5006340" y="1916176"/>
              <a:ext cx="6373495" cy="4134485"/>
            </a:xfrm>
            <a:custGeom>
              <a:avLst/>
              <a:gdLst/>
              <a:ahLst/>
              <a:cxnLst/>
              <a:rect l="l" t="t" r="r" b="b"/>
              <a:pathLst>
                <a:path w="6373495" h="4134485">
                  <a:moveTo>
                    <a:pt x="6274816" y="0"/>
                  </a:moveTo>
                  <a:lnTo>
                    <a:pt x="98551" y="0"/>
                  </a:lnTo>
                  <a:lnTo>
                    <a:pt x="60168" y="7737"/>
                  </a:lnTo>
                  <a:lnTo>
                    <a:pt x="28844" y="28844"/>
                  </a:lnTo>
                  <a:lnTo>
                    <a:pt x="7737" y="60168"/>
                  </a:lnTo>
                  <a:lnTo>
                    <a:pt x="0" y="98551"/>
                  </a:lnTo>
                  <a:lnTo>
                    <a:pt x="0" y="4035539"/>
                  </a:lnTo>
                  <a:lnTo>
                    <a:pt x="7737" y="4073901"/>
                  </a:lnTo>
                  <a:lnTo>
                    <a:pt x="28844" y="4105227"/>
                  </a:lnTo>
                  <a:lnTo>
                    <a:pt x="60168" y="4126347"/>
                  </a:lnTo>
                  <a:lnTo>
                    <a:pt x="98551" y="4134091"/>
                  </a:lnTo>
                  <a:lnTo>
                    <a:pt x="6274816" y="4134091"/>
                  </a:lnTo>
                  <a:lnTo>
                    <a:pt x="6313199" y="4126347"/>
                  </a:lnTo>
                  <a:lnTo>
                    <a:pt x="6344523" y="4105227"/>
                  </a:lnTo>
                  <a:lnTo>
                    <a:pt x="6365630" y="4073901"/>
                  </a:lnTo>
                  <a:lnTo>
                    <a:pt x="6373368" y="4035539"/>
                  </a:lnTo>
                  <a:lnTo>
                    <a:pt x="6373368" y="98551"/>
                  </a:lnTo>
                  <a:lnTo>
                    <a:pt x="6365630" y="60168"/>
                  </a:lnTo>
                  <a:lnTo>
                    <a:pt x="6344523" y="28844"/>
                  </a:lnTo>
                  <a:lnTo>
                    <a:pt x="6313199" y="7737"/>
                  </a:lnTo>
                  <a:lnTo>
                    <a:pt x="6274816" y="0"/>
                  </a:lnTo>
                  <a:close/>
                </a:path>
              </a:pathLst>
            </a:custGeom>
            <a:solidFill>
              <a:srgbClr val="FAFAF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" name="object 11"/>
            <p:cNvSpPr/>
            <p:nvPr/>
          </p:nvSpPr>
          <p:spPr>
            <a:xfrm>
              <a:off x="5006340" y="1916176"/>
              <a:ext cx="6373495" cy="4134485"/>
            </a:xfrm>
            <a:custGeom>
              <a:avLst/>
              <a:gdLst/>
              <a:ahLst/>
              <a:cxnLst/>
              <a:rect l="l" t="t" r="r" b="b"/>
              <a:pathLst>
                <a:path w="6373495" h="4134485">
                  <a:moveTo>
                    <a:pt x="0" y="98551"/>
                  </a:moveTo>
                  <a:lnTo>
                    <a:pt x="7737" y="60168"/>
                  </a:lnTo>
                  <a:lnTo>
                    <a:pt x="28844" y="28844"/>
                  </a:lnTo>
                  <a:lnTo>
                    <a:pt x="60168" y="7737"/>
                  </a:lnTo>
                  <a:lnTo>
                    <a:pt x="98551" y="0"/>
                  </a:lnTo>
                  <a:lnTo>
                    <a:pt x="6274816" y="0"/>
                  </a:lnTo>
                  <a:lnTo>
                    <a:pt x="6313199" y="7737"/>
                  </a:lnTo>
                  <a:lnTo>
                    <a:pt x="6344523" y="28844"/>
                  </a:lnTo>
                  <a:lnTo>
                    <a:pt x="6365630" y="60168"/>
                  </a:lnTo>
                  <a:lnTo>
                    <a:pt x="6373368" y="98551"/>
                  </a:lnTo>
                  <a:lnTo>
                    <a:pt x="6373368" y="4035539"/>
                  </a:lnTo>
                  <a:lnTo>
                    <a:pt x="6365630" y="4073901"/>
                  </a:lnTo>
                  <a:lnTo>
                    <a:pt x="6344523" y="4105227"/>
                  </a:lnTo>
                  <a:lnTo>
                    <a:pt x="6313199" y="4126347"/>
                  </a:lnTo>
                  <a:lnTo>
                    <a:pt x="6274816" y="4134091"/>
                  </a:lnTo>
                  <a:lnTo>
                    <a:pt x="98551" y="4134091"/>
                  </a:lnTo>
                  <a:lnTo>
                    <a:pt x="60168" y="4126347"/>
                  </a:lnTo>
                  <a:lnTo>
                    <a:pt x="28844" y="4105227"/>
                  </a:lnTo>
                  <a:lnTo>
                    <a:pt x="7737" y="4073901"/>
                  </a:lnTo>
                  <a:lnTo>
                    <a:pt x="0" y="4035539"/>
                  </a:lnTo>
                  <a:lnTo>
                    <a:pt x="0" y="98551"/>
                  </a:lnTo>
                  <a:close/>
                </a:path>
              </a:pathLst>
            </a:custGeom>
            <a:ln w="6350">
              <a:solidFill>
                <a:srgbClr val="D9DEE6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2" name="object 12"/>
          <p:cNvSpPr txBox="1"/>
          <p:nvPr/>
        </p:nvSpPr>
        <p:spPr>
          <a:xfrm>
            <a:off x="5252973" y="2141791"/>
            <a:ext cx="5893435" cy="716280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dirty="0" sz="2000" spc="-10" b="1">
                <a:solidFill>
                  <a:srgbClr val="13203C"/>
                </a:solidFill>
                <a:latin typeface="Arial"/>
                <a:cs typeface="Arial"/>
              </a:rPr>
              <a:t>DataFrame</a:t>
            </a:r>
            <a:endParaRPr sz="20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220"/>
              </a:spcBef>
            </a:pPr>
            <a:r>
              <a:rPr dirty="0" sz="1500" spc="-30">
                <a:solidFill>
                  <a:srgbClr val="3C495C"/>
                </a:solidFill>
                <a:latin typeface="Arial"/>
                <a:cs typeface="Arial"/>
              </a:rPr>
              <a:t>A</a:t>
            </a:r>
            <a:r>
              <a:rPr dirty="0" sz="1500" spc="-55">
                <a:solidFill>
                  <a:srgbClr val="3C495C"/>
                </a:solidFill>
                <a:latin typeface="Arial"/>
                <a:cs typeface="Arial"/>
              </a:rPr>
              <a:t> </a:t>
            </a:r>
            <a:r>
              <a:rPr dirty="0" sz="1500" spc="85">
                <a:solidFill>
                  <a:srgbClr val="3C495C"/>
                </a:solidFill>
                <a:latin typeface="Arial"/>
                <a:cs typeface="Arial"/>
              </a:rPr>
              <a:t>2-</a:t>
            </a:r>
            <a:r>
              <a:rPr dirty="0" sz="1500" spc="-85">
                <a:solidFill>
                  <a:srgbClr val="3C495C"/>
                </a:solidFill>
                <a:latin typeface="Arial"/>
                <a:cs typeface="Arial"/>
              </a:rPr>
              <a:t>D</a:t>
            </a:r>
            <a:r>
              <a:rPr dirty="0" sz="1500" spc="-25">
                <a:solidFill>
                  <a:srgbClr val="3C495C"/>
                </a:solidFill>
                <a:latin typeface="Arial"/>
                <a:cs typeface="Arial"/>
              </a:rPr>
              <a:t> </a:t>
            </a:r>
            <a:r>
              <a:rPr dirty="0" sz="1500">
                <a:solidFill>
                  <a:srgbClr val="3C495C"/>
                </a:solidFill>
                <a:latin typeface="Arial"/>
                <a:cs typeface="Arial"/>
              </a:rPr>
              <a:t>table:</a:t>
            </a:r>
            <a:r>
              <a:rPr dirty="0" sz="1500" spc="-50">
                <a:solidFill>
                  <a:srgbClr val="3C495C"/>
                </a:solidFill>
                <a:latin typeface="Arial"/>
                <a:cs typeface="Arial"/>
              </a:rPr>
              <a:t> </a:t>
            </a:r>
            <a:r>
              <a:rPr dirty="0" sz="1500" b="1">
                <a:solidFill>
                  <a:srgbClr val="3C495C"/>
                </a:solidFill>
                <a:latin typeface="Arial"/>
                <a:cs typeface="Arial"/>
              </a:rPr>
              <a:t>row</a:t>
            </a:r>
            <a:r>
              <a:rPr dirty="0" sz="1500" spc="10" b="1">
                <a:solidFill>
                  <a:srgbClr val="3C495C"/>
                </a:solidFill>
                <a:latin typeface="Arial"/>
                <a:cs typeface="Arial"/>
              </a:rPr>
              <a:t> </a:t>
            </a:r>
            <a:r>
              <a:rPr dirty="0" sz="1500" spc="-10" b="1">
                <a:solidFill>
                  <a:srgbClr val="3C495C"/>
                </a:solidFill>
                <a:latin typeface="Arial"/>
                <a:cs typeface="Arial"/>
              </a:rPr>
              <a:t>labels</a:t>
            </a:r>
            <a:r>
              <a:rPr dirty="0" sz="1500" spc="-10">
                <a:solidFill>
                  <a:srgbClr val="3C495C"/>
                </a:solidFill>
                <a:latin typeface="Arial"/>
                <a:cs typeface="Arial"/>
              </a:rPr>
              <a:t>,</a:t>
            </a:r>
            <a:r>
              <a:rPr dirty="0" sz="1500" spc="-25">
                <a:solidFill>
                  <a:srgbClr val="3C495C"/>
                </a:solidFill>
                <a:latin typeface="Arial"/>
                <a:cs typeface="Arial"/>
              </a:rPr>
              <a:t> </a:t>
            </a:r>
            <a:r>
              <a:rPr dirty="0" sz="1500" spc="-30" b="1">
                <a:solidFill>
                  <a:srgbClr val="3C495C"/>
                </a:solidFill>
                <a:latin typeface="Arial"/>
                <a:cs typeface="Arial"/>
              </a:rPr>
              <a:t>column</a:t>
            </a:r>
            <a:r>
              <a:rPr dirty="0" sz="1500" spc="-60" b="1">
                <a:solidFill>
                  <a:srgbClr val="3C495C"/>
                </a:solidFill>
                <a:latin typeface="Arial"/>
                <a:cs typeface="Arial"/>
              </a:rPr>
              <a:t> </a:t>
            </a:r>
            <a:r>
              <a:rPr dirty="0" sz="1500" spc="-20" b="1">
                <a:solidFill>
                  <a:srgbClr val="3C495C"/>
                </a:solidFill>
                <a:latin typeface="Arial"/>
                <a:cs typeface="Arial"/>
              </a:rPr>
              <a:t>names</a:t>
            </a:r>
            <a:r>
              <a:rPr dirty="0" sz="1500" spc="-20">
                <a:solidFill>
                  <a:srgbClr val="3C495C"/>
                </a:solidFill>
                <a:latin typeface="Arial"/>
                <a:cs typeface="Arial"/>
              </a:rPr>
              <a:t>,</a:t>
            </a:r>
            <a:r>
              <a:rPr dirty="0" sz="1500" spc="5">
                <a:solidFill>
                  <a:srgbClr val="3C495C"/>
                </a:solidFill>
                <a:latin typeface="Arial"/>
                <a:cs typeface="Arial"/>
              </a:rPr>
              <a:t> </a:t>
            </a:r>
            <a:r>
              <a:rPr dirty="0" sz="1500">
                <a:solidFill>
                  <a:srgbClr val="3C495C"/>
                </a:solidFill>
                <a:latin typeface="Arial"/>
                <a:cs typeface="Arial"/>
              </a:rPr>
              <a:t>and</a:t>
            </a:r>
            <a:r>
              <a:rPr dirty="0" sz="1500" spc="50">
                <a:solidFill>
                  <a:srgbClr val="3C495C"/>
                </a:solidFill>
                <a:latin typeface="Arial"/>
                <a:cs typeface="Arial"/>
              </a:rPr>
              <a:t> </a:t>
            </a:r>
            <a:r>
              <a:rPr dirty="0" sz="1500" spc="-40">
                <a:solidFill>
                  <a:srgbClr val="3C495C"/>
                </a:solidFill>
                <a:latin typeface="Arial"/>
                <a:cs typeface="Arial"/>
              </a:rPr>
              <a:t>a</a:t>
            </a:r>
            <a:r>
              <a:rPr dirty="0" sz="1500" spc="-110">
                <a:solidFill>
                  <a:srgbClr val="3C495C"/>
                </a:solidFill>
                <a:latin typeface="Arial"/>
                <a:cs typeface="Arial"/>
              </a:rPr>
              <a:t> </a:t>
            </a:r>
            <a:r>
              <a:rPr dirty="0" sz="1500">
                <a:solidFill>
                  <a:srgbClr val="3C495C"/>
                </a:solidFill>
                <a:latin typeface="Arial"/>
                <a:cs typeface="Arial"/>
              </a:rPr>
              <a:t>data</a:t>
            </a:r>
            <a:r>
              <a:rPr dirty="0" sz="1500" spc="-35">
                <a:solidFill>
                  <a:srgbClr val="3C495C"/>
                </a:solidFill>
                <a:latin typeface="Arial"/>
                <a:cs typeface="Arial"/>
              </a:rPr>
              <a:t> </a:t>
            </a:r>
            <a:r>
              <a:rPr dirty="0" sz="1500">
                <a:solidFill>
                  <a:srgbClr val="3C495C"/>
                </a:solidFill>
                <a:latin typeface="Arial"/>
                <a:cs typeface="Arial"/>
              </a:rPr>
              <a:t>type</a:t>
            </a:r>
            <a:r>
              <a:rPr dirty="0" sz="1500" spc="-60">
                <a:solidFill>
                  <a:srgbClr val="3C495C"/>
                </a:solidFill>
                <a:latin typeface="Arial"/>
                <a:cs typeface="Arial"/>
              </a:rPr>
              <a:t> </a:t>
            </a:r>
            <a:r>
              <a:rPr dirty="0" sz="1500">
                <a:solidFill>
                  <a:srgbClr val="3C495C"/>
                </a:solidFill>
                <a:latin typeface="Arial"/>
                <a:cs typeface="Arial"/>
              </a:rPr>
              <a:t>per</a:t>
            </a:r>
            <a:r>
              <a:rPr dirty="0" sz="1500" spc="-75">
                <a:solidFill>
                  <a:srgbClr val="3C495C"/>
                </a:solidFill>
                <a:latin typeface="Arial"/>
                <a:cs typeface="Arial"/>
              </a:rPr>
              <a:t> </a:t>
            </a:r>
            <a:r>
              <a:rPr dirty="0" sz="1500" spc="-10">
                <a:solidFill>
                  <a:srgbClr val="3C495C"/>
                </a:solidFill>
                <a:latin typeface="Arial"/>
                <a:cs typeface="Arial"/>
              </a:rPr>
              <a:t>column.</a:t>
            </a:r>
            <a:endParaRPr sz="1500">
              <a:latin typeface="Arial"/>
              <a:cs typeface="Arial"/>
            </a:endParaRPr>
          </a:p>
        </p:txBody>
      </p:sp>
      <p:pic>
        <p:nvPicPr>
          <p:cNvPr id="13" name="object 13" descr="A DataFrame: an index column 0 to 4 beside three columns Name, Weight and Height for Apple, Berry, Coco, Dunkin and Ella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360286" y="3265296"/>
            <a:ext cx="3665347" cy="2094483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800480" y="819721"/>
            <a:ext cx="1202690" cy="234315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1350" spc="65" b="1">
                <a:solidFill>
                  <a:srgbClr val="B45209"/>
                </a:solidFill>
                <a:latin typeface="Arial"/>
                <a:cs typeface="Arial"/>
              </a:rPr>
              <a:t>0</a:t>
            </a:r>
            <a:r>
              <a:rPr dirty="0" sz="1350" spc="-190" b="1">
                <a:solidFill>
                  <a:srgbClr val="B45209"/>
                </a:solidFill>
                <a:latin typeface="Arial"/>
                <a:cs typeface="Arial"/>
              </a:rPr>
              <a:t> </a:t>
            </a:r>
            <a:r>
              <a:rPr dirty="0" sz="1350" spc="65" b="1">
                <a:solidFill>
                  <a:srgbClr val="B45209"/>
                </a:solidFill>
                <a:latin typeface="Arial"/>
                <a:cs typeface="Arial"/>
              </a:rPr>
              <a:t>2</a:t>
            </a:r>
            <a:r>
              <a:rPr dirty="0" sz="1350" spc="275" b="1">
                <a:solidFill>
                  <a:srgbClr val="B45209"/>
                </a:solidFill>
                <a:latin typeface="Arial"/>
                <a:cs typeface="Arial"/>
              </a:rPr>
              <a:t> </a:t>
            </a:r>
            <a:r>
              <a:rPr dirty="0" sz="1350" b="1">
                <a:solidFill>
                  <a:srgbClr val="B45209"/>
                </a:solidFill>
                <a:latin typeface="Arial"/>
                <a:cs typeface="Arial"/>
              </a:rPr>
              <a:t>·</a:t>
            </a:r>
            <a:r>
              <a:rPr dirty="0" sz="1350" spc="310" b="1">
                <a:solidFill>
                  <a:srgbClr val="B45209"/>
                </a:solidFill>
                <a:latin typeface="Arial"/>
                <a:cs typeface="Arial"/>
              </a:rPr>
              <a:t> </a:t>
            </a:r>
            <a:r>
              <a:rPr dirty="0" sz="1350" b="1">
                <a:solidFill>
                  <a:srgbClr val="B45209"/>
                </a:solidFill>
                <a:latin typeface="Arial"/>
                <a:cs typeface="Arial"/>
              </a:rPr>
              <a:t>SE</a:t>
            </a:r>
            <a:r>
              <a:rPr dirty="0" sz="1350" spc="-190" b="1">
                <a:solidFill>
                  <a:srgbClr val="B45209"/>
                </a:solidFill>
                <a:latin typeface="Arial"/>
                <a:cs typeface="Arial"/>
              </a:rPr>
              <a:t> </a:t>
            </a:r>
            <a:r>
              <a:rPr dirty="0" sz="1350" spc="114" b="1">
                <a:solidFill>
                  <a:srgbClr val="B45209"/>
                </a:solidFill>
                <a:latin typeface="Arial"/>
                <a:cs typeface="Arial"/>
              </a:rPr>
              <a:t>RIE</a:t>
            </a:r>
            <a:r>
              <a:rPr dirty="0" sz="1350" spc="-190" b="1">
                <a:solidFill>
                  <a:srgbClr val="B45209"/>
                </a:solidFill>
                <a:latin typeface="Arial"/>
                <a:cs typeface="Arial"/>
              </a:rPr>
              <a:t> </a:t>
            </a:r>
            <a:r>
              <a:rPr dirty="0" sz="1350" spc="-50" b="1">
                <a:solidFill>
                  <a:srgbClr val="B45209"/>
                </a:solidFill>
                <a:latin typeface="Arial"/>
                <a:cs typeface="Arial"/>
              </a:rPr>
              <a:t>S</a:t>
            </a:r>
            <a:endParaRPr sz="1350">
              <a:latin typeface="Arial"/>
              <a:cs typeface="Arial"/>
            </a:endParaRPr>
          </a:p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pc="-10"/>
              <a:t>Creating</a:t>
            </a:r>
            <a:r>
              <a:rPr dirty="0" spc="-130"/>
              <a:t> </a:t>
            </a:r>
            <a:r>
              <a:rPr dirty="0" spc="50"/>
              <a:t>a</a:t>
            </a:r>
            <a:r>
              <a:rPr dirty="0" spc="-110"/>
              <a:t> </a:t>
            </a:r>
            <a:r>
              <a:rPr dirty="0" spc="-10"/>
              <a:t>Series</a:t>
            </a:r>
            <a:r>
              <a:rPr dirty="0" spc="-120"/>
              <a:t> </a:t>
            </a:r>
            <a:r>
              <a:rPr dirty="0"/>
              <a:t>from</a:t>
            </a:r>
            <a:r>
              <a:rPr dirty="0" spc="-135"/>
              <a:t> </a:t>
            </a:r>
            <a:r>
              <a:rPr dirty="0" spc="50"/>
              <a:t>a</a:t>
            </a:r>
            <a:r>
              <a:rPr dirty="0" spc="-110"/>
              <a:t> </a:t>
            </a:r>
            <a:r>
              <a:rPr dirty="0" spc="-20"/>
              <a:t>list</a:t>
            </a:r>
          </a:p>
        </p:txBody>
      </p:sp>
      <p:sp>
        <p:nvSpPr>
          <p:cNvPr id="4" name="object 4"/>
          <p:cNvSpPr/>
          <p:nvPr/>
        </p:nvSpPr>
        <p:spPr>
          <a:xfrm>
            <a:off x="813816" y="1911604"/>
            <a:ext cx="5203190" cy="2213610"/>
          </a:xfrm>
          <a:custGeom>
            <a:avLst/>
            <a:gdLst/>
            <a:ahLst/>
            <a:cxnLst/>
            <a:rect l="l" t="t" r="r" b="b"/>
            <a:pathLst>
              <a:path w="5203190" h="2213610">
                <a:moveTo>
                  <a:pt x="5101463" y="0"/>
                </a:moveTo>
                <a:lnTo>
                  <a:pt x="101498" y="0"/>
                </a:lnTo>
                <a:lnTo>
                  <a:pt x="61989" y="7979"/>
                </a:lnTo>
                <a:lnTo>
                  <a:pt x="29727" y="29733"/>
                </a:lnTo>
                <a:lnTo>
                  <a:pt x="7975" y="61989"/>
                </a:lnTo>
                <a:lnTo>
                  <a:pt x="0" y="101473"/>
                </a:lnTo>
                <a:lnTo>
                  <a:pt x="0" y="2111883"/>
                </a:lnTo>
                <a:lnTo>
                  <a:pt x="7975" y="2151366"/>
                </a:lnTo>
                <a:lnTo>
                  <a:pt x="29727" y="2183622"/>
                </a:lnTo>
                <a:lnTo>
                  <a:pt x="61989" y="2205376"/>
                </a:lnTo>
                <a:lnTo>
                  <a:pt x="101498" y="2213356"/>
                </a:lnTo>
                <a:lnTo>
                  <a:pt x="5101463" y="2213356"/>
                </a:lnTo>
                <a:lnTo>
                  <a:pt x="5140946" y="2205376"/>
                </a:lnTo>
                <a:lnTo>
                  <a:pt x="5173202" y="2183622"/>
                </a:lnTo>
                <a:lnTo>
                  <a:pt x="5194956" y="2151366"/>
                </a:lnTo>
                <a:lnTo>
                  <a:pt x="5202936" y="2111883"/>
                </a:lnTo>
                <a:lnTo>
                  <a:pt x="5202936" y="101473"/>
                </a:lnTo>
                <a:lnTo>
                  <a:pt x="5194956" y="61989"/>
                </a:lnTo>
                <a:lnTo>
                  <a:pt x="5173202" y="29733"/>
                </a:lnTo>
                <a:lnTo>
                  <a:pt x="5140946" y="7979"/>
                </a:lnTo>
                <a:lnTo>
                  <a:pt x="5101463" y="0"/>
                </a:lnTo>
                <a:close/>
              </a:path>
            </a:pathLst>
          </a:custGeom>
          <a:solidFill>
            <a:srgbClr val="13203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/>
          <p:nvPr/>
        </p:nvSpPr>
        <p:spPr>
          <a:xfrm>
            <a:off x="1054620" y="2125611"/>
            <a:ext cx="2124075" cy="85915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 marR="5080">
              <a:lnSpc>
                <a:spcPct val="133500"/>
              </a:lnSpc>
              <a:spcBef>
                <a:spcPts val="95"/>
              </a:spcBef>
            </a:pPr>
            <a:r>
              <a:rPr dirty="0" sz="1350" spc="-165">
                <a:solidFill>
                  <a:srgbClr val="F4F0EA"/>
                </a:solidFill>
                <a:latin typeface="Arial"/>
                <a:cs typeface="Arial"/>
              </a:rPr>
              <a:t>CPU_USAGE</a:t>
            </a:r>
            <a:r>
              <a:rPr dirty="0" sz="1350" spc="-25">
                <a:solidFill>
                  <a:srgbClr val="F4F0EA"/>
                </a:solidFill>
                <a:latin typeface="Arial"/>
                <a:cs typeface="Arial"/>
              </a:rPr>
              <a:t> </a:t>
            </a:r>
            <a:r>
              <a:rPr dirty="0" sz="1350" spc="-120">
                <a:solidFill>
                  <a:srgbClr val="F4F0EA"/>
                </a:solidFill>
                <a:latin typeface="Arial"/>
                <a:cs typeface="Arial"/>
              </a:rPr>
              <a:t>=</a:t>
            </a:r>
            <a:r>
              <a:rPr dirty="0" sz="1350" spc="-40">
                <a:solidFill>
                  <a:srgbClr val="F4F0EA"/>
                </a:solidFill>
                <a:latin typeface="Arial"/>
                <a:cs typeface="Arial"/>
              </a:rPr>
              <a:t> </a:t>
            </a:r>
            <a:r>
              <a:rPr dirty="0" sz="1350" spc="-65">
                <a:solidFill>
                  <a:srgbClr val="F4F0EA"/>
                </a:solidFill>
                <a:latin typeface="Arial"/>
                <a:cs typeface="Arial"/>
              </a:rPr>
              <a:t>pandas.Series( </a:t>
            </a:r>
            <a:r>
              <a:rPr dirty="0" sz="1350" spc="-25">
                <a:solidFill>
                  <a:srgbClr val="F4F0EA"/>
                </a:solidFill>
                <a:latin typeface="Arial"/>
                <a:cs typeface="Arial"/>
              </a:rPr>
              <a:t>[0.16,</a:t>
            </a:r>
            <a:r>
              <a:rPr dirty="0" sz="1350" spc="10">
                <a:solidFill>
                  <a:srgbClr val="F4F0EA"/>
                </a:solidFill>
                <a:latin typeface="Arial"/>
                <a:cs typeface="Arial"/>
              </a:rPr>
              <a:t> </a:t>
            </a:r>
            <a:r>
              <a:rPr dirty="0" sz="1350" spc="-55">
                <a:solidFill>
                  <a:srgbClr val="F4F0EA"/>
                </a:solidFill>
                <a:latin typeface="Arial"/>
                <a:cs typeface="Arial"/>
              </a:rPr>
              <a:t>0.07,</a:t>
            </a:r>
            <a:r>
              <a:rPr dirty="0" sz="1350" spc="-65">
                <a:solidFill>
                  <a:srgbClr val="F4F0EA"/>
                </a:solidFill>
                <a:latin typeface="Arial"/>
                <a:cs typeface="Arial"/>
              </a:rPr>
              <a:t> </a:t>
            </a:r>
            <a:r>
              <a:rPr dirty="0" sz="1350" spc="-40">
                <a:solidFill>
                  <a:srgbClr val="F4F0EA"/>
                </a:solidFill>
                <a:latin typeface="Arial"/>
                <a:cs typeface="Arial"/>
              </a:rPr>
              <a:t>0.23,</a:t>
            </a:r>
            <a:r>
              <a:rPr dirty="0" sz="1350" spc="-65">
                <a:solidFill>
                  <a:srgbClr val="F4F0EA"/>
                </a:solidFill>
                <a:latin typeface="Arial"/>
                <a:cs typeface="Arial"/>
              </a:rPr>
              <a:t> </a:t>
            </a:r>
            <a:r>
              <a:rPr dirty="0" sz="1350" spc="-40">
                <a:solidFill>
                  <a:srgbClr val="F4F0EA"/>
                </a:solidFill>
                <a:latin typeface="Arial"/>
                <a:cs typeface="Arial"/>
              </a:rPr>
              <a:t>0.24,</a:t>
            </a:r>
            <a:r>
              <a:rPr dirty="0" sz="1350" spc="-60">
                <a:solidFill>
                  <a:srgbClr val="F4F0EA"/>
                </a:solidFill>
                <a:latin typeface="Arial"/>
                <a:cs typeface="Arial"/>
              </a:rPr>
              <a:t> </a:t>
            </a:r>
            <a:r>
              <a:rPr dirty="0" sz="1350" spc="-20">
                <a:solidFill>
                  <a:srgbClr val="F4F0EA"/>
                </a:solidFill>
                <a:latin typeface="Arial"/>
                <a:cs typeface="Arial"/>
              </a:rPr>
              <a:t>0.14,</a:t>
            </a:r>
            <a:endParaRPr sz="13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615"/>
              </a:spcBef>
            </a:pPr>
            <a:r>
              <a:rPr dirty="0" sz="1350" spc="-40">
                <a:solidFill>
                  <a:srgbClr val="F4F0EA"/>
                </a:solidFill>
                <a:latin typeface="Arial"/>
                <a:cs typeface="Arial"/>
              </a:rPr>
              <a:t>4.99,</a:t>
            </a:r>
            <a:r>
              <a:rPr dirty="0" sz="1350" spc="-50">
                <a:solidFill>
                  <a:srgbClr val="F4F0EA"/>
                </a:solidFill>
                <a:latin typeface="Arial"/>
                <a:cs typeface="Arial"/>
              </a:rPr>
              <a:t> 0.23, </a:t>
            </a:r>
            <a:r>
              <a:rPr dirty="0" sz="1350" spc="-40">
                <a:solidFill>
                  <a:srgbClr val="F4F0EA"/>
                </a:solidFill>
                <a:latin typeface="Arial"/>
                <a:cs typeface="Arial"/>
              </a:rPr>
              <a:t>0.47,</a:t>
            </a:r>
            <a:r>
              <a:rPr dirty="0" sz="1350" spc="-50">
                <a:solidFill>
                  <a:srgbClr val="F4F0EA"/>
                </a:solidFill>
                <a:latin typeface="Arial"/>
                <a:cs typeface="Arial"/>
              </a:rPr>
              <a:t> </a:t>
            </a:r>
            <a:r>
              <a:rPr dirty="0" sz="1350" spc="-40">
                <a:solidFill>
                  <a:srgbClr val="F4F0EA"/>
                </a:solidFill>
                <a:latin typeface="Arial"/>
                <a:cs typeface="Arial"/>
              </a:rPr>
              <a:t>0.46,</a:t>
            </a:r>
            <a:r>
              <a:rPr dirty="0" sz="1350" spc="-45">
                <a:solidFill>
                  <a:srgbClr val="F4F0EA"/>
                </a:solidFill>
                <a:latin typeface="Arial"/>
                <a:cs typeface="Arial"/>
              </a:rPr>
              <a:t> </a:t>
            </a:r>
            <a:r>
              <a:rPr dirty="0" sz="1350" spc="-10">
                <a:solidFill>
                  <a:srgbClr val="F4F0EA"/>
                </a:solidFill>
                <a:latin typeface="Arial"/>
                <a:cs typeface="Arial"/>
              </a:rPr>
              <a:t>0.17])</a:t>
            </a:r>
            <a:endParaRPr sz="1350">
              <a:latin typeface="Arial"/>
              <a:cs typeface="Arial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6329045" y="1913001"/>
            <a:ext cx="5053965" cy="3455035"/>
            <a:chOff x="6329045" y="1913001"/>
            <a:chExt cx="5053965" cy="3455035"/>
          </a:xfrm>
        </p:grpSpPr>
        <p:sp>
          <p:nvSpPr>
            <p:cNvPr id="7" name="object 7"/>
            <p:cNvSpPr/>
            <p:nvPr/>
          </p:nvSpPr>
          <p:spPr>
            <a:xfrm>
              <a:off x="6332220" y="1916176"/>
              <a:ext cx="5047615" cy="3448685"/>
            </a:xfrm>
            <a:custGeom>
              <a:avLst/>
              <a:gdLst/>
              <a:ahLst/>
              <a:cxnLst/>
              <a:rect l="l" t="t" r="r" b="b"/>
              <a:pathLst>
                <a:path w="5047615" h="3448685">
                  <a:moveTo>
                    <a:pt x="4949062" y="0"/>
                  </a:moveTo>
                  <a:lnTo>
                    <a:pt x="98425" y="0"/>
                  </a:lnTo>
                  <a:lnTo>
                    <a:pt x="60114" y="7735"/>
                  </a:lnTo>
                  <a:lnTo>
                    <a:pt x="28828" y="28829"/>
                  </a:lnTo>
                  <a:lnTo>
                    <a:pt x="7735" y="60114"/>
                  </a:lnTo>
                  <a:lnTo>
                    <a:pt x="0" y="98425"/>
                  </a:lnTo>
                  <a:lnTo>
                    <a:pt x="0" y="3349625"/>
                  </a:lnTo>
                  <a:lnTo>
                    <a:pt x="7735" y="3387955"/>
                  </a:lnTo>
                  <a:lnTo>
                    <a:pt x="28828" y="3419284"/>
                  </a:lnTo>
                  <a:lnTo>
                    <a:pt x="60114" y="3440422"/>
                  </a:lnTo>
                  <a:lnTo>
                    <a:pt x="98425" y="3448177"/>
                  </a:lnTo>
                  <a:lnTo>
                    <a:pt x="4949062" y="3448177"/>
                  </a:lnTo>
                  <a:lnTo>
                    <a:pt x="4987373" y="3440422"/>
                  </a:lnTo>
                  <a:lnTo>
                    <a:pt x="5018659" y="3419284"/>
                  </a:lnTo>
                  <a:lnTo>
                    <a:pt x="5039752" y="3387955"/>
                  </a:lnTo>
                  <a:lnTo>
                    <a:pt x="5047487" y="3349625"/>
                  </a:lnTo>
                  <a:lnTo>
                    <a:pt x="5047487" y="98425"/>
                  </a:lnTo>
                  <a:lnTo>
                    <a:pt x="5039752" y="60114"/>
                  </a:lnTo>
                  <a:lnTo>
                    <a:pt x="5018658" y="28828"/>
                  </a:lnTo>
                  <a:lnTo>
                    <a:pt x="4987373" y="7735"/>
                  </a:lnTo>
                  <a:lnTo>
                    <a:pt x="4949062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" name="object 8"/>
            <p:cNvSpPr/>
            <p:nvPr/>
          </p:nvSpPr>
          <p:spPr>
            <a:xfrm>
              <a:off x="6332220" y="1916176"/>
              <a:ext cx="5047615" cy="3448685"/>
            </a:xfrm>
            <a:custGeom>
              <a:avLst/>
              <a:gdLst/>
              <a:ahLst/>
              <a:cxnLst/>
              <a:rect l="l" t="t" r="r" b="b"/>
              <a:pathLst>
                <a:path w="5047615" h="3448685">
                  <a:moveTo>
                    <a:pt x="0" y="98425"/>
                  </a:moveTo>
                  <a:lnTo>
                    <a:pt x="7735" y="60114"/>
                  </a:lnTo>
                  <a:lnTo>
                    <a:pt x="28828" y="28829"/>
                  </a:lnTo>
                  <a:lnTo>
                    <a:pt x="60114" y="7735"/>
                  </a:lnTo>
                  <a:lnTo>
                    <a:pt x="98425" y="0"/>
                  </a:lnTo>
                  <a:lnTo>
                    <a:pt x="4949062" y="0"/>
                  </a:lnTo>
                  <a:lnTo>
                    <a:pt x="4987373" y="7735"/>
                  </a:lnTo>
                  <a:lnTo>
                    <a:pt x="5018658" y="28828"/>
                  </a:lnTo>
                  <a:lnTo>
                    <a:pt x="5039752" y="60114"/>
                  </a:lnTo>
                  <a:lnTo>
                    <a:pt x="5047487" y="98425"/>
                  </a:lnTo>
                  <a:lnTo>
                    <a:pt x="5047487" y="3349625"/>
                  </a:lnTo>
                  <a:lnTo>
                    <a:pt x="5039752" y="3387955"/>
                  </a:lnTo>
                  <a:lnTo>
                    <a:pt x="5018659" y="3419284"/>
                  </a:lnTo>
                  <a:lnTo>
                    <a:pt x="4987373" y="3440422"/>
                  </a:lnTo>
                  <a:lnTo>
                    <a:pt x="4949062" y="3448177"/>
                  </a:lnTo>
                  <a:lnTo>
                    <a:pt x="98425" y="3448177"/>
                  </a:lnTo>
                  <a:lnTo>
                    <a:pt x="60114" y="3440422"/>
                  </a:lnTo>
                  <a:lnTo>
                    <a:pt x="28828" y="3419284"/>
                  </a:lnTo>
                  <a:lnTo>
                    <a:pt x="7735" y="3387955"/>
                  </a:lnTo>
                  <a:lnTo>
                    <a:pt x="0" y="3349625"/>
                  </a:lnTo>
                  <a:lnTo>
                    <a:pt x="0" y="98425"/>
                  </a:lnTo>
                  <a:close/>
                </a:path>
              </a:pathLst>
            </a:custGeom>
            <a:ln w="6350">
              <a:solidFill>
                <a:srgbClr val="D9DEE6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9" name="object 9"/>
          <p:cNvSpPr txBox="1"/>
          <p:nvPr/>
        </p:nvSpPr>
        <p:spPr>
          <a:xfrm>
            <a:off x="6574408" y="2150935"/>
            <a:ext cx="1707514" cy="26733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550" spc="60" b="1">
                <a:solidFill>
                  <a:srgbClr val="13203C"/>
                </a:solidFill>
                <a:latin typeface="Arial"/>
                <a:cs typeface="Arial"/>
              </a:rPr>
              <a:t>What</a:t>
            </a:r>
            <a:r>
              <a:rPr dirty="0" sz="1550" spc="-30" b="1">
                <a:solidFill>
                  <a:srgbClr val="13203C"/>
                </a:solidFill>
                <a:latin typeface="Arial"/>
                <a:cs typeface="Arial"/>
              </a:rPr>
              <a:t> </a:t>
            </a:r>
            <a:r>
              <a:rPr dirty="0" sz="1550" b="1">
                <a:solidFill>
                  <a:srgbClr val="13203C"/>
                </a:solidFill>
                <a:latin typeface="Arial"/>
                <a:cs typeface="Arial"/>
              </a:rPr>
              <a:t>print</a:t>
            </a:r>
            <a:r>
              <a:rPr dirty="0" sz="1550" spc="55" b="1">
                <a:solidFill>
                  <a:srgbClr val="13203C"/>
                </a:solidFill>
                <a:latin typeface="Arial"/>
                <a:cs typeface="Arial"/>
              </a:rPr>
              <a:t> </a:t>
            </a:r>
            <a:r>
              <a:rPr dirty="0" sz="1550" spc="-10" b="1">
                <a:solidFill>
                  <a:srgbClr val="13203C"/>
                </a:solidFill>
                <a:latin typeface="Arial"/>
                <a:cs typeface="Arial"/>
              </a:rPr>
              <a:t>shows</a:t>
            </a:r>
            <a:endParaRPr sz="1550">
              <a:latin typeface="Arial"/>
              <a:cs typeface="Arial"/>
            </a:endParaRPr>
          </a:p>
        </p:txBody>
      </p:sp>
      <p:graphicFrame>
        <p:nvGraphicFramePr>
          <p:cNvPr id="10" name="object 10"/>
          <p:cNvGraphicFramePr>
            <a:graphicFrameLocks noGrp="1"/>
          </p:cNvGraphicFramePr>
          <p:nvPr/>
        </p:nvGraphicFramePr>
        <p:xfrm>
          <a:off x="6586346" y="2569717"/>
          <a:ext cx="2244725" cy="214122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970280"/>
                <a:gridCol w="1185545"/>
              </a:tblGrid>
              <a:tr h="356870">
                <a:tc>
                  <a:txBody>
                    <a:bodyPr/>
                    <a:lstStyle/>
                    <a:p>
                      <a:pPr marL="62230">
                        <a:lnSpc>
                          <a:spcPct val="100000"/>
                        </a:lnSpc>
                        <a:spcBef>
                          <a:spcPts val="555"/>
                        </a:spcBef>
                      </a:pPr>
                      <a:r>
                        <a:rPr dirty="0" sz="1300" spc="-10" b="1">
                          <a:solidFill>
                            <a:srgbClr val="13203C"/>
                          </a:solidFill>
                          <a:latin typeface="Arial"/>
                          <a:cs typeface="Arial"/>
                        </a:rPr>
                        <a:t>label</a:t>
                      </a:r>
                      <a:endParaRPr sz="1300">
                        <a:latin typeface="Arial"/>
                        <a:cs typeface="Arial"/>
                      </a:endParaRPr>
                    </a:p>
                  </a:txBody>
                  <a:tcPr marL="0" marR="0" marB="0" marT="70485">
                    <a:lnL w="12700">
                      <a:solidFill>
                        <a:srgbClr val="CACACA"/>
                      </a:solidFill>
                      <a:prstDash val="solid"/>
                    </a:lnL>
                    <a:lnR w="12700">
                      <a:solidFill>
                        <a:srgbClr val="BDC0C3"/>
                      </a:solidFill>
                      <a:prstDash val="solid"/>
                    </a:lnR>
                    <a:lnT w="12700">
                      <a:solidFill>
                        <a:srgbClr val="CACACA"/>
                      </a:solidFill>
                      <a:prstDash val="solid"/>
                    </a:lnT>
                    <a:lnB w="12700">
                      <a:solidFill>
                        <a:srgbClr val="BDC0C3"/>
                      </a:solidFill>
                      <a:prstDash val="solid"/>
                    </a:lnB>
                    <a:solidFill>
                      <a:srgbClr val="EDF0F5"/>
                    </a:solidFill>
                  </a:tcPr>
                </a:tc>
                <a:tc>
                  <a:txBody>
                    <a:bodyPr/>
                    <a:lstStyle/>
                    <a:p>
                      <a:pPr marL="62865">
                        <a:lnSpc>
                          <a:spcPct val="100000"/>
                        </a:lnSpc>
                        <a:spcBef>
                          <a:spcPts val="555"/>
                        </a:spcBef>
                      </a:pPr>
                      <a:r>
                        <a:rPr dirty="0" sz="1300" spc="-10" b="1">
                          <a:solidFill>
                            <a:srgbClr val="13203C"/>
                          </a:solidFill>
                          <a:latin typeface="Arial"/>
                          <a:cs typeface="Arial"/>
                        </a:rPr>
                        <a:t>value</a:t>
                      </a:r>
                      <a:endParaRPr sz="1300">
                        <a:latin typeface="Arial"/>
                        <a:cs typeface="Arial"/>
                      </a:endParaRPr>
                    </a:p>
                  </a:txBody>
                  <a:tcPr marL="0" marR="0" marB="0" marT="70485">
                    <a:lnL w="12700">
                      <a:solidFill>
                        <a:srgbClr val="BDC0C3"/>
                      </a:solidFill>
                      <a:prstDash val="solid"/>
                    </a:lnL>
                    <a:lnR w="12700">
                      <a:solidFill>
                        <a:srgbClr val="BDC0C3"/>
                      </a:solidFill>
                      <a:prstDash val="solid"/>
                    </a:lnR>
                    <a:lnT w="12700">
                      <a:solidFill>
                        <a:srgbClr val="CACACA"/>
                      </a:solidFill>
                      <a:prstDash val="solid"/>
                    </a:lnT>
                    <a:lnB w="12700">
                      <a:solidFill>
                        <a:srgbClr val="BDC0C3"/>
                      </a:solidFill>
                      <a:prstDash val="solid"/>
                    </a:lnB>
                    <a:solidFill>
                      <a:srgbClr val="EDF0F5"/>
                    </a:solidFill>
                  </a:tcPr>
                </a:tc>
              </a:tr>
              <a:tr h="356870">
                <a:tc>
                  <a:txBody>
                    <a:bodyPr/>
                    <a:lstStyle/>
                    <a:p>
                      <a:pPr marL="62230">
                        <a:lnSpc>
                          <a:spcPct val="100000"/>
                        </a:lnSpc>
                        <a:spcBef>
                          <a:spcPts val="560"/>
                        </a:spcBef>
                      </a:pPr>
                      <a:r>
                        <a:rPr dirty="0" sz="1300" spc="-50">
                          <a:solidFill>
                            <a:srgbClr val="13203C"/>
                          </a:solidFill>
                          <a:latin typeface="Arial"/>
                          <a:cs typeface="Arial"/>
                        </a:rPr>
                        <a:t>0</a:t>
                      </a:r>
                      <a:endParaRPr sz="1300">
                        <a:latin typeface="Arial"/>
                        <a:cs typeface="Arial"/>
                      </a:endParaRPr>
                    </a:p>
                  </a:txBody>
                  <a:tcPr marL="0" marR="0" marB="0" marT="71120">
                    <a:lnL w="12700">
                      <a:solidFill>
                        <a:srgbClr val="CACACA"/>
                      </a:solidFill>
                      <a:prstDash val="solid"/>
                    </a:lnL>
                    <a:lnR w="12700">
                      <a:solidFill>
                        <a:srgbClr val="CACACA"/>
                      </a:solidFill>
                      <a:prstDash val="solid"/>
                    </a:lnR>
                    <a:lnT w="12700">
                      <a:solidFill>
                        <a:srgbClr val="BDC0C3"/>
                      </a:solidFill>
                      <a:prstDash val="solid"/>
                    </a:lnT>
                    <a:lnB w="12700">
                      <a:solidFill>
                        <a:srgbClr val="CACAC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2865">
                        <a:lnSpc>
                          <a:spcPct val="100000"/>
                        </a:lnSpc>
                        <a:spcBef>
                          <a:spcPts val="560"/>
                        </a:spcBef>
                      </a:pPr>
                      <a:r>
                        <a:rPr dirty="0" sz="1300" spc="-20">
                          <a:solidFill>
                            <a:srgbClr val="13203C"/>
                          </a:solidFill>
                          <a:latin typeface="Arial"/>
                          <a:cs typeface="Arial"/>
                        </a:rPr>
                        <a:t>0.16</a:t>
                      </a:r>
                      <a:endParaRPr sz="1300">
                        <a:latin typeface="Arial"/>
                        <a:cs typeface="Arial"/>
                      </a:endParaRPr>
                    </a:p>
                  </a:txBody>
                  <a:tcPr marL="0" marR="0" marB="0" marT="71120">
                    <a:lnL w="12700">
                      <a:solidFill>
                        <a:srgbClr val="CACACA"/>
                      </a:solidFill>
                      <a:prstDash val="solid"/>
                    </a:lnL>
                    <a:lnR w="12700">
                      <a:solidFill>
                        <a:srgbClr val="CACACA"/>
                      </a:solidFill>
                      <a:prstDash val="solid"/>
                    </a:lnR>
                    <a:lnT w="12700">
                      <a:solidFill>
                        <a:srgbClr val="BDC0C3"/>
                      </a:solidFill>
                      <a:prstDash val="solid"/>
                    </a:lnT>
                    <a:lnB w="12700">
                      <a:solidFill>
                        <a:srgbClr val="CACACA"/>
                      </a:solidFill>
                      <a:prstDash val="solid"/>
                    </a:lnB>
                  </a:tcPr>
                </a:tc>
              </a:tr>
              <a:tr h="356870">
                <a:tc>
                  <a:txBody>
                    <a:bodyPr/>
                    <a:lstStyle/>
                    <a:p>
                      <a:pPr marL="62230">
                        <a:lnSpc>
                          <a:spcPct val="100000"/>
                        </a:lnSpc>
                        <a:spcBef>
                          <a:spcPts val="565"/>
                        </a:spcBef>
                      </a:pPr>
                      <a:r>
                        <a:rPr dirty="0" sz="1300" spc="-50">
                          <a:solidFill>
                            <a:srgbClr val="13203C"/>
                          </a:solidFill>
                          <a:latin typeface="Arial"/>
                          <a:cs typeface="Arial"/>
                        </a:rPr>
                        <a:t>1</a:t>
                      </a:r>
                      <a:endParaRPr sz="1300">
                        <a:latin typeface="Arial"/>
                        <a:cs typeface="Arial"/>
                      </a:endParaRPr>
                    </a:p>
                  </a:txBody>
                  <a:tcPr marL="0" marR="0" marB="0" marT="71755">
                    <a:lnL w="12700">
                      <a:solidFill>
                        <a:srgbClr val="CACACA"/>
                      </a:solidFill>
                      <a:prstDash val="solid"/>
                    </a:lnL>
                    <a:lnR w="12700">
                      <a:solidFill>
                        <a:srgbClr val="CACACA"/>
                      </a:solidFill>
                      <a:prstDash val="solid"/>
                    </a:lnR>
                    <a:lnT w="12700">
                      <a:solidFill>
                        <a:srgbClr val="CACACA"/>
                      </a:solidFill>
                      <a:prstDash val="solid"/>
                    </a:lnT>
                    <a:lnB w="12700">
                      <a:solidFill>
                        <a:srgbClr val="CACAC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2865">
                        <a:lnSpc>
                          <a:spcPct val="100000"/>
                        </a:lnSpc>
                        <a:spcBef>
                          <a:spcPts val="565"/>
                        </a:spcBef>
                      </a:pPr>
                      <a:r>
                        <a:rPr dirty="0" sz="1300" spc="-20">
                          <a:solidFill>
                            <a:srgbClr val="13203C"/>
                          </a:solidFill>
                          <a:latin typeface="Arial"/>
                          <a:cs typeface="Arial"/>
                        </a:rPr>
                        <a:t>0.07</a:t>
                      </a:r>
                      <a:endParaRPr sz="1300">
                        <a:latin typeface="Arial"/>
                        <a:cs typeface="Arial"/>
                      </a:endParaRPr>
                    </a:p>
                  </a:txBody>
                  <a:tcPr marL="0" marR="0" marB="0" marT="71755">
                    <a:lnL w="12700">
                      <a:solidFill>
                        <a:srgbClr val="CACACA"/>
                      </a:solidFill>
                      <a:prstDash val="solid"/>
                    </a:lnL>
                    <a:lnR w="12700">
                      <a:solidFill>
                        <a:srgbClr val="CACACA"/>
                      </a:solidFill>
                      <a:prstDash val="solid"/>
                    </a:lnR>
                    <a:lnT w="12700">
                      <a:solidFill>
                        <a:srgbClr val="CACACA"/>
                      </a:solidFill>
                      <a:prstDash val="solid"/>
                    </a:lnT>
                    <a:lnB w="12700">
                      <a:solidFill>
                        <a:srgbClr val="CACACA"/>
                      </a:solidFill>
                      <a:prstDash val="solid"/>
                    </a:lnB>
                  </a:tcPr>
                </a:tc>
              </a:tr>
              <a:tr h="356870">
                <a:tc>
                  <a:txBody>
                    <a:bodyPr/>
                    <a:lstStyle/>
                    <a:p>
                      <a:pPr marL="62230">
                        <a:lnSpc>
                          <a:spcPct val="100000"/>
                        </a:lnSpc>
                        <a:spcBef>
                          <a:spcPts val="570"/>
                        </a:spcBef>
                      </a:pPr>
                      <a:r>
                        <a:rPr dirty="0" sz="1300" spc="-50">
                          <a:solidFill>
                            <a:srgbClr val="13203C"/>
                          </a:solidFill>
                          <a:latin typeface="Arial"/>
                          <a:cs typeface="Arial"/>
                        </a:rPr>
                        <a:t>2</a:t>
                      </a:r>
                      <a:endParaRPr sz="1300">
                        <a:latin typeface="Arial"/>
                        <a:cs typeface="Arial"/>
                      </a:endParaRPr>
                    </a:p>
                  </a:txBody>
                  <a:tcPr marL="0" marR="0" marB="0" marT="72390">
                    <a:lnL w="12700">
                      <a:solidFill>
                        <a:srgbClr val="CACACA"/>
                      </a:solidFill>
                      <a:prstDash val="solid"/>
                    </a:lnL>
                    <a:lnR w="12700">
                      <a:solidFill>
                        <a:srgbClr val="CACACA"/>
                      </a:solidFill>
                      <a:prstDash val="solid"/>
                    </a:lnR>
                    <a:lnT w="12700">
                      <a:solidFill>
                        <a:srgbClr val="CACACA"/>
                      </a:solidFill>
                      <a:prstDash val="solid"/>
                    </a:lnT>
                    <a:lnB w="12700">
                      <a:solidFill>
                        <a:srgbClr val="CACAC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2865">
                        <a:lnSpc>
                          <a:spcPct val="100000"/>
                        </a:lnSpc>
                        <a:spcBef>
                          <a:spcPts val="570"/>
                        </a:spcBef>
                      </a:pPr>
                      <a:r>
                        <a:rPr dirty="0" sz="1300" spc="-20">
                          <a:solidFill>
                            <a:srgbClr val="13203C"/>
                          </a:solidFill>
                          <a:latin typeface="Arial"/>
                          <a:cs typeface="Arial"/>
                        </a:rPr>
                        <a:t>0.23</a:t>
                      </a:r>
                      <a:endParaRPr sz="1300">
                        <a:latin typeface="Arial"/>
                        <a:cs typeface="Arial"/>
                      </a:endParaRPr>
                    </a:p>
                  </a:txBody>
                  <a:tcPr marL="0" marR="0" marB="0" marT="72390">
                    <a:lnL w="12700">
                      <a:solidFill>
                        <a:srgbClr val="CACACA"/>
                      </a:solidFill>
                      <a:prstDash val="solid"/>
                    </a:lnL>
                    <a:lnR w="12700">
                      <a:solidFill>
                        <a:srgbClr val="CACACA"/>
                      </a:solidFill>
                      <a:prstDash val="solid"/>
                    </a:lnR>
                    <a:lnT w="12700">
                      <a:solidFill>
                        <a:srgbClr val="CACACA"/>
                      </a:solidFill>
                      <a:prstDash val="solid"/>
                    </a:lnT>
                    <a:lnB w="12700">
                      <a:solidFill>
                        <a:srgbClr val="CACACA"/>
                      </a:solidFill>
                      <a:prstDash val="solid"/>
                    </a:lnB>
                  </a:tcPr>
                </a:tc>
              </a:tr>
              <a:tr h="356870">
                <a:tc>
                  <a:txBody>
                    <a:bodyPr/>
                    <a:lstStyle/>
                    <a:p>
                      <a:pPr marL="62230">
                        <a:lnSpc>
                          <a:spcPct val="100000"/>
                        </a:lnSpc>
                        <a:spcBef>
                          <a:spcPts val="575"/>
                        </a:spcBef>
                      </a:pPr>
                      <a:r>
                        <a:rPr dirty="0" sz="1300" spc="-50">
                          <a:solidFill>
                            <a:srgbClr val="13203C"/>
                          </a:solidFill>
                          <a:latin typeface="Arial"/>
                          <a:cs typeface="Arial"/>
                        </a:rPr>
                        <a:t>3</a:t>
                      </a:r>
                      <a:endParaRPr sz="1300">
                        <a:latin typeface="Arial"/>
                        <a:cs typeface="Arial"/>
                      </a:endParaRPr>
                    </a:p>
                  </a:txBody>
                  <a:tcPr marL="0" marR="0" marB="0" marT="73025">
                    <a:lnL w="12700">
                      <a:solidFill>
                        <a:srgbClr val="CACACA"/>
                      </a:solidFill>
                      <a:prstDash val="solid"/>
                    </a:lnL>
                    <a:lnR w="12700">
                      <a:solidFill>
                        <a:srgbClr val="CACACA"/>
                      </a:solidFill>
                      <a:prstDash val="solid"/>
                    </a:lnR>
                    <a:lnT w="12700">
                      <a:solidFill>
                        <a:srgbClr val="CACACA"/>
                      </a:solidFill>
                      <a:prstDash val="solid"/>
                    </a:lnT>
                    <a:lnB w="12700">
                      <a:solidFill>
                        <a:srgbClr val="CACAC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2865">
                        <a:lnSpc>
                          <a:spcPct val="100000"/>
                        </a:lnSpc>
                        <a:spcBef>
                          <a:spcPts val="575"/>
                        </a:spcBef>
                      </a:pPr>
                      <a:r>
                        <a:rPr dirty="0" sz="1300" spc="-20">
                          <a:solidFill>
                            <a:srgbClr val="13203C"/>
                          </a:solidFill>
                          <a:latin typeface="Arial"/>
                          <a:cs typeface="Arial"/>
                        </a:rPr>
                        <a:t>0.24</a:t>
                      </a:r>
                      <a:endParaRPr sz="1300">
                        <a:latin typeface="Arial"/>
                        <a:cs typeface="Arial"/>
                      </a:endParaRPr>
                    </a:p>
                  </a:txBody>
                  <a:tcPr marL="0" marR="0" marB="0" marT="73025">
                    <a:lnL w="12700">
                      <a:solidFill>
                        <a:srgbClr val="CACACA"/>
                      </a:solidFill>
                      <a:prstDash val="solid"/>
                    </a:lnL>
                    <a:lnR w="12700">
                      <a:solidFill>
                        <a:srgbClr val="CACACA"/>
                      </a:solidFill>
                      <a:prstDash val="solid"/>
                    </a:lnR>
                    <a:lnT w="12700">
                      <a:solidFill>
                        <a:srgbClr val="CACACA"/>
                      </a:solidFill>
                      <a:prstDash val="solid"/>
                    </a:lnT>
                    <a:lnB w="12700">
                      <a:solidFill>
                        <a:srgbClr val="CACACA"/>
                      </a:solidFill>
                      <a:prstDash val="solid"/>
                    </a:lnB>
                  </a:tcPr>
                </a:tc>
              </a:tr>
              <a:tr h="356870">
                <a:tc>
                  <a:txBody>
                    <a:bodyPr/>
                    <a:lstStyle/>
                    <a:p>
                      <a:pPr marL="62230">
                        <a:lnSpc>
                          <a:spcPct val="100000"/>
                        </a:lnSpc>
                        <a:spcBef>
                          <a:spcPts val="580"/>
                        </a:spcBef>
                      </a:pPr>
                      <a:r>
                        <a:rPr dirty="0" sz="1300" spc="-50">
                          <a:solidFill>
                            <a:srgbClr val="13203C"/>
                          </a:solidFill>
                          <a:latin typeface="Arial"/>
                          <a:cs typeface="Arial"/>
                        </a:rPr>
                        <a:t>4</a:t>
                      </a:r>
                      <a:endParaRPr sz="1300">
                        <a:latin typeface="Arial"/>
                        <a:cs typeface="Arial"/>
                      </a:endParaRPr>
                    </a:p>
                  </a:txBody>
                  <a:tcPr marL="0" marR="0" marB="0" marT="73660">
                    <a:lnL w="12700">
                      <a:solidFill>
                        <a:srgbClr val="CACACA"/>
                      </a:solidFill>
                      <a:prstDash val="solid"/>
                    </a:lnL>
                    <a:lnR w="12700">
                      <a:solidFill>
                        <a:srgbClr val="CACACA"/>
                      </a:solidFill>
                      <a:prstDash val="solid"/>
                    </a:lnR>
                    <a:lnT w="12700">
                      <a:solidFill>
                        <a:srgbClr val="CACACA"/>
                      </a:solidFill>
                      <a:prstDash val="solid"/>
                    </a:lnT>
                    <a:lnB w="12700">
                      <a:solidFill>
                        <a:srgbClr val="CACAC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2865">
                        <a:lnSpc>
                          <a:spcPct val="100000"/>
                        </a:lnSpc>
                        <a:spcBef>
                          <a:spcPts val="580"/>
                        </a:spcBef>
                      </a:pPr>
                      <a:r>
                        <a:rPr dirty="0" sz="1300" spc="-20">
                          <a:solidFill>
                            <a:srgbClr val="13203C"/>
                          </a:solidFill>
                          <a:latin typeface="Arial"/>
                          <a:cs typeface="Arial"/>
                        </a:rPr>
                        <a:t>0.14</a:t>
                      </a:r>
                      <a:endParaRPr sz="1300">
                        <a:latin typeface="Arial"/>
                        <a:cs typeface="Arial"/>
                      </a:endParaRPr>
                    </a:p>
                  </a:txBody>
                  <a:tcPr marL="0" marR="0" marB="0" marT="73660">
                    <a:lnL w="12700">
                      <a:solidFill>
                        <a:srgbClr val="CACACA"/>
                      </a:solidFill>
                      <a:prstDash val="solid"/>
                    </a:lnL>
                    <a:lnR w="12700">
                      <a:solidFill>
                        <a:srgbClr val="CACACA"/>
                      </a:solidFill>
                      <a:prstDash val="solid"/>
                    </a:lnR>
                    <a:lnT w="12700">
                      <a:solidFill>
                        <a:srgbClr val="CACACA"/>
                      </a:solidFill>
                      <a:prstDash val="solid"/>
                    </a:lnT>
                    <a:lnB w="12700">
                      <a:solidFill>
                        <a:srgbClr val="CACACA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graphicFrame>
        <p:nvGraphicFramePr>
          <p:cNvPr id="11" name="object 11"/>
          <p:cNvGraphicFramePr>
            <a:graphicFrameLocks noGrp="1"/>
          </p:cNvGraphicFramePr>
          <p:nvPr/>
        </p:nvGraphicFramePr>
        <p:xfrm>
          <a:off x="8955531" y="2569717"/>
          <a:ext cx="2244725" cy="214122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969644"/>
                <a:gridCol w="1184909"/>
              </a:tblGrid>
              <a:tr h="356870">
                <a:tc>
                  <a:txBody>
                    <a:bodyPr/>
                    <a:lstStyle/>
                    <a:p>
                      <a:pPr marL="64135">
                        <a:lnSpc>
                          <a:spcPct val="100000"/>
                        </a:lnSpc>
                        <a:spcBef>
                          <a:spcPts val="555"/>
                        </a:spcBef>
                      </a:pPr>
                      <a:r>
                        <a:rPr dirty="0" sz="1300" spc="-10" b="1">
                          <a:solidFill>
                            <a:srgbClr val="13203C"/>
                          </a:solidFill>
                          <a:latin typeface="Arial"/>
                          <a:cs typeface="Arial"/>
                        </a:rPr>
                        <a:t>label</a:t>
                      </a:r>
                      <a:endParaRPr sz="1300">
                        <a:latin typeface="Arial"/>
                        <a:cs typeface="Arial"/>
                      </a:endParaRPr>
                    </a:p>
                  </a:txBody>
                  <a:tcPr marL="0" marR="0" marB="0" marT="70485">
                    <a:lnL w="12700">
                      <a:solidFill>
                        <a:srgbClr val="CACACA"/>
                      </a:solidFill>
                      <a:prstDash val="solid"/>
                    </a:lnL>
                    <a:lnR w="12700">
                      <a:solidFill>
                        <a:srgbClr val="BDC0C3"/>
                      </a:solidFill>
                      <a:prstDash val="solid"/>
                    </a:lnR>
                    <a:lnT w="12700">
                      <a:solidFill>
                        <a:srgbClr val="CACACA"/>
                      </a:solidFill>
                      <a:prstDash val="solid"/>
                    </a:lnT>
                    <a:lnB w="12700">
                      <a:solidFill>
                        <a:srgbClr val="BDC0C3"/>
                      </a:solidFill>
                      <a:prstDash val="solid"/>
                    </a:lnB>
                    <a:solidFill>
                      <a:srgbClr val="EDF0F5"/>
                    </a:solidFill>
                  </a:tcPr>
                </a:tc>
                <a:tc>
                  <a:txBody>
                    <a:bodyPr/>
                    <a:lstStyle/>
                    <a:p>
                      <a:pPr marL="64769">
                        <a:lnSpc>
                          <a:spcPct val="100000"/>
                        </a:lnSpc>
                        <a:spcBef>
                          <a:spcPts val="555"/>
                        </a:spcBef>
                      </a:pPr>
                      <a:r>
                        <a:rPr dirty="0" sz="1300" spc="-10" b="1">
                          <a:solidFill>
                            <a:srgbClr val="13203C"/>
                          </a:solidFill>
                          <a:latin typeface="Arial"/>
                          <a:cs typeface="Arial"/>
                        </a:rPr>
                        <a:t>value</a:t>
                      </a:r>
                      <a:endParaRPr sz="1300">
                        <a:latin typeface="Arial"/>
                        <a:cs typeface="Arial"/>
                      </a:endParaRPr>
                    </a:p>
                  </a:txBody>
                  <a:tcPr marL="0" marR="0" marB="0" marT="70485">
                    <a:lnL w="12700">
                      <a:solidFill>
                        <a:srgbClr val="BDC0C3"/>
                      </a:solidFill>
                      <a:prstDash val="solid"/>
                    </a:lnL>
                    <a:lnR w="12700">
                      <a:solidFill>
                        <a:srgbClr val="BDC0C3"/>
                      </a:solidFill>
                      <a:prstDash val="solid"/>
                    </a:lnR>
                    <a:lnT w="12700">
                      <a:solidFill>
                        <a:srgbClr val="CACACA"/>
                      </a:solidFill>
                      <a:prstDash val="solid"/>
                    </a:lnT>
                    <a:lnB w="12700">
                      <a:solidFill>
                        <a:srgbClr val="BDC0C3"/>
                      </a:solidFill>
                      <a:prstDash val="solid"/>
                    </a:lnB>
                    <a:solidFill>
                      <a:srgbClr val="EDF0F5"/>
                    </a:solidFill>
                  </a:tcPr>
                </a:tc>
              </a:tr>
              <a:tr h="356870">
                <a:tc>
                  <a:txBody>
                    <a:bodyPr/>
                    <a:lstStyle/>
                    <a:p>
                      <a:pPr marL="64135">
                        <a:lnSpc>
                          <a:spcPct val="100000"/>
                        </a:lnSpc>
                        <a:spcBef>
                          <a:spcPts val="560"/>
                        </a:spcBef>
                      </a:pPr>
                      <a:r>
                        <a:rPr dirty="0" sz="1300" spc="-50">
                          <a:solidFill>
                            <a:srgbClr val="13203C"/>
                          </a:solidFill>
                          <a:latin typeface="Arial"/>
                          <a:cs typeface="Arial"/>
                        </a:rPr>
                        <a:t>5</a:t>
                      </a:r>
                      <a:endParaRPr sz="1300">
                        <a:latin typeface="Arial"/>
                        <a:cs typeface="Arial"/>
                      </a:endParaRPr>
                    </a:p>
                  </a:txBody>
                  <a:tcPr marL="0" marR="0" marB="0" marT="71120">
                    <a:lnL w="12700">
                      <a:solidFill>
                        <a:srgbClr val="CACACA"/>
                      </a:solidFill>
                      <a:prstDash val="solid"/>
                    </a:lnL>
                    <a:lnR w="12700">
                      <a:solidFill>
                        <a:srgbClr val="CACACA"/>
                      </a:solidFill>
                      <a:prstDash val="solid"/>
                    </a:lnR>
                    <a:lnT w="12700">
                      <a:solidFill>
                        <a:srgbClr val="BDC0C3"/>
                      </a:solidFill>
                      <a:prstDash val="solid"/>
                    </a:lnT>
                    <a:lnB w="12700">
                      <a:solidFill>
                        <a:srgbClr val="CACAC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4769">
                        <a:lnSpc>
                          <a:spcPct val="100000"/>
                        </a:lnSpc>
                        <a:spcBef>
                          <a:spcPts val="560"/>
                        </a:spcBef>
                      </a:pPr>
                      <a:r>
                        <a:rPr dirty="0" sz="1300" spc="-20">
                          <a:solidFill>
                            <a:srgbClr val="13203C"/>
                          </a:solidFill>
                          <a:latin typeface="Arial"/>
                          <a:cs typeface="Arial"/>
                        </a:rPr>
                        <a:t>4.99</a:t>
                      </a:r>
                      <a:endParaRPr sz="1300">
                        <a:latin typeface="Arial"/>
                        <a:cs typeface="Arial"/>
                      </a:endParaRPr>
                    </a:p>
                  </a:txBody>
                  <a:tcPr marL="0" marR="0" marB="0" marT="71120">
                    <a:lnL w="12700">
                      <a:solidFill>
                        <a:srgbClr val="CACACA"/>
                      </a:solidFill>
                      <a:prstDash val="solid"/>
                    </a:lnL>
                    <a:lnR w="12700">
                      <a:solidFill>
                        <a:srgbClr val="CACACA"/>
                      </a:solidFill>
                      <a:prstDash val="solid"/>
                    </a:lnR>
                    <a:lnT w="12700">
                      <a:solidFill>
                        <a:srgbClr val="BDC0C3"/>
                      </a:solidFill>
                      <a:prstDash val="solid"/>
                    </a:lnT>
                    <a:lnB w="12700">
                      <a:solidFill>
                        <a:srgbClr val="CACACA"/>
                      </a:solidFill>
                      <a:prstDash val="solid"/>
                    </a:lnB>
                  </a:tcPr>
                </a:tc>
              </a:tr>
              <a:tr h="356870">
                <a:tc>
                  <a:txBody>
                    <a:bodyPr/>
                    <a:lstStyle/>
                    <a:p>
                      <a:pPr marL="64135">
                        <a:lnSpc>
                          <a:spcPct val="100000"/>
                        </a:lnSpc>
                        <a:spcBef>
                          <a:spcPts val="565"/>
                        </a:spcBef>
                      </a:pPr>
                      <a:r>
                        <a:rPr dirty="0" sz="1300" spc="-50">
                          <a:solidFill>
                            <a:srgbClr val="13203C"/>
                          </a:solidFill>
                          <a:latin typeface="Arial"/>
                          <a:cs typeface="Arial"/>
                        </a:rPr>
                        <a:t>6</a:t>
                      </a:r>
                      <a:endParaRPr sz="1300">
                        <a:latin typeface="Arial"/>
                        <a:cs typeface="Arial"/>
                      </a:endParaRPr>
                    </a:p>
                  </a:txBody>
                  <a:tcPr marL="0" marR="0" marB="0" marT="71755">
                    <a:lnL w="12700">
                      <a:solidFill>
                        <a:srgbClr val="CACACA"/>
                      </a:solidFill>
                      <a:prstDash val="solid"/>
                    </a:lnL>
                    <a:lnR w="12700">
                      <a:solidFill>
                        <a:srgbClr val="CACACA"/>
                      </a:solidFill>
                      <a:prstDash val="solid"/>
                    </a:lnR>
                    <a:lnT w="12700">
                      <a:solidFill>
                        <a:srgbClr val="CACACA"/>
                      </a:solidFill>
                      <a:prstDash val="solid"/>
                    </a:lnT>
                    <a:lnB w="12700">
                      <a:solidFill>
                        <a:srgbClr val="CACAC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4769">
                        <a:lnSpc>
                          <a:spcPct val="100000"/>
                        </a:lnSpc>
                        <a:spcBef>
                          <a:spcPts val="565"/>
                        </a:spcBef>
                      </a:pPr>
                      <a:r>
                        <a:rPr dirty="0" sz="1300" spc="-20">
                          <a:solidFill>
                            <a:srgbClr val="13203C"/>
                          </a:solidFill>
                          <a:latin typeface="Arial"/>
                          <a:cs typeface="Arial"/>
                        </a:rPr>
                        <a:t>0.23</a:t>
                      </a:r>
                      <a:endParaRPr sz="1300">
                        <a:latin typeface="Arial"/>
                        <a:cs typeface="Arial"/>
                      </a:endParaRPr>
                    </a:p>
                  </a:txBody>
                  <a:tcPr marL="0" marR="0" marB="0" marT="71755">
                    <a:lnL w="12700">
                      <a:solidFill>
                        <a:srgbClr val="CACACA"/>
                      </a:solidFill>
                      <a:prstDash val="solid"/>
                    </a:lnL>
                    <a:lnR w="12700">
                      <a:solidFill>
                        <a:srgbClr val="CACACA"/>
                      </a:solidFill>
                      <a:prstDash val="solid"/>
                    </a:lnR>
                    <a:lnT w="12700">
                      <a:solidFill>
                        <a:srgbClr val="CACACA"/>
                      </a:solidFill>
                      <a:prstDash val="solid"/>
                    </a:lnT>
                    <a:lnB w="12700">
                      <a:solidFill>
                        <a:srgbClr val="CACACA"/>
                      </a:solidFill>
                      <a:prstDash val="solid"/>
                    </a:lnB>
                  </a:tcPr>
                </a:tc>
              </a:tr>
              <a:tr h="356870">
                <a:tc>
                  <a:txBody>
                    <a:bodyPr/>
                    <a:lstStyle/>
                    <a:p>
                      <a:pPr marL="64135">
                        <a:lnSpc>
                          <a:spcPct val="100000"/>
                        </a:lnSpc>
                        <a:spcBef>
                          <a:spcPts val="570"/>
                        </a:spcBef>
                      </a:pPr>
                      <a:r>
                        <a:rPr dirty="0" sz="1300" spc="-50">
                          <a:solidFill>
                            <a:srgbClr val="13203C"/>
                          </a:solidFill>
                          <a:latin typeface="Arial"/>
                          <a:cs typeface="Arial"/>
                        </a:rPr>
                        <a:t>7</a:t>
                      </a:r>
                      <a:endParaRPr sz="1300">
                        <a:latin typeface="Arial"/>
                        <a:cs typeface="Arial"/>
                      </a:endParaRPr>
                    </a:p>
                  </a:txBody>
                  <a:tcPr marL="0" marR="0" marB="0" marT="72390">
                    <a:lnL w="12700">
                      <a:solidFill>
                        <a:srgbClr val="CACACA"/>
                      </a:solidFill>
                      <a:prstDash val="solid"/>
                    </a:lnL>
                    <a:lnR w="12700">
                      <a:solidFill>
                        <a:srgbClr val="CACACA"/>
                      </a:solidFill>
                      <a:prstDash val="solid"/>
                    </a:lnR>
                    <a:lnT w="12700">
                      <a:solidFill>
                        <a:srgbClr val="CACACA"/>
                      </a:solidFill>
                      <a:prstDash val="solid"/>
                    </a:lnT>
                    <a:lnB w="12700">
                      <a:solidFill>
                        <a:srgbClr val="CACAC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4769">
                        <a:lnSpc>
                          <a:spcPct val="100000"/>
                        </a:lnSpc>
                        <a:spcBef>
                          <a:spcPts val="570"/>
                        </a:spcBef>
                      </a:pPr>
                      <a:r>
                        <a:rPr dirty="0" sz="1300" spc="-20">
                          <a:solidFill>
                            <a:srgbClr val="13203C"/>
                          </a:solidFill>
                          <a:latin typeface="Arial"/>
                          <a:cs typeface="Arial"/>
                        </a:rPr>
                        <a:t>0.47</a:t>
                      </a:r>
                      <a:endParaRPr sz="1300">
                        <a:latin typeface="Arial"/>
                        <a:cs typeface="Arial"/>
                      </a:endParaRPr>
                    </a:p>
                  </a:txBody>
                  <a:tcPr marL="0" marR="0" marB="0" marT="72390">
                    <a:lnL w="12700">
                      <a:solidFill>
                        <a:srgbClr val="CACACA"/>
                      </a:solidFill>
                      <a:prstDash val="solid"/>
                    </a:lnL>
                    <a:lnR w="12700">
                      <a:solidFill>
                        <a:srgbClr val="CACACA"/>
                      </a:solidFill>
                      <a:prstDash val="solid"/>
                    </a:lnR>
                    <a:lnT w="12700">
                      <a:solidFill>
                        <a:srgbClr val="CACACA"/>
                      </a:solidFill>
                      <a:prstDash val="solid"/>
                    </a:lnT>
                    <a:lnB w="12700">
                      <a:solidFill>
                        <a:srgbClr val="CACACA"/>
                      </a:solidFill>
                      <a:prstDash val="solid"/>
                    </a:lnB>
                  </a:tcPr>
                </a:tc>
              </a:tr>
              <a:tr h="356870">
                <a:tc>
                  <a:txBody>
                    <a:bodyPr/>
                    <a:lstStyle/>
                    <a:p>
                      <a:pPr marL="64135">
                        <a:lnSpc>
                          <a:spcPct val="100000"/>
                        </a:lnSpc>
                        <a:spcBef>
                          <a:spcPts val="575"/>
                        </a:spcBef>
                      </a:pPr>
                      <a:r>
                        <a:rPr dirty="0" sz="1300" spc="-50">
                          <a:solidFill>
                            <a:srgbClr val="13203C"/>
                          </a:solidFill>
                          <a:latin typeface="Arial"/>
                          <a:cs typeface="Arial"/>
                        </a:rPr>
                        <a:t>8</a:t>
                      </a:r>
                      <a:endParaRPr sz="1300">
                        <a:latin typeface="Arial"/>
                        <a:cs typeface="Arial"/>
                      </a:endParaRPr>
                    </a:p>
                  </a:txBody>
                  <a:tcPr marL="0" marR="0" marB="0" marT="73025">
                    <a:lnL w="12700">
                      <a:solidFill>
                        <a:srgbClr val="CACACA"/>
                      </a:solidFill>
                      <a:prstDash val="solid"/>
                    </a:lnL>
                    <a:lnR w="12700">
                      <a:solidFill>
                        <a:srgbClr val="CACACA"/>
                      </a:solidFill>
                      <a:prstDash val="solid"/>
                    </a:lnR>
                    <a:lnT w="12700">
                      <a:solidFill>
                        <a:srgbClr val="CACACA"/>
                      </a:solidFill>
                      <a:prstDash val="solid"/>
                    </a:lnT>
                    <a:lnB w="12700">
                      <a:solidFill>
                        <a:srgbClr val="CACAC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4769">
                        <a:lnSpc>
                          <a:spcPct val="100000"/>
                        </a:lnSpc>
                        <a:spcBef>
                          <a:spcPts val="575"/>
                        </a:spcBef>
                      </a:pPr>
                      <a:r>
                        <a:rPr dirty="0" sz="1300" spc="-20">
                          <a:solidFill>
                            <a:srgbClr val="13203C"/>
                          </a:solidFill>
                          <a:latin typeface="Arial"/>
                          <a:cs typeface="Arial"/>
                        </a:rPr>
                        <a:t>0.46</a:t>
                      </a:r>
                      <a:endParaRPr sz="1300">
                        <a:latin typeface="Arial"/>
                        <a:cs typeface="Arial"/>
                      </a:endParaRPr>
                    </a:p>
                  </a:txBody>
                  <a:tcPr marL="0" marR="0" marB="0" marT="73025">
                    <a:lnL w="12700">
                      <a:solidFill>
                        <a:srgbClr val="CACACA"/>
                      </a:solidFill>
                      <a:prstDash val="solid"/>
                    </a:lnL>
                    <a:lnR w="12700">
                      <a:solidFill>
                        <a:srgbClr val="CACACA"/>
                      </a:solidFill>
                      <a:prstDash val="solid"/>
                    </a:lnR>
                    <a:lnT w="12700">
                      <a:solidFill>
                        <a:srgbClr val="CACACA"/>
                      </a:solidFill>
                      <a:prstDash val="solid"/>
                    </a:lnT>
                    <a:lnB w="12700">
                      <a:solidFill>
                        <a:srgbClr val="CACACA"/>
                      </a:solidFill>
                      <a:prstDash val="solid"/>
                    </a:lnB>
                  </a:tcPr>
                </a:tc>
              </a:tr>
              <a:tr h="356870">
                <a:tc>
                  <a:txBody>
                    <a:bodyPr/>
                    <a:lstStyle/>
                    <a:p>
                      <a:pPr marL="64135">
                        <a:lnSpc>
                          <a:spcPct val="100000"/>
                        </a:lnSpc>
                        <a:spcBef>
                          <a:spcPts val="580"/>
                        </a:spcBef>
                      </a:pPr>
                      <a:r>
                        <a:rPr dirty="0" sz="1300" spc="-50">
                          <a:solidFill>
                            <a:srgbClr val="13203C"/>
                          </a:solidFill>
                          <a:latin typeface="Arial"/>
                          <a:cs typeface="Arial"/>
                        </a:rPr>
                        <a:t>9</a:t>
                      </a:r>
                      <a:endParaRPr sz="1300">
                        <a:latin typeface="Arial"/>
                        <a:cs typeface="Arial"/>
                      </a:endParaRPr>
                    </a:p>
                  </a:txBody>
                  <a:tcPr marL="0" marR="0" marB="0" marT="73660">
                    <a:lnL w="12700">
                      <a:solidFill>
                        <a:srgbClr val="CACACA"/>
                      </a:solidFill>
                      <a:prstDash val="solid"/>
                    </a:lnL>
                    <a:lnR w="12700">
                      <a:solidFill>
                        <a:srgbClr val="CACACA"/>
                      </a:solidFill>
                      <a:prstDash val="solid"/>
                    </a:lnR>
                    <a:lnT w="12700">
                      <a:solidFill>
                        <a:srgbClr val="CACACA"/>
                      </a:solidFill>
                      <a:prstDash val="solid"/>
                    </a:lnT>
                    <a:lnB w="12700">
                      <a:solidFill>
                        <a:srgbClr val="CACAC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4769">
                        <a:lnSpc>
                          <a:spcPct val="100000"/>
                        </a:lnSpc>
                        <a:spcBef>
                          <a:spcPts val="580"/>
                        </a:spcBef>
                      </a:pPr>
                      <a:r>
                        <a:rPr dirty="0" sz="1300" spc="-20">
                          <a:solidFill>
                            <a:srgbClr val="13203C"/>
                          </a:solidFill>
                          <a:latin typeface="Arial"/>
                          <a:cs typeface="Arial"/>
                        </a:rPr>
                        <a:t>0.17</a:t>
                      </a:r>
                      <a:endParaRPr sz="1300">
                        <a:latin typeface="Arial"/>
                        <a:cs typeface="Arial"/>
                      </a:endParaRPr>
                    </a:p>
                  </a:txBody>
                  <a:tcPr marL="0" marR="0" marB="0" marT="73660">
                    <a:lnL w="12700">
                      <a:solidFill>
                        <a:srgbClr val="CACACA"/>
                      </a:solidFill>
                      <a:prstDash val="solid"/>
                    </a:lnL>
                    <a:lnR w="12700">
                      <a:solidFill>
                        <a:srgbClr val="CACACA"/>
                      </a:solidFill>
                      <a:prstDash val="solid"/>
                    </a:lnR>
                    <a:lnT w="12700">
                      <a:solidFill>
                        <a:srgbClr val="CACACA"/>
                      </a:solidFill>
                      <a:prstDash val="solid"/>
                    </a:lnT>
                    <a:lnB w="12700">
                      <a:solidFill>
                        <a:srgbClr val="CACACA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2" name="object 12"/>
          <p:cNvSpPr txBox="1"/>
          <p:nvPr/>
        </p:nvSpPr>
        <p:spPr>
          <a:xfrm>
            <a:off x="800480" y="3233178"/>
            <a:ext cx="6742430" cy="1866264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266700" marR="4443730">
              <a:lnSpc>
                <a:spcPct val="138100"/>
              </a:lnSpc>
              <a:spcBef>
                <a:spcPts val="95"/>
              </a:spcBef>
            </a:pPr>
            <a:r>
              <a:rPr dirty="0" sz="1350" spc="-30">
                <a:solidFill>
                  <a:srgbClr val="F4F0EA"/>
                </a:solidFill>
                <a:latin typeface="Arial"/>
                <a:cs typeface="Arial"/>
              </a:rPr>
              <a:t>print(CPU_USAGE) </a:t>
            </a:r>
            <a:r>
              <a:rPr dirty="0" sz="1350" spc="-75">
                <a:solidFill>
                  <a:srgbClr val="F4F0EA"/>
                </a:solidFill>
                <a:latin typeface="Arial"/>
                <a:cs typeface="Arial"/>
              </a:rPr>
              <a:t>print(len(CPU_USAGE))</a:t>
            </a:r>
            <a:r>
              <a:rPr dirty="0" sz="1350" spc="15">
                <a:solidFill>
                  <a:srgbClr val="F4F0EA"/>
                </a:solidFill>
                <a:latin typeface="Arial"/>
                <a:cs typeface="Arial"/>
              </a:rPr>
              <a:t> </a:t>
            </a:r>
            <a:r>
              <a:rPr dirty="0" sz="1350" spc="-75">
                <a:solidFill>
                  <a:srgbClr val="9FAFC7"/>
                </a:solidFill>
                <a:latin typeface="Arial"/>
                <a:cs typeface="Arial"/>
              </a:rPr>
              <a:t>#</a:t>
            </a:r>
            <a:r>
              <a:rPr dirty="0" sz="1350" spc="-20">
                <a:solidFill>
                  <a:srgbClr val="9FAFC7"/>
                </a:solidFill>
                <a:latin typeface="Arial"/>
                <a:cs typeface="Arial"/>
              </a:rPr>
              <a:t> </a:t>
            </a:r>
            <a:r>
              <a:rPr dirty="0" sz="1350" spc="-25">
                <a:solidFill>
                  <a:srgbClr val="9FAFC7"/>
                </a:solidFill>
                <a:latin typeface="Arial"/>
                <a:cs typeface="Arial"/>
              </a:rPr>
              <a:t>10</a:t>
            </a:r>
            <a:endParaRPr sz="135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13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390"/>
              </a:spcBef>
            </a:pPr>
            <a:endParaRPr sz="1350">
              <a:latin typeface="Arial"/>
              <a:cs typeface="Arial"/>
            </a:endParaRPr>
          </a:p>
          <a:p>
            <a:pPr marL="12700" marR="1691005">
              <a:lnSpc>
                <a:spcPct val="116300"/>
              </a:lnSpc>
            </a:pPr>
            <a:r>
              <a:rPr dirty="0" sz="1500" spc="-20">
                <a:solidFill>
                  <a:srgbClr val="3C495C"/>
                </a:solidFill>
                <a:latin typeface="Arial"/>
                <a:cs typeface="Arial"/>
              </a:rPr>
              <a:t>Ten</a:t>
            </a:r>
            <a:r>
              <a:rPr dirty="0" sz="1500" spc="-15">
                <a:solidFill>
                  <a:srgbClr val="3C495C"/>
                </a:solidFill>
                <a:latin typeface="Arial"/>
                <a:cs typeface="Arial"/>
              </a:rPr>
              <a:t> </a:t>
            </a:r>
            <a:r>
              <a:rPr dirty="0" sz="1500" spc="-60">
                <a:solidFill>
                  <a:srgbClr val="3C495C"/>
                </a:solidFill>
                <a:latin typeface="Arial"/>
                <a:cs typeface="Arial"/>
              </a:rPr>
              <a:t>CPU-</a:t>
            </a:r>
            <a:r>
              <a:rPr dirty="0" sz="1500">
                <a:solidFill>
                  <a:srgbClr val="3C495C"/>
                </a:solidFill>
                <a:latin typeface="Arial"/>
                <a:cs typeface="Arial"/>
              </a:rPr>
              <a:t>load</a:t>
            </a:r>
            <a:r>
              <a:rPr dirty="0" sz="1500" spc="-40">
                <a:solidFill>
                  <a:srgbClr val="3C495C"/>
                </a:solidFill>
                <a:latin typeface="Arial"/>
                <a:cs typeface="Arial"/>
              </a:rPr>
              <a:t> </a:t>
            </a:r>
            <a:r>
              <a:rPr dirty="0" sz="1500">
                <a:solidFill>
                  <a:srgbClr val="3C495C"/>
                </a:solidFill>
                <a:latin typeface="Arial"/>
                <a:cs typeface="Arial"/>
              </a:rPr>
              <a:t>measurements. With</a:t>
            </a:r>
            <a:r>
              <a:rPr dirty="0" sz="1500" spc="-90">
                <a:solidFill>
                  <a:srgbClr val="3C495C"/>
                </a:solidFill>
                <a:latin typeface="Arial"/>
                <a:cs typeface="Arial"/>
              </a:rPr>
              <a:t> </a:t>
            </a:r>
            <a:r>
              <a:rPr dirty="0" sz="1500">
                <a:solidFill>
                  <a:srgbClr val="3C495C"/>
                </a:solidFill>
                <a:latin typeface="Arial"/>
                <a:cs typeface="Arial"/>
              </a:rPr>
              <a:t>no</a:t>
            </a:r>
            <a:r>
              <a:rPr dirty="0" sz="1500" spc="-5">
                <a:solidFill>
                  <a:srgbClr val="3C495C"/>
                </a:solidFill>
                <a:latin typeface="Arial"/>
                <a:cs typeface="Arial"/>
              </a:rPr>
              <a:t> </a:t>
            </a:r>
            <a:r>
              <a:rPr dirty="0" sz="1500">
                <a:solidFill>
                  <a:srgbClr val="3C495C"/>
                </a:solidFill>
                <a:latin typeface="Arial"/>
                <a:cs typeface="Arial"/>
              </a:rPr>
              <a:t>labels</a:t>
            </a:r>
            <a:r>
              <a:rPr dirty="0" sz="1500" spc="-40">
                <a:solidFill>
                  <a:srgbClr val="3C495C"/>
                </a:solidFill>
                <a:latin typeface="Arial"/>
                <a:cs typeface="Arial"/>
              </a:rPr>
              <a:t> </a:t>
            </a:r>
            <a:r>
              <a:rPr dirty="0" sz="1500" spc="-10">
                <a:solidFill>
                  <a:srgbClr val="3C495C"/>
                </a:solidFill>
                <a:latin typeface="Arial"/>
                <a:cs typeface="Arial"/>
              </a:rPr>
              <a:t>given,</a:t>
            </a:r>
            <a:r>
              <a:rPr dirty="0" sz="1500" spc="-5">
                <a:solidFill>
                  <a:srgbClr val="3C495C"/>
                </a:solidFill>
                <a:latin typeface="Arial"/>
                <a:cs typeface="Arial"/>
              </a:rPr>
              <a:t> </a:t>
            </a:r>
            <a:r>
              <a:rPr dirty="0" sz="1500" spc="-10">
                <a:solidFill>
                  <a:srgbClr val="3C495C"/>
                </a:solidFill>
                <a:latin typeface="Arial"/>
                <a:cs typeface="Arial"/>
              </a:rPr>
              <a:t>pandas </a:t>
            </a:r>
            <a:r>
              <a:rPr dirty="0" sz="1500">
                <a:solidFill>
                  <a:srgbClr val="3C495C"/>
                </a:solidFill>
                <a:latin typeface="Arial"/>
                <a:cs typeface="Arial"/>
              </a:rPr>
              <a:t>numbers</a:t>
            </a:r>
            <a:r>
              <a:rPr dirty="0" sz="1500" spc="-15">
                <a:solidFill>
                  <a:srgbClr val="3C495C"/>
                </a:solidFill>
                <a:latin typeface="Arial"/>
                <a:cs typeface="Arial"/>
              </a:rPr>
              <a:t> </a:t>
            </a:r>
            <a:r>
              <a:rPr dirty="0" sz="1500">
                <a:solidFill>
                  <a:srgbClr val="3C495C"/>
                </a:solidFill>
                <a:latin typeface="Arial"/>
                <a:cs typeface="Arial"/>
              </a:rPr>
              <a:t>them</a:t>
            </a:r>
            <a:r>
              <a:rPr dirty="0" sz="1500" spc="-40">
                <a:solidFill>
                  <a:srgbClr val="3C495C"/>
                </a:solidFill>
                <a:latin typeface="Arial"/>
                <a:cs typeface="Arial"/>
              </a:rPr>
              <a:t> </a:t>
            </a:r>
            <a:r>
              <a:rPr dirty="0" sz="1500" b="1">
                <a:solidFill>
                  <a:srgbClr val="3C495C"/>
                </a:solidFill>
                <a:latin typeface="Arial"/>
                <a:cs typeface="Arial"/>
              </a:rPr>
              <a:t>0,</a:t>
            </a:r>
            <a:r>
              <a:rPr dirty="0" sz="1500" spc="55" b="1">
                <a:solidFill>
                  <a:srgbClr val="3C495C"/>
                </a:solidFill>
                <a:latin typeface="Arial"/>
                <a:cs typeface="Arial"/>
              </a:rPr>
              <a:t> </a:t>
            </a:r>
            <a:r>
              <a:rPr dirty="0" sz="1500" b="1">
                <a:solidFill>
                  <a:srgbClr val="3C495C"/>
                </a:solidFill>
                <a:latin typeface="Arial"/>
                <a:cs typeface="Arial"/>
              </a:rPr>
              <a:t>1,</a:t>
            </a:r>
            <a:r>
              <a:rPr dirty="0" sz="1500" spc="50" b="1">
                <a:solidFill>
                  <a:srgbClr val="3C495C"/>
                </a:solidFill>
                <a:latin typeface="Arial"/>
                <a:cs typeface="Arial"/>
              </a:rPr>
              <a:t> </a:t>
            </a:r>
            <a:r>
              <a:rPr dirty="0" sz="1500" spc="65" b="1">
                <a:solidFill>
                  <a:srgbClr val="3C495C"/>
                </a:solidFill>
                <a:latin typeface="Arial"/>
                <a:cs typeface="Arial"/>
              </a:rPr>
              <a:t>2</a:t>
            </a:r>
            <a:r>
              <a:rPr dirty="0" sz="1500" spc="-35" b="1">
                <a:solidFill>
                  <a:srgbClr val="3C495C"/>
                </a:solidFill>
                <a:latin typeface="Arial"/>
                <a:cs typeface="Arial"/>
              </a:rPr>
              <a:t> </a:t>
            </a:r>
            <a:r>
              <a:rPr dirty="0" sz="1500" spc="-150" b="1">
                <a:solidFill>
                  <a:srgbClr val="3C495C"/>
                </a:solidFill>
                <a:latin typeface="Arial"/>
                <a:cs typeface="Arial"/>
              </a:rPr>
              <a:t>…</a:t>
            </a:r>
            <a:r>
              <a:rPr dirty="0" sz="1500" spc="-25" b="1">
                <a:solidFill>
                  <a:srgbClr val="3C495C"/>
                </a:solidFill>
                <a:latin typeface="Arial"/>
                <a:cs typeface="Arial"/>
              </a:rPr>
              <a:t> </a:t>
            </a:r>
            <a:r>
              <a:rPr dirty="0" sz="1500">
                <a:solidFill>
                  <a:srgbClr val="3C495C"/>
                </a:solidFill>
                <a:latin typeface="Arial"/>
                <a:cs typeface="Arial"/>
              </a:rPr>
              <a:t>like</a:t>
            </a:r>
            <a:r>
              <a:rPr dirty="0" sz="1500" spc="-40">
                <a:solidFill>
                  <a:srgbClr val="3C495C"/>
                </a:solidFill>
                <a:latin typeface="Arial"/>
                <a:cs typeface="Arial"/>
              </a:rPr>
              <a:t> a</a:t>
            </a:r>
            <a:r>
              <a:rPr dirty="0" sz="1500">
                <a:solidFill>
                  <a:srgbClr val="3C495C"/>
                </a:solidFill>
                <a:latin typeface="Arial"/>
                <a:cs typeface="Arial"/>
              </a:rPr>
              <a:t> Python</a:t>
            </a:r>
            <a:r>
              <a:rPr dirty="0" sz="1500" spc="15">
                <a:solidFill>
                  <a:srgbClr val="3C495C"/>
                </a:solidFill>
                <a:latin typeface="Arial"/>
                <a:cs typeface="Arial"/>
              </a:rPr>
              <a:t> </a:t>
            </a:r>
            <a:r>
              <a:rPr dirty="0" sz="1500" spc="-10">
                <a:solidFill>
                  <a:srgbClr val="3C495C"/>
                </a:solidFill>
                <a:latin typeface="Arial"/>
                <a:cs typeface="Arial"/>
              </a:rPr>
              <a:t>list.</a:t>
            </a:r>
            <a:endParaRPr sz="1500">
              <a:latin typeface="Arial"/>
              <a:cs typeface="Arial"/>
            </a:endParaRPr>
          </a:p>
          <a:p>
            <a:pPr algn="r" marR="5080">
              <a:lnSpc>
                <a:spcPct val="100000"/>
              </a:lnSpc>
              <a:spcBef>
                <a:spcPts val="780"/>
              </a:spcBef>
            </a:pPr>
            <a:r>
              <a:rPr dirty="0" sz="1300" spc="-35">
                <a:solidFill>
                  <a:srgbClr val="B45209"/>
                </a:solidFill>
                <a:latin typeface="Arial"/>
                <a:cs typeface="Arial"/>
              </a:rPr>
              <a:t>dtype:</a:t>
            </a:r>
            <a:r>
              <a:rPr dirty="0" sz="1300" spc="-50">
                <a:solidFill>
                  <a:srgbClr val="B45209"/>
                </a:solidFill>
                <a:latin typeface="Arial"/>
                <a:cs typeface="Arial"/>
              </a:rPr>
              <a:t> </a:t>
            </a:r>
            <a:r>
              <a:rPr dirty="0" sz="1300" spc="-10">
                <a:solidFill>
                  <a:srgbClr val="B45209"/>
                </a:solidFill>
                <a:latin typeface="Arial"/>
                <a:cs typeface="Arial"/>
              </a:rPr>
              <a:t>float64</a:t>
            </a:r>
            <a:endParaRPr sz="13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800480" y="819721"/>
            <a:ext cx="1202690" cy="234315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1350" spc="65" b="1">
                <a:solidFill>
                  <a:srgbClr val="B45209"/>
                </a:solidFill>
                <a:latin typeface="Arial"/>
                <a:cs typeface="Arial"/>
              </a:rPr>
              <a:t>0</a:t>
            </a:r>
            <a:r>
              <a:rPr dirty="0" sz="1350" spc="-190" b="1">
                <a:solidFill>
                  <a:srgbClr val="B45209"/>
                </a:solidFill>
                <a:latin typeface="Arial"/>
                <a:cs typeface="Arial"/>
              </a:rPr>
              <a:t> </a:t>
            </a:r>
            <a:r>
              <a:rPr dirty="0" sz="1350" spc="65" b="1">
                <a:solidFill>
                  <a:srgbClr val="B45209"/>
                </a:solidFill>
                <a:latin typeface="Arial"/>
                <a:cs typeface="Arial"/>
              </a:rPr>
              <a:t>2</a:t>
            </a:r>
            <a:r>
              <a:rPr dirty="0" sz="1350" spc="275" b="1">
                <a:solidFill>
                  <a:srgbClr val="B45209"/>
                </a:solidFill>
                <a:latin typeface="Arial"/>
                <a:cs typeface="Arial"/>
              </a:rPr>
              <a:t> </a:t>
            </a:r>
            <a:r>
              <a:rPr dirty="0" sz="1350" b="1">
                <a:solidFill>
                  <a:srgbClr val="B45209"/>
                </a:solidFill>
                <a:latin typeface="Arial"/>
                <a:cs typeface="Arial"/>
              </a:rPr>
              <a:t>·</a:t>
            </a:r>
            <a:r>
              <a:rPr dirty="0" sz="1350" spc="310" b="1">
                <a:solidFill>
                  <a:srgbClr val="B45209"/>
                </a:solidFill>
                <a:latin typeface="Arial"/>
                <a:cs typeface="Arial"/>
              </a:rPr>
              <a:t> </a:t>
            </a:r>
            <a:r>
              <a:rPr dirty="0" sz="1350" b="1">
                <a:solidFill>
                  <a:srgbClr val="B45209"/>
                </a:solidFill>
                <a:latin typeface="Arial"/>
                <a:cs typeface="Arial"/>
              </a:rPr>
              <a:t>SE</a:t>
            </a:r>
            <a:r>
              <a:rPr dirty="0" sz="1350" spc="-190" b="1">
                <a:solidFill>
                  <a:srgbClr val="B45209"/>
                </a:solidFill>
                <a:latin typeface="Arial"/>
                <a:cs typeface="Arial"/>
              </a:rPr>
              <a:t> </a:t>
            </a:r>
            <a:r>
              <a:rPr dirty="0" sz="1350" spc="114" b="1">
                <a:solidFill>
                  <a:srgbClr val="B45209"/>
                </a:solidFill>
                <a:latin typeface="Arial"/>
                <a:cs typeface="Arial"/>
              </a:rPr>
              <a:t>RIE</a:t>
            </a:r>
            <a:r>
              <a:rPr dirty="0" sz="1350" spc="-190" b="1">
                <a:solidFill>
                  <a:srgbClr val="B45209"/>
                </a:solidFill>
                <a:latin typeface="Arial"/>
                <a:cs typeface="Arial"/>
              </a:rPr>
              <a:t> </a:t>
            </a:r>
            <a:r>
              <a:rPr dirty="0" sz="1350" spc="-50" b="1">
                <a:solidFill>
                  <a:srgbClr val="B45209"/>
                </a:solidFill>
                <a:latin typeface="Arial"/>
                <a:cs typeface="Arial"/>
              </a:rPr>
              <a:t>S</a:t>
            </a:r>
            <a:endParaRPr sz="1350">
              <a:latin typeface="Arial"/>
              <a:cs typeface="Arial"/>
            </a:endParaRPr>
          </a:p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/>
              <a:t>Square</a:t>
            </a:r>
            <a:r>
              <a:rPr dirty="0" spc="-140"/>
              <a:t> </a:t>
            </a:r>
            <a:r>
              <a:rPr dirty="0"/>
              <a:t>brackets</a:t>
            </a:r>
            <a:r>
              <a:rPr dirty="0" spc="-80"/>
              <a:t> </a:t>
            </a:r>
            <a:r>
              <a:rPr dirty="0" spc="-35"/>
              <a:t>look</a:t>
            </a:r>
            <a:r>
              <a:rPr dirty="0" spc="-100"/>
              <a:t> </a:t>
            </a:r>
            <a:r>
              <a:rPr dirty="0"/>
              <a:t>up</a:t>
            </a:r>
            <a:r>
              <a:rPr dirty="0" spc="-130"/>
              <a:t> </a:t>
            </a:r>
            <a:r>
              <a:rPr dirty="0" spc="50"/>
              <a:t>a</a:t>
            </a:r>
            <a:r>
              <a:rPr dirty="0" spc="-75"/>
              <a:t> </a:t>
            </a:r>
            <a:r>
              <a:rPr dirty="0" spc="70"/>
              <a:t>label,</a:t>
            </a:r>
            <a:r>
              <a:rPr dirty="0" spc="-120"/>
              <a:t> </a:t>
            </a:r>
            <a:r>
              <a:rPr dirty="0"/>
              <a:t>not</a:t>
            </a:r>
            <a:r>
              <a:rPr dirty="0" spc="-65"/>
              <a:t> </a:t>
            </a:r>
            <a:r>
              <a:rPr dirty="0" spc="50"/>
              <a:t>a</a:t>
            </a:r>
            <a:r>
              <a:rPr dirty="0" spc="-70"/>
              <a:t> </a:t>
            </a:r>
            <a:r>
              <a:rPr dirty="0" spc="-10"/>
              <a:t>position</a:t>
            </a:r>
          </a:p>
        </p:txBody>
      </p:sp>
      <p:sp>
        <p:nvSpPr>
          <p:cNvPr id="4" name="object 4"/>
          <p:cNvSpPr/>
          <p:nvPr/>
        </p:nvSpPr>
        <p:spPr>
          <a:xfrm>
            <a:off x="813816" y="1911604"/>
            <a:ext cx="4828540" cy="2780665"/>
          </a:xfrm>
          <a:custGeom>
            <a:avLst/>
            <a:gdLst/>
            <a:ahLst/>
            <a:cxnLst/>
            <a:rect l="l" t="t" r="r" b="b"/>
            <a:pathLst>
              <a:path w="4828540" h="2780665">
                <a:moveTo>
                  <a:pt x="4726559" y="0"/>
                </a:moveTo>
                <a:lnTo>
                  <a:pt x="101460" y="0"/>
                </a:lnTo>
                <a:lnTo>
                  <a:pt x="61968" y="7979"/>
                </a:lnTo>
                <a:lnTo>
                  <a:pt x="29718" y="29733"/>
                </a:lnTo>
                <a:lnTo>
                  <a:pt x="7973" y="61989"/>
                </a:lnTo>
                <a:lnTo>
                  <a:pt x="0" y="101473"/>
                </a:lnTo>
                <a:lnTo>
                  <a:pt x="0" y="2678938"/>
                </a:lnTo>
                <a:lnTo>
                  <a:pt x="7973" y="2718421"/>
                </a:lnTo>
                <a:lnTo>
                  <a:pt x="29718" y="2750677"/>
                </a:lnTo>
                <a:lnTo>
                  <a:pt x="61968" y="2772431"/>
                </a:lnTo>
                <a:lnTo>
                  <a:pt x="101460" y="2780411"/>
                </a:lnTo>
                <a:lnTo>
                  <a:pt x="4726559" y="2780411"/>
                </a:lnTo>
                <a:lnTo>
                  <a:pt x="4766042" y="2772431"/>
                </a:lnTo>
                <a:lnTo>
                  <a:pt x="4798298" y="2750677"/>
                </a:lnTo>
                <a:lnTo>
                  <a:pt x="4820052" y="2718421"/>
                </a:lnTo>
                <a:lnTo>
                  <a:pt x="4828032" y="2678938"/>
                </a:lnTo>
                <a:lnTo>
                  <a:pt x="4828032" y="101473"/>
                </a:lnTo>
                <a:lnTo>
                  <a:pt x="4820052" y="61989"/>
                </a:lnTo>
                <a:lnTo>
                  <a:pt x="4798298" y="29733"/>
                </a:lnTo>
                <a:lnTo>
                  <a:pt x="4766042" y="7979"/>
                </a:lnTo>
                <a:lnTo>
                  <a:pt x="4726559" y="0"/>
                </a:lnTo>
                <a:close/>
              </a:path>
            </a:pathLst>
          </a:custGeom>
          <a:solidFill>
            <a:srgbClr val="13203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/>
          <p:nvPr/>
        </p:nvSpPr>
        <p:spPr>
          <a:xfrm>
            <a:off x="1054620" y="2125611"/>
            <a:ext cx="2216150" cy="85915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 marR="5080">
              <a:lnSpc>
                <a:spcPct val="133500"/>
              </a:lnSpc>
              <a:spcBef>
                <a:spcPts val="95"/>
              </a:spcBef>
            </a:pPr>
            <a:r>
              <a:rPr dirty="0" sz="1350" spc="-114">
                <a:solidFill>
                  <a:srgbClr val="F4F0EA"/>
                </a:solidFill>
                <a:latin typeface="Arial"/>
                <a:cs typeface="Arial"/>
              </a:rPr>
              <a:t>MEM_USAGE</a:t>
            </a:r>
            <a:r>
              <a:rPr dirty="0" sz="1350" spc="-35">
                <a:solidFill>
                  <a:srgbClr val="F4F0EA"/>
                </a:solidFill>
                <a:latin typeface="Arial"/>
                <a:cs typeface="Arial"/>
              </a:rPr>
              <a:t> </a:t>
            </a:r>
            <a:r>
              <a:rPr dirty="0" sz="1350" spc="-120">
                <a:solidFill>
                  <a:srgbClr val="F4F0EA"/>
                </a:solidFill>
                <a:latin typeface="Arial"/>
                <a:cs typeface="Arial"/>
              </a:rPr>
              <a:t>=</a:t>
            </a:r>
            <a:r>
              <a:rPr dirty="0" sz="1350" spc="-50">
                <a:solidFill>
                  <a:srgbClr val="F4F0EA"/>
                </a:solidFill>
                <a:latin typeface="Arial"/>
                <a:cs typeface="Arial"/>
              </a:rPr>
              <a:t> </a:t>
            </a:r>
            <a:r>
              <a:rPr dirty="0" sz="1350" spc="-65">
                <a:solidFill>
                  <a:srgbClr val="F4F0EA"/>
                </a:solidFill>
                <a:latin typeface="Arial"/>
                <a:cs typeface="Arial"/>
              </a:rPr>
              <a:t>pandas.Series( </a:t>
            </a:r>
            <a:r>
              <a:rPr dirty="0" sz="1350" spc="-25">
                <a:solidFill>
                  <a:srgbClr val="F4F0EA"/>
                </a:solidFill>
                <a:latin typeface="Arial"/>
                <a:cs typeface="Arial"/>
              </a:rPr>
              <a:t>[0.16,</a:t>
            </a:r>
            <a:r>
              <a:rPr dirty="0" sz="1350" spc="10">
                <a:solidFill>
                  <a:srgbClr val="F4F0EA"/>
                </a:solidFill>
                <a:latin typeface="Arial"/>
                <a:cs typeface="Arial"/>
              </a:rPr>
              <a:t> </a:t>
            </a:r>
            <a:r>
              <a:rPr dirty="0" sz="1350" spc="-55">
                <a:solidFill>
                  <a:srgbClr val="F4F0EA"/>
                </a:solidFill>
                <a:latin typeface="Arial"/>
                <a:cs typeface="Arial"/>
              </a:rPr>
              <a:t>0.07,</a:t>
            </a:r>
            <a:r>
              <a:rPr dirty="0" sz="1350" spc="-65">
                <a:solidFill>
                  <a:srgbClr val="F4F0EA"/>
                </a:solidFill>
                <a:latin typeface="Arial"/>
                <a:cs typeface="Arial"/>
              </a:rPr>
              <a:t> </a:t>
            </a:r>
            <a:r>
              <a:rPr dirty="0" sz="1350" spc="-40">
                <a:solidFill>
                  <a:srgbClr val="F4F0EA"/>
                </a:solidFill>
                <a:latin typeface="Arial"/>
                <a:cs typeface="Arial"/>
              </a:rPr>
              <a:t>0.23,</a:t>
            </a:r>
            <a:r>
              <a:rPr dirty="0" sz="1350" spc="-65">
                <a:solidFill>
                  <a:srgbClr val="F4F0EA"/>
                </a:solidFill>
                <a:latin typeface="Arial"/>
                <a:cs typeface="Arial"/>
              </a:rPr>
              <a:t> </a:t>
            </a:r>
            <a:r>
              <a:rPr dirty="0" sz="1350" spc="-40">
                <a:solidFill>
                  <a:srgbClr val="F4F0EA"/>
                </a:solidFill>
                <a:latin typeface="Arial"/>
                <a:cs typeface="Arial"/>
              </a:rPr>
              <a:t>0.24,</a:t>
            </a:r>
            <a:r>
              <a:rPr dirty="0" sz="1350" spc="-60">
                <a:solidFill>
                  <a:srgbClr val="F4F0EA"/>
                </a:solidFill>
                <a:latin typeface="Arial"/>
                <a:cs typeface="Arial"/>
              </a:rPr>
              <a:t> </a:t>
            </a:r>
            <a:r>
              <a:rPr dirty="0" sz="1350" spc="-10">
                <a:solidFill>
                  <a:srgbClr val="F4F0EA"/>
                </a:solidFill>
                <a:latin typeface="Arial"/>
                <a:cs typeface="Arial"/>
              </a:rPr>
              <a:t>0.14],</a:t>
            </a:r>
            <a:endParaRPr sz="13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615"/>
              </a:spcBef>
            </a:pPr>
            <a:r>
              <a:rPr dirty="0" sz="1350" spc="-35">
                <a:solidFill>
                  <a:srgbClr val="F4F0EA"/>
                </a:solidFill>
                <a:latin typeface="Arial"/>
                <a:cs typeface="Arial"/>
              </a:rPr>
              <a:t>index=[3,</a:t>
            </a:r>
            <a:r>
              <a:rPr dirty="0" sz="1350" spc="10">
                <a:solidFill>
                  <a:srgbClr val="F4F0EA"/>
                </a:solidFill>
                <a:latin typeface="Arial"/>
                <a:cs typeface="Arial"/>
              </a:rPr>
              <a:t> </a:t>
            </a:r>
            <a:r>
              <a:rPr dirty="0" sz="1350" spc="-45">
                <a:solidFill>
                  <a:srgbClr val="F4F0EA"/>
                </a:solidFill>
                <a:latin typeface="Arial"/>
                <a:cs typeface="Arial"/>
              </a:rPr>
              <a:t>1,</a:t>
            </a:r>
            <a:r>
              <a:rPr dirty="0" sz="1350" spc="-65">
                <a:solidFill>
                  <a:srgbClr val="F4F0EA"/>
                </a:solidFill>
                <a:latin typeface="Arial"/>
                <a:cs typeface="Arial"/>
              </a:rPr>
              <a:t> </a:t>
            </a:r>
            <a:r>
              <a:rPr dirty="0" sz="1350" spc="-45">
                <a:solidFill>
                  <a:srgbClr val="F4F0EA"/>
                </a:solidFill>
                <a:latin typeface="Arial"/>
                <a:cs typeface="Arial"/>
              </a:rPr>
              <a:t>4,</a:t>
            </a:r>
            <a:r>
              <a:rPr dirty="0" sz="1350" spc="-65">
                <a:solidFill>
                  <a:srgbClr val="F4F0EA"/>
                </a:solidFill>
                <a:latin typeface="Arial"/>
                <a:cs typeface="Arial"/>
              </a:rPr>
              <a:t> </a:t>
            </a:r>
            <a:r>
              <a:rPr dirty="0" sz="1350" spc="-45">
                <a:solidFill>
                  <a:srgbClr val="F4F0EA"/>
                </a:solidFill>
                <a:latin typeface="Arial"/>
                <a:cs typeface="Arial"/>
              </a:rPr>
              <a:t>2,</a:t>
            </a:r>
            <a:r>
              <a:rPr dirty="0" sz="1350" spc="-65">
                <a:solidFill>
                  <a:srgbClr val="F4F0EA"/>
                </a:solidFill>
                <a:latin typeface="Arial"/>
                <a:cs typeface="Arial"/>
              </a:rPr>
              <a:t> </a:t>
            </a:r>
            <a:r>
              <a:rPr dirty="0" sz="1350" spc="-25">
                <a:solidFill>
                  <a:srgbClr val="F4F0EA"/>
                </a:solidFill>
                <a:latin typeface="Arial"/>
                <a:cs typeface="Arial"/>
              </a:rPr>
              <a:t>7])</a:t>
            </a:r>
            <a:endParaRPr sz="1350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054620" y="3233178"/>
            <a:ext cx="2376170" cy="1152525"/>
          </a:xfrm>
          <a:prstGeom prst="rect">
            <a:avLst/>
          </a:prstGeom>
        </p:spPr>
        <p:txBody>
          <a:bodyPr wrap="square" lIns="0" tIns="901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710"/>
              </a:spcBef>
            </a:pPr>
            <a:r>
              <a:rPr dirty="0" sz="1350" spc="-85">
                <a:solidFill>
                  <a:srgbClr val="F4F0EA"/>
                </a:solidFill>
                <a:latin typeface="Arial"/>
                <a:cs typeface="Arial"/>
              </a:rPr>
              <a:t>MEM_USAGE[3]</a:t>
            </a:r>
            <a:r>
              <a:rPr dirty="0" sz="1350" spc="-25">
                <a:solidFill>
                  <a:srgbClr val="F4F0EA"/>
                </a:solidFill>
                <a:latin typeface="Arial"/>
                <a:cs typeface="Arial"/>
              </a:rPr>
              <a:t> </a:t>
            </a:r>
            <a:r>
              <a:rPr dirty="0" sz="1350" spc="-75">
                <a:solidFill>
                  <a:srgbClr val="F1B544"/>
                </a:solidFill>
                <a:latin typeface="Arial"/>
                <a:cs typeface="Arial"/>
              </a:rPr>
              <a:t>#</a:t>
            </a:r>
            <a:r>
              <a:rPr dirty="0" sz="1350" spc="-5">
                <a:solidFill>
                  <a:srgbClr val="F1B544"/>
                </a:solidFill>
                <a:latin typeface="Arial"/>
                <a:cs typeface="Arial"/>
              </a:rPr>
              <a:t> </a:t>
            </a:r>
            <a:r>
              <a:rPr dirty="0" sz="1350" spc="-20">
                <a:solidFill>
                  <a:srgbClr val="F1B544"/>
                </a:solidFill>
                <a:latin typeface="Arial"/>
                <a:cs typeface="Arial"/>
              </a:rPr>
              <a:t>0.16</a:t>
            </a:r>
            <a:endParaRPr sz="13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620"/>
              </a:spcBef>
            </a:pPr>
            <a:r>
              <a:rPr dirty="0" sz="1350" spc="-80">
                <a:solidFill>
                  <a:srgbClr val="F4F0EA"/>
                </a:solidFill>
                <a:latin typeface="Arial"/>
                <a:cs typeface="Arial"/>
              </a:rPr>
              <a:t>MEM_USAGE[[1,</a:t>
            </a:r>
            <a:r>
              <a:rPr dirty="0" sz="1350" spc="10">
                <a:solidFill>
                  <a:srgbClr val="F4F0EA"/>
                </a:solidFill>
                <a:latin typeface="Arial"/>
                <a:cs typeface="Arial"/>
              </a:rPr>
              <a:t> </a:t>
            </a:r>
            <a:r>
              <a:rPr dirty="0" sz="1350">
                <a:solidFill>
                  <a:srgbClr val="F4F0EA"/>
                </a:solidFill>
                <a:latin typeface="Arial"/>
                <a:cs typeface="Arial"/>
              </a:rPr>
              <a:t>3]]</a:t>
            </a:r>
            <a:r>
              <a:rPr dirty="0" sz="1350" spc="10">
                <a:solidFill>
                  <a:srgbClr val="F4F0EA"/>
                </a:solidFill>
                <a:latin typeface="Arial"/>
                <a:cs typeface="Arial"/>
              </a:rPr>
              <a:t> </a:t>
            </a:r>
            <a:r>
              <a:rPr dirty="0" sz="1350" spc="-75">
                <a:solidFill>
                  <a:srgbClr val="F1B544"/>
                </a:solidFill>
                <a:latin typeface="Arial"/>
                <a:cs typeface="Arial"/>
              </a:rPr>
              <a:t>#</a:t>
            </a:r>
            <a:r>
              <a:rPr dirty="0" sz="1350" spc="-45">
                <a:solidFill>
                  <a:srgbClr val="F1B544"/>
                </a:solidFill>
                <a:latin typeface="Arial"/>
                <a:cs typeface="Arial"/>
              </a:rPr>
              <a:t> </a:t>
            </a:r>
            <a:r>
              <a:rPr dirty="0" sz="1350" spc="-40">
                <a:solidFill>
                  <a:srgbClr val="F1B544"/>
                </a:solidFill>
                <a:latin typeface="Arial"/>
                <a:cs typeface="Arial"/>
              </a:rPr>
              <a:t>0.07,</a:t>
            </a:r>
            <a:r>
              <a:rPr dirty="0" sz="1350" spc="-65">
                <a:solidFill>
                  <a:srgbClr val="F1B544"/>
                </a:solidFill>
                <a:latin typeface="Arial"/>
                <a:cs typeface="Arial"/>
              </a:rPr>
              <a:t> </a:t>
            </a:r>
            <a:r>
              <a:rPr dirty="0" sz="1350" spc="-20">
                <a:solidFill>
                  <a:srgbClr val="F1B544"/>
                </a:solidFill>
                <a:latin typeface="Arial"/>
                <a:cs typeface="Arial"/>
              </a:rPr>
              <a:t>0.16</a:t>
            </a:r>
            <a:endParaRPr sz="13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540"/>
              </a:spcBef>
            </a:pPr>
            <a:r>
              <a:rPr dirty="0" sz="1350" spc="-80">
                <a:solidFill>
                  <a:srgbClr val="F4F0EA"/>
                </a:solidFill>
                <a:latin typeface="Arial"/>
                <a:cs typeface="Arial"/>
              </a:rPr>
              <a:t>MEM_USAGE[[True,</a:t>
            </a:r>
            <a:r>
              <a:rPr dirty="0" sz="1350" spc="10">
                <a:solidFill>
                  <a:srgbClr val="F4F0EA"/>
                </a:solidFill>
                <a:latin typeface="Arial"/>
                <a:cs typeface="Arial"/>
              </a:rPr>
              <a:t> </a:t>
            </a:r>
            <a:r>
              <a:rPr dirty="0" sz="1350" spc="-10">
                <a:solidFill>
                  <a:srgbClr val="F4F0EA"/>
                </a:solidFill>
                <a:latin typeface="Arial"/>
                <a:cs typeface="Arial"/>
              </a:rPr>
              <a:t>False,</a:t>
            </a:r>
            <a:endParaRPr sz="13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620"/>
              </a:spcBef>
            </a:pPr>
            <a:r>
              <a:rPr dirty="0" sz="1350" spc="-85">
                <a:solidFill>
                  <a:srgbClr val="F4F0EA"/>
                </a:solidFill>
                <a:latin typeface="Arial"/>
                <a:cs typeface="Arial"/>
              </a:rPr>
              <a:t>False,</a:t>
            </a:r>
            <a:r>
              <a:rPr dirty="0" sz="1350" spc="-70">
                <a:solidFill>
                  <a:srgbClr val="F4F0EA"/>
                </a:solidFill>
                <a:latin typeface="Arial"/>
                <a:cs typeface="Arial"/>
              </a:rPr>
              <a:t> </a:t>
            </a:r>
            <a:r>
              <a:rPr dirty="0" sz="1350" spc="-65">
                <a:solidFill>
                  <a:srgbClr val="F4F0EA"/>
                </a:solidFill>
                <a:latin typeface="Arial"/>
                <a:cs typeface="Arial"/>
              </a:rPr>
              <a:t>True,</a:t>
            </a:r>
            <a:r>
              <a:rPr dirty="0" sz="1350" spc="-70">
                <a:solidFill>
                  <a:srgbClr val="F4F0EA"/>
                </a:solidFill>
                <a:latin typeface="Arial"/>
                <a:cs typeface="Arial"/>
              </a:rPr>
              <a:t> </a:t>
            </a:r>
            <a:r>
              <a:rPr dirty="0" sz="1350" spc="-30">
                <a:solidFill>
                  <a:srgbClr val="F4F0EA"/>
                </a:solidFill>
                <a:latin typeface="Arial"/>
                <a:cs typeface="Arial"/>
              </a:rPr>
              <a:t>True]]</a:t>
            </a:r>
            <a:r>
              <a:rPr dirty="0" sz="1350" spc="-35">
                <a:solidFill>
                  <a:srgbClr val="F4F0EA"/>
                </a:solidFill>
                <a:latin typeface="Arial"/>
                <a:cs typeface="Arial"/>
              </a:rPr>
              <a:t> </a:t>
            </a:r>
            <a:r>
              <a:rPr dirty="0" sz="1350" spc="-75">
                <a:solidFill>
                  <a:srgbClr val="F1B544"/>
                </a:solidFill>
                <a:latin typeface="Arial"/>
                <a:cs typeface="Arial"/>
              </a:rPr>
              <a:t>#</a:t>
            </a:r>
            <a:r>
              <a:rPr dirty="0" sz="1350" spc="-50">
                <a:solidFill>
                  <a:srgbClr val="F1B544"/>
                </a:solidFill>
                <a:latin typeface="Arial"/>
                <a:cs typeface="Arial"/>
              </a:rPr>
              <a:t> </a:t>
            </a:r>
            <a:r>
              <a:rPr dirty="0" sz="1350" spc="-55">
                <a:solidFill>
                  <a:srgbClr val="F1B544"/>
                </a:solidFill>
                <a:latin typeface="Arial"/>
                <a:cs typeface="Arial"/>
              </a:rPr>
              <a:t>labels</a:t>
            </a:r>
            <a:r>
              <a:rPr dirty="0" sz="1350" spc="-40">
                <a:solidFill>
                  <a:srgbClr val="F1B544"/>
                </a:solidFill>
                <a:latin typeface="Arial"/>
                <a:cs typeface="Arial"/>
              </a:rPr>
              <a:t> 3,</a:t>
            </a:r>
            <a:r>
              <a:rPr dirty="0" sz="1350" spc="-70">
                <a:solidFill>
                  <a:srgbClr val="F1B544"/>
                </a:solidFill>
                <a:latin typeface="Arial"/>
                <a:cs typeface="Arial"/>
              </a:rPr>
              <a:t> </a:t>
            </a:r>
            <a:r>
              <a:rPr dirty="0" sz="1350">
                <a:solidFill>
                  <a:srgbClr val="F1B544"/>
                </a:solidFill>
                <a:latin typeface="Arial"/>
                <a:cs typeface="Arial"/>
              </a:rPr>
              <a:t>2, </a:t>
            </a:r>
            <a:r>
              <a:rPr dirty="0" sz="1350" spc="-50">
                <a:solidFill>
                  <a:srgbClr val="F1B544"/>
                </a:solidFill>
                <a:latin typeface="Arial"/>
                <a:cs typeface="Arial"/>
              </a:rPr>
              <a:t>7</a:t>
            </a:r>
            <a:endParaRPr sz="1350">
              <a:latin typeface="Arial"/>
              <a:cs typeface="Arial"/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5943219" y="1911223"/>
            <a:ext cx="1007110" cy="842644"/>
            <a:chOff x="5943219" y="1911223"/>
            <a:chExt cx="1007110" cy="842644"/>
          </a:xfrm>
        </p:grpSpPr>
        <p:sp>
          <p:nvSpPr>
            <p:cNvPr id="8" name="object 8"/>
            <p:cNvSpPr/>
            <p:nvPr/>
          </p:nvSpPr>
          <p:spPr>
            <a:xfrm>
              <a:off x="5952744" y="1920748"/>
              <a:ext cx="988060" cy="823594"/>
            </a:xfrm>
            <a:custGeom>
              <a:avLst/>
              <a:gdLst/>
              <a:ahLst/>
              <a:cxnLst/>
              <a:rect l="l" t="t" r="r" b="b"/>
              <a:pathLst>
                <a:path w="988059" h="823594">
                  <a:moveTo>
                    <a:pt x="920750" y="0"/>
                  </a:moveTo>
                  <a:lnTo>
                    <a:pt x="66928" y="0"/>
                  </a:lnTo>
                  <a:lnTo>
                    <a:pt x="40880" y="5258"/>
                  </a:lnTo>
                  <a:lnTo>
                    <a:pt x="19605" y="19589"/>
                  </a:lnTo>
                  <a:lnTo>
                    <a:pt x="5260" y="40826"/>
                  </a:lnTo>
                  <a:lnTo>
                    <a:pt x="0" y="66801"/>
                  </a:lnTo>
                  <a:lnTo>
                    <a:pt x="0" y="756285"/>
                  </a:lnTo>
                  <a:lnTo>
                    <a:pt x="5260" y="782314"/>
                  </a:lnTo>
                  <a:lnTo>
                    <a:pt x="19605" y="803544"/>
                  </a:lnTo>
                  <a:lnTo>
                    <a:pt x="40880" y="817846"/>
                  </a:lnTo>
                  <a:lnTo>
                    <a:pt x="66928" y="823087"/>
                  </a:lnTo>
                  <a:lnTo>
                    <a:pt x="920750" y="823087"/>
                  </a:lnTo>
                  <a:lnTo>
                    <a:pt x="946725" y="817846"/>
                  </a:lnTo>
                  <a:lnTo>
                    <a:pt x="967962" y="803544"/>
                  </a:lnTo>
                  <a:lnTo>
                    <a:pt x="982293" y="782314"/>
                  </a:lnTo>
                  <a:lnTo>
                    <a:pt x="987551" y="756285"/>
                  </a:lnTo>
                  <a:lnTo>
                    <a:pt x="987551" y="66801"/>
                  </a:lnTo>
                  <a:lnTo>
                    <a:pt x="982293" y="40826"/>
                  </a:lnTo>
                  <a:lnTo>
                    <a:pt x="967962" y="19589"/>
                  </a:lnTo>
                  <a:lnTo>
                    <a:pt x="946725" y="5258"/>
                  </a:lnTo>
                  <a:lnTo>
                    <a:pt x="920750" y="0"/>
                  </a:lnTo>
                  <a:close/>
                </a:path>
              </a:pathLst>
            </a:custGeom>
            <a:solidFill>
              <a:srgbClr val="FBEED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" name="object 9"/>
            <p:cNvSpPr/>
            <p:nvPr/>
          </p:nvSpPr>
          <p:spPr>
            <a:xfrm>
              <a:off x="5952744" y="1920748"/>
              <a:ext cx="988060" cy="823594"/>
            </a:xfrm>
            <a:custGeom>
              <a:avLst/>
              <a:gdLst/>
              <a:ahLst/>
              <a:cxnLst/>
              <a:rect l="l" t="t" r="r" b="b"/>
              <a:pathLst>
                <a:path w="988059" h="823594">
                  <a:moveTo>
                    <a:pt x="0" y="66801"/>
                  </a:moveTo>
                  <a:lnTo>
                    <a:pt x="5260" y="40826"/>
                  </a:lnTo>
                  <a:lnTo>
                    <a:pt x="19605" y="19589"/>
                  </a:lnTo>
                  <a:lnTo>
                    <a:pt x="40880" y="5258"/>
                  </a:lnTo>
                  <a:lnTo>
                    <a:pt x="66928" y="0"/>
                  </a:lnTo>
                  <a:lnTo>
                    <a:pt x="920750" y="0"/>
                  </a:lnTo>
                  <a:lnTo>
                    <a:pt x="946725" y="5258"/>
                  </a:lnTo>
                  <a:lnTo>
                    <a:pt x="967962" y="19589"/>
                  </a:lnTo>
                  <a:lnTo>
                    <a:pt x="982293" y="40826"/>
                  </a:lnTo>
                  <a:lnTo>
                    <a:pt x="987551" y="66801"/>
                  </a:lnTo>
                  <a:lnTo>
                    <a:pt x="987551" y="756285"/>
                  </a:lnTo>
                  <a:lnTo>
                    <a:pt x="982293" y="782314"/>
                  </a:lnTo>
                  <a:lnTo>
                    <a:pt x="967962" y="803544"/>
                  </a:lnTo>
                  <a:lnTo>
                    <a:pt x="946725" y="817846"/>
                  </a:lnTo>
                  <a:lnTo>
                    <a:pt x="920750" y="823087"/>
                  </a:lnTo>
                  <a:lnTo>
                    <a:pt x="66928" y="823087"/>
                  </a:lnTo>
                  <a:lnTo>
                    <a:pt x="40880" y="817846"/>
                  </a:lnTo>
                  <a:lnTo>
                    <a:pt x="19605" y="803544"/>
                  </a:lnTo>
                  <a:lnTo>
                    <a:pt x="5260" y="782314"/>
                  </a:lnTo>
                  <a:lnTo>
                    <a:pt x="0" y="756285"/>
                  </a:lnTo>
                  <a:lnTo>
                    <a:pt x="0" y="66801"/>
                  </a:lnTo>
                  <a:close/>
                </a:path>
              </a:pathLst>
            </a:custGeom>
            <a:ln w="19050">
              <a:solidFill>
                <a:srgbClr val="B45209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0" name="object 10"/>
          <p:cNvSpPr txBox="1"/>
          <p:nvPr/>
        </p:nvSpPr>
        <p:spPr>
          <a:xfrm>
            <a:off x="6173978" y="1982444"/>
            <a:ext cx="555625" cy="611505"/>
          </a:xfrm>
          <a:prstGeom prst="rect">
            <a:avLst/>
          </a:prstGeom>
        </p:spPr>
        <p:txBody>
          <a:bodyPr wrap="square" lIns="0" tIns="8509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670"/>
              </a:spcBef>
            </a:pPr>
            <a:r>
              <a:rPr dirty="0" sz="1300" b="1">
                <a:solidFill>
                  <a:srgbClr val="B45209"/>
                </a:solidFill>
                <a:latin typeface="Arial"/>
                <a:cs typeface="Arial"/>
              </a:rPr>
              <a:t>label</a:t>
            </a:r>
            <a:r>
              <a:rPr dirty="0" sz="1300" spc="20" b="1">
                <a:solidFill>
                  <a:srgbClr val="B45209"/>
                </a:solidFill>
                <a:latin typeface="Arial"/>
                <a:cs typeface="Arial"/>
              </a:rPr>
              <a:t> </a:t>
            </a:r>
            <a:r>
              <a:rPr dirty="0" sz="1300" b="1">
                <a:solidFill>
                  <a:srgbClr val="B45209"/>
                </a:solidFill>
                <a:latin typeface="Arial"/>
                <a:cs typeface="Arial"/>
              </a:rPr>
              <a:t>3</a:t>
            </a:r>
            <a:endParaRPr sz="1300">
              <a:latin typeface="Arial"/>
              <a:cs typeface="Arial"/>
            </a:endParaRPr>
          </a:p>
          <a:p>
            <a:pPr marL="104775">
              <a:lnSpc>
                <a:spcPct val="100000"/>
              </a:lnSpc>
              <a:spcBef>
                <a:spcPts val="680"/>
              </a:spcBef>
            </a:pPr>
            <a:r>
              <a:rPr dirty="0" sz="1500" spc="-20" b="1">
                <a:solidFill>
                  <a:srgbClr val="13203C"/>
                </a:solidFill>
                <a:latin typeface="Arial"/>
                <a:cs typeface="Arial"/>
              </a:rPr>
              <a:t>0.16</a:t>
            </a:r>
            <a:endParaRPr sz="1500">
              <a:latin typeface="Arial"/>
              <a:cs typeface="Arial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7049643" y="1911223"/>
            <a:ext cx="1007110" cy="842644"/>
            <a:chOff x="7049643" y="1911223"/>
            <a:chExt cx="1007110" cy="842644"/>
          </a:xfrm>
        </p:grpSpPr>
        <p:sp>
          <p:nvSpPr>
            <p:cNvPr id="12" name="object 12"/>
            <p:cNvSpPr/>
            <p:nvPr/>
          </p:nvSpPr>
          <p:spPr>
            <a:xfrm>
              <a:off x="7059168" y="1920748"/>
              <a:ext cx="988060" cy="823594"/>
            </a:xfrm>
            <a:custGeom>
              <a:avLst/>
              <a:gdLst/>
              <a:ahLst/>
              <a:cxnLst/>
              <a:rect l="l" t="t" r="r" b="b"/>
              <a:pathLst>
                <a:path w="988059" h="823594">
                  <a:moveTo>
                    <a:pt x="920750" y="0"/>
                  </a:moveTo>
                  <a:lnTo>
                    <a:pt x="66801" y="0"/>
                  </a:lnTo>
                  <a:lnTo>
                    <a:pt x="40826" y="5258"/>
                  </a:lnTo>
                  <a:lnTo>
                    <a:pt x="19589" y="19589"/>
                  </a:lnTo>
                  <a:lnTo>
                    <a:pt x="5258" y="40826"/>
                  </a:lnTo>
                  <a:lnTo>
                    <a:pt x="0" y="66801"/>
                  </a:lnTo>
                  <a:lnTo>
                    <a:pt x="0" y="756285"/>
                  </a:lnTo>
                  <a:lnTo>
                    <a:pt x="5258" y="782314"/>
                  </a:lnTo>
                  <a:lnTo>
                    <a:pt x="19589" y="803544"/>
                  </a:lnTo>
                  <a:lnTo>
                    <a:pt x="40826" y="817846"/>
                  </a:lnTo>
                  <a:lnTo>
                    <a:pt x="66801" y="823087"/>
                  </a:lnTo>
                  <a:lnTo>
                    <a:pt x="920623" y="823087"/>
                  </a:lnTo>
                  <a:lnTo>
                    <a:pt x="946671" y="817846"/>
                  </a:lnTo>
                  <a:lnTo>
                    <a:pt x="967946" y="803544"/>
                  </a:lnTo>
                  <a:lnTo>
                    <a:pt x="982291" y="782314"/>
                  </a:lnTo>
                  <a:lnTo>
                    <a:pt x="987551" y="756285"/>
                  </a:lnTo>
                  <a:lnTo>
                    <a:pt x="987551" y="66801"/>
                  </a:lnTo>
                  <a:lnTo>
                    <a:pt x="982293" y="40826"/>
                  </a:lnTo>
                  <a:lnTo>
                    <a:pt x="967962" y="19589"/>
                  </a:lnTo>
                  <a:lnTo>
                    <a:pt x="946725" y="5258"/>
                  </a:lnTo>
                  <a:lnTo>
                    <a:pt x="92075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3" name="object 13"/>
            <p:cNvSpPr/>
            <p:nvPr/>
          </p:nvSpPr>
          <p:spPr>
            <a:xfrm>
              <a:off x="7059168" y="1920748"/>
              <a:ext cx="988060" cy="823594"/>
            </a:xfrm>
            <a:custGeom>
              <a:avLst/>
              <a:gdLst/>
              <a:ahLst/>
              <a:cxnLst/>
              <a:rect l="l" t="t" r="r" b="b"/>
              <a:pathLst>
                <a:path w="988059" h="823594">
                  <a:moveTo>
                    <a:pt x="0" y="66801"/>
                  </a:moveTo>
                  <a:lnTo>
                    <a:pt x="5258" y="40826"/>
                  </a:lnTo>
                  <a:lnTo>
                    <a:pt x="19589" y="19589"/>
                  </a:lnTo>
                  <a:lnTo>
                    <a:pt x="40826" y="5258"/>
                  </a:lnTo>
                  <a:lnTo>
                    <a:pt x="66801" y="0"/>
                  </a:lnTo>
                  <a:lnTo>
                    <a:pt x="920750" y="0"/>
                  </a:lnTo>
                  <a:lnTo>
                    <a:pt x="946725" y="5258"/>
                  </a:lnTo>
                  <a:lnTo>
                    <a:pt x="967962" y="19589"/>
                  </a:lnTo>
                  <a:lnTo>
                    <a:pt x="982293" y="40826"/>
                  </a:lnTo>
                  <a:lnTo>
                    <a:pt x="987551" y="66801"/>
                  </a:lnTo>
                  <a:lnTo>
                    <a:pt x="987551" y="756285"/>
                  </a:lnTo>
                  <a:lnTo>
                    <a:pt x="982291" y="782314"/>
                  </a:lnTo>
                  <a:lnTo>
                    <a:pt x="967946" y="803544"/>
                  </a:lnTo>
                  <a:lnTo>
                    <a:pt x="946671" y="817846"/>
                  </a:lnTo>
                  <a:lnTo>
                    <a:pt x="920623" y="823087"/>
                  </a:lnTo>
                  <a:lnTo>
                    <a:pt x="66801" y="823087"/>
                  </a:lnTo>
                  <a:lnTo>
                    <a:pt x="40826" y="817846"/>
                  </a:lnTo>
                  <a:lnTo>
                    <a:pt x="19589" y="803544"/>
                  </a:lnTo>
                  <a:lnTo>
                    <a:pt x="5258" y="782314"/>
                  </a:lnTo>
                  <a:lnTo>
                    <a:pt x="0" y="756285"/>
                  </a:lnTo>
                  <a:lnTo>
                    <a:pt x="0" y="66801"/>
                  </a:lnTo>
                  <a:close/>
                </a:path>
              </a:pathLst>
            </a:custGeom>
            <a:ln w="19050">
              <a:solidFill>
                <a:srgbClr val="D9DEE6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4" name="object 14"/>
          <p:cNvSpPr txBox="1"/>
          <p:nvPr/>
        </p:nvSpPr>
        <p:spPr>
          <a:xfrm>
            <a:off x="7293991" y="1982444"/>
            <a:ext cx="527050" cy="611505"/>
          </a:xfrm>
          <a:prstGeom prst="rect">
            <a:avLst/>
          </a:prstGeom>
        </p:spPr>
        <p:txBody>
          <a:bodyPr wrap="square" lIns="0" tIns="8509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670"/>
              </a:spcBef>
            </a:pPr>
            <a:r>
              <a:rPr dirty="0" sz="1300">
                <a:solidFill>
                  <a:srgbClr val="3C495C"/>
                </a:solidFill>
                <a:latin typeface="Arial"/>
                <a:cs typeface="Arial"/>
              </a:rPr>
              <a:t>label</a:t>
            </a:r>
            <a:r>
              <a:rPr dirty="0" sz="1300" spc="25">
                <a:solidFill>
                  <a:srgbClr val="3C495C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3C495C"/>
                </a:solidFill>
                <a:latin typeface="Arial"/>
                <a:cs typeface="Arial"/>
              </a:rPr>
              <a:t>1</a:t>
            </a:r>
            <a:endParaRPr sz="1300">
              <a:latin typeface="Arial"/>
              <a:cs typeface="Arial"/>
            </a:endParaRPr>
          </a:p>
          <a:p>
            <a:pPr marL="93980">
              <a:lnSpc>
                <a:spcPct val="100000"/>
              </a:lnSpc>
              <a:spcBef>
                <a:spcPts val="680"/>
              </a:spcBef>
            </a:pPr>
            <a:r>
              <a:rPr dirty="0" sz="1500" spc="-20">
                <a:solidFill>
                  <a:srgbClr val="13203C"/>
                </a:solidFill>
                <a:latin typeface="Arial"/>
                <a:cs typeface="Arial"/>
              </a:rPr>
              <a:t>0.07</a:t>
            </a:r>
            <a:endParaRPr sz="1500">
              <a:latin typeface="Arial"/>
              <a:cs typeface="Arial"/>
            </a:endParaRPr>
          </a:p>
        </p:txBody>
      </p:sp>
      <p:grpSp>
        <p:nvGrpSpPr>
          <p:cNvPr id="15" name="object 15"/>
          <p:cNvGrpSpPr/>
          <p:nvPr/>
        </p:nvGrpSpPr>
        <p:grpSpPr>
          <a:xfrm>
            <a:off x="8156067" y="1911223"/>
            <a:ext cx="1007110" cy="842644"/>
            <a:chOff x="8156067" y="1911223"/>
            <a:chExt cx="1007110" cy="842644"/>
          </a:xfrm>
        </p:grpSpPr>
        <p:sp>
          <p:nvSpPr>
            <p:cNvPr id="16" name="object 16"/>
            <p:cNvSpPr/>
            <p:nvPr/>
          </p:nvSpPr>
          <p:spPr>
            <a:xfrm>
              <a:off x="8165592" y="1920748"/>
              <a:ext cx="988060" cy="823594"/>
            </a:xfrm>
            <a:custGeom>
              <a:avLst/>
              <a:gdLst/>
              <a:ahLst/>
              <a:cxnLst/>
              <a:rect l="l" t="t" r="r" b="b"/>
              <a:pathLst>
                <a:path w="988059" h="823594">
                  <a:moveTo>
                    <a:pt x="920750" y="0"/>
                  </a:moveTo>
                  <a:lnTo>
                    <a:pt x="66928" y="0"/>
                  </a:lnTo>
                  <a:lnTo>
                    <a:pt x="40880" y="5258"/>
                  </a:lnTo>
                  <a:lnTo>
                    <a:pt x="19605" y="19589"/>
                  </a:lnTo>
                  <a:lnTo>
                    <a:pt x="5260" y="40826"/>
                  </a:lnTo>
                  <a:lnTo>
                    <a:pt x="0" y="66801"/>
                  </a:lnTo>
                  <a:lnTo>
                    <a:pt x="0" y="756285"/>
                  </a:lnTo>
                  <a:lnTo>
                    <a:pt x="5260" y="782314"/>
                  </a:lnTo>
                  <a:lnTo>
                    <a:pt x="19605" y="803544"/>
                  </a:lnTo>
                  <a:lnTo>
                    <a:pt x="40880" y="817846"/>
                  </a:lnTo>
                  <a:lnTo>
                    <a:pt x="66928" y="823087"/>
                  </a:lnTo>
                  <a:lnTo>
                    <a:pt x="920623" y="823087"/>
                  </a:lnTo>
                  <a:lnTo>
                    <a:pt x="946671" y="817846"/>
                  </a:lnTo>
                  <a:lnTo>
                    <a:pt x="967946" y="803544"/>
                  </a:lnTo>
                  <a:lnTo>
                    <a:pt x="982291" y="782314"/>
                  </a:lnTo>
                  <a:lnTo>
                    <a:pt x="987551" y="756285"/>
                  </a:lnTo>
                  <a:lnTo>
                    <a:pt x="987551" y="66801"/>
                  </a:lnTo>
                  <a:lnTo>
                    <a:pt x="982293" y="40826"/>
                  </a:lnTo>
                  <a:lnTo>
                    <a:pt x="967962" y="19589"/>
                  </a:lnTo>
                  <a:lnTo>
                    <a:pt x="946725" y="5258"/>
                  </a:lnTo>
                  <a:lnTo>
                    <a:pt x="92075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7" name="object 17"/>
            <p:cNvSpPr/>
            <p:nvPr/>
          </p:nvSpPr>
          <p:spPr>
            <a:xfrm>
              <a:off x="8165592" y="1920748"/>
              <a:ext cx="988060" cy="823594"/>
            </a:xfrm>
            <a:custGeom>
              <a:avLst/>
              <a:gdLst/>
              <a:ahLst/>
              <a:cxnLst/>
              <a:rect l="l" t="t" r="r" b="b"/>
              <a:pathLst>
                <a:path w="988059" h="823594">
                  <a:moveTo>
                    <a:pt x="0" y="66801"/>
                  </a:moveTo>
                  <a:lnTo>
                    <a:pt x="5260" y="40826"/>
                  </a:lnTo>
                  <a:lnTo>
                    <a:pt x="19605" y="19589"/>
                  </a:lnTo>
                  <a:lnTo>
                    <a:pt x="40880" y="5258"/>
                  </a:lnTo>
                  <a:lnTo>
                    <a:pt x="66928" y="0"/>
                  </a:lnTo>
                  <a:lnTo>
                    <a:pt x="920750" y="0"/>
                  </a:lnTo>
                  <a:lnTo>
                    <a:pt x="946725" y="5258"/>
                  </a:lnTo>
                  <a:lnTo>
                    <a:pt x="967962" y="19589"/>
                  </a:lnTo>
                  <a:lnTo>
                    <a:pt x="982293" y="40826"/>
                  </a:lnTo>
                  <a:lnTo>
                    <a:pt x="987551" y="66801"/>
                  </a:lnTo>
                  <a:lnTo>
                    <a:pt x="987551" y="756285"/>
                  </a:lnTo>
                  <a:lnTo>
                    <a:pt x="982291" y="782314"/>
                  </a:lnTo>
                  <a:lnTo>
                    <a:pt x="967946" y="803544"/>
                  </a:lnTo>
                  <a:lnTo>
                    <a:pt x="946671" y="817846"/>
                  </a:lnTo>
                  <a:lnTo>
                    <a:pt x="920623" y="823087"/>
                  </a:lnTo>
                  <a:lnTo>
                    <a:pt x="66928" y="823087"/>
                  </a:lnTo>
                  <a:lnTo>
                    <a:pt x="40880" y="817846"/>
                  </a:lnTo>
                  <a:lnTo>
                    <a:pt x="19605" y="803544"/>
                  </a:lnTo>
                  <a:lnTo>
                    <a:pt x="5260" y="782314"/>
                  </a:lnTo>
                  <a:lnTo>
                    <a:pt x="0" y="756285"/>
                  </a:lnTo>
                  <a:lnTo>
                    <a:pt x="0" y="66801"/>
                  </a:lnTo>
                  <a:close/>
                </a:path>
              </a:pathLst>
            </a:custGeom>
            <a:ln w="19050">
              <a:solidFill>
                <a:srgbClr val="D9DEE6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8" name="object 18"/>
          <p:cNvSpPr txBox="1"/>
          <p:nvPr/>
        </p:nvSpPr>
        <p:spPr>
          <a:xfrm>
            <a:off x="8401939" y="1982444"/>
            <a:ext cx="528320" cy="611505"/>
          </a:xfrm>
          <a:prstGeom prst="rect">
            <a:avLst/>
          </a:prstGeom>
        </p:spPr>
        <p:txBody>
          <a:bodyPr wrap="square" lIns="0" tIns="8509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670"/>
              </a:spcBef>
            </a:pPr>
            <a:r>
              <a:rPr dirty="0" sz="1300">
                <a:solidFill>
                  <a:srgbClr val="3C495C"/>
                </a:solidFill>
                <a:latin typeface="Arial"/>
                <a:cs typeface="Arial"/>
              </a:rPr>
              <a:t>label</a:t>
            </a:r>
            <a:r>
              <a:rPr dirty="0" sz="1300" spc="30">
                <a:solidFill>
                  <a:srgbClr val="3C495C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3C495C"/>
                </a:solidFill>
                <a:latin typeface="Arial"/>
                <a:cs typeface="Arial"/>
              </a:rPr>
              <a:t>4</a:t>
            </a:r>
            <a:endParaRPr sz="1300">
              <a:latin typeface="Arial"/>
              <a:cs typeface="Arial"/>
            </a:endParaRPr>
          </a:p>
          <a:p>
            <a:pPr marL="94615">
              <a:lnSpc>
                <a:spcPct val="100000"/>
              </a:lnSpc>
              <a:spcBef>
                <a:spcPts val="680"/>
              </a:spcBef>
            </a:pPr>
            <a:r>
              <a:rPr dirty="0" sz="1500" spc="-20">
                <a:solidFill>
                  <a:srgbClr val="13203C"/>
                </a:solidFill>
                <a:latin typeface="Arial"/>
                <a:cs typeface="Arial"/>
              </a:rPr>
              <a:t>0.23</a:t>
            </a:r>
            <a:endParaRPr sz="1500">
              <a:latin typeface="Arial"/>
              <a:cs typeface="Arial"/>
            </a:endParaRPr>
          </a:p>
        </p:txBody>
      </p:sp>
      <p:grpSp>
        <p:nvGrpSpPr>
          <p:cNvPr id="19" name="object 19"/>
          <p:cNvGrpSpPr/>
          <p:nvPr/>
        </p:nvGrpSpPr>
        <p:grpSpPr>
          <a:xfrm>
            <a:off x="9262491" y="1911223"/>
            <a:ext cx="1007110" cy="842644"/>
            <a:chOff x="9262491" y="1911223"/>
            <a:chExt cx="1007110" cy="842644"/>
          </a:xfrm>
        </p:grpSpPr>
        <p:sp>
          <p:nvSpPr>
            <p:cNvPr id="20" name="object 20"/>
            <p:cNvSpPr/>
            <p:nvPr/>
          </p:nvSpPr>
          <p:spPr>
            <a:xfrm>
              <a:off x="9272016" y="1920748"/>
              <a:ext cx="988060" cy="823594"/>
            </a:xfrm>
            <a:custGeom>
              <a:avLst/>
              <a:gdLst/>
              <a:ahLst/>
              <a:cxnLst/>
              <a:rect l="l" t="t" r="r" b="b"/>
              <a:pathLst>
                <a:path w="988059" h="823594">
                  <a:moveTo>
                    <a:pt x="920750" y="0"/>
                  </a:moveTo>
                  <a:lnTo>
                    <a:pt x="66928" y="0"/>
                  </a:lnTo>
                  <a:lnTo>
                    <a:pt x="40880" y="5258"/>
                  </a:lnTo>
                  <a:lnTo>
                    <a:pt x="19605" y="19589"/>
                  </a:lnTo>
                  <a:lnTo>
                    <a:pt x="5260" y="40826"/>
                  </a:lnTo>
                  <a:lnTo>
                    <a:pt x="0" y="66801"/>
                  </a:lnTo>
                  <a:lnTo>
                    <a:pt x="0" y="756285"/>
                  </a:lnTo>
                  <a:lnTo>
                    <a:pt x="5260" y="782314"/>
                  </a:lnTo>
                  <a:lnTo>
                    <a:pt x="19605" y="803544"/>
                  </a:lnTo>
                  <a:lnTo>
                    <a:pt x="40880" y="817846"/>
                  </a:lnTo>
                  <a:lnTo>
                    <a:pt x="66928" y="823087"/>
                  </a:lnTo>
                  <a:lnTo>
                    <a:pt x="920623" y="823087"/>
                  </a:lnTo>
                  <a:lnTo>
                    <a:pt x="946671" y="817846"/>
                  </a:lnTo>
                  <a:lnTo>
                    <a:pt x="967946" y="803544"/>
                  </a:lnTo>
                  <a:lnTo>
                    <a:pt x="982291" y="782314"/>
                  </a:lnTo>
                  <a:lnTo>
                    <a:pt x="987551" y="756285"/>
                  </a:lnTo>
                  <a:lnTo>
                    <a:pt x="987551" y="66801"/>
                  </a:lnTo>
                  <a:lnTo>
                    <a:pt x="982293" y="40826"/>
                  </a:lnTo>
                  <a:lnTo>
                    <a:pt x="967962" y="19589"/>
                  </a:lnTo>
                  <a:lnTo>
                    <a:pt x="946725" y="5258"/>
                  </a:lnTo>
                  <a:lnTo>
                    <a:pt x="92075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1" name="object 21"/>
            <p:cNvSpPr/>
            <p:nvPr/>
          </p:nvSpPr>
          <p:spPr>
            <a:xfrm>
              <a:off x="9272016" y="1920748"/>
              <a:ext cx="988060" cy="823594"/>
            </a:xfrm>
            <a:custGeom>
              <a:avLst/>
              <a:gdLst/>
              <a:ahLst/>
              <a:cxnLst/>
              <a:rect l="l" t="t" r="r" b="b"/>
              <a:pathLst>
                <a:path w="988059" h="823594">
                  <a:moveTo>
                    <a:pt x="0" y="66801"/>
                  </a:moveTo>
                  <a:lnTo>
                    <a:pt x="5260" y="40826"/>
                  </a:lnTo>
                  <a:lnTo>
                    <a:pt x="19605" y="19589"/>
                  </a:lnTo>
                  <a:lnTo>
                    <a:pt x="40880" y="5258"/>
                  </a:lnTo>
                  <a:lnTo>
                    <a:pt x="66928" y="0"/>
                  </a:lnTo>
                  <a:lnTo>
                    <a:pt x="920750" y="0"/>
                  </a:lnTo>
                  <a:lnTo>
                    <a:pt x="946725" y="5258"/>
                  </a:lnTo>
                  <a:lnTo>
                    <a:pt x="967962" y="19589"/>
                  </a:lnTo>
                  <a:lnTo>
                    <a:pt x="982293" y="40826"/>
                  </a:lnTo>
                  <a:lnTo>
                    <a:pt x="987551" y="66801"/>
                  </a:lnTo>
                  <a:lnTo>
                    <a:pt x="987551" y="756285"/>
                  </a:lnTo>
                  <a:lnTo>
                    <a:pt x="982291" y="782314"/>
                  </a:lnTo>
                  <a:lnTo>
                    <a:pt x="967946" y="803544"/>
                  </a:lnTo>
                  <a:lnTo>
                    <a:pt x="946671" y="817846"/>
                  </a:lnTo>
                  <a:lnTo>
                    <a:pt x="920623" y="823087"/>
                  </a:lnTo>
                  <a:lnTo>
                    <a:pt x="66928" y="823087"/>
                  </a:lnTo>
                  <a:lnTo>
                    <a:pt x="40880" y="817846"/>
                  </a:lnTo>
                  <a:lnTo>
                    <a:pt x="19605" y="803544"/>
                  </a:lnTo>
                  <a:lnTo>
                    <a:pt x="5260" y="782314"/>
                  </a:lnTo>
                  <a:lnTo>
                    <a:pt x="0" y="756285"/>
                  </a:lnTo>
                  <a:lnTo>
                    <a:pt x="0" y="66801"/>
                  </a:lnTo>
                  <a:close/>
                </a:path>
              </a:pathLst>
            </a:custGeom>
            <a:ln w="19050">
              <a:solidFill>
                <a:srgbClr val="D9DEE6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2" name="object 22"/>
          <p:cNvSpPr txBox="1"/>
          <p:nvPr/>
        </p:nvSpPr>
        <p:spPr>
          <a:xfrm>
            <a:off x="9510014" y="1982444"/>
            <a:ext cx="528320" cy="611505"/>
          </a:xfrm>
          <a:prstGeom prst="rect">
            <a:avLst/>
          </a:prstGeom>
        </p:spPr>
        <p:txBody>
          <a:bodyPr wrap="square" lIns="0" tIns="8509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670"/>
              </a:spcBef>
            </a:pPr>
            <a:r>
              <a:rPr dirty="0" sz="1300">
                <a:solidFill>
                  <a:srgbClr val="3C495C"/>
                </a:solidFill>
                <a:latin typeface="Arial"/>
                <a:cs typeface="Arial"/>
              </a:rPr>
              <a:t>label</a:t>
            </a:r>
            <a:r>
              <a:rPr dirty="0" sz="1300" spc="30">
                <a:solidFill>
                  <a:srgbClr val="3C495C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3C495C"/>
                </a:solidFill>
                <a:latin typeface="Arial"/>
                <a:cs typeface="Arial"/>
              </a:rPr>
              <a:t>2</a:t>
            </a:r>
            <a:endParaRPr sz="1300">
              <a:latin typeface="Arial"/>
              <a:cs typeface="Arial"/>
            </a:endParaRPr>
          </a:p>
          <a:p>
            <a:pPr marL="93980">
              <a:lnSpc>
                <a:spcPct val="100000"/>
              </a:lnSpc>
              <a:spcBef>
                <a:spcPts val="680"/>
              </a:spcBef>
            </a:pPr>
            <a:r>
              <a:rPr dirty="0" sz="1500" spc="-20">
                <a:solidFill>
                  <a:srgbClr val="13203C"/>
                </a:solidFill>
                <a:latin typeface="Arial"/>
                <a:cs typeface="Arial"/>
              </a:rPr>
              <a:t>0.24</a:t>
            </a:r>
            <a:endParaRPr sz="1500">
              <a:latin typeface="Arial"/>
              <a:cs typeface="Arial"/>
            </a:endParaRPr>
          </a:p>
        </p:txBody>
      </p:sp>
      <p:grpSp>
        <p:nvGrpSpPr>
          <p:cNvPr id="23" name="object 23"/>
          <p:cNvGrpSpPr/>
          <p:nvPr/>
        </p:nvGrpSpPr>
        <p:grpSpPr>
          <a:xfrm>
            <a:off x="10368915" y="1911223"/>
            <a:ext cx="1007110" cy="842644"/>
            <a:chOff x="10368915" y="1911223"/>
            <a:chExt cx="1007110" cy="842644"/>
          </a:xfrm>
        </p:grpSpPr>
        <p:sp>
          <p:nvSpPr>
            <p:cNvPr id="24" name="object 24"/>
            <p:cNvSpPr/>
            <p:nvPr/>
          </p:nvSpPr>
          <p:spPr>
            <a:xfrm>
              <a:off x="10378440" y="1920748"/>
              <a:ext cx="988060" cy="823594"/>
            </a:xfrm>
            <a:custGeom>
              <a:avLst/>
              <a:gdLst/>
              <a:ahLst/>
              <a:cxnLst/>
              <a:rect l="l" t="t" r="r" b="b"/>
              <a:pathLst>
                <a:path w="988059" h="823594">
                  <a:moveTo>
                    <a:pt x="920750" y="0"/>
                  </a:moveTo>
                  <a:lnTo>
                    <a:pt x="66928" y="0"/>
                  </a:lnTo>
                  <a:lnTo>
                    <a:pt x="40880" y="5258"/>
                  </a:lnTo>
                  <a:lnTo>
                    <a:pt x="19605" y="19589"/>
                  </a:lnTo>
                  <a:lnTo>
                    <a:pt x="5260" y="40826"/>
                  </a:lnTo>
                  <a:lnTo>
                    <a:pt x="0" y="66801"/>
                  </a:lnTo>
                  <a:lnTo>
                    <a:pt x="0" y="756285"/>
                  </a:lnTo>
                  <a:lnTo>
                    <a:pt x="5260" y="782314"/>
                  </a:lnTo>
                  <a:lnTo>
                    <a:pt x="19605" y="803544"/>
                  </a:lnTo>
                  <a:lnTo>
                    <a:pt x="40880" y="817846"/>
                  </a:lnTo>
                  <a:lnTo>
                    <a:pt x="66928" y="823087"/>
                  </a:lnTo>
                  <a:lnTo>
                    <a:pt x="920623" y="823087"/>
                  </a:lnTo>
                  <a:lnTo>
                    <a:pt x="946671" y="817846"/>
                  </a:lnTo>
                  <a:lnTo>
                    <a:pt x="967946" y="803544"/>
                  </a:lnTo>
                  <a:lnTo>
                    <a:pt x="982291" y="782314"/>
                  </a:lnTo>
                  <a:lnTo>
                    <a:pt x="987551" y="756285"/>
                  </a:lnTo>
                  <a:lnTo>
                    <a:pt x="987551" y="66801"/>
                  </a:lnTo>
                  <a:lnTo>
                    <a:pt x="982293" y="40826"/>
                  </a:lnTo>
                  <a:lnTo>
                    <a:pt x="967962" y="19589"/>
                  </a:lnTo>
                  <a:lnTo>
                    <a:pt x="946725" y="5258"/>
                  </a:lnTo>
                  <a:lnTo>
                    <a:pt x="92075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5" name="object 25"/>
            <p:cNvSpPr/>
            <p:nvPr/>
          </p:nvSpPr>
          <p:spPr>
            <a:xfrm>
              <a:off x="10378440" y="1920748"/>
              <a:ext cx="988060" cy="823594"/>
            </a:xfrm>
            <a:custGeom>
              <a:avLst/>
              <a:gdLst/>
              <a:ahLst/>
              <a:cxnLst/>
              <a:rect l="l" t="t" r="r" b="b"/>
              <a:pathLst>
                <a:path w="988059" h="823594">
                  <a:moveTo>
                    <a:pt x="0" y="66801"/>
                  </a:moveTo>
                  <a:lnTo>
                    <a:pt x="5260" y="40826"/>
                  </a:lnTo>
                  <a:lnTo>
                    <a:pt x="19605" y="19589"/>
                  </a:lnTo>
                  <a:lnTo>
                    <a:pt x="40880" y="5258"/>
                  </a:lnTo>
                  <a:lnTo>
                    <a:pt x="66928" y="0"/>
                  </a:lnTo>
                  <a:lnTo>
                    <a:pt x="920750" y="0"/>
                  </a:lnTo>
                  <a:lnTo>
                    <a:pt x="946725" y="5258"/>
                  </a:lnTo>
                  <a:lnTo>
                    <a:pt x="967962" y="19589"/>
                  </a:lnTo>
                  <a:lnTo>
                    <a:pt x="982293" y="40826"/>
                  </a:lnTo>
                  <a:lnTo>
                    <a:pt x="987551" y="66801"/>
                  </a:lnTo>
                  <a:lnTo>
                    <a:pt x="987551" y="756285"/>
                  </a:lnTo>
                  <a:lnTo>
                    <a:pt x="982291" y="782314"/>
                  </a:lnTo>
                  <a:lnTo>
                    <a:pt x="967946" y="803544"/>
                  </a:lnTo>
                  <a:lnTo>
                    <a:pt x="946671" y="817846"/>
                  </a:lnTo>
                  <a:lnTo>
                    <a:pt x="920623" y="823087"/>
                  </a:lnTo>
                  <a:lnTo>
                    <a:pt x="66928" y="823087"/>
                  </a:lnTo>
                  <a:lnTo>
                    <a:pt x="40880" y="817846"/>
                  </a:lnTo>
                  <a:lnTo>
                    <a:pt x="19605" y="803544"/>
                  </a:lnTo>
                  <a:lnTo>
                    <a:pt x="5260" y="782314"/>
                  </a:lnTo>
                  <a:lnTo>
                    <a:pt x="0" y="756285"/>
                  </a:lnTo>
                  <a:lnTo>
                    <a:pt x="0" y="66801"/>
                  </a:lnTo>
                  <a:close/>
                </a:path>
              </a:pathLst>
            </a:custGeom>
            <a:ln w="19050">
              <a:solidFill>
                <a:srgbClr val="D9DEE6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6" name="object 26"/>
          <p:cNvSpPr txBox="1"/>
          <p:nvPr/>
        </p:nvSpPr>
        <p:spPr>
          <a:xfrm>
            <a:off x="10618343" y="1982444"/>
            <a:ext cx="525780" cy="611505"/>
          </a:xfrm>
          <a:prstGeom prst="rect">
            <a:avLst/>
          </a:prstGeom>
        </p:spPr>
        <p:txBody>
          <a:bodyPr wrap="square" lIns="0" tIns="8509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670"/>
              </a:spcBef>
            </a:pPr>
            <a:r>
              <a:rPr dirty="0" sz="1300">
                <a:solidFill>
                  <a:srgbClr val="3C495C"/>
                </a:solidFill>
                <a:latin typeface="Arial"/>
                <a:cs typeface="Arial"/>
              </a:rPr>
              <a:t>label</a:t>
            </a:r>
            <a:r>
              <a:rPr dirty="0" sz="1300" spc="20">
                <a:solidFill>
                  <a:srgbClr val="3C495C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3C495C"/>
                </a:solidFill>
                <a:latin typeface="Arial"/>
                <a:cs typeface="Arial"/>
              </a:rPr>
              <a:t>7</a:t>
            </a:r>
            <a:endParaRPr sz="1300">
              <a:latin typeface="Arial"/>
              <a:cs typeface="Arial"/>
            </a:endParaRPr>
          </a:p>
          <a:p>
            <a:pPr marL="93980">
              <a:lnSpc>
                <a:spcPct val="100000"/>
              </a:lnSpc>
              <a:spcBef>
                <a:spcPts val="680"/>
              </a:spcBef>
            </a:pPr>
            <a:r>
              <a:rPr dirty="0" sz="1500" spc="-20">
                <a:solidFill>
                  <a:srgbClr val="13203C"/>
                </a:solidFill>
                <a:latin typeface="Arial"/>
                <a:cs typeface="Arial"/>
              </a:rPr>
              <a:t>0.14</a:t>
            </a:r>
            <a:endParaRPr sz="1500">
              <a:latin typeface="Arial"/>
              <a:cs typeface="Arial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5933694" y="2895765"/>
            <a:ext cx="5621655" cy="1322705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 marR="232410">
              <a:lnSpc>
                <a:spcPct val="116199"/>
              </a:lnSpc>
              <a:spcBef>
                <a:spcPts val="90"/>
              </a:spcBef>
            </a:pPr>
            <a:r>
              <a:rPr dirty="0" sz="1550" spc="-10" b="1">
                <a:solidFill>
                  <a:srgbClr val="13203C"/>
                </a:solidFill>
                <a:latin typeface="Arial"/>
                <a:cs typeface="Arial"/>
              </a:rPr>
              <a:t>MEM_USAGE[3]</a:t>
            </a:r>
            <a:r>
              <a:rPr dirty="0" sz="1550" spc="30" b="1">
                <a:solidFill>
                  <a:srgbClr val="13203C"/>
                </a:solidFill>
                <a:latin typeface="Arial"/>
                <a:cs typeface="Arial"/>
              </a:rPr>
              <a:t> </a:t>
            </a:r>
            <a:r>
              <a:rPr dirty="0" sz="1550">
                <a:solidFill>
                  <a:srgbClr val="3C495C"/>
                </a:solidFill>
                <a:latin typeface="Arial"/>
                <a:cs typeface="Arial"/>
              </a:rPr>
              <a:t>is</a:t>
            </a:r>
            <a:r>
              <a:rPr dirty="0" sz="1550" spc="25">
                <a:solidFill>
                  <a:srgbClr val="3C495C"/>
                </a:solidFill>
                <a:latin typeface="Arial"/>
                <a:cs typeface="Arial"/>
              </a:rPr>
              <a:t> </a:t>
            </a:r>
            <a:r>
              <a:rPr dirty="0" sz="1550" spc="55">
                <a:solidFill>
                  <a:srgbClr val="3C495C"/>
                </a:solidFill>
                <a:latin typeface="Arial"/>
                <a:cs typeface="Arial"/>
              </a:rPr>
              <a:t>0.16,</a:t>
            </a:r>
            <a:r>
              <a:rPr dirty="0" sz="1550" spc="-5">
                <a:solidFill>
                  <a:srgbClr val="3C495C"/>
                </a:solidFill>
                <a:latin typeface="Arial"/>
                <a:cs typeface="Arial"/>
              </a:rPr>
              <a:t> </a:t>
            </a:r>
            <a:r>
              <a:rPr dirty="0" sz="1550">
                <a:solidFill>
                  <a:srgbClr val="3C495C"/>
                </a:solidFill>
                <a:latin typeface="Arial"/>
                <a:cs typeface="Arial"/>
              </a:rPr>
              <a:t>the</a:t>
            </a:r>
            <a:r>
              <a:rPr dirty="0" sz="1550" spc="80">
                <a:solidFill>
                  <a:srgbClr val="3C495C"/>
                </a:solidFill>
                <a:latin typeface="Arial"/>
                <a:cs typeface="Arial"/>
              </a:rPr>
              <a:t> </a:t>
            </a:r>
            <a:r>
              <a:rPr dirty="0" sz="1550">
                <a:solidFill>
                  <a:srgbClr val="3C495C"/>
                </a:solidFill>
                <a:latin typeface="Arial"/>
                <a:cs typeface="Arial"/>
              </a:rPr>
              <a:t>value</a:t>
            </a:r>
            <a:r>
              <a:rPr dirty="0" sz="1550" spc="75">
                <a:solidFill>
                  <a:srgbClr val="3C495C"/>
                </a:solidFill>
                <a:latin typeface="Arial"/>
                <a:cs typeface="Arial"/>
              </a:rPr>
              <a:t> </a:t>
            </a:r>
            <a:r>
              <a:rPr dirty="0" sz="1550" b="1">
                <a:solidFill>
                  <a:srgbClr val="3C495C"/>
                </a:solidFill>
                <a:latin typeface="Arial"/>
                <a:cs typeface="Arial"/>
              </a:rPr>
              <a:t>labeled</a:t>
            </a:r>
            <a:r>
              <a:rPr dirty="0" sz="1550" spc="15" b="1">
                <a:solidFill>
                  <a:srgbClr val="3C495C"/>
                </a:solidFill>
                <a:latin typeface="Arial"/>
                <a:cs typeface="Arial"/>
              </a:rPr>
              <a:t> </a:t>
            </a:r>
            <a:r>
              <a:rPr dirty="0" sz="1550">
                <a:solidFill>
                  <a:srgbClr val="3C495C"/>
                </a:solidFill>
                <a:latin typeface="Arial"/>
                <a:cs typeface="Arial"/>
              </a:rPr>
              <a:t>3.</a:t>
            </a:r>
            <a:r>
              <a:rPr dirty="0" sz="1550" spc="95">
                <a:solidFill>
                  <a:srgbClr val="3C495C"/>
                </a:solidFill>
                <a:latin typeface="Arial"/>
                <a:cs typeface="Arial"/>
              </a:rPr>
              <a:t> </a:t>
            </a:r>
            <a:r>
              <a:rPr dirty="0" sz="1550" spc="140">
                <a:solidFill>
                  <a:srgbClr val="3C495C"/>
                </a:solidFill>
                <a:latin typeface="Arial"/>
                <a:cs typeface="Arial"/>
              </a:rPr>
              <a:t>It</a:t>
            </a:r>
            <a:r>
              <a:rPr dirty="0" sz="1550" spc="114">
                <a:solidFill>
                  <a:srgbClr val="3C495C"/>
                </a:solidFill>
                <a:latin typeface="Arial"/>
                <a:cs typeface="Arial"/>
              </a:rPr>
              <a:t> </a:t>
            </a:r>
            <a:r>
              <a:rPr dirty="0" sz="1550">
                <a:solidFill>
                  <a:srgbClr val="3C495C"/>
                </a:solidFill>
                <a:latin typeface="Arial"/>
                <a:cs typeface="Arial"/>
              </a:rPr>
              <a:t>happens</a:t>
            </a:r>
            <a:r>
              <a:rPr dirty="0" sz="1550" spc="30">
                <a:solidFill>
                  <a:srgbClr val="3C495C"/>
                </a:solidFill>
                <a:latin typeface="Arial"/>
                <a:cs typeface="Arial"/>
              </a:rPr>
              <a:t> </a:t>
            </a:r>
            <a:r>
              <a:rPr dirty="0" sz="1550" spc="60">
                <a:solidFill>
                  <a:srgbClr val="3C495C"/>
                </a:solidFill>
                <a:latin typeface="Arial"/>
                <a:cs typeface="Arial"/>
              </a:rPr>
              <a:t>to </a:t>
            </a:r>
            <a:r>
              <a:rPr dirty="0" sz="1550">
                <a:solidFill>
                  <a:srgbClr val="3C495C"/>
                </a:solidFill>
                <a:latin typeface="Arial"/>
                <a:cs typeface="Arial"/>
              </a:rPr>
              <a:t>sit </a:t>
            </a:r>
            <a:r>
              <a:rPr dirty="0" sz="1550" spc="60">
                <a:solidFill>
                  <a:srgbClr val="3C495C"/>
                </a:solidFill>
                <a:latin typeface="Arial"/>
                <a:cs typeface="Arial"/>
              </a:rPr>
              <a:t>first,</a:t>
            </a:r>
            <a:r>
              <a:rPr dirty="0" sz="1550" spc="-30">
                <a:solidFill>
                  <a:srgbClr val="3C495C"/>
                </a:solidFill>
                <a:latin typeface="Arial"/>
                <a:cs typeface="Arial"/>
              </a:rPr>
              <a:t> </a:t>
            </a:r>
            <a:r>
              <a:rPr dirty="0" sz="1550" spc="55">
                <a:solidFill>
                  <a:srgbClr val="3C495C"/>
                </a:solidFill>
                <a:latin typeface="Arial"/>
                <a:cs typeface="Arial"/>
              </a:rPr>
              <a:t>in</a:t>
            </a:r>
            <a:r>
              <a:rPr dirty="0" sz="1550" spc="-65">
                <a:solidFill>
                  <a:srgbClr val="3C495C"/>
                </a:solidFill>
                <a:latin typeface="Arial"/>
                <a:cs typeface="Arial"/>
              </a:rPr>
              <a:t> </a:t>
            </a:r>
            <a:r>
              <a:rPr dirty="0" sz="1550" spc="50">
                <a:solidFill>
                  <a:srgbClr val="3C495C"/>
                </a:solidFill>
                <a:latin typeface="Arial"/>
                <a:cs typeface="Arial"/>
              </a:rPr>
              <a:t>position</a:t>
            </a:r>
            <a:r>
              <a:rPr dirty="0" sz="1550" spc="15">
                <a:solidFill>
                  <a:srgbClr val="3C495C"/>
                </a:solidFill>
                <a:latin typeface="Arial"/>
                <a:cs typeface="Arial"/>
              </a:rPr>
              <a:t> </a:t>
            </a:r>
            <a:r>
              <a:rPr dirty="0" sz="1550" spc="-25">
                <a:solidFill>
                  <a:srgbClr val="3C495C"/>
                </a:solidFill>
                <a:latin typeface="Arial"/>
                <a:cs typeface="Arial"/>
              </a:rPr>
              <a:t>0.</a:t>
            </a:r>
            <a:endParaRPr sz="1550">
              <a:latin typeface="Arial"/>
              <a:cs typeface="Arial"/>
            </a:endParaRPr>
          </a:p>
          <a:p>
            <a:pPr marL="12700" marR="5080">
              <a:lnSpc>
                <a:spcPct val="116199"/>
              </a:lnSpc>
              <a:spcBef>
                <a:spcPts val="1570"/>
              </a:spcBef>
            </a:pPr>
            <a:r>
              <a:rPr dirty="0" sz="1550">
                <a:solidFill>
                  <a:srgbClr val="3C495C"/>
                </a:solidFill>
                <a:latin typeface="Arial"/>
                <a:cs typeface="Arial"/>
              </a:rPr>
              <a:t>A </a:t>
            </a:r>
            <a:r>
              <a:rPr dirty="0" sz="1550" spc="75">
                <a:solidFill>
                  <a:srgbClr val="3C495C"/>
                </a:solidFill>
                <a:latin typeface="Arial"/>
                <a:cs typeface="Arial"/>
              </a:rPr>
              <a:t>list</a:t>
            </a:r>
            <a:r>
              <a:rPr dirty="0" sz="1550" spc="35">
                <a:solidFill>
                  <a:srgbClr val="3C495C"/>
                </a:solidFill>
                <a:latin typeface="Arial"/>
                <a:cs typeface="Arial"/>
              </a:rPr>
              <a:t> </a:t>
            </a:r>
            <a:r>
              <a:rPr dirty="0" sz="1550">
                <a:solidFill>
                  <a:srgbClr val="3C495C"/>
                </a:solidFill>
                <a:latin typeface="Arial"/>
                <a:cs typeface="Arial"/>
              </a:rPr>
              <a:t>of</a:t>
            </a:r>
            <a:r>
              <a:rPr dirty="0" sz="1550" spc="85">
                <a:solidFill>
                  <a:srgbClr val="3C495C"/>
                </a:solidFill>
                <a:latin typeface="Arial"/>
                <a:cs typeface="Arial"/>
              </a:rPr>
              <a:t> </a:t>
            </a:r>
            <a:r>
              <a:rPr dirty="0" sz="1550">
                <a:solidFill>
                  <a:srgbClr val="3C495C"/>
                </a:solidFill>
                <a:latin typeface="Arial"/>
                <a:cs typeface="Arial"/>
              </a:rPr>
              <a:t>labels</a:t>
            </a:r>
            <a:r>
              <a:rPr dirty="0" sz="1550" spc="35">
                <a:solidFill>
                  <a:srgbClr val="3C495C"/>
                </a:solidFill>
                <a:latin typeface="Arial"/>
                <a:cs typeface="Arial"/>
              </a:rPr>
              <a:t> </a:t>
            </a:r>
            <a:r>
              <a:rPr dirty="0" sz="1550" spc="45">
                <a:solidFill>
                  <a:srgbClr val="3C495C"/>
                </a:solidFill>
                <a:latin typeface="Arial"/>
                <a:cs typeface="Arial"/>
              </a:rPr>
              <a:t>returns</a:t>
            </a:r>
            <a:r>
              <a:rPr dirty="0" sz="1550" spc="40">
                <a:solidFill>
                  <a:srgbClr val="3C495C"/>
                </a:solidFill>
                <a:latin typeface="Arial"/>
                <a:cs typeface="Arial"/>
              </a:rPr>
              <a:t> </a:t>
            </a:r>
            <a:r>
              <a:rPr dirty="0" sz="1550">
                <a:solidFill>
                  <a:srgbClr val="3C495C"/>
                </a:solidFill>
                <a:latin typeface="Arial"/>
                <a:cs typeface="Arial"/>
              </a:rPr>
              <a:t>several</a:t>
            </a:r>
            <a:r>
              <a:rPr dirty="0" sz="1550" spc="5">
                <a:solidFill>
                  <a:srgbClr val="3C495C"/>
                </a:solidFill>
                <a:latin typeface="Arial"/>
                <a:cs typeface="Arial"/>
              </a:rPr>
              <a:t> </a:t>
            </a:r>
            <a:r>
              <a:rPr dirty="0" sz="1550">
                <a:solidFill>
                  <a:srgbClr val="3C495C"/>
                </a:solidFill>
                <a:latin typeface="Arial"/>
                <a:cs typeface="Arial"/>
              </a:rPr>
              <a:t>values.</a:t>
            </a:r>
            <a:r>
              <a:rPr dirty="0" sz="1550" spc="10">
                <a:solidFill>
                  <a:srgbClr val="3C495C"/>
                </a:solidFill>
                <a:latin typeface="Arial"/>
                <a:cs typeface="Arial"/>
              </a:rPr>
              <a:t> </a:t>
            </a:r>
            <a:r>
              <a:rPr dirty="0" sz="1550">
                <a:solidFill>
                  <a:srgbClr val="3C495C"/>
                </a:solidFill>
                <a:latin typeface="Arial"/>
                <a:cs typeface="Arial"/>
              </a:rPr>
              <a:t>A</a:t>
            </a:r>
            <a:r>
              <a:rPr dirty="0" sz="1550" spc="85">
                <a:solidFill>
                  <a:srgbClr val="3C495C"/>
                </a:solidFill>
                <a:latin typeface="Arial"/>
                <a:cs typeface="Arial"/>
              </a:rPr>
              <a:t> </a:t>
            </a:r>
            <a:r>
              <a:rPr dirty="0" sz="1550" spc="55">
                <a:solidFill>
                  <a:srgbClr val="3C495C"/>
                </a:solidFill>
                <a:latin typeface="Arial"/>
                <a:cs typeface="Arial"/>
              </a:rPr>
              <a:t>list</a:t>
            </a:r>
            <a:r>
              <a:rPr dirty="0" sz="1550" spc="40">
                <a:solidFill>
                  <a:srgbClr val="3C495C"/>
                </a:solidFill>
                <a:latin typeface="Arial"/>
                <a:cs typeface="Arial"/>
              </a:rPr>
              <a:t> </a:t>
            </a:r>
            <a:r>
              <a:rPr dirty="0" sz="1550">
                <a:solidFill>
                  <a:srgbClr val="3C495C"/>
                </a:solidFill>
                <a:latin typeface="Arial"/>
                <a:cs typeface="Arial"/>
              </a:rPr>
              <a:t>of</a:t>
            </a:r>
            <a:r>
              <a:rPr dirty="0" sz="1550" spc="90">
                <a:solidFill>
                  <a:srgbClr val="3C495C"/>
                </a:solidFill>
                <a:latin typeface="Arial"/>
                <a:cs typeface="Arial"/>
              </a:rPr>
              <a:t> </a:t>
            </a:r>
            <a:r>
              <a:rPr dirty="0" sz="1550">
                <a:solidFill>
                  <a:srgbClr val="3C495C"/>
                </a:solidFill>
                <a:latin typeface="Arial"/>
                <a:cs typeface="Arial"/>
              </a:rPr>
              <a:t>True/False, </a:t>
            </a:r>
            <a:r>
              <a:rPr dirty="0" sz="1550" spc="-25">
                <a:solidFill>
                  <a:srgbClr val="3C495C"/>
                </a:solidFill>
                <a:latin typeface="Arial"/>
                <a:cs typeface="Arial"/>
              </a:rPr>
              <a:t>one </a:t>
            </a:r>
            <a:r>
              <a:rPr dirty="0" sz="1550">
                <a:solidFill>
                  <a:srgbClr val="3C495C"/>
                </a:solidFill>
                <a:latin typeface="Arial"/>
                <a:cs typeface="Arial"/>
              </a:rPr>
              <a:t>per</a:t>
            </a:r>
            <a:r>
              <a:rPr dirty="0" sz="1550" spc="5">
                <a:solidFill>
                  <a:srgbClr val="3C495C"/>
                </a:solidFill>
                <a:latin typeface="Arial"/>
                <a:cs typeface="Arial"/>
              </a:rPr>
              <a:t> </a:t>
            </a:r>
            <a:r>
              <a:rPr dirty="0" sz="1550" spc="55">
                <a:solidFill>
                  <a:srgbClr val="3C495C"/>
                </a:solidFill>
                <a:latin typeface="Arial"/>
                <a:cs typeface="Arial"/>
              </a:rPr>
              <a:t>element,</a:t>
            </a:r>
            <a:r>
              <a:rPr dirty="0" sz="1550" spc="15">
                <a:solidFill>
                  <a:srgbClr val="3C495C"/>
                </a:solidFill>
                <a:latin typeface="Arial"/>
                <a:cs typeface="Arial"/>
              </a:rPr>
              <a:t> </a:t>
            </a:r>
            <a:r>
              <a:rPr dirty="0" sz="1550">
                <a:solidFill>
                  <a:srgbClr val="3C495C"/>
                </a:solidFill>
                <a:latin typeface="Arial"/>
                <a:cs typeface="Arial"/>
              </a:rPr>
              <a:t>keeps</a:t>
            </a:r>
            <a:r>
              <a:rPr dirty="0" sz="1550" spc="50">
                <a:solidFill>
                  <a:srgbClr val="3C495C"/>
                </a:solidFill>
                <a:latin typeface="Arial"/>
                <a:cs typeface="Arial"/>
              </a:rPr>
              <a:t> </a:t>
            </a:r>
            <a:r>
              <a:rPr dirty="0" sz="1550">
                <a:solidFill>
                  <a:srgbClr val="3C495C"/>
                </a:solidFill>
                <a:latin typeface="Arial"/>
                <a:cs typeface="Arial"/>
              </a:rPr>
              <a:t>only</a:t>
            </a:r>
            <a:r>
              <a:rPr dirty="0" sz="1550" spc="20">
                <a:solidFill>
                  <a:srgbClr val="3C495C"/>
                </a:solidFill>
                <a:latin typeface="Arial"/>
                <a:cs typeface="Arial"/>
              </a:rPr>
              <a:t> </a:t>
            </a:r>
            <a:r>
              <a:rPr dirty="0" sz="1550" spc="70">
                <a:solidFill>
                  <a:srgbClr val="3C495C"/>
                </a:solidFill>
                <a:latin typeface="Arial"/>
                <a:cs typeface="Arial"/>
              </a:rPr>
              <a:t>the</a:t>
            </a:r>
            <a:r>
              <a:rPr dirty="0" sz="1550" spc="10">
                <a:solidFill>
                  <a:srgbClr val="3C495C"/>
                </a:solidFill>
                <a:latin typeface="Arial"/>
                <a:cs typeface="Arial"/>
              </a:rPr>
              <a:t> </a:t>
            </a:r>
            <a:r>
              <a:rPr dirty="0" sz="1550">
                <a:solidFill>
                  <a:srgbClr val="3C495C"/>
                </a:solidFill>
                <a:latin typeface="Arial"/>
                <a:cs typeface="Arial"/>
              </a:rPr>
              <a:t>True</a:t>
            </a:r>
            <a:r>
              <a:rPr dirty="0" sz="1550" spc="5">
                <a:solidFill>
                  <a:srgbClr val="3C495C"/>
                </a:solidFill>
                <a:latin typeface="Arial"/>
                <a:cs typeface="Arial"/>
              </a:rPr>
              <a:t> </a:t>
            </a:r>
            <a:r>
              <a:rPr dirty="0" sz="1550" spc="-10">
                <a:solidFill>
                  <a:srgbClr val="3C495C"/>
                </a:solidFill>
                <a:latin typeface="Arial"/>
                <a:cs typeface="Arial"/>
              </a:rPr>
              <a:t>ones.</a:t>
            </a:r>
            <a:endParaRPr sz="155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800480" y="793067"/>
            <a:ext cx="4813300" cy="806450"/>
          </a:xfrm>
          <a:prstGeom prst="rect"/>
        </p:spPr>
        <p:txBody>
          <a:bodyPr wrap="square" lIns="0" tIns="419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330"/>
              </a:spcBef>
            </a:pPr>
            <a:r>
              <a:rPr dirty="0" sz="1350" spc="65">
                <a:solidFill>
                  <a:srgbClr val="B45209"/>
                </a:solidFill>
              </a:rPr>
              <a:t>0</a:t>
            </a:r>
            <a:r>
              <a:rPr dirty="0" sz="1350" spc="-190">
                <a:solidFill>
                  <a:srgbClr val="B45209"/>
                </a:solidFill>
              </a:rPr>
              <a:t> </a:t>
            </a:r>
            <a:r>
              <a:rPr dirty="0" sz="1350" spc="65">
                <a:solidFill>
                  <a:srgbClr val="B45209"/>
                </a:solidFill>
              </a:rPr>
              <a:t>2</a:t>
            </a:r>
            <a:r>
              <a:rPr dirty="0" sz="1350" spc="275">
                <a:solidFill>
                  <a:srgbClr val="B45209"/>
                </a:solidFill>
              </a:rPr>
              <a:t> </a:t>
            </a:r>
            <a:r>
              <a:rPr dirty="0" sz="1350">
                <a:solidFill>
                  <a:srgbClr val="B45209"/>
                </a:solidFill>
              </a:rPr>
              <a:t>·</a:t>
            </a:r>
            <a:r>
              <a:rPr dirty="0" sz="1350" spc="310">
                <a:solidFill>
                  <a:srgbClr val="B45209"/>
                </a:solidFill>
              </a:rPr>
              <a:t> </a:t>
            </a:r>
            <a:r>
              <a:rPr dirty="0" sz="1350">
                <a:solidFill>
                  <a:srgbClr val="B45209"/>
                </a:solidFill>
              </a:rPr>
              <a:t>SE</a:t>
            </a:r>
            <a:r>
              <a:rPr dirty="0" sz="1350" spc="-190">
                <a:solidFill>
                  <a:srgbClr val="B45209"/>
                </a:solidFill>
              </a:rPr>
              <a:t> </a:t>
            </a:r>
            <a:r>
              <a:rPr dirty="0" sz="1350" spc="114">
                <a:solidFill>
                  <a:srgbClr val="B45209"/>
                </a:solidFill>
              </a:rPr>
              <a:t>RIE</a:t>
            </a:r>
            <a:r>
              <a:rPr dirty="0" sz="1350" spc="-190">
                <a:solidFill>
                  <a:srgbClr val="B45209"/>
                </a:solidFill>
              </a:rPr>
              <a:t> </a:t>
            </a:r>
            <a:r>
              <a:rPr dirty="0" sz="1350" spc="-50">
                <a:solidFill>
                  <a:srgbClr val="B45209"/>
                </a:solidFill>
              </a:rPr>
              <a:t>S</a:t>
            </a:r>
            <a:endParaRPr sz="1350"/>
          </a:p>
          <a:p>
            <a:pPr marL="12700">
              <a:lnSpc>
                <a:spcPct val="100000"/>
              </a:lnSpc>
              <a:spcBef>
                <a:spcPts val="509"/>
              </a:spcBef>
            </a:pPr>
            <a:r>
              <a:rPr dirty="0" spc="-60"/>
              <a:t>Change</a:t>
            </a:r>
            <a:r>
              <a:rPr dirty="0" spc="-130"/>
              <a:t> </a:t>
            </a:r>
            <a:r>
              <a:rPr dirty="0"/>
              <a:t>values</a:t>
            </a:r>
            <a:r>
              <a:rPr dirty="0" spc="-90"/>
              <a:t> </a:t>
            </a:r>
            <a:r>
              <a:rPr dirty="0" spc="95"/>
              <a:t>with</a:t>
            </a:r>
            <a:r>
              <a:rPr dirty="0" spc="-165"/>
              <a:t> </a:t>
            </a:r>
            <a:r>
              <a:rPr dirty="0" spc="-10"/>
              <a:t>.loc[]</a:t>
            </a:r>
          </a:p>
        </p:txBody>
      </p:sp>
      <p:sp>
        <p:nvSpPr>
          <p:cNvPr id="3" name="object 3"/>
          <p:cNvSpPr/>
          <p:nvPr/>
        </p:nvSpPr>
        <p:spPr>
          <a:xfrm>
            <a:off x="813816" y="1829307"/>
            <a:ext cx="10561320" cy="1262380"/>
          </a:xfrm>
          <a:custGeom>
            <a:avLst/>
            <a:gdLst/>
            <a:ahLst/>
            <a:cxnLst/>
            <a:rect l="l" t="t" r="r" b="b"/>
            <a:pathLst>
              <a:path w="10561320" h="1262380">
                <a:moveTo>
                  <a:pt x="10459592" y="0"/>
                </a:moveTo>
                <a:lnTo>
                  <a:pt x="101765" y="0"/>
                </a:lnTo>
                <a:lnTo>
                  <a:pt x="62155" y="7983"/>
                </a:lnTo>
                <a:lnTo>
                  <a:pt x="29808" y="29765"/>
                </a:lnTo>
                <a:lnTo>
                  <a:pt x="7998" y="62097"/>
                </a:lnTo>
                <a:lnTo>
                  <a:pt x="0" y="101726"/>
                </a:lnTo>
                <a:lnTo>
                  <a:pt x="0" y="1160399"/>
                </a:lnTo>
                <a:lnTo>
                  <a:pt x="7998" y="1199975"/>
                </a:lnTo>
                <a:lnTo>
                  <a:pt x="29808" y="1232312"/>
                </a:lnTo>
                <a:lnTo>
                  <a:pt x="62155" y="1254125"/>
                </a:lnTo>
                <a:lnTo>
                  <a:pt x="101765" y="1262126"/>
                </a:lnTo>
                <a:lnTo>
                  <a:pt x="10459592" y="1262126"/>
                </a:lnTo>
                <a:lnTo>
                  <a:pt x="10499169" y="1254125"/>
                </a:lnTo>
                <a:lnTo>
                  <a:pt x="10531506" y="1232312"/>
                </a:lnTo>
                <a:lnTo>
                  <a:pt x="10553318" y="1199975"/>
                </a:lnTo>
                <a:lnTo>
                  <a:pt x="10561319" y="1160399"/>
                </a:lnTo>
                <a:lnTo>
                  <a:pt x="10561319" y="101726"/>
                </a:lnTo>
                <a:lnTo>
                  <a:pt x="10553318" y="62097"/>
                </a:lnTo>
                <a:lnTo>
                  <a:pt x="10531506" y="29765"/>
                </a:lnTo>
                <a:lnTo>
                  <a:pt x="10499169" y="7983"/>
                </a:lnTo>
                <a:lnTo>
                  <a:pt x="10459592" y="0"/>
                </a:lnTo>
                <a:close/>
              </a:path>
            </a:pathLst>
          </a:custGeom>
          <a:solidFill>
            <a:srgbClr val="13203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/>
          <p:nvPr/>
        </p:nvSpPr>
        <p:spPr>
          <a:xfrm>
            <a:off x="1054620" y="1997849"/>
            <a:ext cx="5220970" cy="859155"/>
          </a:xfrm>
          <a:prstGeom prst="rect">
            <a:avLst/>
          </a:prstGeom>
        </p:spPr>
        <p:txBody>
          <a:bodyPr wrap="square" lIns="0" tIns="8128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640"/>
              </a:spcBef>
            </a:pPr>
            <a:r>
              <a:rPr dirty="0" sz="1350" spc="-70">
                <a:solidFill>
                  <a:srgbClr val="F4F0EA"/>
                </a:solidFill>
                <a:latin typeface="Arial"/>
                <a:cs typeface="Arial"/>
              </a:rPr>
              <a:t>MEM_USAGE.loc[7]</a:t>
            </a:r>
            <a:r>
              <a:rPr dirty="0" sz="1350" spc="-10">
                <a:solidFill>
                  <a:srgbClr val="F4F0EA"/>
                </a:solidFill>
                <a:latin typeface="Arial"/>
                <a:cs typeface="Arial"/>
              </a:rPr>
              <a:t> </a:t>
            </a:r>
            <a:r>
              <a:rPr dirty="0" sz="1350" spc="-120">
                <a:solidFill>
                  <a:srgbClr val="F4F0EA"/>
                </a:solidFill>
                <a:latin typeface="Arial"/>
                <a:cs typeface="Arial"/>
              </a:rPr>
              <a:t>=</a:t>
            </a:r>
            <a:r>
              <a:rPr dirty="0" sz="1350" spc="-50">
                <a:solidFill>
                  <a:srgbClr val="F4F0EA"/>
                </a:solidFill>
                <a:latin typeface="Arial"/>
                <a:cs typeface="Arial"/>
              </a:rPr>
              <a:t> 0.33</a:t>
            </a:r>
            <a:r>
              <a:rPr dirty="0" sz="1350" spc="10">
                <a:solidFill>
                  <a:srgbClr val="F4F0EA"/>
                </a:solidFill>
                <a:latin typeface="Arial"/>
                <a:cs typeface="Arial"/>
              </a:rPr>
              <a:t> </a:t>
            </a:r>
            <a:r>
              <a:rPr dirty="0" sz="1350" spc="-70">
                <a:solidFill>
                  <a:srgbClr val="F1B544"/>
                </a:solidFill>
                <a:latin typeface="Arial"/>
                <a:cs typeface="Arial"/>
              </a:rPr>
              <a:t>#</a:t>
            </a:r>
            <a:r>
              <a:rPr dirty="0" sz="1350" spc="-45">
                <a:solidFill>
                  <a:srgbClr val="F1B544"/>
                </a:solidFill>
                <a:latin typeface="Arial"/>
                <a:cs typeface="Arial"/>
              </a:rPr>
              <a:t> </a:t>
            </a:r>
            <a:r>
              <a:rPr dirty="0" sz="1350" spc="-35">
                <a:solidFill>
                  <a:srgbClr val="F1B544"/>
                </a:solidFill>
                <a:latin typeface="Arial"/>
                <a:cs typeface="Arial"/>
              </a:rPr>
              <a:t>step</a:t>
            </a:r>
            <a:r>
              <a:rPr dirty="0" sz="1350" spc="-85">
                <a:solidFill>
                  <a:srgbClr val="F1B544"/>
                </a:solidFill>
                <a:latin typeface="Arial"/>
                <a:cs typeface="Arial"/>
              </a:rPr>
              <a:t> </a:t>
            </a:r>
            <a:r>
              <a:rPr dirty="0" sz="1350" spc="-50">
                <a:solidFill>
                  <a:srgbClr val="F1B544"/>
                </a:solidFill>
                <a:latin typeface="Arial"/>
                <a:cs typeface="Arial"/>
              </a:rPr>
              <a:t>1</a:t>
            </a:r>
            <a:endParaRPr sz="13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545"/>
              </a:spcBef>
            </a:pPr>
            <a:r>
              <a:rPr dirty="0" sz="1350" spc="-75">
                <a:solidFill>
                  <a:srgbClr val="F4F0EA"/>
                </a:solidFill>
                <a:latin typeface="Arial"/>
                <a:cs typeface="Arial"/>
              </a:rPr>
              <a:t>MEM_USAGE.loc[[1,</a:t>
            </a:r>
            <a:r>
              <a:rPr dirty="0" sz="1350" spc="-65">
                <a:solidFill>
                  <a:srgbClr val="F4F0EA"/>
                </a:solidFill>
                <a:latin typeface="Arial"/>
                <a:cs typeface="Arial"/>
              </a:rPr>
              <a:t> </a:t>
            </a:r>
            <a:r>
              <a:rPr dirty="0" sz="1350">
                <a:solidFill>
                  <a:srgbClr val="F4F0EA"/>
                </a:solidFill>
                <a:latin typeface="Arial"/>
                <a:cs typeface="Arial"/>
              </a:rPr>
              <a:t>3]]</a:t>
            </a:r>
            <a:r>
              <a:rPr dirty="0" sz="1350" spc="5">
                <a:solidFill>
                  <a:srgbClr val="F4F0EA"/>
                </a:solidFill>
                <a:latin typeface="Arial"/>
                <a:cs typeface="Arial"/>
              </a:rPr>
              <a:t> </a:t>
            </a:r>
            <a:r>
              <a:rPr dirty="0" sz="1350" spc="-120">
                <a:solidFill>
                  <a:srgbClr val="F4F0EA"/>
                </a:solidFill>
                <a:latin typeface="Arial"/>
                <a:cs typeface="Arial"/>
              </a:rPr>
              <a:t>=</a:t>
            </a:r>
            <a:r>
              <a:rPr dirty="0" sz="1350" spc="-45">
                <a:solidFill>
                  <a:srgbClr val="F4F0EA"/>
                </a:solidFill>
                <a:latin typeface="Arial"/>
                <a:cs typeface="Arial"/>
              </a:rPr>
              <a:t> </a:t>
            </a:r>
            <a:r>
              <a:rPr dirty="0" sz="1350">
                <a:solidFill>
                  <a:srgbClr val="F4F0EA"/>
                </a:solidFill>
                <a:latin typeface="Arial"/>
                <a:cs typeface="Arial"/>
              </a:rPr>
              <a:t>[4,</a:t>
            </a:r>
            <a:r>
              <a:rPr dirty="0" sz="1350" spc="15">
                <a:solidFill>
                  <a:srgbClr val="F4F0EA"/>
                </a:solidFill>
                <a:latin typeface="Arial"/>
                <a:cs typeface="Arial"/>
              </a:rPr>
              <a:t> </a:t>
            </a:r>
            <a:r>
              <a:rPr dirty="0" sz="1350">
                <a:solidFill>
                  <a:srgbClr val="F4F0EA"/>
                </a:solidFill>
                <a:latin typeface="Arial"/>
                <a:cs typeface="Arial"/>
              </a:rPr>
              <a:t>2]</a:t>
            </a:r>
            <a:r>
              <a:rPr dirty="0" sz="1350" spc="25">
                <a:solidFill>
                  <a:srgbClr val="F4F0EA"/>
                </a:solidFill>
                <a:latin typeface="Arial"/>
                <a:cs typeface="Arial"/>
              </a:rPr>
              <a:t> </a:t>
            </a:r>
            <a:r>
              <a:rPr dirty="0" sz="1350" spc="-70">
                <a:solidFill>
                  <a:srgbClr val="F1B544"/>
                </a:solidFill>
                <a:latin typeface="Arial"/>
                <a:cs typeface="Arial"/>
              </a:rPr>
              <a:t>#</a:t>
            </a:r>
            <a:r>
              <a:rPr dirty="0" sz="1350" spc="-40">
                <a:solidFill>
                  <a:srgbClr val="F1B544"/>
                </a:solidFill>
                <a:latin typeface="Arial"/>
                <a:cs typeface="Arial"/>
              </a:rPr>
              <a:t> </a:t>
            </a:r>
            <a:r>
              <a:rPr dirty="0" sz="1350" spc="-35">
                <a:solidFill>
                  <a:srgbClr val="F1B544"/>
                </a:solidFill>
                <a:latin typeface="Arial"/>
                <a:cs typeface="Arial"/>
              </a:rPr>
              <a:t>step</a:t>
            </a:r>
            <a:r>
              <a:rPr dirty="0" sz="1350" spc="-80">
                <a:solidFill>
                  <a:srgbClr val="F1B544"/>
                </a:solidFill>
                <a:latin typeface="Arial"/>
                <a:cs typeface="Arial"/>
              </a:rPr>
              <a:t> </a:t>
            </a:r>
            <a:r>
              <a:rPr dirty="0" sz="1350" spc="-50">
                <a:solidFill>
                  <a:srgbClr val="F1B544"/>
                </a:solidFill>
                <a:latin typeface="Arial"/>
                <a:cs typeface="Arial"/>
              </a:rPr>
              <a:t>2</a:t>
            </a:r>
            <a:endParaRPr sz="13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615"/>
              </a:spcBef>
            </a:pPr>
            <a:r>
              <a:rPr dirty="0" sz="1350" spc="-70">
                <a:solidFill>
                  <a:srgbClr val="F4F0EA"/>
                </a:solidFill>
                <a:latin typeface="Arial"/>
                <a:cs typeface="Arial"/>
              </a:rPr>
              <a:t>MEM_USAGE.loc[[True,</a:t>
            </a:r>
            <a:r>
              <a:rPr dirty="0" sz="1350" spc="5">
                <a:solidFill>
                  <a:srgbClr val="F4F0EA"/>
                </a:solidFill>
                <a:latin typeface="Arial"/>
                <a:cs typeface="Arial"/>
              </a:rPr>
              <a:t> </a:t>
            </a:r>
            <a:r>
              <a:rPr dirty="0" sz="1350" spc="-100">
                <a:solidFill>
                  <a:srgbClr val="F4F0EA"/>
                </a:solidFill>
                <a:latin typeface="Arial"/>
                <a:cs typeface="Arial"/>
              </a:rPr>
              <a:t>False,</a:t>
            </a:r>
            <a:r>
              <a:rPr dirty="0" sz="1350" spc="-65">
                <a:solidFill>
                  <a:srgbClr val="F4F0EA"/>
                </a:solidFill>
                <a:latin typeface="Arial"/>
                <a:cs typeface="Arial"/>
              </a:rPr>
              <a:t> </a:t>
            </a:r>
            <a:r>
              <a:rPr dirty="0" sz="1350" spc="-85">
                <a:solidFill>
                  <a:srgbClr val="F4F0EA"/>
                </a:solidFill>
                <a:latin typeface="Arial"/>
                <a:cs typeface="Arial"/>
              </a:rPr>
              <a:t>False,</a:t>
            </a:r>
            <a:r>
              <a:rPr dirty="0" sz="1350" spc="-70">
                <a:solidFill>
                  <a:srgbClr val="F4F0EA"/>
                </a:solidFill>
                <a:latin typeface="Arial"/>
                <a:cs typeface="Arial"/>
              </a:rPr>
              <a:t> </a:t>
            </a:r>
            <a:r>
              <a:rPr dirty="0" sz="1350" spc="-65">
                <a:solidFill>
                  <a:srgbClr val="F4F0EA"/>
                </a:solidFill>
                <a:latin typeface="Arial"/>
                <a:cs typeface="Arial"/>
              </a:rPr>
              <a:t>True, </a:t>
            </a:r>
            <a:r>
              <a:rPr dirty="0" sz="1350" spc="-20">
                <a:solidFill>
                  <a:srgbClr val="F4F0EA"/>
                </a:solidFill>
                <a:latin typeface="Arial"/>
                <a:cs typeface="Arial"/>
              </a:rPr>
              <a:t>True]]</a:t>
            </a:r>
            <a:r>
              <a:rPr dirty="0" sz="1350" spc="-5">
                <a:solidFill>
                  <a:srgbClr val="F4F0EA"/>
                </a:solidFill>
                <a:latin typeface="Arial"/>
                <a:cs typeface="Arial"/>
              </a:rPr>
              <a:t> </a:t>
            </a:r>
            <a:r>
              <a:rPr dirty="0" sz="1350" spc="-120">
                <a:solidFill>
                  <a:srgbClr val="F4F0EA"/>
                </a:solidFill>
                <a:latin typeface="Arial"/>
                <a:cs typeface="Arial"/>
              </a:rPr>
              <a:t>=</a:t>
            </a:r>
            <a:r>
              <a:rPr dirty="0" sz="1350" spc="-45">
                <a:solidFill>
                  <a:srgbClr val="F4F0EA"/>
                </a:solidFill>
                <a:latin typeface="Arial"/>
                <a:cs typeface="Arial"/>
              </a:rPr>
              <a:t> </a:t>
            </a:r>
            <a:r>
              <a:rPr dirty="0" sz="1350" spc="-35">
                <a:solidFill>
                  <a:srgbClr val="F4F0EA"/>
                </a:solidFill>
                <a:latin typeface="Arial"/>
                <a:cs typeface="Arial"/>
              </a:rPr>
              <a:t>[1.0,</a:t>
            </a:r>
            <a:r>
              <a:rPr dirty="0" sz="1350" spc="-70">
                <a:solidFill>
                  <a:srgbClr val="F4F0EA"/>
                </a:solidFill>
                <a:latin typeface="Arial"/>
                <a:cs typeface="Arial"/>
              </a:rPr>
              <a:t> </a:t>
            </a:r>
            <a:r>
              <a:rPr dirty="0" sz="1350" spc="-35">
                <a:solidFill>
                  <a:srgbClr val="F4F0EA"/>
                </a:solidFill>
                <a:latin typeface="Arial"/>
                <a:cs typeface="Arial"/>
              </a:rPr>
              <a:t>2.0,</a:t>
            </a:r>
            <a:r>
              <a:rPr dirty="0" sz="1350" spc="-65">
                <a:solidFill>
                  <a:srgbClr val="F4F0EA"/>
                </a:solidFill>
                <a:latin typeface="Arial"/>
                <a:cs typeface="Arial"/>
              </a:rPr>
              <a:t> </a:t>
            </a:r>
            <a:r>
              <a:rPr dirty="0" sz="1350">
                <a:solidFill>
                  <a:srgbClr val="F4F0EA"/>
                </a:solidFill>
                <a:latin typeface="Arial"/>
                <a:cs typeface="Arial"/>
              </a:rPr>
              <a:t>3.0]</a:t>
            </a:r>
            <a:r>
              <a:rPr dirty="0" sz="1350" spc="20">
                <a:solidFill>
                  <a:srgbClr val="F4F0EA"/>
                </a:solidFill>
                <a:latin typeface="Arial"/>
                <a:cs typeface="Arial"/>
              </a:rPr>
              <a:t> </a:t>
            </a:r>
            <a:r>
              <a:rPr dirty="0" sz="1350" spc="-75">
                <a:solidFill>
                  <a:srgbClr val="F1B544"/>
                </a:solidFill>
                <a:latin typeface="Arial"/>
                <a:cs typeface="Arial"/>
              </a:rPr>
              <a:t>#</a:t>
            </a:r>
            <a:r>
              <a:rPr dirty="0" sz="1350" spc="-50">
                <a:solidFill>
                  <a:srgbClr val="F1B544"/>
                </a:solidFill>
                <a:latin typeface="Arial"/>
                <a:cs typeface="Arial"/>
              </a:rPr>
              <a:t> </a:t>
            </a:r>
            <a:r>
              <a:rPr dirty="0" sz="1350" spc="-40">
                <a:solidFill>
                  <a:srgbClr val="F1B544"/>
                </a:solidFill>
                <a:latin typeface="Arial"/>
                <a:cs typeface="Arial"/>
              </a:rPr>
              <a:t>step</a:t>
            </a:r>
            <a:r>
              <a:rPr dirty="0" sz="1350" spc="-80">
                <a:solidFill>
                  <a:srgbClr val="F1B544"/>
                </a:solidFill>
                <a:latin typeface="Arial"/>
                <a:cs typeface="Arial"/>
              </a:rPr>
              <a:t> </a:t>
            </a:r>
            <a:r>
              <a:rPr dirty="0" sz="1350" spc="-50">
                <a:solidFill>
                  <a:srgbClr val="F1B544"/>
                </a:solidFill>
                <a:latin typeface="Arial"/>
                <a:cs typeface="Arial"/>
              </a:rPr>
              <a:t>3</a:t>
            </a:r>
            <a:endParaRPr sz="1350">
              <a:latin typeface="Arial"/>
              <a:cs typeface="Arial"/>
            </a:endParaRPr>
          </a:p>
        </p:txBody>
      </p:sp>
      <p:graphicFrame>
        <p:nvGraphicFramePr>
          <p:cNvPr id="5" name="object 5"/>
          <p:cNvGraphicFramePr>
            <a:graphicFrameLocks noGrp="1"/>
          </p:cNvGraphicFramePr>
          <p:nvPr/>
        </p:nvGraphicFramePr>
        <p:xfrm>
          <a:off x="816800" y="3326384"/>
          <a:ext cx="10642600" cy="19177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638425"/>
                <a:gridCol w="1583054"/>
                <a:gridCol w="1583054"/>
                <a:gridCol w="1583054"/>
                <a:gridCol w="1583054"/>
                <a:gridCol w="1583054"/>
              </a:tblGrid>
              <a:tr h="383540">
                <a:tc>
                  <a:txBody>
                    <a:bodyPr/>
                    <a:lstStyle/>
                    <a:p>
                      <a:pPr marL="62865">
                        <a:lnSpc>
                          <a:spcPct val="100000"/>
                        </a:lnSpc>
                        <a:spcBef>
                          <a:spcPts val="695"/>
                        </a:spcBef>
                      </a:pPr>
                      <a:r>
                        <a:rPr dirty="0" sz="1350" spc="-10" b="1">
                          <a:solidFill>
                            <a:srgbClr val="13203C"/>
                          </a:solidFill>
                          <a:latin typeface="Arial"/>
                          <a:cs typeface="Arial"/>
                        </a:rPr>
                        <a:t>label</a:t>
                      </a:r>
                      <a:endParaRPr sz="1350">
                        <a:latin typeface="Arial"/>
                        <a:cs typeface="Arial"/>
                      </a:endParaRPr>
                    </a:p>
                  </a:txBody>
                  <a:tcPr marL="0" marR="0" marB="0" marT="88265">
                    <a:lnL w="12700">
                      <a:solidFill>
                        <a:srgbClr val="C7C7C5"/>
                      </a:solidFill>
                      <a:prstDash val="solid"/>
                    </a:lnL>
                    <a:lnR w="12700">
                      <a:solidFill>
                        <a:srgbClr val="BDC0C3"/>
                      </a:solidFill>
                      <a:prstDash val="solid"/>
                    </a:lnR>
                    <a:lnT w="12700">
                      <a:solidFill>
                        <a:srgbClr val="C7C7C5"/>
                      </a:solidFill>
                      <a:prstDash val="solid"/>
                    </a:lnT>
                    <a:lnB w="12700">
                      <a:solidFill>
                        <a:srgbClr val="BDC0C3"/>
                      </a:solidFill>
                      <a:prstDash val="solid"/>
                    </a:lnB>
                    <a:solidFill>
                      <a:srgbClr val="EDF0F5"/>
                    </a:solidFill>
                  </a:tcPr>
                </a:tc>
                <a:tc>
                  <a:txBody>
                    <a:bodyPr/>
                    <a:lstStyle/>
                    <a:p>
                      <a:pPr algn="r" marR="52705">
                        <a:lnSpc>
                          <a:spcPct val="100000"/>
                        </a:lnSpc>
                        <a:spcBef>
                          <a:spcPts val="695"/>
                        </a:spcBef>
                      </a:pPr>
                      <a:r>
                        <a:rPr dirty="0" sz="1350" spc="-50" b="1">
                          <a:solidFill>
                            <a:srgbClr val="13203C"/>
                          </a:solidFill>
                          <a:latin typeface="Arial"/>
                          <a:cs typeface="Arial"/>
                        </a:rPr>
                        <a:t>3</a:t>
                      </a:r>
                      <a:endParaRPr sz="1350">
                        <a:latin typeface="Arial"/>
                        <a:cs typeface="Arial"/>
                      </a:endParaRPr>
                    </a:p>
                  </a:txBody>
                  <a:tcPr marL="0" marR="0" marB="0" marT="88265">
                    <a:lnL w="12700">
                      <a:solidFill>
                        <a:srgbClr val="BDC0C3"/>
                      </a:solidFill>
                      <a:prstDash val="solid"/>
                    </a:lnL>
                    <a:lnR w="12700">
                      <a:solidFill>
                        <a:srgbClr val="BDC0C3"/>
                      </a:solidFill>
                      <a:prstDash val="solid"/>
                    </a:lnR>
                    <a:lnT w="12700">
                      <a:solidFill>
                        <a:srgbClr val="C7C7C5"/>
                      </a:solidFill>
                      <a:prstDash val="solid"/>
                    </a:lnT>
                    <a:lnB w="12700">
                      <a:solidFill>
                        <a:srgbClr val="BDC0C3"/>
                      </a:solidFill>
                      <a:prstDash val="solid"/>
                    </a:lnB>
                    <a:solidFill>
                      <a:srgbClr val="EDF0F5"/>
                    </a:solidFill>
                  </a:tcPr>
                </a:tc>
                <a:tc>
                  <a:txBody>
                    <a:bodyPr/>
                    <a:lstStyle/>
                    <a:p>
                      <a:pPr algn="r" marR="51435">
                        <a:lnSpc>
                          <a:spcPct val="100000"/>
                        </a:lnSpc>
                        <a:spcBef>
                          <a:spcPts val="695"/>
                        </a:spcBef>
                      </a:pPr>
                      <a:r>
                        <a:rPr dirty="0" sz="1350" spc="-50" b="1">
                          <a:solidFill>
                            <a:srgbClr val="13203C"/>
                          </a:solidFill>
                          <a:latin typeface="Arial"/>
                          <a:cs typeface="Arial"/>
                        </a:rPr>
                        <a:t>1</a:t>
                      </a:r>
                      <a:endParaRPr sz="1350">
                        <a:latin typeface="Arial"/>
                        <a:cs typeface="Arial"/>
                      </a:endParaRPr>
                    </a:p>
                  </a:txBody>
                  <a:tcPr marL="0" marR="0" marB="0" marT="88265">
                    <a:lnL w="12700">
                      <a:solidFill>
                        <a:srgbClr val="BDC0C3"/>
                      </a:solidFill>
                      <a:prstDash val="solid"/>
                    </a:lnL>
                    <a:lnR w="12700">
                      <a:solidFill>
                        <a:srgbClr val="BDC0C3"/>
                      </a:solidFill>
                      <a:prstDash val="solid"/>
                    </a:lnR>
                    <a:lnT w="12700">
                      <a:solidFill>
                        <a:srgbClr val="C7C7C5"/>
                      </a:solidFill>
                      <a:prstDash val="solid"/>
                    </a:lnT>
                    <a:lnB w="12700">
                      <a:solidFill>
                        <a:srgbClr val="BDC0C3"/>
                      </a:solidFill>
                      <a:prstDash val="solid"/>
                    </a:lnB>
                    <a:solidFill>
                      <a:srgbClr val="EDF0F5"/>
                    </a:solidFill>
                  </a:tcPr>
                </a:tc>
                <a:tc>
                  <a:txBody>
                    <a:bodyPr/>
                    <a:lstStyle/>
                    <a:p>
                      <a:pPr algn="r" marR="50800">
                        <a:lnSpc>
                          <a:spcPct val="100000"/>
                        </a:lnSpc>
                        <a:spcBef>
                          <a:spcPts val="695"/>
                        </a:spcBef>
                      </a:pPr>
                      <a:r>
                        <a:rPr dirty="0" sz="1350" spc="-50" b="1">
                          <a:solidFill>
                            <a:srgbClr val="13203C"/>
                          </a:solidFill>
                          <a:latin typeface="Arial"/>
                          <a:cs typeface="Arial"/>
                        </a:rPr>
                        <a:t>4</a:t>
                      </a:r>
                      <a:endParaRPr sz="1350">
                        <a:latin typeface="Arial"/>
                        <a:cs typeface="Arial"/>
                      </a:endParaRPr>
                    </a:p>
                  </a:txBody>
                  <a:tcPr marL="0" marR="0" marB="0" marT="88265">
                    <a:lnL w="12700">
                      <a:solidFill>
                        <a:srgbClr val="BDC0C3"/>
                      </a:solidFill>
                      <a:prstDash val="solid"/>
                    </a:lnL>
                    <a:lnR w="12700">
                      <a:solidFill>
                        <a:srgbClr val="BDC0C3"/>
                      </a:solidFill>
                      <a:prstDash val="solid"/>
                    </a:lnR>
                    <a:lnT w="12700">
                      <a:solidFill>
                        <a:srgbClr val="C7C7C5"/>
                      </a:solidFill>
                      <a:prstDash val="solid"/>
                    </a:lnT>
                    <a:lnB w="12700">
                      <a:solidFill>
                        <a:srgbClr val="BDC0C3"/>
                      </a:solidFill>
                      <a:prstDash val="solid"/>
                    </a:lnB>
                    <a:solidFill>
                      <a:srgbClr val="EDF0F5"/>
                    </a:solidFill>
                  </a:tcPr>
                </a:tc>
                <a:tc>
                  <a:txBody>
                    <a:bodyPr/>
                    <a:lstStyle/>
                    <a:p>
                      <a:pPr algn="r" marR="49530">
                        <a:lnSpc>
                          <a:spcPct val="100000"/>
                        </a:lnSpc>
                        <a:spcBef>
                          <a:spcPts val="695"/>
                        </a:spcBef>
                      </a:pPr>
                      <a:r>
                        <a:rPr dirty="0" sz="1350" spc="-50" b="1">
                          <a:solidFill>
                            <a:srgbClr val="13203C"/>
                          </a:solidFill>
                          <a:latin typeface="Arial"/>
                          <a:cs typeface="Arial"/>
                        </a:rPr>
                        <a:t>2</a:t>
                      </a:r>
                      <a:endParaRPr sz="1350">
                        <a:latin typeface="Arial"/>
                        <a:cs typeface="Arial"/>
                      </a:endParaRPr>
                    </a:p>
                  </a:txBody>
                  <a:tcPr marL="0" marR="0" marB="0" marT="88265">
                    <a:lnL w="12700">
                      <a:solidFill>
                        <a:srgbClr val="BDC0C3"/>
                      </a:solidFill>
                      <a:prstDash val="solid"/>
                    </a:lnL>
                    <a:lnR w="12700">
                      <a:solidFill>
                        <a:srgbClr val="BDC0C3"/>
                      </a:solidFill>
                      <a:prstDash val="solid"/>
                    </a:lnR>
                    <a:lnT w="12700">
                      <a:solidFill>
                        <a:srgbClr val="C7C7C5"/>
                      </a:solidFill>
                      <a:prstDash val="solid"/>
                    </a:lnT>
                    <a:lnB w="12700">
                      <a:solidFill>
                        <a:srgbClr val="BDC0C3"/>
                      </a:solidFill>
                      <a:prstDash val="solid"/>
                    </a:lnB>
                    <a:solidFill>
                      <a:srgbClr val="EDF0F5"/>
                    </a:solidFill>
                  </a:tcPr>
                </a:tc>
                <a:tc>
                  <a:txBody>
                    <a:bodyPr/>
                    <a:lstStyle/>
                    <a:p>
                      <a:pPr algn="r" marR="48260">
                        <a:lnSpc>
                          <a:spcPct val="100000"/>
                        </a:lnSpc>
                        <a:spcBef>
                          <a:spcPts val="695"/>
                        </a:spcBef>
                      </a:pPr>
                      <a:r>
                        <a:rPr dirty="0" sz="1350" spc="-50" b="1">
                          <a:solidFill>
                            <a:srgbClr val="13203C"/>
                          </a:solidFill>
                          <a:latin typeface="Arial"/>
                          <a:cs typeface="Arial"/>
                        </a:rPr>
                        <a:t>7</a:t>
                      </a:r>
                      <a:endParaRPr sz="1350">
                        <a:latin typeface="Arial"/>
                        <a:cs typeface="Arial"/>
                      </a:endParaRPr>
                    </a:p>
                  </a:txBody>
                  <a:tcPr marL="0" marR="0" marB="0" marT="88265">
                    <a:lnL w="12700">
                      <a:solidFill>
                        <a:srgbClr val="BDC0C3"/>
                      </a:solidFill>
                      <a:prstDash val="solid"/>
                    </a:lnL>
                    <a:lnR w="12700">
                      <a:solidFill>
                        <a:srgbClr val="BDC0C3"/>
                      </a:solidFill>
                      <a:prstDash val="solid"/>
                    </a:lnR>
                    <a:lnT w="12700">
                      <a:solidFill>
                        <a:srgbClr val="C7C7C5"/>
                      </a:solidFill>
                      <a:prstDash val="solid"/>
                    </a:lnT>
                    <a:lnB w="12700">
                      <a:solidFill>
                        <a:srgbClr val="BDC0C3"/>
                      </a:solidFill>
                      <a:prstDash val="solid"/>
                    </a:lnB>
                    <a:solidFill>
                      <a:srgbClr val="EDF0F5"/>
                    </a:solidFill>
                  </a:tcPr>
                </a:tc>
              </a:tr>
              <a:tr h="383540">
                <a:tc>
                  <a:txBody>
                    <a:bodyPr/>
                    <a:lstStyle/>
                    <a:p>
                      <a:pPr marL="62865">
                        <a:lnSpc>
                          <a:spcPct val="100000"/>
                        </a:lnSpc>
                        <a:spcBef>
                          <a:spcPts val="700"/>
                        </a:spcBef>
                      </a:pPr>
                      <a:r>
                        <a:rPr dirty="0" sz="1350" spc="-10">
                          <a:solidFill>
                            <a:srgbClr val="13203C"/>
                          </a:solidFill>
                          <a:latin typeface="Arial"/>
                          <a:cs typeface="Arial"/>
                        </a:rPr>
                        <a:t>start</a:t>
                      </a:r>
                      <a:endParaRPr sz="1350">
                        <a:latin typeface="Arial"/>
                        <a:cs typeface="Arial"/>
                      </a:endParaRPr>
                    </a:p>
                  </a:txBody>
                  <a:tcPr marL="0" marR="0" marB="0" marT="88900">
                    <a:lnL w="12700">
                      <a:solidFill>
                        <a:srgbClr val="C7C7C5"/>
                      </a:solidFill>
                      <a:prstDash val="solid"/>
                    </a:lnL>
                    <a:lnR w="12700">
                      <a:solidFill>
                        <a:srgbClr val="C7C7C5"/>
                      </a:solidFill>
                      <a:prstDash val="solid"/>
                    </a:lnR>
                    <a:lnT w="12700">
                      <a:solidFill>
                        <a:srgbClr val="BDC0C3"/>
                      </a:solidFill>
                      <a:prstDash val="solid"/>
                    </a:lnT>
                    <a:lnB w="12700">
                      <a:solidFill>
                        <a:srgbClr val="C7C7C5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 marR="50165">
                        <a:lnSpc>
                          <a:spcPct val="100000"/>
                        </a:lnSpc>
                        <a:spcBef>
                          <a:spcPts val="700"/>
                        </a:spcBef>
                      </a:pPr>
                      <a:r>
                        <a:rPr dirty="0" sz="1350" spc="-20">
                          <a:solidFill>
                            <a:srgbClr val="13203C"/>
                          </a:solidFill>
                          <a:latin typeface="Arial"/>
                          <a:cs typeface="Arial"/>
                        </a:rPr>
                        <a:t>0.16</a:t>
                      </a:r>
                      <a:endParaRPr sz="1350">
                        <a:latin typeface="Arial"/>
                        <a:cs typeface="Arial"/>
                      </a:endParaRPr>
                    </a:p>
                  </a:txBody>
                  <a:tcPr marL="0" marR="0" marB="0" marT="88900">
                    <a:lnL w="12700">
                      <a:solidFill>
                        <a:srgbClr val="C7C7C5"/>
                      </a:solidFill>
                      <a:prstDash val="solid"/>
                    </a:lnL>
                    <a:lnR w="12700">
                      <a:solidFill>
                        <a:srgbClr val="C7C7C5"/>
                      </a:solidFill>
                      <a:prstDash val="solid"/>
                    </a:lnR>
                    <a:lnT w="12700">
                      <a:solidFill>
                        <a:srgbClr val="BDC0C3"/>
                      </a:solidFill>
                      <a:prstDash val="solid"/>
                    </a:lnT>
                    <a:lnB w="12700">
                      <a:solidFill>
                        <a:srgbClr val="C7C7C5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 marR="48895">
                        <a:lnSpc>
                          <a:spcPct val="100000"/>
                        </a:lnSpc>
                        <a:spcBef>
                          <a:spcPts val="700"/>
                        </a:spcBef>
                      </a:pPr>
                      <a:r>
                        <a:rPr dirty="0" sz="1350" spc="-20">
                          <a:solidFill>
                            <a:srgbClr val="13203C"/>
                          </a:solidFill>
                          <a:latin typeface="Arial"/>
                          <a:cs typeface="Arial"/>
                        </a:rPr>
                        <a:t>0.07</a:t>
                      </a:r>
                      <a:endParaRPr sz="1350">
                        <a:latin typeface="Arial"/>
                        <a:cs typeface="Arial"/>
                      </a:endParaRPr>
                    </a:p>
                  </a:txBody>
                  <a:tcPr marL="0" marR="0" marB="0" marT="88900">
                    <a:lnL w="12700">
                      <a:solidFill>
                        <a:srgbClr val="C7C7C5"/>
                      </a:solidFill>
                      <a:prstDash val="solid"/>
                    </a:lnL>
                    <a:lnR w="12700">
                      <a:solidFill>
                        <a:srgbClr val="C7C7C5"/>
                      </a:solidFill>
                      <a:prstDash val="solid"/>
                    </a:lnR>
                    <a:lnT w="12700">
                      <a:solidFill>
                        <a:srgbClr val="BDC0C3"/>
                      </a:solidFill>
                      <a:prstDash val="solid"/>
                    </a:lnT>
                    <a:lnB w="12700">
                      <a:solidFill>
                        <a:srgbClr val="C7C7C5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 marR="48260">
                        <a:lnSpc>
                          <a:spcPct val="100000"/>
                        </a:lnSpc>
                        <a:spcBef>
                          <a:spcPts val="700"/>
                        </a:spcBef>
                      </a:pPr>
                      <a:r>
                        <a:rPr dirty="0" sz="1350" spc="-20">
                          <a:solidFill>
                            <a:srgbClr val="13203C"/>
                          </a:solidFill>
                          <a:latin typeface="Arial"/>
                          <a:cs typeface="Arial"/>
                        </a:rPr>
                        <a:t>0.23</a:t>
                      </a:r>
                      <a:endParaRPr sz="1350">
                        <a:latin typeface="Arial"/>
                        <a:cs typeface="Arial"/>
                      </a:endParaRPr>
                    </a:p>
                  </a:txBody>
                  <a:tcPr marL="0" marR="0" marB="0" marT="88900">
                    <a:lnL w="12700">
                      <a:solidFill>
                        <a:srgbClr val="C7C7C5"/>
                      </a:solidFill>
                      <a:prstDash val="solid"/>
                    </a:lnL>
                    <a:lnR w="12700">
                      <a:solidFill>
                        <a:srgbClr val="C7C7C5"/>
                      </a:solidFill>
                      <a:prstDash val="solid"/>
                    </a:lnR>
                    <a:lnT w="12700">
                      <a:solidFill>
                        <a:srgbClr val="BDC0C3"/>
                      </a:solidFill>
                      <a:prstDash val="solid"/>
                    </a:lnT>
                    <a:lnB w="12700">
                      <a:solidFill>
                        <a:srgbClr val="C7C7C5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 marR="46990">
                        <a:lnSpc>
                          <a:spcPct val="100000"/>
                        </a:lnSpc>
                        <a:spcBef>
                          <a:spcPts val="700"/>
                        </a:spcBef>
                      </a:pPr>
                      <a:r>
                        <a:rPr dirty="0" sz="1350" spc="-20">
                          <a:solidFill>
                            <a:srgbClr val="13203C"/>
                          </a:solidFill>
                          <a:latin typeface="Arial"/>
                          <a:cs typeface="Arial"/>
                        </a:rPr>
                        <a:t>0.24</a:t>
                      </a:r>
                      <a:endParaRPr sz="1350">
                        <a:latin typeface="Arial"/>
                        <a:cs typeface="Arial"/>
                      </a:endParaRPr>
                    </a:p>
                  </a:txBody>
                  <a:tcPr marL="0" marR="0" marB="0" marT="88900">
                    <a:lnL w="12700">
                      <a:solidFill>
                        <a:srgbClr val="C7C7C5"/>
                      </a:solidFill>
                      <a:prstDash val="solid"/>
                    </a:lnL>
                    <a:lnR w="12700">
                      <a:solidFill>
                        <a:srgbClr val="C7C7C5"/>
                      </a:solidFill>
                      <a:prstDash val="solid"/>
                    </a:lnR>
                    <a:lnT w="12700">
                      <a:solidFill>
                        <a:srgbClr val="BDC0C3"/>
                      </a:solidFill>
                      <a:prstDash val="solid"/>
                    </a:lnT>
                    <a:lnB w="12700">
                      <a:solidFill>
                        <a:srgbClr val="C7C7C5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 marR="45085">
                        <a:lnSpc>
                          <a:spcPct val="100000"/>
                        </a:lnSpc>
                        <a:spcBef>
                          <a:spcPts val="700"/>
                        </a:spcBef>
                      </a:pPr>
                      <a:r>
                        <a:rPr dirty="0" sz="1350" spc="-20">
                          <a:solidFill>
                            <a:srgbClr val="13203C"/>
                          </a:solidFill>
                          <a:latin typeface="Arial"/>
                          <a:cs typeface="Arial"/>
                        </a:rPr>
                        <a:t>0.14</a:t>
                      </a:r>
                      <a:endParaRPr sz="1350">
                        <a:latin typeface="Arial"/>
                        <a:cs typeface="Arial"/>
                      </a:endParaRPr>
                    </a:p>
                  </a:txBody>
                  <a:tcPr marL="0" marR="0" marB="0" marT="88900">
                    <a:lnL w="12700">
                      <a:solidFill>
                        <a:srgbClr val="C7C7C5"/>
                      </a:solidFill>
                      <a:prstDash val="solid"/>
                    </a:lnL>
                    <a:lnR w="12700">
                      <a:solidFill>
                        <a:srgbClr val="C7C7C5"/>
                      </a:solidFill>
                      <a:prstDash val="solid"/>
                    </a:lnR>
                    <a:lnT w="12700">
                      <a:solidFill>
                        <a:srgbClr val="BDC0C3"/>
                      </a:solidFill>
                      <a:prstDash val="solid"/>
                    </a:lnT>
                    <a:lnB w="12700">
                      <a:solidFill>
                        <a:srgbClr val="C7C7C5"/>
                      </a:solidFill>
                      <a:prstDash val="solid"/>
                    </a:lnB>
                  </a:tcPr>
                </a:tc>
              </a:tr>
              <a:tr h="383540">
                <a:tc>
                  <a:txBody>
                    <a:bodyPr/>
                    <a:lstStyle/>
                    <a:p>
                      <a:pPr marL="62865">
                        <a:lnSpc>
                          <a:spcPct val="100000"/>
                        </a:lnSpc>
                        <a:spcBef>
                          <a:spcPts val="705"/>
                        </a:spcBef>
                      </a:pPr>
                      <a:r>
                        <a:rPr dirty="0" sz="1350" spc="-40">
                          <a:solidFill>
                            <a:srgbClr val="13203C"/>
                          </a:solidFill>
                          <a:latin typeface="Arial"/>
                          <a:cs typeface="Arial"/>
                        </a:rPr>
                        <a:t>step</a:t>
                      </a:r>
                      <a:r>
                        <a:rPr dirty="0" sz="1350" spc="-55">
                          <a:solidFill>
                            <a:srgbClr val="13203C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350" spc="-50">
                          <a:solidFill>
                            <a:srgbClr val="13203C"/>
                          </a:solidFill>
                          <a:latin typeface="Arial"/>
                          <a:cs typeface="Arial"/>
                        </a:rPr>
                        <a:t>1</a:t>
                      </a:r>
                      <a:endParaRPr sz="1350">
                        <a:latin typeface="Arial"/>
                        <a:cs typeface="Arial"/>
                      </a:endParaRPr>
                    </a:p>
                  </a:txBody>
                  <a:tcPr marL="0" marR="0" marB="0" marT="89535">
                    <a:lnL w="12700">
                      <a:solidFill>
                        <a:srgbClr val="C7C7C5"/>
                      </a:solidFill>
                      <a:prstDash val="solid"/>
                    </a:lnL>
                    <a:lnR w="12700">
                      <a:solidFill>
                        <a:srgbClr val="C7C7C5"/>
                      </a:solidFill>
                      <a:prstDash val="solid"/>
                    </a:lnR>
                    <a:lnT w="12700">
                      <a:solidFill>
                        <a:srgbClr val="C7C7C5"/>
                      </a:solidFill>
                      <a:prstDash val="solid"/>
                    </a:lnT>
                    <a:lnB w="12700">
                      <a:solidFill>
                        <a:srgbClr val="C7C7C5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 marR="50165">
                        <a:lnSpc>
                          <a:spcPct val="100000"/>
                        </a:lnSpc>
                        <a:spcBef>
                          <a:spcPts val="705"/>
                        </a:spcBef>
                      </a:pPr>
                      <a:r>
                        <a:rPr dirty="0" sz="1350" spc="-20">
                          <a:solidFill>
                            <a:srgbClr val="13203C"/>
                          </a:solidFill>
                          <a:latin typeface="Arial"/>
                          <a:cs typeface="Arial"/>
                        </a:rPr>
                        <a:t>0.16</a:t>
                      </a:r>
                      <a:endParaRPr sz="1350">
                        <a:latin typeface="Arial"/>
                        <a:cs typeface="Arial"/>
                      </a:endParaRPr>
                    </a:p>
                  </a:txBody>
                  <a:tcPr marL="0" marR="0" marB="0" marT="89535">
                    <a:lnL w="12700">
                      <a:solidFill>
                        <a:srgbClr val="C7C7C5"/>
                      </a:solidFill>
                      <a:prstDash val="solid"/>
                    </a:lnL>
                    <a:lnR w="12700">
                      <a:solidFill>
                        <a:srgbClr val="C7C7C5"/>
                      </a:solidFill>
                      <a:prstDash val="solid"/>
                    </a:lnR>
                    <a:lnT w="12700">
                      <a:solidFill>
                        <a:srgbClr val="C7C7C5"/>
                      </a:solidFill>
                      <a:prstDash val="solid"/>
                    </a:lnT>
                    <a:lnB w="12700">
                      <a:solidFill>
                        <a:srgbClr val="C7C7C5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 marR="48895">
                        <a:lnSpc>
                          <a:spcPct val="100000"/>
                        </a:lnSpc>
                        <a:spcBef>
                          <a:spcPts val="705"/>
                        </a:spcBef>
                      </a:pPr>
                      <a:r>
                        <a:rPr dirty="0" sz="1350" spc="-20">
                          <a:solidFill>
                            <a:srgbClr val="13203C"/>
                          </a:solidFill>
                          <a:latin typeface="Arial"/>
                          <a:cs typeface="Arial"/>
                        </a:rPr>
                        <a:t>0.07</a:t>
                      </a:r>
                      <a:endParaRPr sz="1350">
                        <a:latin typeface="Arial"/>
                        <a:cs typeface="Arial"/>
                      </a:endParaRPr>
                    </a:p>
                  </a:txBody>
                  <a:tcPr marL="0" marR="0" marB="0" marT="89535">
                    <a:lnL w="12700">
                      <a:solidFill>
                        <a:srgbClr val="C7C7C5"/>
                      </a:solidFill>
                      <a:prstDash val="solid"/>
                    </a:lnL>
                    <a:lnR w="12700">
                      <a:solidFill>
                        <a:srgbClr val="C7C7C5"/>
                      </a:solidFill>
                      <a:prstDash val="solid"/>
                    </a:lnR>
                    <a:lnT w="12700">
                      <a:solidFill>
                        <a:srgbClr val="C7C7C5"/>
                      </a:solidFill>
                      <a:prstDash val="solid"/>
                    </a:lnT>
                    <a:lnB w="12700">
                      <a:solidFill>
                        <a:srgbClr val="C7C7C5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 marR="48260">
                        <a:lnSpc>
                          <a:spcPct val="100000"/>
                        </a:lnSpc>
                        <a:spcBef>
                          <a:spcPts val="705"/>
                        </a:spcBef>
                      </a:pPr>
                      <a:r>
                        <a:rPr dirty="0" sz="1350" spc="-20">
                          <a:solidFill>
                            <a:srgbClr val="13203C"/>
                          </a:solidFill>
                          <a:latin typeface="Arial"/>
                          <a:cs typeface="Arial"/>
                        </a:rPr>
                        <a:t>0.23</a:t>
                      </a:r>
                      <a:endParaRPr sz="1350">
                        <a:latin typeface="Arial"/>
                        <a:cs typeface="Arial"/>
                      </a:endParaRPr>
                    </a:p>
                  </a:txBody>
                  <a:tcPr marL="0" marR="0" marB="0" marT="89535">
                    <a:lnL w="12700">
                      <a:solidFill>
                        <a:srgbClr val="C7C7C5"/>
                      </a:solidFill>
                      <a:prstDash val="solid"/>
                    </a:lnL>
                    <a:lnR w="12700">
                      <a:solidFill>
                        <a:srgbClr val="C7C7C5"/>
                      </a:solidFill>
                      <a:prstDash val="solid"/>
                    </a:lnR>
                    <a:lnT w="12700">
                      <a:solidFill>
                        <a:srgbClr val="C7C7C5"/>
                      </a:solidFill>
                      <a:prstDash val="solid"/>
                    </a:lnT>
                    <a:lnB w="12700">
                      <a:solidFill>
                        <a:srgbClr val="C7C7C5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 marR="46990">
                        <a:lnSpc>
                          <a:spcPct val="100000"/>
                        </a:lnSpc>
                        <a:spcBef>
                          <a:spcPts val="705"/>
                        </a:spcBef>
                      </a:pPr>
                      <a:r>
                        <a:rPr dirty="0" sz="1350" spc="-20">
                          <a:solidFill>
                            <a:srgbClr val="13203C"/>
                          </a:solidFill>
                          <a:latin typeface="Arial"/>
                          <a:cs typeface="Arial"/>
                        </a:rPr>
                        <a:t>0.24</a:t>
                      </a:r>
                      <a:endParaRPr sz="1350">
                        <a:latin typeface="Arial"/>
                        <a:cs typeface="Arial"/>
                      </a:endParaRPr>
                    </a:p>
                  </a:txBody>
                  <a:tcPr marL="0" marR="0" marB="0" marT="89535">
                    <a:lnL w="12700">
                      <a:solidFill>
                        <a:srgbClr val="C7C7C5"/>
                      </a:solidFill>
                      <a:prstDash val="solid"/>
                    </a:lnL>
                    <a:lnR w="12700">
                      <a:solidFill>
                        <a:srgbClr val="C7C7C5"/>
                      </a:solidFill>
                      <a:prstDash val="solid"/>
                    </a:lnR>
                    <a:lnT w="12700">
                      <a:solidFill>
                        <a:srgbClr val="C7C7C5"/>
                      </a:solidFill>
                      <a:prstDash val="solid"/>
                    </a:lnT>
                    <a:lnB w="12700">
                      <a:solidFill>
                        <a:srgbClr val="C7C7C5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 marR="45085">
                        <a:lnSpc>
                          <a:spcPct val="100000"/>
                        </a:lnSpc>
                        <a:spcBef>
                          <a:spcPts val="705"/>
                        </a:spcBef>
                      </a:pPr>
                      <a:r>
                        <a:rPr dirty="0" sz="1350" spc="-20">
                          <a:solidFill>
                            <a:srgbClr val="B45209"/>
                          </a:solidFill>
                          <a:latin typeface="Arial"/>
                          <a:cs typeface="Arial"/>
                        </a:rPr>
                        <a:t>0.33</a:t>
                      </a:r>
                      <a:endParaRPr sz="1350">
                        <a:latin typeface="Arial"/>
                        <a:cs typeface="Arial"/>
                      </a:endParaRPr>
                    </a:p>
                  </a:txBody>
                  <a:tcPr marL="0" marR="0" marB="0" marT="89535">
                    <a:lnL w="12700">
                      <a:solidFill>
                        <a:srgbClr val="C7C7C5"/>
                      </a:solidFill>
                      <a:prstDash val="solid"/>
                    </a:lnL>
                    <a:lnR w="12700">
                      <a:solidFill>
                        <a:srgbClr val="C7C7C5"/>
                      </a:solidFill>
                      <a:prstDash val="solid"/>
                    </a:lnR>
                    <a:lnT w="12700">
                      <a:solidFill>
                        <a:srgbClr val="C7C7C5"/>
                      </a:solidFill>
                      <a:prstDash val="solid"/>
                    </a:lnT>
                    <a:lnB w="12700">
                      <a:solidFill>
                        <a:srgbClr val="C7C7C5"/>
                      </a:solidFill>
                      <a:prstDash val="solid"/>
                    </a:lnB>
                  </a:tcPr>
                </a:tc>
              </a:tr>
              <a:tr h="383540">
                <a:tc>
                  <a:txBody>
                    <a:bodyPr/>
                    <a:lstStyle/>
                    <a:p>
                      <a:pPr marL="62865">
                        <a:lnSpc>
                          <a:spcPct val="100000"/>
                        </a:lnSpc>
                        <a:spcBef>
                          <a:spcPts val="710"/>
                        </a:spcBef>
                      </a:pPr>
                      <a:r>
                        <a:rPr dirty="0" sz="1350" spc="-40">
                          <a:solidFill>
                            <a:srgbClr val="13203C"/>
                          </a:solidFill>
                          <a:latin typeface="Arial"/>
                          <a:cs typeface="Arial"/>
                        </a:rPr>
                        <a:t>step</a:t>
                      </a:r>
                      <a:r>
                        <a:rPr dirty="0" sz="1350" spc="-65">
                          <a:solidFill>
                            <a:srgbClr val="13203C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350" spc="-50">
                          <a:solidFill>
                            <a:srgbClr val="13203C"/>
                          </a:solidFill>
                          <a:latin typeface="Arial"/>
                          <a:cs typeface="Arial"/>
                        </a:rPr>
                        <a:t>2</a:t>
                      </a:r>
                      <a:endParaRPr sz="1350">
                        <a:latin typeface="Arial"/>
                        <a:cs typeface="Arial"/>
                      </a:endParaRPr>
                    </a:p>
                  </a:txBody>
                  <a:tcPr marL="0" marR="0" marB="0" marT="90170">
                    <a:lnL w="12700">
                      <a:solidFill>
                        <a:srgbClr val="C7C7C5"/>
                      </a:solidFill>
                      <a:prstDash val="solid"/>
                    </a:lnL>
                    <a:lnR w="12700">
                      <a:solidFill>
                        <a:srgbClr val="C7C7C5"/>
                      </a:solidFill>
                      <a:prstDash val="solid"/>
                    </a:lnR>
                    <a:lnT w="12700">
                      <a:solidFill>
                        <a:srgbClr val="C7C7C5"/>
                      </a:solidFill>
                      <a:prstDash val="solid"/>
                    </a:lnT>
                    <a:lnB w="12700">
                      <a:solidFill>
                        <a:srgbClr val="C7C7C5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 marR="50165">
                        <a:lnSpc>
                          <a:spcPct val="100000"/>
                        </a:lnSpc>
                        <a:spcBef>
                          <a:spcPts val="710"/>
                        </a:spcBef>
                      </a:pPr>
                      <a:r>
                        <a:rPr dirty="0" sz="1350" spc="-20">
                          <a:solidFill>
                            <a:srgbClr val="B45209"/>
                          </a:solidFill>
                          <a:latin typeface="Arial"/>
                          <a:cs typeface="Arial"/>
                        </a:rPr>
                        <a:t>2.00</a:t>
                      </a:r>
                      <a:endParaRPr sz="1350">
                        <a:latin typeface="Arial"/>
                        <a:cs typeface="Arial"/>
                      </a:endParaRPr>
                    </a:p>
                  </a:txBody>
                  <a:tcPr marL="0" marR="0" marB="0" marT="90170">
                    <a:lnL w="12700">
                      <a:solidFill>
                        <a:srgbClr val="C7C7C5"/>
                      </a:solidFill>
                      <a:prstDash val="solid"/>
                    </a:lnL>
                    <a:lnR w="12700">
                      <a:solidFill>
                        <a:srgbClr val="C7C7C5"/>
                      </a:solidFill>
                      <a:prstDash val="solid"/>
                    </a:lnR>
                    <a:lnT w="12700">
                      <a:solidFill>
                        <a:srgbClr val="C7C7C5"/>
                      </a:solidFill>
                      <a:prstDash val="solid"/>
                    </a:lnT>
                    <a:lnB w="12700">
                      <a:solidFill>
                        <a:srgbClr val="C7C7C5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 marR="48895">
                        <a:lnSpc>
                          <a:spcPct val="100000"/>
                        </a:lnSpc>
                        <a:spcBef>
                          <a:spcPts val="710"/>
                        </a:spcBef>
                      </a:pPr>
                      <a:r>
                        <a:rPr dirty="0" sz="1350" spc="-20">
                          <a:solidFill>
                            <a:srgbClr val="B45209"/>
                          </a:solidFill>
                          <a:latin typeface="Arial"/>
                          <a:cs typeface="Arial"/>
                        </a:rPr>
                        <a:t>4.00</a:t>
                      </a:r>
                      <a:endParaRPr sz="1350">
                        <a:latin typeface="Arial"/>
                        <a:cs typeface="Arial"/>
                      </a:endParaRPr>
                    </a:p>
                  </a:txBody>
                  <a:tcPr marL="0" marR="0" marB="0" marT="90170">
                    <a:lnL w="12700">
                      <a:solidFill>
                        <a:srgbClr val="C7C7C5"/>
                      </a:solidFill>
                      <a:prstDash val="solid"/>
                    </a:lnL>
                    <a:lnR w="12700">
                      <a:solidFill>
                        <a:srgbClr val="C7C7C5"/>
                      </a:solidFill>
                      <a:prstDash val="solid"/>
                    </a:lnR>
                    <a:lnT w="12700">
                      <a:solidFill>
                        <a:srgbClr val="C7C7C5"/>
                      </a:solidFill>
                      <a:prstDash val="solid"/>
                    </a:lnT>
                    <a:lnB w="12700">
                      <a:solidFill>
                        <a:srgbClr val="C7C7C5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 marR="48260">
                        <a:lnSpc>
                          <a:spcPct val="100000"/>
                        </a:lnSpc>
                        <a:spcBef>
                          <a:spcPts val="710"/>
                        </a:spcBef>
                      </a:pPr>
                      <a:r>
                        <a:rPr dirty="0" sz="1350" spc="-20">
                          <a:solidFill>
                            <a:srgbClr val="13203C"/>
                          </a:solidFill>
                          <a:latin typeface="Arial"/>
                          <a:cs typeface="Arial"/>
                        </a:rPr>
                        <a:t>0.23</a:t>
                      </a:r>
                      <a:endParaRPr sz="1350">
                        <a:latin typeface="Arial"/>
                        <a:cs typeface="Arial"/>
                      </a:endParaRPr>
                    </a:p>
                  </a:txBody>
                  <a:tcPr marL="0" marR="0" marB="0" marT="90170">
                    <a:lnL w="12700">
                      <a:solidFill>
                        <a:srgbClr val="C7C7C5"/>
                      </a:solidFill>
                      <a:prstDash val="solid"/>
                    </a:lnL>
                    <a:lnR w="12700">
                      <a:solidFill>
                        <a:srgbClr val="C7C7C5"/>
                      </a:solidFill>
                      <a:prstDash val="solid"/>
                    </a:lnR>
                    <a:lnT w="12700">
                      <a:solidFill>
                        <a:srgbClr val="C7C7C5"/>
                      </a:solidFill>
                      <a:prstDash val="solid"/>
                    </a:lnT>
                    <a:lnB w="12700">
                      <a:solidFill>
                        <a:srgbClr val="C7C7C5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 marR="46990">
                        <a:lnSpc>
                          <a:spcPct val="100000"/>
                        </a:lnSpc>
                        <a:spcBef>
                          <a:spcPts val="710"/>
                        </a:spcBef>
                      </a:pPr>
                      <a:r>
                        <a:rPr dirty="0" sz="1350" spc="-20">
                          <a:solidFill>
                            <a:srgbClr val="13203C"/>
                          </a:solidFill>
                          <a:latin typeface="Arial"/>
                          <a:cs typeface="Arial"/>
                        </a:rPr>
                        <a:t>0.24</a:t>
                      </a:r>
                      <a:endParaRPr sz="1350">
                        <a:latin typeface="Arial"/>
                        <a:cs typeface="Arial"/>
                      </a:endParaRPr>
                    </a:p>
                  </a:txBody>
                  <a:tcPr marL="0" marR="0" marB="0" marT="90170">
                    <a:lnL w="12700">
                      <a:solidFill>
                        <a:srgbClr val="C7C7C5"/>
                      </a:solidFill>
                      <a:prstDash val="solid"/>
                    </a:lnL>
                    <a:lnR w="12700">
                      <a:solidFill>
                        <a:srgbClr val="C7C7C5"/>
                      </a:solidFill>
                      <a:prstDash val="solid"/>
                    </a:lnR>
                    <a:lnT w="12700">
                      <a:solidFill>
                        <a:srgbClr val="C7C7C5"/>
                      </a:solidFill>
                      <a:prstDash val="solid"/>
                    </a:lnT>
                    <a:lnB w="12700">
                      <a:solidFill>
                        <a:srgbClr val="C7C7C5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 marR="45085">
                        <a:lnSpc>
                          <a:spcPct val="100000"/>
                        </a:lnSpc>
                        <a:spcBef>
                          <a:spcPts val="710"/>
                        </a:spcBef>
                      </a:pPr>
                      <a:r>
                        <a:rPr dirty="0" sz="1350" spc="-20">
                          <a:solidFill>
                            <a:srgbClr val="13203C"/>
                          </a:solidFill>
                          <a:latin typeface="Arial"/>
                          <a:cs typeface="Arial"/>
                        </a:rPr>
                        <a:t>0.33</a:t>
                      </a:r>
                      <a:endParaRPr sz="1350">
                        <a:latin typeface="Arial"/>
                        <a:cs typeface="Arial"/>
                      </a:endParaRPr>
                    </a:p>
                  </a:txBody>
                  <a:tcPr marL="0" marR="0" marB="0" marT="90170">
                    <a:lnL w="12700">
                      <a:solidFill>
                        <a:srgbClr val="C7C7C5"/>
                      </a:solidFill>
                      <a:prstDash val="solid"/>
                    </a:lnL>
                    <a:lnR w="12700">
                      <a:solidFill>
                        <a:srgbClr val="C7C7C5"/>
                      </a:solidFill>
                      <a:prstDash val="solid"/>
                    </a:lnR>
                    <a:lnT w="12700">
                      <a:solidFill>
                        <a:srgbClr val="C7C7C5"/>
                      </a:solidFill>
                      <a:prstDash val="solid"/>
                    </a:lnT>
                    <a:lnB w="12700">
                      <a:solidFill>
                        <a:srgbClr val="C7C7C5"/>
                      </a:solidFill>
                      <a:prstDash val="solid"/>
                    </a:lnB>
                  </a:tcPr>
                </a:tc>
              </a:tr>
              <a:tr h="383540">
                <a:tc>
                  <a:txBody>
                    <a:bodyPr/>
                    <a:lstStyle/>
                    <a:p>
                      <a:pPr marL="62865">
                        <a:lnSpc>
                          <a:spcPct val="100000"/>
                        </a:lnSpc>
                        <a:spcBef>
                          <a:spcPts val="715"/>
                        </a:spcBef>
                      </a:pPr>
                      <a:r>
                        <a:rPr dirty="0" sz="1350" spc="-40">
                          <a:solidFill>
                            <a:srgbClr val="13203C"/>
                          </a:solidFill>
                          <a:latin typeface="Arial"/>
                          <a:cs typeface="Arial"/>
                        </a:rPr>
                        <a:t>step</a:t>
                      </a:r>
                      <a:r>
                        <a:rPr dirty="0" sz="1350" spc="-55">
                          <a:solidFill>
                            <a:srgbClr val="13203C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350" spc="-50">
                          <a:solidFill>
                            <a:srgbClr val="13203C"/>
                          </a:solidFill>
                          <a:latin typeface="Arial"/>
                          <a:cs typeface="Arial"/>
                        </a:rPr>
                        <a:t>3</a:t>
                      </a:r>
                      <a:endParaRPr sz="1350">
                        <a:latin typeface="Arial"/>
                        <a:cs typeface="Arial"/>
                      </a:endParaRPr>
                    </a:p>
                  </a:txBody>
                  <a:tcPr marL="0" marR="0" marB="0" marT="90805">
                    <a:lnL w="12700">
                      <a:solidFill>
                        <a:srgbClr val="C7C7C5"/>
                      </a:solidFill>
                      <a:prstDash val="solid"/>
                    </a:lnL>
                    <a:lnR w="12700">
                      <a:solidFill>
                        <a:srgbClr val="C7C7C5"/>
                      </a:solidFill>
                      <a:prstDash val="solid"/>
                    </a:lnR>
                    <a:lnT w="12700">
                      <a:solidFill>
                        <a:srgbClr val="C7C7C5"/>
                      </a:solidFill>
                      <a:prstDash val="solid"/>
                    </a:lnT>
                    <a:lnB w="12700">
                      <a:solidFill>
                        <a:srgbClr val="C7C7C5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 marR="50165">
                        <a:lnSpc>
                          <a:spcPct val="100000"/>
                        </a:lnSpc>
                        <a:spcBef>
                          <a:spcPts val="715"/>
                        </a:spcBef>
                      </a:pPr>
                      <a:r>
                        <a:rPr dirty="0" sz="1350" spc="-20">
                          <a:solidFill>
                            <a:srgbClr val="B45209"/>
                          </a:solidFill>
                          <a:latin typeface="Arial"/>
                          <a:cs typeface="Arial"/>
                        </a:rPr>
                        <a:t>1.00</a:t>
                      </a:r>
                      <a:endParaRPr sz="1350">
                        <a:latin typeface="Arial"/>
                        <a:cs typeface="Arial"/>
                      </a:endParaRPr>
                    </a:p>
                  </a:txBody>
                  <a:tcPr marL="0" marR="0" marB="0" marT="90805">
                    <a:lnL w="12700">
                      <a:solidFill>
                        <a:srgbClr val="C7C7C5"/>
                      </a:solidFill>
                      <a:prstDash val="solid"/>
                    </a:lnL>
                    <a:lnR w="12700">
                      <a:solidFill>
                        <a:srgbClr val="C7C7C5"/>
                      </a:solidFill>
                      <a:prstDash val="solid"/>
                    </a:lnR>
                    <a:lnT w="12700">
                      <a:solidFill>
                        <a:srgbClr val="C7C7C5"/>
                      </a:solidFill>
                      <a:prstDash val="solid"/>
                    </a:lnT>
                    <a:lnB w="12700">
                      <a:solidFill>
                        <a:srgbClr val="C7C7C5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 marR="48895">
                        <a:lnSpc>
                          <a:spcPct val="100000"/>
                        </a:lnSpc>
                        <a:spcBef>
                          <a:spcPts val="715"/>
                        </a:spcBef>
                      </a:pPr>
                      <a:r>
                        <a:rPr dirty="0" sz="1350" spc="-20">
                          <a:solidFill>
                            <a:srgbClr val="13203C"/>
                          </a:solidFill>
                          <a:latin typeface="Arial"/>
                          <a:cs typeface="Arial"/>
                        </a:rPr>
                        <a:t>4.00</a:t>
                      </a:r>
                      <a:endParaRPr sz="1350">
                        <a:latin typeface="Arial"/>
                        <a:cs typeface="Arial"/>
                      </a:endParaRPr>
                    </a:p>
                  </a:txBody>
                  <a:tcPr marL="0" marR="0" marB="0" marT="90805">
                    <a:lnL w="12700">
                      <a:solidFill>
                        <a:srgbClr val="C7C7C5"/>
                      </a:solidFill>
                      <a:prstDash val="solid"/>
                    </a:lnL>
                    <a:lnR w="12700">
                      <a:solidFill>
                        <a:srgbClr val="C7C7C5"/>
                      </a:solidFill>
                      <a:prstDash val="solid"/>
                    </a:lnR>
                    <a:lnT w="12700">
                      <a:solidFill>
                        <a:srgbClr val="C7C7C5"/>
                      </a:solidFill>
                      <a:prstDash val="solid"/>
                    </a:lnT>
                    <a:lnB w="12700">
                      <a:solidFill>
                        <a:srgbClr val="C7C7C5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 marR="48260">
                        <a:lnSpc>
                          <a:spcPct val="100000"/>
                        </a:lnSpc>
                        <a:spcBef>
                          <a:spcPts val="715"/>
                        </a:spcBef>
                      </a:pPr>
                      <a:r>
                        <a:rPr dirty="0" sz="1350" spc="-20">
                          <a:solidFill>
                            <a:srgbClr val="13203C"/>
                          </a:solidFill>
                          <a:latin typeface="Arial"/>
                          <a:cs typeface="Arial"/>
                        </a:rPr>
                        <a:t>0.23</a:t>
                      </a:r>
                      <a:endParaRPr sz="1350">
                        <a:latin typeface="Arial"/>
                        <a:cs typeface="Arial"/>
                      </a:endParaRPr>
                    </a:p>
                  </a:txBody>
                  <a:tcPr marL="0" marR="0" marB="0" marT="90805">
                    <a:lnL w="12700">
                      <a:solidFill>
                        <a:srgbClr val="C7C7C5"/>
                      </a:solidFill>
                      <a:prstDash val="solid"/>
                    </a:lnL>
                    <a:lnR w="12700">
                      <a:solidFill>
                        <a:srgbClr val="C7C7C5"/>
                      </a:solidFill>
                      <a:prstDash val="solid"/>
                    </a:lnR>
                    <a:lnT w="12700">
                      <a:solidFill>
                        <a:srgbClr val="C7C7C5"/>
                      </a:solidFill>
                      <a:prstDash val="solid"/>
                    </a:lnT>
                    <a:lnB w="12700">
                      <a:solidFill>
                        <a:srgbClr val="C7C7C5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 marR="46990">
                        <a:lnSpc>
                          <a:spcPct val="100000"/>
                        </a:lnSpc>
                        <a:spcBef>
                          <a:spcPts val="715"/>
                        </a:spcBef>
                      </a:pPr>
                      <a:r>
                        <a:rPr dirty="0" sz="1350" spc="-20">
                          <a:solidFill>
                            <a:srgbClr val="B45209"/>
                          </a:solidFill>
                          <a:latin typeface="Arial"/>
                          <a:cs typeface="Arial"/>
                        </a:rPr>
                        <a:t>2.00</a:t>
                      </a:r>
                      <a:endParaRPr sz="1350">
                        <a:latin typeface="Arial"/>
                        <a:cs typeface="Arial"/>
                      </a:endParaRPr>
                    </a:p>
                  </a:txBody>
                  <a:tcPr marL="0" marR="0" marB="0" marT="90805">
                    <a:lnL w="12700">
                      <a:solidFill>
                        <a:srgbClr val="C7C7C5"/>
                      </a:solidFill>
                      <a:prstDash val="solid"/>
                    </a:lnL>
                    <a:lnR w="12700">
                      <a:solidFill>
                        <a:srgbClr val="C7C7C5"/>
                      </a:solidFill>
                      <a:prstDash val="solid"/>
                    </a:lnR>
                    <a:lnT w="12700">
                      <a:solidFill>
                        <a:srgbClr val="C7C7C5"/>
                      </a:solidFill>
                      <a:prstDash val="solid"/>
                    </a:lnT>
                    <a:lnB w="12700">
                      <a:solidFill>
                        <a:srgbClr val="C7C7C5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 marR="45085">
                        <a:lnSpc>
                          <a:spcPct val="100000"/>
                        </a:lnSpc>
                        <a:spcBef>
                          <a:spcPts val="715"/>
                        </a:spcBef>
                      </a:pPr>
                      <a:r>
                        <a:rPr dirty="0" sz="1350" spc="-20">
                          <a:solidFill>
                            <a:srgbClr val="B45209"/>
                          </a:solidFill>
                          <a:latin typeface="Arial"/>
                          <a:cs typeface="Arial"/>
                        </a:rPr>
                        <a:t>3.00</a:t>
                      </a:r>
                      <a:endParaRPr sz="1350">
                        <a:latin typeface="Arial"/>
                        <a:cs typeface="Arial"/>
                      </a:endParaRPr>
                    </a:p>
                  </a:txBody>
                  <a:tcPr marL="0" marR="0" marB="0" marT="90805">
                    <a:lnL w="12700">
                      <a:solidFill>
                        <a:srgbClr val="C7C7C5"/>
                      </a:solidFill>
                      <a:prstDash val="solid"/>
                    </a:lnL>
                    <a:lnR w="12700">
                      <a:solidFill>
                        <a:srgbClr val="C7C7C5"/>
                      </a:solidFill>
                      <a:prstDash val="solid"/>
                    </a:lnR>
                    <a:lnT w="12700">
                      <a:solidFill>
                        <a:srgbClr val="C7C7C5"/>
                      </a:solidFill>
                      <a:prstDash val="solid"/>
                    </a:lnT>
                    <a:lnB w="12700">
                      <a:solidFill>
                        <a:srgbClr val="C7C7C5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6" name="object 6"/>
          <p:cNvSpPr txBox="1"/>
          <p:nvPr/>
        </p:nvSpPr>
        <p:spPr>
          <a:xfrm>
            <a:off x="800480" y="5495137"/>
            <a:ext cx="10114280" cy="234315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1350">
                <a:solidFill>
                  <a:srgbClr val="3C495C"/>
                </a:solidFill>
                <a:latin typeface="Arial"/>
                <a:cs typeface="Arial"/>
              </a:rPr>
              <a:t>Amber</a:t>
            </a:r>
            <a:r>
              <a:rPr dirty="0" sz="1350" spc="75">
                <a:solidFill>
                  <a:srgbClr val="3C495C"/>
                </a:solidFill>
                <a:latin typeface="Arial"/>
                <a:cs typeface="Arial"/>
              </a:rPr>
              <a:t> </a:t>
            </a:r>
            <a:r>
              <a:rPr dirty="0" sz="1350">
                <a:solidFill>
                  <a:srgbClr val="3C495C"/>
                </a:solidFill>
                <a:latin typeface="Arial"/>
                <a:cs typeface="Arial"/>
              </a:rPr>
              <a:t>cells</a:t>
            </a:r>
            <a:r>
              <a:rPr dirty="0" sz="1350" spc="50">
                <a:solidFill>
                  <a:srgbClr val="3C495C"/>
                </a:solidFill>
                <a:latin typeface="Arial"/>
                <a:cs typeface="Arial"/>
              </a:rPr>
              <a:t> </a:t>
            </a:r>
            <a:r>
              <a:rPr dirty="0" sz="1350">
                <a:solidFill>
                  <a:srgbClr val="3C495C"/>
                </a:solidFill>
                <a:latin typeface="Arial"/>
                <a:cs typeface="Arial"/>
              </a:rPr>
              <a:t>changed</a:t>
            </a:r>
            <a:r>
              <a:rPr dirty="0" sz="1350" spc="75">
                <a:solidFill>
                  <a:srgbClr val="3C495C"/>
                </a:solidFill>
                <a:latin typeface="Arial"/>
                <a:cs typeface="Arial"/>
              </a:rPr>
              <a:t> </a:t>
            </a:r>
            <a:r>
              <a:rPr dirty="0" sz="1350">
                <a:solidFill>
                  <a:srgbClr val="3C495C"/>
                </a:solidFill>
                <a:latin typeface="Arial"/>
                <a:cs typeface="Arial"/>
              </a:rPr>
              <a:t>in</a:t>
            </a:r>
            <a:r>
              <a:rPr dirty="0" sz="1350" spc="5">
                <a:solidFill>
                  <a:srgbClr val="3C495C"/>
                </a:solidFill>
                <a:latin typeface="Arial"/>
                <a:cs typeface="Arial"/>
              </a:rPr>
              <a:t> </a:t>
            </a:r>
            <a:r>
              <a:rPr dirty="0" sz="1350" spc="70">
                <a:solidFill>
                  <a:srgbClr val="3C495C"/>
                </a:solidFill>
                <a:latin typeface="Arial"/>
                <a:cs typeface="Arial"/>
              </a:rPr>
              <a:t>that</a:t>
            </a:r>
            <a:r>
              <a:rPr dirty="0" sz="1350" spc="15">
                <a:solidFill>
                  <a:srgbClr val="3C495C"/>
                </a:solidFill>
                <a:latin typeface="Arial"/>
                <a:cs typeface="Arial"/>
              </a:rPr>
              <a:t> </a:t>
            </a:r>
            <a:r>
              <a:rPr dirty="0" sz="1350">
                <a:solidFill>
                  <a:srgbClr val="3C495C"/>
                </a:solidFill>
                <a:latin typeface="Arial"/>
                <a:cs typeface="Arial"/>
              </a:rPr>
              <a:t>step.</a:t>
            </a:r>
            <a:r>
              <a:rPr dirty="0" sz="1350" spc="55">
                <a:solidFill>
                  <a:srgbClr val="3C495C"/>
                </a:solidFill>
                <a:latin typeface="Arial"/>
                <a:cs typeface="Arial"/>
              </a:rPr>
              <a:t> </a:t>
            </a:r>
            <a:r>
              <a:rPr dirty="0" sz="1350" spc="110">
                <a:solidFill>
                  <a:srgbClr val="3C495C"/>
                </a:solidFill>
                <a:latin typeface="Arial"/>
                <a:cs typeface="Arial"/>
              </a:rPr>
              <a:t>In</a:t>
            </a:r>
            <a:r>
              <a:rPr dirty="0" sz="1350" spc="5">
                <a:solidFill>
                  <a:srgbClr val="3C495C"/>
                </a:solidFill>
                <a:latin typeface="Arial"/>
                <a:cs typeface="Arial"/>
              </a:rPr>
              <a:t> </a:t>
            </a:r>
            <a:r>
              <a:rPr dirty="0" sz="1350">
                <a:solidFill>
                  <a:srgbClr val="3C495C"/>
                </a:solidFill>
                <a:latin typeface="Arial"/>
                <a:cs typeface="Arial"/>
              </a:rPr>
              <a:t>step</a:t>
            </a:r>
            <a:r>
              <a:rPr dirty="0" sz="1350" spc="75">
                <a:solidFill>
                  <a:srgbClr val="3C495C"/>
                </a:solidFill>
                <a:latin typeface="Arial"/>
                <a:cs typeface="Arial"/>
              </a:rPr>
              <a:t> </a:t>
            </a:r>
            <a:r>
              <a:rPr dirty="0" sz="1350" spc="65">
                <a:solidFill>
                  <a:srgbClr val="3C495C"/>
                </a:solidFill>
                <a:latin typeface="Arial"/>
                <a:cs typeface="Arial"/>
              </a:rPr>
              <a:t>3</a:t>
            </a:r>
            <a:r>
              <a:rPr dirty="0" sz="1350" spc="40">
                <a:solidFill>
                  <a:srgbClr val="3C495C"/>
                </a:solidFill>
                <a:latin typeface="Arial"/>
                <a:cs typeface="Arial"/>
              </a:rPr>
              <a:t> </a:t>
            </a:r>
            <a:r>
              <a:rPr dirty="0" sz="1350" spc="50">
                <a:solidFill>
                  <a:srgbClr val="3C495C"/>
                </a:solidFill>
                <a:latin typeface="Arial"/>
                <a:cs typeface="Arial"/>
              </a:rPr>
              <a:t>the</a:t>
            </a:r>
            <a:r>
              <a:rPr dirty="0" sz="1350" spc="40">
                <a:solidFill>
                  <a:srgbClr val="3C495C"/>
                </a:solidFill>
                <a:latin typeface="Arial"/>
                <a:cs typeface="Arial"/>
              </a:rPr>
              <a:t> </a:t>
            </a:r>
            <a:r>
              <a:rPr dirty="0" sz="1350">
                <a:solidFill>
                  <a:srgbClr val="3C495C"/>
                </a:solidFill>
                <a:latin typeface="Arial"/>
                <a:cs typeface="Arial"/>
              </a:rPr>
              <a:t>True</a:t>
            </a:r>
            <a:r>
              <a:rPr dirty="0" sz="1350" spc="35">
                <a:solidFill>
                  <a:srgbClr val="3C495C"/>
                </a:solidFill>
                <a:latin typeface="Arial"/>
                <a:cs typeface="Arial"/>
              </a:rPr>
              <a:t> </a:t>
            </a:r>
            <a:r>
              <a:rPr dirty="0" sz="1350">
                <a:solidFill>
                  <a:srgbClr val="3C495C"/>
                </a:solidFill>
                <a:latin typeface="Arial"/>
                <a:cs typeface="Arial"/>
              </a:rPr>
              <a:t>values</a:t>
            </a:r>
            <a:r>
              <a:rPr dirty="0" sz="1350" spc="50">
                <a:solidFill>
                  <a:srgbClr val="3C495C"/>
                </a:solidFill>
                <a:latin typeface="Arial"/>
                <a:cs typeface="Arial"/>
              </a:rPr>
              <a:t> </a:t>
            </a:r>
            <a:r>
              <a:rPr dirty="0" sz="1350">
                <a:solidFill>
                  <a:srgbClr val="3C495C"/>
                </a:solidFill>
                <a:latin typeface="Arial"/>
                <a:cs typeface="Arial"/>
              </a:rPr>
              <a:t>pick</a:t>
            </a:r>
            <a:r>
              <a:rPr dirty="0" sz="1350" spc="75">
                <a:solidFill>
                  <a:srgbClr val="3C495C"/>
                </a:solidFill>
                <a:latin typeface="Arial"/>
                <a:cs typeface="Arial"/>
              </a:rPr>
              <a:t> </a:t>
            </a:r>
            <a:r>
              <a:rPr dirty="0" sz="1350">
                <a:solidFill>
                  <a:srgbClr val="3C495C"/>
                </a:solidFill>
                <a:latin typeface="Arial"/>
                <a:cs typeface="Arial"/>
              </a:rPr>
              <a:t>labels</a:t>
            </a:r>
            <a:r>
              <a:rPr dirty="0" sz="1350" spc="50">
                <a:solidFill>
                  <a:srgbClr val="3C495C"/>
                </a:solidFill>
                <a:latin typeface="Arial"/>
                <a:cs typeface="Arial"/>
              </a:rPr>
              <a:t> </a:t>
            </a:r>
            <a:r>
              <a:rPr dirty="0" sz="1350">
                <a:solidFill>
                  <a:srgbClr val="3C495C"/>
                </a:solidFill>
                <a:latin typeface="Arial"/>
                <a:cs typeface="Arial"/>
              </a:rPr>
              <a:t>3,</a:t>
            </a:r>
            <a:r>
              <a:rPr dirty="0" sz="1350" spc="65">
                <a:solidFill>
                  <a:srgbClr val="3C495C"/>
                </a:solidFill>
                <a:latin typeface="Arial"/>
                <a:cs typeface="Arial"/>
              </a:rPr>
              <a:t> 2</a:t>
            </a:r>
            <a:r>
              <a:rPr dirty="0" sz="1350" spc="40">
                <a:solidFill>
                  <a:srgbClr val="3C495C"/>
                </a:solidFill>
                <a:latin typeface="Arial"/>
                <a:cs typeface="Arial"/>
              </a:rPr>
              <a:t> </a:t>
            </a:r>
            <a:r>
              <a:rPr dirty="0" sz="1350">
                <a:solidFill>
                  <a:srgbClr val="3C495C"/>
                </a:solidFill>
                <a:latin typeface="Arial"/>
                <a:cs typeface="Arial"/>
              </a:rPr>
              <a:t>and</a:t>
            </a:r>
            <a:r>
              <a:rPr dirty="0" sz="1350" spc="75">
                <a:solidFill>
                  <a:srgbClr val="3C495C"/>
                </a:solidFill>
                <a:latin typeface="Arial"/>
                <a:cs typeface="Arial"/>
              </a:rPr>
              <a:t> </a:t>
            </a:r>
            <a:r>
              <a:rPr dirty="0" sz="1350">
                <a:solidFill>
                  <a:srgbClr val="3C495C"/>
                </a:solidFill>
                <a:latin typeface="Arial"/>
                <a:cs typeface="Arial"/>
              </a:rPr>
              <a:t>7,</a:t>
            </a:r>
            <a:r>
              <a:rPr dirty="0" sz="1350" spc="60">
                <a:solidFill>
                  <a:srgbClr val="3C495C"/>
                </a:solidFill>
                <a:latin typeface="Arial"/>
                <a:cs typeface="Arial"/>
              </a:rPr>
              <a:t> </a:t>
            </a:r>
            <a:r>
              <a:rPr dirty="0" sz="1350">
                <a:solidFill>
                  <a:srgbClr val="3C495C"/>
                </a:solidFill>
                <a:latin typeface="Arial"/>
                <a:cs typeface="Arial"/>
              </a:rPr>
              <a:t>and</a:t>
            </a:r>
            <a:r>
              <a:rPr dirty="0" sz="1350" spc="70">
                <a:solidFill>
                  <a:srgbClr val="3C495C"/>
                </a:solidFill>
                <a:latin typeface="Arial"/>
                <a:cs typeface="Arial"/>
              </a:rPr>
              <a:t> </a:t>
            </a:r>
            <a:r>
              <a:rPr dirty="0" sz="1350" spc="50">
                <a:solidFill>
                  <a:srgbClr val="3C495C"/>
                </a:solidFill>
                <a:latin typeface="Arial"/>
                <a:cs typeface="Arial"/>
              </a:rPr>
              <a:t>the</a:t>
            </a:r>
            <a:r>
              <a:rPr dirty="0" sz="1350" spc="40">
                <a:solidFill>
                  <a:srgbClr val="3C495C"/>
                </a:solidFill>
                <a:latin typeface="Arial"/>
                <a:cs typeface="Arial"/>
              </a:rPr>
              <a:t> </a:t>
            </a:r>
            <a:r>
              <a:rPr dirty="0" sz="1350">
                <a:solidFill>
                  <a:srgbClr val="3C495C"/>
                </a:solidFill>
                <a:latin typeface="Arial"/>
                <a:cs typeface="Arial"/>
              </a:rPr>
              <a:t>three</a:t>
            </a:r>
            <a:r>
              <a:rPr dirty="0" sz="1350" spc="35">
                <a:solidFill>
                  <a:srgbClr val="3C495C"/>
                </a:solidFill>
                <a:latin typeface="Arial"/>
                <a:cs typeface="Arial"/>
              </a:rPr>
              <a:t> </a:t>
            </a:r>
            <a:r>
              <a:rPr dirty="0" sz="1350">
                <a:solidFill>
                  <a:srgbClr val="3C495C"/>
                </a:solidFill>
                <a:latin typeface="Arial"/>
                <a:cs typeface="Arial"/>
              </a:rPr>
              <a:t>new</a:t>
            </a:r>
            <a:r>
              <a:rPr dirty="0" sz="1350" spc="25">
                <a:solidFill>
                  <a:srgbClr val="3C495C"/>
                </a:solidFill>
                <a:latin typeface="Arial"/>
                <a:cs typeface="Arial"/>
              </a:rPr>
              <a:t> </a:t>
            </a:r>
            <a:r>
              <a:rPr dirty="0" sz="1350">
                <a:solidFill>
                  <a:srgbClr val="3C495C"/>
                </a:solidFill>
                <a:latin typeface="Arial"/>
                <a:cs typeface="Arial"/>
              </a:rPr>
              <a:t>values</a:t>
            </a:r>
            <a:r>
              <a:rPr dirty="0" sz="1350" spc="55">
                <a:solidFill>
                  <a:srgbClr val="3C495C"/>
                </a:solidFill>
                <a:latin typeface="Arial"/>
                <a:cs typeface="Arial"/>
              </a:rPr>
              <a:t> </a:t>
            </a:r>
            <a:r>
              <a:rPr dirty="0" sz="1350">
                <a:solidFill>
                  <a:srgbClr val="3C495C"/>
                </a:solidFill>
                <a:latin typeface="Arial"/>
                <a:cs typeface="Arial"/>
              </a:rPr>
              <a:t>go</a:t>
            </a:r>
            <a:r>
              <a:rPr dirty="0" sz="1350" spc="100">
                <a:solidFill>
                  <a:srgbClr val="3C495C"/>
                </a:solidFill>
                <a:latin typeface="Arial"/>
                <a:cs typeface="Arial"/>
              </a:rPr>
              <a:t> </a:t>
            </a:r>
            <a:r>
              <a:rPr dirty="0" sz="1350">
                <a:solidFill>
                  <a:srgbClr val="3C495C"/>
                </a:solidFill>
                <a:latin typeface="Arial"/>
                <a:cs typeface="Arial"/>
              </a:rPr>
              <a:t>to</a:t>
            </a:r>
            <a:r>
              <a:rPr dirty="0" sz="1350" spc="105">
                <a:solidFill>
                  <a:srgbClr val="3C495C"/>
                </a:solidFill>
                <a:latin typeface="Arial"/>
                <a:cs typeface="Arial"/>
              </a:rPr>
              <a:t> </a:t>
            </a:r>
            <a:r>
              <a:rPr dirty="0" sz="1350">
                <a:solidFill>
                  <a:srgbClr val="3C495C"/>
                </a:solidFill>
                <a:latin typeface="Arial"/>
                <a:cs typeface="Arial"/>
              </a:rPr>
              <a:t>them</a:t>
            </a:r>
            <a:r>
              <a:rPr dirty="0" sz="1350" spc="114">
                <a:solidFill>
                  <a:srgbClr val="3C495C"/>
                </a:solidFill>
                <a:latin typeface="Arial"/>
                <a:cs typeface="Arial"/>
              </a:rPr>
              <a:t> </a:t>
            </a:r>
            <a:r>
              <a:rPr dirty="0" sz="1350">
                <a:solidFill>
                  <a:srgbClr val="3C495C"/>
                </a:solidFill>
                <a:latin typeface="Arial"/>
                <a:cs typeface="Arial"/>
              </a:rPr>
              <a:t>in</a:t>
            </a:r>
            <a:r>
              <a:rPr dirty="0" sz="1350" spc="5">
                <a:solidFill>
                  <a:srgbClr val="3C495C"/>
                </a:solidFill>
                <a:latin typeface="Arial"/>
                <a:cs typeface="Arial"/>
              </a:rPr>
              <a:t> </a:t>
            </a:r>
            <a:r>
              <a:rPr dirty="0" sz="1350">
                <a:solidFill>
                  <a:srgbClr val="3C495C"/>
                </a:solidFill>
                <a:latin typeface="Arial"/>
                <a:cs typeface="Arial"/>
              </a:rPr>
              <a:t>or</a:t>
            </a:r>
            <a:r>
              <a:rPr dirty="0" sz="1350" spc="-150">
                <a:solidFill>
                  <a:srgbClr val="3C495C"/>
                </a:solidFill>
                <a:latin typeface="Arial"/>
                <a:cs typeface="Arial"/>
              </a:rPr>
              <a:t> </a:t>
            </a:r>
            <a:r>
              <a:rPr dirty="0" sz="1350" spc="-20">
                <a:solidFill>
                  <a:srgbClr val="3C495C"/>
                </a:solidFill>
                <a:latin typeface="Arial"/>
                <a:cs typeface="Arial"/>
              </a:rPr>
              <a:t>der.</a:t>
            </a:r>
            <a:endParaRPr sz="135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-62"/>
            <a:ext cx="12189460" cy="6859905"/>
          </a:xfrm>
          <a:custGeom>
            <a:avLst/>
            <a:gdLst/>
            <a:ahLst/>
            <a:cxnLst/>
            <a:rect l="l" t="t" r="r" b="b"/>
            <a:pathLst>
              <a:path w="12189460" h="6859905">
                <a:moveTo>
                  <a:pt x="12188952" y="0"/>
                </a:moveTo>
                <a:lnTo>
                  <a:pt x="0" y="0"/>
                </a:lnTo>
                <a:lnTo>
                  <a:pt x="0" y="6859778"/>
                </a:lnTo>
                <a:lnTo>
                  <a:pt x="12188952" y="6859778"/>
                </a:lnTo>
                <a:lnTo>
                  <a:pt x="12188952" y="0"/>
                </a:lnTo>
                <a:close/>
              </a:path>
            </a:pathLst>
          </a:custGeom>
          <a:solidFill>
            <a:srgbClr val="13203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800480" y="819721"/>
            <a:ext cx="2620645" cy="234315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1350" spc="65" b="1">
                <a:solidFill>
                  <a:srgbClr val="F1B544"/>
                </a:solidFill>
                <a:latin typeface="Arial"/>
                <a:cs typeface="Arial"/>
              </a:rPr>
              <a:t>0</a:t>
            </a:r>
            <a:r>
              <a:rPr dirty="0" sz="1350" spc="-190" b="1">
                <a:solidFill>
                  <a:srgbClr val="F1B544"/>
                </a:solidFill>
                <a:latin typeface="Arial"/>
                <a:cs typeface="Arial"/>
              </a:rPr>
              <a:t> </a:t>
            </a:r>
            <a:r>
              <a:rPr dirty="0" sz="1350" spc="65" b="1">
                <a:solidFill>
                  <a:srgbClr val="F1B544"/>
                </a:solidFill>
                <a:latin typeface="Arial"/>
                <a:cs typeface="Arial"/>
              </a:rPr>
              <a:t>2</a:t>
            </a:r>
            <a:r>
              <a:rPr dirty="0" sz="1350" spc="270" b="1">
                <a:solidFill>
                  <a:srgbClr val="F1B544"/>
                </a:solidFill>
                <a:latin typeface="Arial"/>
                <a:cs typeface="Arial"/>
              </a:rPr>
              <a:t> </a:t>
            </a:r>
            <a:r>
              <a:rPr dirty="0" sz="1350" b="1">
                <a:solidFill>
                  <a:srgbClr val="F1B544"/>
                </a:solidFill>
                <a:latin typeface="Arial"/>
                <a:cs typeface="Arial"/>
              </a:rPr>
              <a:t>·</a:t>
            </a:r>
            <a:r>
              <a:rPr dirty="0" sz="1350" spc="315" b="1">
                <a:solidFill>
                  <a:srgbClr val="F1B544"/>
                </a:solidFill>
                <a:latin typeface="Arial"/>
                <a:cs typeface="Arial"/>
              </a:rPr>
              <a:t> </a:t>
            </a:r>
            <a:r>
              <a:rPr dirty="0" sz="1350" b="1">
                <a:solidFill>
                  <a:srgbClr val="F1B544"/>
                </a:solidFill>
                <a:latin typeface="Arial"/>
                <a:cs typeface="Arial"/>
              </a:rPr>
              <a:t>SE</a:t>
            </a:r>
            <a:r>
              <a:rPr dirty="0" sz="1350" spc="-190" b="1">
                <a:solidFill>
                  <a:srgbClr val="F1B544"/>
                </a:solidFill>
                <a:latin typeface="Arial"/>
                <a:cs typeface="Arial"/>
              </a:rPr>
              <a:t> </a:t>
            </a:r>
            <a:r>
              <a:rPr dirty="0" sz="1350" spc="114" b="1">
                <a:solidFill>
                  <a:srgbClr val="F1B544"/>
                </a:solidFill>
                <a:latin typeface="Arial"/>
                <a:cs typeface="Arial"/>
              </a:rPr>
              <a:t>RIE</a:t>
            </a:r>
            <a:r>
              <a:rPr dirty="0" sz="1350" spc="-195" b="1">
                <a:solidFill>
                  <a:srgbClr val="F1B544"/>
                </a:solidFill>
                <a:latin typeface="Arial"/>
                <a:cs typeface="Arial"/>
              </a:rPr>
              <a:t> </a:t>
            </a:r>
            <a:r>
              <a:rPr dirty="0" sz="1350" b="1">
                <a:solidFill>
                  <a:srgbClr val="F1B544"/>
                </a:solidFill>
                <a:latin typeface="Arial"/>
                <a:cs typeface="Arial"/>
              </a:rPr>
              <a:t>S</a:t>
            </a:r>
            <a:r>
              <a:rPr dirty="0" sz="1350" spc="315" b="1">
                <a:solidFill>
                  <a:srgbClr val="F1B544"/>
                </a:solidFill>
                <a:latin typeface="Arial"/>
                <a:cs typeface="Arial"/>
              </a:rPr>
              <a:t> </a:t>
            </a:r>
            <a:r>
              <a:rPr dirty="0" sz="1350" b="1">
                <a:solidFill>
                  <a:srgbClr val="F1B544"/>
                </a:solidFill>
                <a:latin typeface="Arial"/>
                <a:cs typeface="Arial"/>
              </a:rPr>
              <a:t>·</a:t>
            </a:r>
            <a:r>
              <a:rPr dirty="0" sz="1350" spc="310" b="1">
                <a:solidFill>
                  <a:srgbClr val="F1B544"/>
                </a:solidFill>
                <a:latin typeface="Arial"/>
                <a:cs typeface="Arial"/>
              </a:rPr>
              <a:t> </a:t>
            </a:r>
            <a:r>
              <a:rPr dirty="0" sz="1350" spc="50" b="1">
                <a:solidFill>
                  <a:srgbClr val="F1B544"/>
                </a:solidFill>
                <a:latin typeface="Arial"/>
                <a:cs typeface="Arial"/>
              </a:rPr>
              <a:t>W</a:t>
            </a:r>
            <a:r>
              <a:rPr dirty="0" sz="1350" spc="-190" b="1">
                <a:solidFill>
                  <a:srgbClr val="F1B544"/>
                </a:solidFill>
                <a:latin typeface="Arial"/>
                <a:cs typeface="Arial"/>
              </a:rPr>
              <a:t> </a:t>
            </a:r>
            <a:r>
              <a:rPr dirty="0" sz="1350" b="1">
                <a:solidFill>
                  <a:srgbClr val="F1B544"/>
                </a:solidFill>
                <a:latin typeface="Arial"/>
                <a:cs typeface="Arial"/>
              </a:rPr>
              <a:t>ATC</a:t>
            </a:r>
            <a:r>
              <a:rPr dirty="0" sz="1350" spc="-180" b="1">
                <a:solidFill>
                  <a:srgbClr val="F1B544"/>
                </a:solidFill>
                <a:latin typeface="Arial"/>
                <a:cs typeface="Arial"/>
              </a:rPr>
              <a:t> </a:t>
            </a:r>
            <a:r>
              <a:rPr dirty="0" sz="1350" b="1">
                <a:solidFill>
                  <a:srgbClr val="F1B544"/>
                </a:solidFill>
                <a:latin typeface="Arial"/>
                <a:cs typeface="Arial"/>
              </a:rPr>
              <a:t>H</a:t>
            </a:r>
            <a:r>
              <a:rPr dirty="0" sz="1350" spc="320" b="1">
                <a:solidFill>
                  <a:srgbClr val="F1B544"/>
                </a:solidFill>
                <a:latin typeface="Arial"/>
                <a:cs typeface="Arial"/>
              </a:rPr>
              <a:t> </a:t>
            </a:r>
            <a:r>
              <a:rPr dirty="0" sz="1350" spc="-80" b="1">
                <a:solidFill>
                  <a:srgbClr val="F1B544"/>
                </a:solidFill>
                <a:latin typeface="Arial"/>
                <a:cs typeface="Arial"/>
              </a:rPr>
              <a:t>O</a:t>
            </a:r>
            <a:r>
              <a:rPr dirty="0" sz="1350" spc="-200" b="1">
                <a:solidFill>
                  <a:srgbClr val="F1B544"/>
                </a:solidFill>
                <a:latin typeface="Arial"/>
                <a:cs typeface="Arial"/>
              </a:rPr>
              <a:t> </a:t>
            </a:r>
            <a:r>
              <a:rPr dirty="0" sz="1350" spc="-35" b="1">
                <a:solidFill>
                  <a:srgbClr val="F1B544"/>
                </a:solidFill>
                <a:latin typeface="Arial"/>
                <a:cs typeface="Arial"/>
              </a:rPr>
              <a:t>U</a:t>
            </a:r>
            <a:r>
              <a:rPr dirty="0" sz="1350" spc="-165" b="1">
                <a:solidFill>
                  <a:srgbClr val="F1B544"/>
                </a:solidFill>
                <a:latin typeface="Arial"/>
                <a:cs typeface="Arial"/>
              </a:rPr>
              <a:t> </a:t>
            </a:r>
            <a:r>
              <a:rPr dirty="0" sz="1350" spc="-50" b="1">
                <a:solidFill>
                  <a:srgbClr val="F1B544"/>
                </a:solidFill>
                <a:latin typeface="Arial"/>
                <a:cs typeface="Arial"/>
              </a:rPr>
              <a:t>T</a:t>
            </a:r>
            <a:endParaRPr sz="1350">
              <a:latin typeface="Arial"/>
              <a:cs typeface="Arial"/>
            </a:endParaRPr>
          </a:p>
        </p:txBody>
      </p:sp>
      <p:sp>
        <p:nvSpPr>
          <p:cNvPr id="4" name="object 4" descr="$PPTXTitle"/>
          <p:cNvSpPr txBox="1">
            <a:spLocks noGrp="1"/>
          </p:cNvSpPr>
          <p:nvPr>
            <p:ph type="title"/>
          </p:nvPr>
        </p:nvSpPr>
        <p:spPr>
          <a:xfrm>
            <a:off x="800480" y="1062558"/>
            <a:ext cx="6929120" cy="575310"/>
          </a:xfrm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3600" spc="-40">
                <a:solidFill>
                  <a:srgbClr val="F4F0EA"/>
                </a:solidFill>
              </a:rPr>
              <a:t>The</a:t>
            </a:r>
            <a:r>
              <a:rPr dirty="0" sz="3600" spc="-145">
                <a:solidFill>
                  <a:srgbClr val="F4F0EA"/>
                </a:solidFill>
              </a:rPr>
              <a:t> </a:t>
            </a:r>
            <a:r>
              <a:rPr dirty="0" sz="3600" spc="60">
                <a:solidFill>
                  <a:srgbClr val="F4F0EA"/>
                </a:solidFill>
              </a:rPr>
              <a:t>=</a:t>
            </a:r>
            <a:r>
              <a:rPr dirty="0" sz="3600" spc="-135">
                <a:solidFill>
                  <a:srgbClr val="F4F0EA"/>
                </a:solidFill>
              </a:rPr>
              <a:t> </a:t>
            </a:r>
            <a:r>
              <a:rPr dirty="0" sz="3600" spc="-125">
                <a:solidFill>
                  <a:srgbClr val="F4F0EA"/>
                </a:solidFill>
              </a:rPr>
              <a:t>sign</a:t>
            </a:r>
            <a:r>
              <a:rPr dirty="0" sz="3600" spc="-195">
                <a:solidFill>
                  <a:srgbClr val="F4F0EA"/>
                </a:solidFill>
              </a:rPr>
              <a:t> </a:t>
            </a:r>
            <a:r>
              <a:rPr dirty="0" sz="3600" spc="-85">
                <a:solidFill>
                  <a:srgbClr val="F4F0EA"/>
                </a:solidFill>
              </a:rPr>
              <a:t>does</a:t>
            </a:r>
            <a:r>
              <a:rPr dirty="0" sz="3600" spc="-160">
                <a:solidFill>
                  <a:srgbClr val="F4F0EA"/>
                </a:solidFill>
              </a:rPr>
              <a:t> </a:t>
            </a:r>
            <a:r>
              <a:rPr dirty="0" sz="3600">
                <a:solidFill>
                  <a:srgbClr val="F4F0EA"/>
                </a:solidFill>
              </a:rPr>
              <a:t>not</a:t>
            </a:r>
            <a:r>
              <a:rPr dirty="0" sz="3600" spc="-150">
                <a:solidFill>
                  <a:srgbClr val="F4F0EA"/>
                </a:solidFill>
              </a:rPr>
              <a:t> </a:t>
            </a:r>
            <a:r>
              <a:rPr dirty="0" sz="3600">
                <a:solidFill>
                  <a:srgbClr val="F4F0EA"/>
                </a:solidFill>
              </a:rPr>
              <a:t>make</a:t>
            </a:r>
            <a:r>
              <a:rPr dirty="0" sz="3600" spc="-130">
                <a:solidFill>
                  <a:srgbClr val="F4F0EA"/>
                </a:solidFill>
              </a:rPr>
              <a:t> </a:t>
            </a:r>
            <a:r>
              <a:rPr dirty="0" sz="3600">
                <a:solidFill>
                  <a:srgbClr val="F4F0EA"/>
                </a:solidFill>
              </a:rPr>
              <a:t>a</a:t>
            </a:r>
            <a:r>
              <a:rPr dirty="0" sz="3600" spc="-170">
                <a:solidFill>
                  <a:srgbClr val="F4F0EA"/>
                </a:solidFill>
              </a:rPr>
              <a:t> </a:t>
            </a:r>
            <a:r>
              <a:rPr dirty="0" sz="3600" spc="-35">
                <a:solidFill>
                  <a:srgbClr val="F4F0EA"/>
                </a:solidFill>
              </a:rPr>
              <a:t>copy</a:t>
            </a:r>
            <a:endParaRPr sz="3600"/>
          </a:p>
        </p:txBody>
      </p:sp>
      <p:sp>
        <p:nvSpPr>
          <p:cNvPr id="5" name="object 5"/>
          <p:cNvSpPr/>
          <p:nvPr/>
        </p:nvSpPr>
        <p:spPr>
          <a:xfrm>
            <a:off x="813816" y="1993900"/>
            <a:ext cx="5111750" cy="2799080"/>
          </a:xfrm>
          <a:custGeom>
            <a:avLst/>
            <a:gdLst/>
            <a:ahLst/>
            <a:cxnLst/>
            <a:rect l="l" t="t" r="r" b="b"/>
            <a:pathLst>
              <a:path w="5111750" h="2799079">
                <a:moveTo>
                  <a:pt x="5009769" y="0"/>
                </a:moveTo>
                <a:lnTo>
                  <a:pt x="101714" y="0"/>
                </a:lnTo>
                <a:lnTo>
                  <a:pt x="62123" y="8001"/>
                </a:lnTo>
                <a:lnTo>
                  <a:pt x="29792" y="29813"/>
                </a:lnTo>
                <a:lnTo>
                  <a:pt x="7993" y="62150"/>
                </a:lnTo>
                <a:lnTo>
                  <a:pt x="0" y="101726"/>
                </a:lnTo>
                <a:lnTo>
                  <a:pt x="0" y="2696972"/>
                </a:lnTo>
                <a:lnTo>
                  <a:pt x="7993" y="2736601"/>
                </a:lnTo>
                <a:lnTo>
                  <a:pt x="29792" y="2768933"/>
                </a:lnTo>
                <a:lnTo>
                  <a:pt x="62123" y="2790715"/>
                </a:lnTo>
                <a:lnTo>
                  <a:pt x="101714" y="2798699"/>
                </a:lnTo>
                <a:lnTo>
                  <a:pt x="5009769" y="2798699"/>
                </a:lnTo>
                <a:lnTo>
                  <a:pt x="5049345" y="2790715"/>
                </a:lnTo>
                <a:lnTo>
                  <a:pt x="5081682" y="2768933"/>
                </a:lnTo>
                <a:lnTo>
                  <a:pt x="5103495" y="2736601"/>
                </a:lnTo>
                <a:lnTo>
                  <a:pt x="5111496" y="2696972"/>
                </a:lnTo>
                <a:lnTo>
                  <a:pt x="5111496" y="101726"/>
                </a:lnTo>
                <a:lnTo>
                  <a:pt x="5103495" y="62150"/>
                </a:lnTo>
                <a:lnTo>
                  <a:pt x="5081682" y="29813"/>
                </a:lnTo>
                <a:lnTo>
                  <a:pt x="5049345" y="8000"/>
                </a:lnTo>
                <a:lnTo>
                  <a:pt x="5009769" y="0"/>
                </a:lnTo>
                <a:close/>
              </a:path>
            </a:pathLst>
          </a:custGeom>
          <a:solidFill>
            <a:srgbClr val="1F2E5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/>
          <p:nvPr/>
        </p:nvSpPr>
        <p:spPr>
          <a:xfrm>
            <a:off x="1054620" y="2222817"/>
            <a:ext cx="3342004" cy="22758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b="1">
                <a:solidFill>
                  <a:srgbClr val="F4F0EA"/>
                </a:solidFill>
                <a:latin typeface="Arial"/>
                <a:cs typeface="Arial"/>
              </a:rPr>
              <a:t>Two</a:t>
            </a:r>
            <a:r>
              <a:rPr dirty="0" sz="1800" spc="-114" b="1">
                <a:solidFill>
                  <a:srgbClr val="F4F0EA"/>
                </a:solidFill>
                <a:latin typeface="Arial"/>
                <a:cs typeface="Arial"/>
              </a:rPr>
              <a:t> </a:t>
            </a:r>
            <a:r>
              <a:rPr dirty="0" sz="1800" b="1">
                <a:solidFill>
                  <a:srgbClr val="F4F0EA"/>
                </a:solidFill>
                <a:latin typeface="Arial"/>
                <a:cs typeface="Arial"/>
              </a:rPr>
              <a:t>names,</a:t>
            </a:r>
            <a:r>
              <a:rPr dirty="0" sz="1800" spc="-70" b="1">
                <a:solidFill>
                  <a:srgbClr val="F4F0EA"/>
                </a:solidFill>
                <a:latin typeface="Arial"/>
                <a:cs typeface="Arial"/>
              </a:rPr>
              <a:t> </a:t>
            </a:r>
            <a:r>
              <a:rPr dirty="0" sz="1800" spc="-50" b="1">
                <a:solidFill>
                  <a:srgbClr val="F4F0EA"/>
                </a:solidFill>
                <a:latin typeface="Arial"/>
                <a:cs typeface="Arial"/>
              </a:rPr>
              <a:t>one</a:t>
            </a:r>
            <a:r>
              <a:rPr dirty="0" sz="1800" spc="-145" b="1">
                <a:solidFill>
                  <a:srgbClr val="F4F0EA"/>
                </a:solidFill>
                <a:latin typeface="Arial"/>
                <a:cs typeface="Arial"/>
              </a:rPr>
              <a:t> </a:t>
            </a:r>
            <a:r>
              <a:rPr dirty="0" sz="1800" spc="-10" b="1">
                <a:solidFill>
                  <a:srgbClr val="F4F0EA"/>
                </a:solidFill>
                <a:latin typeface="Arial"/>
                <a:cs typeface="Arial"/>
              </a:rPr>
              <a:t>object</a:t>
            </a:r>
            <a:endParaRPr sz="1800">
              <a:latin typeface="Arial"/>
              <a:cs typeface="Arial"/>
            </a:endParaRPr>
          </a:p>
          <a:p>
            <a:pPr marL="12700" marR="1208405">
              <a:lnSpc>
                <a:spcPct val="133500"/>
              </a:lnSpc>
              <a:spcBef>
                <a:spcPts val="1115"/>
              </a:spcBef>
            </a:pPr>
            <a:r>
              <a:rPr dirty="0" sz="1350" spc="-175">
                <a:solidFill>
                  <a:srgbClr val="F4F0EA"/>
                </a:solidFill>
                <a:latin typeface="Arial"/>
                <a:cs typeface="Arial"/>
              </a:rPr>
              <a:t>COPY_USAGE</a:t>
            </a:r>
            <a:r>
              <a:rPr dirty="0" sz="1350" spc="-25">
                <a:solidFill>
                  <a:srgbClr val="F4F0EA"/>
                </a:solidFill>
                <a:latin typeface="Arial"/>
                <a:cs typeface="Arial"/>
              </a:rPr>
              <a:t> </a:t>
            </a:r>
            <a:r>
              <a:rPr dirty="0" sz="1350" spc="-120">
                <a:solidFill>
                  <a:srgbClr val="F4F0EA"/>
                </a:solidFill>
                <a:latin typeface="Arial"/>
                <a:cs typeface="Arial"/>
              </a:rPr>
              <a:t>=</a:t>
            </a:r>
            <a:r>
              <a:rPr dirty="0" sz="1350" spc="-35">
                <a:solidFill>
                  <a:srgbClr val="F4F0EA"/>
                </a:solidFill>
                <a:latin typeface="Arial"/>
                <a:cs typeface="Arial"/>
              </a:rPr>
              <a:t> </a:t>
            </a:r>
            <a:r>
              <a:rPr dirty="0" sz="1350" spc="-110">
                <a:solidFill>
                  <a:srgbClr val="F4F0EA"/>
                </a:solidFill>
                <a:latin typeface="Arial"/>
                <a:cs typeface="Arial"/>
              </a:rPr>
              <a:t>MEM_USAGE </a:t>
            </a:r>
            <a:r>
              <a:rPr dirty="0" sz="1350" spc="-130">
                <a:solidFill>
                  <a:srgbClr val="F4F0EA"/>
                </a:solidFill>
                <a:latin typeface="Arial"/>
                <a:cs typeface="Arial"/>
              </a:rPr>
              <a:t>COPY_USAGE[3]</a:t>
            </a:r>
            <a:r>
              <a:rPr dirty="0" sz="1350" spc="-5">
                <a:solidFill>
                  <a:srgbClr val="F4F0EA"/>
                </a:solidFill>
                <a:latin typeface="Arial"/>
                <a:cs typeface="Arial"/>
              </a:rPr>
              <a:t> </a:t>
            </a:r>
            <a:r>
              <a:rPr dirty="0" sz="1350" spc="-120">
                <a:solidFill>
                  <a:srgbClr val="F4F0EA"/>
                </a:solidFill>
                <a:latin typeface="Arial"/>
                <a:cs typeface="Arial"/>
              </a:rPr>
              <a:t>=</a:t>
            </a:r>
            <a:r>
              <a:rPr dirty="0" sz="1350" spc="-50">
                <a:solidFill>
                  <a:srgbClr val="F4F0EA"/>
                </a:solidFill>
                <a:latin typeface="Arial"/>
                <a:cs typeface="Arial"/>
              </a:rPr>
              <a:t> </a:t>
            </a:r>
            <a:r>
              <a:rPr dirty="0" sz="1350" spc="-20">
                <a:solidFill>
                  <a:srgbClr val="F4F0EA"/>
                </a:solidFill>
                <a:latin typeface="Arial"/>
                <a:cs typeface="Arial"/>
              </a:rPr>
              <a:t>1.23</a:t>
            </a:r>
            <a:endParaRPr sz="13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755"/>
              </a:spcBef>
            </a:pPr>
            <a:endParaRPr sz="1350">
              <a:latin typeface="Arial"/>
              <a:cs typeface="Arial"/>
            </a:endParaRPr>
          </a:p>
          <a:p>
            <a:pPr marL="12700" marR="1318260">
              <a:lnSpc>
                <a:spcPct val="133500"/>
              </a:lnSpc>
            </a:pPr>
            <a:r>
              <a:rPr dirty="0" sz="1350" spc="-130">
                <a:solidFill>
                  <a:srgbClr val="F4F0EA"/>
                </a:solidFill>
                <a:latin typeface="Arial"/>
                <a:cs typeface="Arial"/>
              </a:rPr>
              <a:t>COPY_USAGE[3]</a:t>
            </a:r>
            <a:r>
              <a:rPr dirty="0" sz="1350" spc="-15">
                <a:solidFill>
                  <a:srgbClr val="F4F0EA"/>
                </a:solidFill>
                <a:latin typeface="Arial"/>
                <a:cs typeface="Arial"/>
              </a:rPr>
              <a:t> </a:t>
            </a:r>
            <a:r>
              <a:rPr dirty="0" sz="1350" spc="-75">
                <a:solidFill>
                  <a:srgbClr val="F1B544"/>
                </a:solidFill>
                <a:latin typeface="Arial"/>
                <a:cs typeface="Arial"/>
              </a:rPr>
              <a:t>#</a:t>
            </a:r>
            <a:r>
              <a:rPr dirty="0" sz="1350" spc="-55">
                <a:solidFill>
                  <a:srgbClr val="F1B544"/>
                </a:solidFill>
                <a:latin typeface="Arial"/>
                <a:cs typeface="Arial"/>
              </a:rPr>
              <a:t> </a:t>
            </a:r>
            <a:r>
              <a:rPr dirty="0" sz="1350" spc="-20">
                <a:solidFill>
                  <a:srgbClr val="F1B544"/>
                </a:solidFill>
                <a:latin typeface="Arial"/>
                <a:cs typeface="Arial"/>
              </a:rPr>
              <a:t>1.23 </a:t>
            </a:r>
            <a:r>
              <a:rPr dirty="0" sz="1350" spc="-85">
                <a:solidFill>
                  <a:srgbClr val="F4F0EA"/>
                </a:solidFill>
                <a:latin typeface="Arial"/>
                <a:cs typeface="Arial"/>
              </a:rPr>
              <a:t>MEM_USAGE[3]</a:t>
            </a:r>
            <a:r>
              <a:rPr dirty="0" sz="1350" spc="-40">
                <a:solidFill>
                  <a:srgbClr val="F4F0EA"/>
                </a:solidFill>
                <a:latin typeface="Arial"/>
                <a:cs typeface="Arial"/>
              </a:rPr>
              <a:t> </a:t>
            </a:r>
            <a:r>
              <a:rPr dirty="0" sz="1350" spc="-75">
                <a:solidFill>
                  <a:srgbClr val="F1B544"/>
                </a:solidFill>
                <a:latin typeface="Arial"/>
                <a:cs typeface="Arial"/>
              </a:rPr>
              <a:t>#</a:t>
            </a:r>
            <a:r>
              <a:rPr dirty="0" sz="1350" spc="-20">
                <a:solidFill>
                  <a:srgbClr val="F1B544"/>
                </a:solidFill>
                <a:latin typeface="Arial"/>
                <a:cs typeface="Arial"/>
              </a:rPr>
              <a:t> </a:t>
            </a:r>
            <a:r>
              <a:rPr dirty="0" sz="1350" spc="-40">
                <a:solidFill>
                  <a:srgbClr val="F1B544"/>
                </a:solidFill>
                <a:latin typeface="Arial"/>
                <a:cs typeface="Arial"/>
              </a:rPr>
              <a:t>1.23</a:t>
            </a:r>
            <a:r>
              <a:rPr dirty="0" sz="1350" spc="-35">
                <a:solidFill>
                  <a:srgbClr val="F1B544"/>
                </a:solidFill>
                <a:latin typeface="Arial"/>
                <a:cs typeface="Arial"/>
              </a:rPr>
              <a:t> </a:t>
            </a:r>
            <a:r>
              <a:rPr dirty="0" sz="1350" spc="-20">
                <a:solidFill>
                  <a:srgbClr val="F1B544"/>
                </a:solidFill>
                <a:latin typeface="Arial"/>
                <a:cs typeface="Arial"/>
              </a:rPr>
              <a:t>too!</a:t>
            </a:r>
            <a:endParaRPr sz="13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310"/>
              </a:spcBef>
            </a:pPr>
            <a:endParaRPr sz="13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dirty="0" sz="1350">
                <a:solidFill>
                  <a:srgbClr val="C8D2E2"/>
                </a:solidFill>
                <a:latin typeface="Arial"/>
                <a:cs typeface="Arial"/>
              </a:rPr>
              <a:t>Changing </a:t>
            </a:r>
            <a:r>
              <a:rPr dirty="0" sz="1350" spc="50">
                <a:solidFill>
                  <a:srgbClr val="C8D2E2"/>
                </a:solidFill>
                <a:latin typeface="Arial"/>
                <a:cs typeface="Arial"/>
              </a:rPr>
              <a:t>the</a:t>
            </a:r>
            <a:r>
              <a:rPr dirty="0" sz="1350" spc="-25">
                <a:solidFill>
                  <a:srgbClr val="C8D2E2"/>
                </a:solidFill>
                <a:latin typeface="Arial"/>
                <a:cs typeface="Arial"/>
              </a:rPr>
              <a:t> </a:t>
            </a:r>
            <a:r>
              <a:rPr dirty="0" sz="1350" spc="55">
                <a:solidFill>
                  <a:srgbClr val="C8D2E2"/>
                </a:solidFill>
                <a:latin typeface="Arial"/>
                <a:cs typeface="Arial"/>
              </a:rPr>
              <a:t>"copy"</a:t>
            </a:r>
            <a:r>
              <a:rPr dirty="0" sz="1350" spc="-65">
                <a:solidFill>
                  <a:srgbClr val="C8D2E2"/>
                </a:solidFill>
                <a:latin typeface="Arial"/>
                <a:cs typeface="Arial"/>
              </a:rPr>
              <a:t> </a:t>
            </a:r>
            <a:r>
              <a:rPr dirty="0" sz="1350">
                <a:solidFill>
                  <a:srgbClr val="C8D2E2"/>
                </a:solidFill>
                <a:latin typeface="Arial"/>
                <a:cs typeface="Arial"/>
              </a:rPr>
              <a:t>changed </a:t>
            </a:r>
            <a:r>
              <a:rPr dirty="0" sz="1350" spc="50">
                <a:solidFill>
                  <a:srgbClr val="C8D2E2"/>
                </a:solidFill>
                <a:latin typeface="Arial"/>
                <a:cs typeface="Arial"/>
              </a:rPr>
              <a:t>the</a:t>
            </a:r>
            <a:r>
              <a:rPr dirty="0" sz="1350" spc="-25">
                <a:solidFill>
                  <a:srgbClr val="C8D2E2"/>
                </a:solidFill>
                <a:latin typeface="Arial"/>
                <a:cs typeface="Arial"/>
              </a:rPr>
              <a:t> </a:t>
            </a:r>
            <a:r>
              <a:rPr dirty="0" sz="1350" spc="-10">
                <a:solidFill>
                  <a:srgbClr val="C8D2E2"/>
                </a:solidFill>
                <a:latin typeface="Arial"/>
                <a:cs typeface="Arial"/>
              </a:rPr>
              <a:t>original.</a:t>
            </a:r>
            <a:endParaRPr sz="1350">
              <a:latin typeface="Arial"/>
              <a:cs typeface="Arial"/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6226683" y="1993519"/>
            <a:ext cx="5149215" cy="2799715"/>
            <a:chOff x="6226683" y="1993519"/>
            <a:chExt cx="5149215" cy="2799715"/>
          </a:xfrm>
        </p:grpSpPr>
        <p:sp>
          <p:nvSpPr>
            <p:cNvPr id="8" name="object 8"/>
            <p:cNvSpPr/>
            <p:nvPr/>
          </p:nvSpPr>
          <p:spPr>
            <a:xfrm>
              <a:off x="6236208" y="2003044"/>
              <a:ext cx="5130165" cy="2780665"/>
            </a:xfrm>
            <a:custGeom>
              <a:avLst/>
              <a:gdLst/>
              <a:ahLst/>
              <a:cxnLst/>
              <a:rect l="l" t="t" r="r" b="b"/>
              <a:pathLst>
                <a:path w="5130165" h="2780665">
                  <a:moveTo>
                    <a:pt x="5037582" y="0"/>
                  </a:moveTo>
                  <a:lnTo>
                    <a:pt x="92201" y="0"/>
                  </a:lnTo>
                  <a:lnTo>
                    <a:pt x="56310" y="7244"/>
                  </a:lnTo>
                  <a:lnTo>
                    <a:pt x="27003" y="27003"/>
                  </a:lnTo>
                  <a:lnTo>
                    <a:pt x="7244" y="56310"/>
                  </a:lnTo>
                  <a:lnTo>
                    <a:pt x="0" y="92201"/>
                  </a:lnTo>
                  <a:lnTo>
                    <a:pt x="0" y="2688208"/>
                  </a:lnTo>
                  <a:lnTo>
                    <a:pt x="7244" y="2724100"/>
                  </a:lnTo>
                  <a:lnTo>
                    <a:pt x="27003" y="2753407"/>
                  </a:lnTo>
                  <a:lnTo>
                    <a:pt x="56310" y="2773166"/>
                  </a:lnTo>
                  <a:lnTo>
                    <a:pt x="92201" y="2780410"/>
                  </a:lnTo>
                  <a:lnTo>
                    <a:pt x="5037582" y="2780410"/>
                  </a:lnTo>
                  <a:lnTo>
                    <a:pt x="5073473" y="2773166"/>
                  </a:lnTo>
                  <a:lnTo>
                    <a:pt x="5102780" y="2753407"/>
                  </a:lnTo>
                  <a:lnTo>
                    <a:pt x="5122539" y="2724100"/>
                  </a:lnTo>
                  <a:lnTo>
                    <a:pt x="5129784" y="2688208"/>
                  </a:lnTo>
                  <a:lnTo>
                    <a:pt x="5129784" y="92201"/>
                  </a:lnTo>
                  <a:lnTo>
                    <a:pt x="5122539" y="56310"/>
                  </a:lnTo>
                  <a:lnTo>
                    <a:pt x="5102780" y="27003"/>
                  </a:lnTo>
                  <a:lnTo>
                    <a:pt x="5073473" y="7244"/>
                  </a:lnTo>
                  <a:lnTo>
                    <a:pt x="5037582" y="0"/>
                  </a:lnTo>
                  <a:close/>
                </a:path>
              </a:pathLst>
            </a:custGeom>
            <a:solidFill>
              <a:srgbClr val="1F2E52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" name="object 9"/>
            <p:cNvSpPr/>
            <p:nvPr/>
          </p:nvSpPr>
          <p:spPr>
            <a:xfrm>
              <a:off x="6236208" y="2003044"/>
              <a:ext cx="5130165" cy="2780665"/>
            </a:xfrm>
            <a:custGeom>
              <a:avLst/>
              <a:gdLst/>
              <a:ahLst/>
              <a:cxnLst/>
              <a:rect l="l" t="t" r="r" b="b"/>
              <a:pathLst>
                <a:path w="5130165" h="2780665">
                  <a:moveTo>
                    <a:pt x="0" y="92201"/>
                  </a:moveTo>
                  <a:lnTo>
                    <a:pt x="7244" y="56310"/>
                  </a:lnTo>
                  <a:lnTo>
                    <a:pt x="27003" y="27003"/>
                  </a:lnTo>
                  <a:lnTo>
                    <a:pt x="56310" y="7244"/>
                  </a:lnTo>
                  <a:lnTo>
                    <a:pt x="92201" y="0"/>
                  </a:lnTo>
                  <a:lnTo>
                    <a:pt x="5037582" y="0"/>
                  </a:lnTo>
                  <a:lnTo>
                    <a:pt x="5073473" y="7244"/>
                  </a:lnTo>
                  <a:lnTo>
                    <a:pt x="5102780" y="27003"/>
                  </a:lnTo>
                  <a:lnTo>
                    <a:pt x="5122539" y="56310"/>
                  </a:lnTo>
                  <a:lnTo>
                    <a:pt x="5129784" y="92201"/>
                  </a:lnTo>
                  <a:lnTo>
                    <a:pt x="5129784" y="2688208"/>
                  </a:lnTo>
                  <a:lnTo>
                    <a:pt x="5122539" y="2724100"/>
                  </a:lnTo>
                  <a:lnTo>
                    <a:pt x="5102780" y="2753407"/>
                  </a:lnTo>
                  <a:lnTo>
                    <a:pt x="5073473" y="2773166"/>
                  </a:lnTo>
                  <a:lnTo>
                    <a:pt x="5037582" y="2780410"/>
                  </a:lnTo>
                  <a:lnTo>
                    <a:pt x="92201" y="2780410"/>
                  </a:lnTo>
                  <a:lnTo>
                    <a:pt x="56310" y="2773166"/>
                  </a:lnTo>
                  <a:lnTo>
                    <a:pt x="27003" y="2753407"/>
                  </a:lnTo>
                  <a:lnTo>
                    <a:pt x="7244" y="2724100"/>
                  </a:lnTo>
                  <a:lnTo>
                    <a:pt x="0" y="2688208"/>
                  </a:lnTo>
                  <a:lnTo>
                    <a:pt x="0" y="92201"/>
                  </a:lnTo>
                  <a:close/>
                </a:path>
              </a:pathLst>
            </a:custGeom>
            <a:ln w="19050">
              <a:solidFill>
                <a:srgbClr val="F1B544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0" name="object 10"/>
          <p:cNvSpPr txBox="1"/>
          <p:nvPr/>
        </p:nvSpPr>
        <p:spPr>
          <a:xfrm>
            <a:off x="6493128" y="2241486"/>
            <a:ext cx="4227830" cy="22758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80" b="1">
                <a:solidFill>
                  <a:srgbClr val="F1B544"/>
                </a:solidFill>
                <a:latin typeface="Arial"/>
                <a:cs typeface="Arial"/>
              </a:rPr>
              <a:t>A</a:t>
            </a:r>
            <a:r>
              <a:rPr dirty="0" sz="1800" spc="-15" b="1">
                <a:solidFill>
                  <a:srgbClr val="F1B544"/>
                </a:solidFill>
                <a:latin typeface="Arial"/>
                <a:cs typeface="Arial"/>
              </a:rPr>
              <a:t> </a:t>
            </a:r>
            <a:r>
              <a:rPr dirty="0" sz="1800" b="1">
                <a:solidFill>
                  <a:srgbClr val="F1B544"/>
                </a:solidFill>
                <a:latin typeface="Arial"/>
                <a:cs typeface="Arial"/>
              </a:rPr>
              <a:t>real,</a:t>
            </a:r>
            <a:r>
              <a:rPr dirty="0" sz="1800" spc="25" b="1">
                <a:solidFill>
                  <a:srgbClr val="F1B544"/>
                </a:solidFill>
                <a:latin typeface="Arial"/>
                <a:cs typeface="Arial"/>
              </a:rPr>
              <a:t> </a:t>
            </a:r>
            <a:r>
              <a:rPr dirty="0" sz="1800" spc="-10" b="1">
                <a:solidFill>
                  <a:srgbClr val="F1B544"/>
                </a:solidFill>
                <a:latin typeface="Arial"/>
                <a:cs typeface="Arial"/>
              </a:rPr>
              <a:t>independent</a:t>
            </a:r>
            <a:r>
              <a:rPr dirty="0" sz="1800" spc="-45" b="1">
                <a:solidFill>
                  <a:srgbClr val="F1B544"/>
                </a:solidFill>
                <a:latin typeface="Arial"/>
                <a:cs typeface="Arial"/>
              </a:rPr>
              <a:t> </a:t>
            </a:r>
            <a:r>
              <a:rPr dirty="0" sz="1800" spc="-20" b="1">
                <a:solidFill>
                  <a:srgbClr val="F1B544"/>
                </a:solidFill>
                <a:latin typeface="Arial"/>
                <a:cs typeface="Arial"/>
              </a:rPr>
              <a:t>copy</a:t>
            </a:r>
            <a:endParaRPr sz="1800">
              <a:latin typeface="Arial"/>
              <a:cs typeface="Arial"/>
            </a:endParaRPr>
          </a:p>
          <a:p>
            <a:pPr marL="12700" marR="1597025">
              <a:lnSpc>
                <a:spcPct val="133600"/>
              </a:lnSpc>
              <a:spcBef>
                <a:spcPts val="1110"/>
              </a:spcBef>
            </a:pPr>
            <a:r>
              <a:rPr dirty="0" sz="1350" spc="-175">
                <a:solidFill>
                  <a:srgbClr val="F4F0EA"/>
                </a:solidFill>
                <a:latin typeface="Arial"/>
                <a:cs typeface="Arial"/>
              </a:rPr>
              <a:t>COPY_USAGE</a:t>
            </a:r>
            <a:r>
              <a:rPr dirty="0" sz="1350" spc="-25">
                <a:solidFill>
                  <a:srgbClr val="F4F0EA"/>
                </a:solidFill>
                <a:latin typeface="Arial"/>
                <a:cs typeface="Arial"/>
              </a:rPr>
              <a:t> </a:t>
            </a:r>
            <a:r>
              <a:rPr dirty="0" sz="1350" spc="-120">
                <a:solidFill>
                  <a:srgbClr val="F4F0EA"/>
                </a:solidFill>
                <a:latin typeface="Arial"/>
                <a:cs typeface="Arial"/>
              </a:rPr>
              <a:t>=</a:t>
            </a:r>
            <a:r>
              <a:rPr dirty="0" sz="1350" spc="-35">
                <a:solidFill>
                  <a:srgbClr val="F4F0EA"/>
                </a:solidFill>
                <a:latin typeface="Arial"/>
                <a:cs typeface="Arial"/>
              </a:rPr>
              <a:t> </a:t>
            </a:r>
            <a:r>
              <a:rPr dirty="0" sz="1350" spc="-80">
                <a:solidFill>
                  <a:srgbClr val="F4F0EA"/>
                </a:solidFill>
                <a:latin typeface="Arial"/>
                <a:cs typeface="Arial"/>
              </a:rPr>
              <a:t>MEM_USAGE.copy() </a:t>
            </a:r>
            <a:r>
              <a:rPr dirty="0" sz="1350" spc="-130">
                <a:solidFill>
                  <a:srgbClr val="F4F0EA"/>
                </a:solidFill>
                <a:latin typeface="Arial"/>
                <a:cs typeface="Arial"/>
              </a:rPr>
              <a:t>COPY_USAGE[3]</a:t>
            </a:r>
            <a:r>
              <a:rPr dirty="0" sz="1350" spc="-5">
                <a:solidFill>
                  <a:srgbClr val="F4F0EA"/>
                </a:solidFill>
                <a:latin typeface="Arial"/>
                <a:cs typeface="Arial"/>
              </a:rPr>
              <a:t> </a:t>
            </a:r>
            <a:r>
              <a:rPr dirty="0" sz="1350" spc="-120">
                <a:solidFill>
                  <a:srgbClr val="F4F0EA"/>
                </a:solidFill>
                <a:latin typeface="Arial"/>
                <a:cs typeface="Arial"/>
              </a:rPr>
              <a:t>=</a:t>
            </a:r>
            <a:r>
              <a:rPr dirty="0" sz="1350" spc="-50">
                <a:solidFill>
                  <a:srgbClr val="F4F0EA"/>
                </a:solidFill>
                <a:latin typeface="Arial"/>
                <a:cs typeface="Arial"/>
              </a:rPr>
              <a:t> </a:t>
            </a:r>
            <a:r>
              <a:rPr dirty="0" sz="1350" spc="-20">
                <a:solidFill>
                  <a:srgbClr val="F4F0EA"/>
                </a:solidFill>
                <a:latin typeface="Arial"/>
                <a:cs typeface="Arial"/>
              </a:rPr>
              <a:t>1.23</a:t>
            </a:r>
            <a:endParaRPr sz="13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300"/>
              </a:spcBef>
            </a:pPr>
            <a:endParaRPr sz="13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dirty="0" sz="1350" spc="-130">
                <a:solidFill>
                  <a:srgbClr val="F4F0EA"/>
                </a:solidFill>
                <a:latin typeface="Arial"/>
                <a:cs typeface="Arial"/>
              </a:rPr>
              <a:t>COPY_USAGE[3]</a:t>
            </a:r>
            <a:r>
              <a:rPr dirty="0" sz="1350" spc="-15">
                <a:solidFill>
                  <a:srgbClr val="F4F0EA"/>
                </a:solidFill>
                <a:latin typeface="Arial"/>
                <a:cs typeface="Arial"/>
              </a:rPr>
              <a:t> </a:t>
            </a:r>
            <a:r>
              <a:rPr dirty="0" sz="1350" spc="-75">
                <a:solidFill>
                  <a:srgbClr val="F1B544"/>
                </a:solidFill>
                <a:latin typeface="Arial"/>
                <a:cs typeface="Arial"/>
              </a:rPr>
              <a:t>#</a:t>
            </a:r>
            <a:r>
              <a:rPr dirty="0" sz="1350" spc="-55">
                <a:solidFill>
                  <a:srgbClr val="F1B544"/>
                </a:solidFill>
                <a:latin typeface="Arial"/>
                <a:cs typeface="Arial"/>
              </a:rPr>
              <a:t> </a:t>
            </a:r>
            <a:r>
              <a:rPr dirty="0" sz="1350" spc="-20">
                <a:solidFill>
                  <a:srgbClr val="F1B544"/>
                </a:solidFill>
                <a:latin typeface="Arial"/>
                <a:cs typeface="Arial"/>
              </a:rPr>
              <a:t>1.23</a:t>
            </a:r>
            <a:endParaRPr sz="13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540"/>
              </a:spcBef>
            </a:pPr>
            <a:r>
              <a:rPr dirty="0" sz="1350" spc="-85">
                <a:solidFill>
                  <a:srgbClr val="F4F0EA"/>
                </a:solidFill>
                <a:latin typeface="Arial"/>
                <a:cs typeface="Arial"/>
              </a:rPr>
              <a:t>MEM_USAGE[3]</a:t>
            </a:r>
            <a:r>
              <a:rPr dirty="0" sz="1350" spc="-30">
                <a:solidFill>
                  <a:srgbClr val="F4F0EA"/>
                </a:solidFill>
                <a:latin typeface="Arial"/>
                <a:cs typeface="Arial"/>
              </a:rPr>
              <a:t> </a:t>
            </a:r>
            <a:r>
              <a:rPr dirty="0" sz="1350" spc="-75">
                <a:solidFill>
                  <a:srgbClr val="F1B544"/>
                </a:solidFill>
                <a:latin typeface="Arial"/>
                <a:cs typeface="Arial"/>
              </a:rPr>
              <a:t>#</a:t>
            </a:r>
            <a:r>
              <a:rPr dirty="0" sz="1350" spc="-15">
                <a:solidFill>
                  <a:srgbClr val="F1B544"/>
                </a:solidFill>
                <a:latin typeface="Arial"/>
                <a:cs typeface="Arial"/>
              </a:rPr>
              <a:t> </a:t>
            </a:r>
            <a:r>
              <a:rPr dirty="0" sz="1350" spc="-40">
                <a:solidFill>
                  <a:srgbClr val="F1B544"/>
                </a:solidFill>
                <a:latin typeface="Arial"/>
                <a:cs typeface="Arial"/>
              </a:rPr>
              <a:t>0.16,</a:t>
            </a:r>
            <a:r>
              <a:rPr dirty="0" sz="1350" spc="-35">
                <a:solidFill>
                  <a:srgbClr val="F1B544"/>
                </a:solidFill>
                <a:latin typeface="Arial"/>
                <a:cs typeface="Arial"/>
              </a:rPr>
              <a:t> </a:t>
            </a:r>
            <a:r>
              <a:rPr dirty="0" sz="1350" spc="-10">
                <a:solidFill>
                  <a:srgbClr val="F1B544"/>
                </a:solidFill>
                <a:latin typeface="Arial"/>
                <a:cs typeface="Arial"/>
              </a:rPr>
              <a:t>unchanged</a:t>
            </a:r>
            <a:endParaRPr sz="13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305"/>
              </a:spcBef>
            </a:pPr>
            <a:endParaRPr sz="13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dirty="0" sz="1350" spc="10">
                <a:solidFill>
                  <a:srgbClr val="C8D2E2"/>
                </a:solidFill>
                <a:latin typeface="Arial"/>
                <a:cs typeface="Arial"/>
              </a:rPr>
              <a:t>Use </a:t>
            </a:r>
            <a:r>
              <a:rPr dirty="0" sz="1350" spc="20">
                <a:solidFill>
                  <a:srgbClr val="C8D2E2"/>
                </a:solidFill>
                <a:latin typeface="Arial"/>
                <a:cs typeface="Arial"/>
              </a:rPr>
              <a:t>.copy() whenever</a:t>
            </a:r>
            <a:r>
              <a:rPr dirty="0" sz="1350" spc="-35">
                <a:solidFill>
                  <a:srgbClr val="C8D2E2"/>
                </a:solidFill>
                <a:latin typeface="Arial"/>
                <a:cs typeface="Arial"/>
              </a:rPr>
              <a:t> </a:t>
            </a:r>
            <a:r>
              <a:rPr dirty="0" sz="1350" spc="20">
                <a:solidFill>
                  <a:srgbClr val="C8D2E2"/>
                </a:solidFill>
                <a:latin typeface="Arial"/>
                <a:cs typeface="Arial"/>
              </a:rPr>
              <a:t>you</a:t>
            </a:r>
            <a:r>
              <a:rPr dirty="0" sz="1350" spc="70">
                <a:solidFill>
                  <a:srgbClr val="C8D2E2"/>
                </a:solidFill>
                <a:latin typeface="Arial"/>
                <a:cs typeface="Arial"/>
              </a:rPr>
              <a:t> </a:t>
            </a:r>
            <a:r>
              <a:rPr dirty="0" sz="1350" spc="20">
                <a:solidFill>
                  <a:srgbClr val="C8D2E2"/>
                </a:solidFill>
                <a:latin typeface="Arial"/>
                <a:cs typeface="Arial"/>
              </a:rPr>
              <a:t>want</a:t>
            </a:r>
            <a:r>
              <a:rPr dirty="0" sz="1350" spc="-10">
                <a:solidFill>
                  <a:srgbClr val="C8D2E2"/>
                </a:solidFill>
                <a:latin typeface="Arial"/>
                <a:cs typeface="Arial"/>
              </a:rPr>
              <a:t> </a:t>
            </a:r>
            <a:r>
              <a:rPr dirty="0" sz="1350" spc="70">
                <a:solidFill>
                  <a:srgbClr val="C8D2E2"/>
                </a:solidFill>
                <a:latin typeface="Arial"/>
                <a:cs typeface="Arial"/>
              </a:rPr>
              <a:t>to</a:t>
            </a:r>
            <a:r>
              <a:rPr dirty="0" sz="1350" spc="80">
                <a:solidFill>
                  <a:srgbClr val="C8D2E2"/>
                </a:solidFill>
                <a:latin typeface="Arial"/>
                <a:cs typeface="Arial"/>
              </a:rPr>
              <a:t> </a:t>
            </a:r>
            <a:r>
              <a:rPr dirty="0" sz="1350" spc="20">
                <a:solidFill>
                  <a:srgbClr val="C8D2E2"/>
                </a:solidFill>
                <a:latin typeface="Arial"/>
                <a:cs typeface="Arial"/>
              </a:rPr>
              <a:t>experiment</a:t>
            </a:r>
            <a:r>
              <a:rPr dirty="0" sz="1350" spc="-10">
                <a:solidFill>
                  <a:srgbClr val="C8D2E2"/>
                </a:solidFill>
                <a:latin typeface="Arial"/>
                <a:cs typeface="Arial"/>
              </a:rPr>
              <a:t> safely.</a:t>
            </a:r>
            <a:endParaRPr sz="135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-62"/>
            <a:ext cx="12189460" cy="6859905"/>
          </a:xfrm>
          <a:custGeom>
            <a:avLst/>
            <a:gdLst/>
            <a:ahLst/>
            <a:cxnLst/>
            <a:rect l="l" t="t" r="r" b="b"/>
            <a:pathLst>
              <a:path w="12189460" h="6859905">
                <a:moveTo>
                  <a:pt x="12188952" y="0"/>
                </a:moveTo>
                <a:lnTo>
                  <a:pt x="0" y="0"/>
                </a:lnTo>
                <a:lnTo>
                  <a:pt x="0" y="6859778"/>
                </a:lnTo>
                <a:lnTo>
                  <a:pt x="12188952" y="6859778"/>
                </a:lnTo>
                <a:lnTo>
                  <a:pt x="12188952" y="0"/>
                </a:lnTo>
                <a:close/>
              </a:path>
            </a:pathLst>
          </a:custGeom>
          <a:solidFill>
            <a:srgbClr val="EDF0F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800480" y="819721"/>
            <a:ext cx="1702435" cy="234315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1350" spc="65" b="1">
                <a:solidFill>
                  <a:srgbClr val="B45209"/>
                </a:solidFill>
                <a:latin typeface="Arial"/>
                <a:cs typeface="Arial"/>
              </a:rPr>
              <a:t>0</a:t>
            </a:r>
            <a:r>
              <a:rPr dirty="0" sz="1350" spc="-185" b="1">
                <a:solidFill>
                  <a:srgbClr val="B45209"/>
                </a:solidFill>
                <a:latin typeface="Arial"/>
                <a:cs typeface="Arial"/>
              </a:rPr>
              <a:t> </a:t>
            </a:r>
            <a:r>
              <a:rPr dirty="0" sz="1350" spc="65" b="1">
                <a:solidFill>
                  <a:srgbClr val="B45209"/>
                </a:solidFill>
                <a:latin typeface="Arial"/>
                <a:cs typeface="Arial"/>
              </a:rPr>
              <a:t>3</a:t>
            </a:r>
            <a:r>
              <a:rPr dirty="0" sz="1350" spc="290" b="1">
                <a:solidFill>
                  <a:srgbClr val="B45209"/>
                </a:solidFill>
                <a:latin typeface="Arial"/>
                <a:cs typeface="Arial"/>
              </a:rPr>
              <a:t> </a:t>
            </a:r>
            <a:r>
              <a:rPr dirty="0" sz="1350" b="1">
                <a:solidFill>
                  <a:srgbClr val="B45209"/>
                </a:solidFill>
                <a:latin typeface="Arial"/>
                <a:cs typeface="Arial"/>
              </a:rPr>
              <a:t>·</a:t>
            </a:r>
            <a:r>
              <a:rPr dirty="0" sz="1350" spc="335" b="1">
                <a:solidFill>
                  <a:srgbClr val="B45209"/>
                </a:solidFill>
                <a:latin typeface="Arial"/>
                <a:cs typeface="Arial"/>
              </a:rPr>
              <a:t> </a:t>
            </a:r>
            <a:r>
              <a:rPr dirty="0" sz="1350" b="1">
                <a:solidFill>
                  <a:srgbClr val="B45209"/>
                </a:solidFill>
                <a:latin typeface="Arial"/>
                <a:cs typeface="Arial"/>
              </a:rPr>
              <a:t>DA</a:t>
            </a:r>
            <a:r>
              <a:rPr dirty="0" sz="1350" spc="-150" b="1">
                <a:solidFill>
                  <a:srgbClr val="B45209"/>
                </a:solidFill>
                <a:latin typeface="Arial"/>
                <a:cs typeface="Arial"/>
              </a:rPr>
              <a:t> </a:t>
            </a:r>
            <a:r>
              <a:rPr dirty="0" sz="1350" b="1">
                <a:solidFill>
                  <a:srgbClr val="B45209"/>
                </a:solidFill>
                <a:latin typeface="Arial"/>
                <a:cs typeface="Arial"/>
              </a:rPr>
              <a:t>TA</a:t>
            </a:r>
            <a:r>
              <a:rPr dirty="0" sz="1350" spc="-150" b="1">
                <a:solidFill>
                  <a:srgbClr val="B45209"/>
                </a:solidFill>
                <a:latin typeface="Arial"/>
                <a:cs typeface="Arial"/>
              </a:rPr>
              <a:t> </a:t>
            </a:r>
            <a:r>
              <a:rPr dirty="0" sz="1350" spc="50" b="1">
                <a:solidFill>
                  <a:srgbClr val="B45209"/>
                </a:solidFill>
                <a:latin typeface="Arial"/>
                <a:cs typeface="Arial"/>
              </a:rPr>
              <a:t>FRA</a:t>
            </a:r>
            <a:r>
              <a:rPr dirty="0" sz="1350" spc="-145" b="1">
                <a:solidFill>
                  <a:srgbClr val="B45209"/>
                </a:solidFill>
                <a:latin typeface="Arial"/>
                <a:cs typeface="Arial"/>
              </a:rPr>
              <a:t> </a:t>
            </a:r>
            <a:r>
              <a:rPr dirty="0" sz="1350" spc="-20" b="1">
                <a:solidFill>
                  <a:srgbClr val="B45209"/>
                </a:solidFill>
                <a:latin typeface="Arial"/>
                <a:cs typeface="Arial"/>
              </a:rPr>
              <a:t>M</a:t>
            </a:r>
            <a:r>
              <a:rPr dirty="0" sz="1350" spc="-190" b="1">
                <a:solidFill>
                  <a:srgbClr val="B45209"/>
                </a:solidFill>
                <a:latin typeface="Arial"/>
                <a:cs typeface="Arial"/>
              </a:rPr>
              <a:t> </a:t>
            </a:r>
            <a:r>
              <a:rPr dirty="0" sz="1350" spc="-60" b="1">
                <a:solidFill>
                  <a:srgbClr val="B45209"/>
                </a:solidFill>
                <a:latin typeface="Arial"/>
                <a:cs typeface="Arial"/>
              </a:rPr>
              <a:t>E</a:t>
            </a:r>
            <a:endParaRPr sz="1350">
              <a:latin typeface="Arial"/>
              <a:cs typeface="Arial"/>
            </a:endParaRPr>
          </a:p>
        </p:txBody>
      </p:sp>
      <p:sp>
        <p:nvSpPr>
          <p:cNvPr id="4" name="object 4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/>
              <a:t>Two</a:t>
            </a:r>
            <a:r>
              <a:rPr dirty="0" spc="-55"/>
              <a:t> </a:t>
            </a:r>
            <a:r>
              <a:rPr dirty="0"/>
              <a:t>ways</a:t>
            </a:r>
            <a:r>
              <a:rPr dirty="0" spc="-75"/>
              <a:t> </a:t>
            </a:r>
            <a:r>
              <a:rPr dirty="0"/>
              <a:t>to</a:t>
            </a:r>
            <a:r>
              <a:rPr dirty="0" spc="-114"/>
              <a:t> </a:t>
            </a:r>
            <a:r>
              <a:rPr dirty="0"/>
              <a:t>get</a:t>
            </a:r>
            <a:r>
              <a:rPr dirty="0" spc="-130"/>
              <a:t> </a:t>
            </a:r>
            <a:r>
              <a:rPr dirty="0" spc="65"/>
              <a:t>the</a:t>
            </a:r>
            <a:r>
              <a:rPr dirty="0" spc="-114"/>
              <a:t> </a:t>
            </a:r>
            <a:r>
              <a:rPr dirty="0"/>
              <a:t>same</a:t>
            </a:r>
            <a:r>
              <a:rPr dirty="0" spc="-114"/>
              <a:t> </a:t>
            </a:r>
            <a:r>
              <a:rPr dirty="0" spc="45"/>
              <a:t>table</a:t>
            </a:r>
          </a:p>
        </p:txBody>
      </p:sp>
      <p:sp>
        <p:nvSpPr>
          <p:cNvPr id="5" name="object 5"/>
          <p:cNvSpPr/>
          <p:nvPr/>
        </p:nvSpPr>
        <p:spPr>
          <a:xfrm>
            <a:off x="813816" y="1911604"/>
            <a:ext cx="5587365" cy="2762250"/>
          </a:xfrm>
          <a:custGeom>
            <a:avLst/>
            <a:gdLst/>
            <a:ahLst/>
            <a:cxnLst/>
            <a:rect l="l" t="t" r="r" b="b"/>
            <a:pathLst>
              <a:path w="5587365" h="2762250">
                <a:moveTo>
                  <a:pt x="5485384" y="0"/>
                </a:moveTo>
                <a:lnTo>
                  <a:pt x="101650" y="0"/>
                </a:lnTo>
                <a:lnTo>
                  <a:pt x="62086" y="7981"/>
                </a:lnTo>
                <a:lnTo>
                  <a:pt x="29775" y="29749"/>
                </a:lnTo>
                <a:lnTo>
                  <a:pt x="7989" y="62043"/>
                </a:lnTo>
                <a:lnTo>
                  <a:pt x="0" y="101600"/>
                </a:lnTo>
                <a:lnTo>
                  <a:pt x="0" y="2660523"/>
                </a:lnTo>
                <a:lnTo>
                  <a:pt x="7989" y="2700079"/>
                </a:lnTo>
                <a:lnTo>
                  <a:pt x="29775" y="2732373"/>
                </a:lnTo>
                <a:lnTo>
                  <a:pt x="62086" y="2754141"/>
                </a:lnTo>
                <a:lnTo>
                  <a:pt x="101650" y="2762123"/>
                </a:lnTo>
                <a:lnTo>
                  <a:pt x="5485384" y="2762123"/>
                </a:lnTo>
                <a:lnTo>
                  <a:pt x="5524940" y="2754141"/>
                </a:lnTo>
                <a:lnTo>
                  <a:pt x="5557234" y="2732373"/>
                </a:lnTo>
                <a:lnTo>
                  <a:pt x="5579002" y="2700079"/>
                </a:lnTo>
                <a:lnTo>
                  <a:pt x="5586984" y="2660523"/>
                </a:lnTo>
                <a:lnTo>
                  <a:pt x="5586984" y="101600"/>
                </a:lnTo>
                <a:lnTo>
                  <a:pt x="5579002" y="62043"/>
                </a:lnTo>
                <a:lnTo>
                  <a:pt x="5557234" y="29749"/>
                </a:lnTo>
                <a:lnTo>
                  <a:pt x="5524940" y="7981"/>
                </a:lnTo>
                <a:lnTo>
                  <a:pt x="5485384" y="0"/>
                </a:lnTo>
                <a:close/>
              </a:path>
            </a:pathLst>
          </a:custGeom>
          <a:solidFill>
            <a:srgbClr val="13203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/>
          <p:nvPr/>
        </p:nvSpPr>
        <p:spPr>
          <a:xfrm>
            <a:off x="1054620" y="2098255"/>
            <a:ext cx="2890520" cy="15551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607695">
              <a:lnSpc>
                <a:spcPct val="129400"/>
              </a:lnSpc>
              <a:spcBef>
                <a:spcPts val="100"/>
              </a:spcBef>
            </a:pPr>
            <a:r>
              <a:rPr dirty="0" sz="1300" spc="-85">
                <a:solidFill>
                  <a:srgbClr val="9FAFC7"/>
                </a:solidFill>
                <a:latin typeface="Arial"/>
                <a:cs typeface="Arial"/>
              </a:rPr>
              <a:t>#</a:t>
            </a:r>
            <a:r>
              <a:rPr dirty="0" sz="1300" spc="-60">
                <a:solidFill>
                  <a:srgbClr val="9FAFC7"/>
                </a:solidFill>
                <a:latin typeface="Arial"/>
                <a:cs typeface="Arial"/>
              </a:rPr>
              <a:t> </a:t>
            </a:r>
            <a:r>
              <a:rPr dirty="0" sz="1300" spc="-65">
                <a:solidFill>
                  <a:srgbClr val="9FAFC7"/>
                </a:solidFill>
                <a:latin typeface="Arial"/>
                <a:cs typeface="Arial"/>
              </a:rPr>
              <a:t>1.</a:t>
            </a:r>
            <a:r>
              <a:rPr dirty="0" sz="1300" spc="-20">
                <a:solidFill>
                  <a:srgbClr val="9FAFC7"/>
                </a:solidFill>
                <a:latin typeface="Arial"/>
                <a:cs typeface="Arial"/>
              </a:rPr>
              <a:t> </a:t>
            </a:r>
            <a:r>
              <a:rPr dirty="0" sz="1300" spc="-85">
                <a:solidFill>
                  <a:srgbClr val="9FAFC7"/>
                </a:solidFill>
                <a:latin typeface="Arial"/>
                <a:cs typeface="Arial"/>
              </a:rPr>
              <a:t>From</a:t>
            </a:r>
            <a:r>
              <a:rPr dirty="0" sz="1300" spc="-90">
                <a:solidFill>
                  <a:srgbClr val="9FAFC7"/>
                </a:solidFill>
                <a:latin typeface="Arial"/>
                <a:cs typeface="Arial"/>
              </a:rPr>
              <a:t> </a:t>
            </a:r>
            <a:r>
              <a:rPr dirty="0" sz="1300" spc="-114">
                <a:solidFill>
                  <a:srgbClr val="9FAFC7"/>
                </a:solidFill>
                <a:latin typeface="Arial"/>
                <a:cs typeface="Arial"/>
              </a:rPr>
              <a:t>a</a:t>
            </a:r>
            <a:r>
              <a:rPr dirty="0" sz="1300" spc="-30">
                <a:solidFill>
                  <a:srgbClr val="9FAFC7"/>
                </a:solidFill>
                <a:latin typeface="Arial"/>
                <a:cs typeface="Arial"/>
              </a:rPr>
              <a:t> </a:t>
            </a:r>
            <a:r>
              <a:rPr dirty="0" sz="1300" spc="-60">
                <a:solidFill>
                  <a:srgbClr val="9FAFC7"/>
                </a:solidFill>
                <a:latin typeface="Arial"/>
                <a:cs typeface="Arial"/>
              </a:rPr>
              <a:t>nested</a:t>
            </a:r>
            <a:r>
              <a:rPr dirty="0" sz="1300" spc="-95">
                <a:solidFill>
                  <a:srgbClr val="9FAFC7"/>
                </a:solidFill>
                <a:latin typeface="Arial"/>
                <a:cs typeface="Arial"/>
              </a:rPr>
              <a:t> </a:t>
            </a:r>
            <a:r>
              <a:rPr dirty="0" sz="1300" spc="-20">
                <a:solidFill>
                  <a:srgbClr val="9FAFC7"/>
                </a:solidFill>
                <a:latin typeface="Arial"/>
                <a:cs typeface="Arial"/>
              </a:rPr>
              <a:t>list </a:t>
            </a:r>
            <a:r>
              <a:rPr dirty="0" sz="1300" spc="-65">
                <a:solidFill>
                  <a:srgbClr val="F4F0EA"/>
                </a:solidFill>
                <a:latin typeface="Arial"/>
                <a:cs typeface="Arial"/>
              </a:rPr>
              <a:t>source_table</a:t>
            </a:r>
            <a:r>
              <a:rPr dirty="0" sz="1300" spc="-45">
                <a:solidFill>
                  <a:srgbClr val="F4F0EA"/>
                </a:solidFill>
                <a:latin typeface="Arial"/>
                <a:cs typeface="Arial"/>
              </a:rPr>
              <a:t> </a:t>
            </a:r>
            <a:r>
              <a:rPr dirty="0" sz="1300" spc="-130">
                <a:solidFill>
                  <a:srgbClr val="F4F0EA"/>
                </a:solidFill>
                <a:latin typeface="Arial"/>
                <a:cs typeface="Arial"/>
              </a:rPr>
              <a:t>=</a:t>
            </a:r>
            <a:r>
              <a:rPr dirty="0" sz="1300" spc="35">
                <a:solidFill>
                  <a:srgbClr val="F4F0EA"/>
                </a:solidFill>
                <a:latin typeface="Arial"/>
                <a:cs typeface="Arial"/>
              </a:rPr>
              <a:t> </a:t>
            </a:r>
            <a:r>
              <a:rPr dirty="0" sz="1300" spc="-25">
                <a:solidFill>
                  <a:srgbClr val="F4F0EA"/>
                </a:solidFill>
                <a:latin typeface="Arial"/>
                <a:cs typeface="Arial"/>
              </a:rPr>
              <a:t>[['Apple',</a:t>
            </a:r>
            <a:r>
              <a:rPr dirty="0" sz="1300" spc="-5">
                <a:solidFill>
                  <a:srgbClr val="F4F0EA"/>
                </a:solidFill>
                <a:latin typeface="Arial"/>
                <a:cs typeface="Arial"/>
              </a:rPr>
              <a:t> </a:t>
            </a:r>
            <a:r>
              <a:rPr dirty="0" sz="1300" spc="-80">
                <a:solidFill>
                  <a:srgbClr val="F4F0EA"/>
                </a:solidFill>
                <a:latin typeface="Arial"/>
                <a:cs typeface="Arial"/>
              </a:rPr>
              <a:t>50,</a:t>
            </a:r>
            <a:r>
              <a:rPr dirty="0" sz="1300" spc="-5">
                <a:solidFill>
                  <a:srgbClr val="F4F0EA"/>
                </a:solidFill>
                <a:latin typeface="Arial"/>
                <a:cs typeface="Arial"/>
              </a:rPr>
              <a:t> </a:t>
            </a:r>
            <a:r>
              <a:rPr dirty="0" sz="1300" spc="-30">
                <a:solidFill>
                  <a:srgbClr val="F4F0EA"/>
                </a:solidFill>
                <a:latin typeface="Arial"/>
                <a:cs typeface="Arial"/>
              </a:rPr>
              <a:t>155],</a:t>
            </a:r>
            <a:endParaRPr sz="13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385"/>
              </a:spcBef>
            </a:pPr>
            <a:r>
              <a:rPr dirty="0" sz="1300" spc="-30">
                <a:solidFill>
                  <a:srgbClr val="F4F0EA"/>
                </a:solidFill>
                <a:latin typeface="Arial"/>
                <a:cs typeface="Arial"/>
              </a:rPr>
              <a:t>['Berry',</a:t>
            </a:r>
            <a:r>
              <a:rPr dirty="0" sz="1300" spc="-20">
                <a:solidFill>
                  <a:srgbClr val="F4F0EA"/>
                </a:solidFill>
                <a:latin typeface="Arial"/>
                <a:cs typeface="Arial"/>
              </a:rPr>
              <a:t> </a:t>
            </a:r>
            <a:r>
              <a:rPr dirty="0" sz="1300" spc="-75">
                <a:solidFill>
                  <a:srgbClr val="F4F0EA"/>
                </a:solidFill>
                <a:latin typeface="Arial"/>
                <a:cs typeface="Arial"/>
              </a:rPr>
              <a:t>46,</a:t>
            </a:r>
            <a:r>
              <a:rPr dirty="0" sz="1300" spc="-20">
                <a:solidFill>
                  <a:srgbClr val="F4F0EA"/>
                </a:solidFill>
                <a:latin typeface="Arial"/>
                <a:cs typeface="Arial"/>
              </a:rPr>
              <a:t> </a:t>
            </a:r>
            <a:r>
              <a:rPr dirty="0" sz="1300" spc="-50">
                <a:solidFill>
                  <a:srgbClr val="F4F0EA"/>
                </a:solidFill>
                <a:latin typeface="Arial"/>
                <a:cs typeface="Arial"/>
              </a:rPr>
              <a:t>154],</a:t>
            </a:r>
            <a:r>
              <a:rPr dirty="0" sz="1300" spc="-15">
                <a:solidFill>
                  <a:srgbClr val="F4F0EA"/>
                </a:solidFill>
                <a:latin typeface="Arial"/>
                <a:cs typeface="Arial"/>
              </a:rPr>
              <a:t> </a:t>
            </a:r>
            <a:r>
              <a:rPr dirty="0" sz="1300" spc="-60">
                <a:solidFill>
                  <a:srgbClr val="F4F0EA"/>
                </a:solidFill>
                <a:latin typeface="Arial"/>
                <a:cs typeface="Arial"/>
              </a:rPr>
              <a:t>['Coco',</a:t>
            </a:r>
            <a:r>
              <a:rPr dirty="0" sz="1300" spc="-20">
                <a:solidFill>
                  <a:srgbClr val="F4F0EA"/>
                </a:solidFill>
                <a:latin typeface="Arial"/>
                <a:cs typeface="Arial"/>
              </a:rPr>
              <a:t> </a:t>
            </a:r>
            <a:r>
              <a:rPr dirty="0" sz="1300" spc="-45">
                <a:solidFill>
                  <a:srgbClr val="F4F0EA"/>
                </a:solidFill>
                <a:latin typeface="Arial"/>
                <a:cs typeface="Arial"/>
              </a:rPr>
              <a:t>56,</a:t>
            </a:r>
            <a:r>
              <a:rPr dirty="0" sz="1300" spc="-95">
                <a:solidFill>
                  <a:srgbClr val="F4F0EA"/>
                </a:solidFill>
                <a:latin typeface="Arial"/>
                <a:cs typeface="Arial"/>
              </a:rPr>
              <a:t> </a:t>
            </a:r>
            <a:r>
              <a:rPr dirty="0" sz="1300" spc="-20">
                <a:solidFill>
                  <a:srgbClr val="F4F0EA"/>
                </a:solidFill>
                <a:latin typeface="Arial"/>
                <a:cs typeface="Arial"/>
              </a:rPr>
              <a:t>156],</a:t>
            </a:r>
            <a:endParaRPr sz="13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459"/>
              </a:spcBef>
            </a:pPr>
            <a:r>
              <a:rPr dirty="0" sz="1300" spc="-30">
                <a:solidFill>
                  <a:srgbClr val="F4F0EA"/>
                </a:solidFill>
                <a:latin typeface="Arial"/>
                <a:cs typeface="Arial"/>
              </a:rPr>
              <a:t>['Dunkin',</a:t>
            </a:r>
            <a:r>
              <a:rPr dirty="0" sz="1300" spc="-75">
                <a:solidFill>
                  <a:srgbClr val="F4F0EA"/>
                </a:solidFill>
                <a:latin typeface="Arial"/>
                <a:cs typeface="Arial"/>
              </a:rPr>
              <a:t> </a:t>
            </a:r>
            <a:r>
              <a:rPr dirty="0" sz="1300" spc="-55">
                <a:solidFill>
                  <a:srgbClr val="F4F0EA"/>
                </a:solidFill>
                <a:latin typeface="Arial"/>
                <a:cs typeface="Arial"/>
              </a:rPr>
              <a:t>44,</a:t>
            </a:r>
            <a:r>
              <a:rPr dirty="0" sz="1300" spc="-75">
                <a:solidFill>
                  <a:srgbClr val="F4F0EA"/>
                </a:solidFill>
                <a:latin typeface="Arial"/>
                <a:cs typeface="Arial"/>
              </a:rPr>
              <a:t> </a:t>
            </a:r>
            <a:r>
              <a:rPr dirty="0" sz="1300" spc="-40">
                <a:solidFill>
                  <a:srgbClr val="F4F0EA"/>
                </a:solidFill>
                <a:latin typeface="Arial"/>
                <a:cs typeface="Arial"/>
              </a:rPr>
              <a:t>167],</a:t>
            </a:r>
            <a:r>
              <a:rPr dirty="0" sz="1300" spc="-75">
                <a:solidFill>
                  <a:srgbClr val="F4F0EA"/>
                </a:solidFill>
                <a:latin typeface="Arial"/>
                <a:cs typeface="Arial"/>
              </a:rPr>
              <a:t> </a:t>
            </a:r>
            <a:r>
              <a:rPr dirty="0" sz="1300" spc="-35">
                <a:solidFill>
                  <a:srgbClr val="F4F0EA"/>
                </a:solidFill>
                <a:latin typeface="Arial"/>
                <a:cs typeface="Arial"/>
              </a:rPr>
              <a:t>['Ella',</a:t>
            </a:r>
            <a:r>
              <a:rPr dirty="0" sz="1300" spc="-75">
                <a:solidFill>
                  <a:srgbClr val="F4F0EA"/>
                </a:solidFill>
                <a:latin typeface="Arial"/>
                <a:cs typeface="Arial"/>
              </a:rPr>
              <a:t> </a:t>
            </a:r>
            <a:r>
              <a:rPr dirty="0" sz="1300" spc="-55">
                <a:solidFill>
                  <a:srgbClr val="F4F0EA"/>
                </a:solidFill>
                <a:latin typeface="Arial"/>
                <a:cs typeface="Arial"/>
              </a:rPr>
              <a:t>45,</a:t>
            </a:r>
            <a:r>
              <a:rPr dirty="0" sz="1300" spc="-75">
                <a:solidFill>
                  <a:srgbClr val="F4F0EA"/>
                </a:solidFill>
                <a:latin typeface="Arial"/>
                <a:cs typeface="Arial"/>
              </a:rPr>
              <a:t> </a:t>
            </a:r>
            <a:r>
              <a:rPr dirty="0" sz="1300" spc="-20">
                <a:solidFill>
                  <a:srgbClr val="F4F0EA"/>
                </a:solidFill>
                <a:latin typeface="Arial"/>
                <a:cs typeface="Arial"/>
              </a:rPr>
              <a:t>150]]</a:t>
            </a:r>
            <a:endParaRPr sz="1300">
              <a:latin typeface="Arial"/>
              <a:cs typeface="Arial"/>
            </a:endParaRPr>
          </a:p>
          <a:p>
            <a:pPr marL="12700" marR="5080">
              <a:lnSpc>
                <a:spcPct val="129400"/>
              </a:lnSpc>
            </a:pPr>
            <a:r>
              <a:rPr dirty="0" sz="1300" spc="-85">
                <a:solidFill>
                  <a:srgbClr val="F4F0EA"/>
                </a:solidFill>
                <a:latin typeface="Arial"/>
                <a:cs typeface="Arial"/>
              </a:rPr>
              <a:t>avatars</a:t>
            </a:r>
            <a:r>
              <a:rPr dirty="0" sz="1300" spc="10">
                <a:solidFill>
                  <a:srgbClr val="F4F0EA"/>
                </a:solidFill>
                <a:latin typeface="Arial"/>
                <a:cs typeface="Arial"/>
              </a:rPr>
              <a:t> </a:t>
            </a:r>
            <a:r>
              <a:rPr dirty="0" sz="1300" spc="-130">
                <a:solidFill>
                  <a:srgbClr val="F4F0EA"/>
                </a:solidFill>
                <a:latin typeface="Arial"/>
                <a:cs typeface="Arial"/>
              </a:rPr>
              <a:t>=</a:t>
            </a:r>
            <a:r>
              <a:rPr dirty="0" sz="1300" spc="-55">
                <a:solidFill>
                  <a:srgbClr val="F4F0EA"/>
                </a:solidFill>
                <a:latin typeface="Arial"/>
                <a:cs typeface="Arial"/>
              </a:rPr>
              <a:t> </a:t>
            </a:r>
            <a:r>
              <a:rPr dirty="0" sz="1300" spc="-70">
                <a:solidFill>
                  <a:srgbClr val="F4F0EA"/>
                </a:solidFill>
                <a:latin typeface="Arial"/>
                <a:cs typeface="Arial"/>
              </a:rPr>
              <a:t>pandas.DataFrame(source_table, </a:t>
            </a:r>
            <a:r>
              <a:rPr dirty="0" sz="1300" spc="-60">
                <a:solidFill>
                  <a:srgbClr val="F4F0EA"/>
                </a:solidFill>
                <a:latin typeface="Arial"/>
                <a:cs typeface="Arial"/>
              </a:rPr>
              <a:t>columns=['Name',</a:t>
            </a:r>
            <a:r>
              <a:rPr dirty="0" sz="1300" spc="20">
                <a:solidFill>
                  <a:srgbClr val="F4F0EA"/>
                </a:solidFill>
                <a:latin typeface="Arial"/>
                <a:cs typeface="Arial"/>
              </a:rPr>
              <a:t> </a:t>
            </a:r>
            <a:r>
              <a:rPr dirty="0" sz="1300" spc="-35">
                <a:solidFill>
                  <a:srgbClr val="F4F0EA"/>
                </a:solidFill>
                <a:latin typeface="Arial"/>
                <a:cs typeface="Arial"/>
              </a:rPr>
              <a:t>'Weight',</a:t>
            </a:r>
            <a:r>
              <a:rPr dirty="0" sz="1300" spc="20">
                <a:solidFill>
                  <a:srgbClr val="F4F0EA"/>
                </a:solidFill>
                <a:latin typeface="Arial"/>
                <a:cs typeface="Arial"/>
              </a:rPr>
              <a:t> </a:t>
            </a:r>
            <a:r>
              <a:rPr dirty="0" sz="1300" spc="-10">
                <a:solidFill>
                  <a:srgbClr val="F4F0EA"/>
                </a:solidFill>
                <a:latin typeface="Arial"/>
                <a:cs typeface="Arial"/>
              </a:rPr>
              <a:t>'Height'])</a:t>
            </a:r>
            <a:endParaRPr sz="1300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054620" y="3874858"/>
            <a:ext cx="3128010" cy="538480"/>
          </a:xfrm>
          <a:prstGeom prst="rect">
            <a:avLst/>
          </a:prstGeom>
        </p:spPr>
        <p:txBody>
          <a:bodyPr wrap="square" lIns="0" tIns="7112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60"/>
              </a:spcBef>
            </a:pPr>
            <a:r>
              <a:rPr dirty="0" sz="1300" spc="-85">
                <a:solidFill>
                  <a:srgbClr val="9FAFC7"/>
                </a:solidFill>
                <a:latin typeface="Arial"/>
                <a:cs typeface="Arial"/>
              </a:rPr>
              <a:t>#</a:t>
            </a:r>
            <a:r>
              <a:rPr dirty="0" sz="1300" spc="-65">
                <a:solidFill>
                  <a:srgbClr val="9FAFC7"/>
                </a:solidFill>
                <a:latin typeface="Arial"/>
                <a:cs typeface="Arial"/>
              </a:rPr>
              <a:t> 2.</a:t>
            </a:r>
            <a:r>
              <a:rPr dirty="0" sz="1300" spc="-30">
                <a:solidFill>
                  <a:srgbClr val="9FAFC7"/>
                </a:solidFill>
                <a:latin typeface="Arial"/>
                <a:cs typeface="Arial"/>
              </a:rPr>
              <a:t> </a:t>
            </a:r>
            <a:r>
              <a:rPr dirty="0" sz="1300" spc="-85">
                <a:solidFill>
                  <a:srgbClr val="9FAFC7"/>
                </a:solidFill>
                <a:latin typeface="Arial"/>
                <a:cs typeface="Arial"/>
              </a:rPr>
              <a:t>From</a:t>
            </a:r>
            <a:r>
              <a:rPr dirty="0" sz="1300" spc="-90">
                <a:solidFill>
                  <a:srgbClr val="9FAFC7"/>
                </a:solidFill>
                <a:latin typeface="Arial"/>
                <a:cs typeface="Arial"/>
              </a:rPr>
              <a:t> </a:t>
            </a:r>
            <a:r>
              <a:rPr dirty="0" sz="1300" spc="-114">
                <a:solidFill>
                  <a:srgbClr val="9FAFC7"/>
                </a:solidFill>
                <a:latin typeface="Arial"/>
                <a:cs typeface="Arial"/>
              </a:rPr>
              <a:t>a</a:t>
            </a:r>
            <a:r>
              <a:rPr dirty="0" sz="1300" spc="-35">
                <a:solidFill>
                  <a:srgbClr val="9FAFC7"/>
                </a:solidFill>
                <a:latin typeface="Arial"/>
                <a:cs typeface="Arial"/>
              </a:rPr>
              <a:t> </a:t>
            </a:r>
            <a:r>
              <a:rPr dirty="0" sz="1300" spc="-225">
                <a:solidFill>
                  <a:srgbClr val="9FAFC7"/>
                </a:solidFill>
                <a:latin typeface="Arial"/>
                <a:cs typeface="Arial"/>
              </a:rPr>
              <a:t>CSV</a:t>
            </a:r>
            <a:r>
              <a:rPr dirty="0" sz="1300" spc="-80">
                <a:solidFill>
                  <a:srgbClr val="9FAFC7"/>
                </a:solidFill>
                <a:latin typeface="Arial"/>
                <a:cs typeface="Arial"/>
              </a:rPr>
              <a:t> </a:t>
            </a:r>
            <a:r>
              <a:rPr dirty="0" sz="1300" spc="-20">
                <a:solidFill>
                  <a:srgbClr val="9FAFC7"/>
                </a:solidFill>
                <a:latin typeface="Arial"/>
                <a:cs typeface="Arial"/>
              </a:rPr>
              <a:t>file</a:t>
            </a:r>
            <a:endParaRPr sz="13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455"/>
              </a:spcBef>
            </a:pPr>
            <a:r>
              <a:rPr dirty="0" sz="1300" spc="-75">
                <a:solidFill>
                  <a:srgbClr val="F4F0EA"/>
                </a:solidFill>
                <a:latin typeface="Arial"/>
                <a:cs typeface="Arial"/>
              </a:rPr>
              <a:t>avatars_read</a:t>
            </a:r>
            <a:r>
              <a:rPr dirty="0" sz="1300" spc="-20">
                <a:solidFill>
                  <a:srgbClr val="F4F0EA"/>
                </a:solidFill>
                <a:latin typeface="Arial"/>
                <a:cs typeface="Arial"/>
              </a:rPr>
              <a:t> </a:t>
            </a:r>
            <a:r>
              <a:rPr dirty="0" sz="1300" spc="-130">
                <a:solidFill>
                  <a:srgbClr val="F4F0EA"/>
                </a:solidFill>
                <a:latin typeface="Arial"/>
                <a:cs typeface="Arial"/>
              </a:rPr>
              <a:t>=</a:t>
            </a:r>
            <a:r>
              <a:rPr dirty="0" sz="1300" spc="-55">
                <a:solidFill>
                  <a:srgbClr val="F4F0EA"/>
                </a:solidFill>
                <a:latin typeface="Arial"/>
                <a:cs typeface="Arial"/>
              </a:rPr>
              <a:t> </a:t>
            </a:r>
            <a:r>
              <a:rPr dirty="0" sz="1300" spc="-70">
                <a:solidFill>
                  <a:srgbClr val="F4F0EA"/>
                </a:solidFill>
                <a:latin typeface="Arial"/>
                <a:cs typeface="Arial"/>
              </a:rPr>
              <a:t>pandas.read_csv("avatars.csv")</a:t>
            </a:r>
            <a:endParaRPr sz="130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800480" y="4788420"/>
            <a:ext cx="5730240" cy="53848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 marR="5080">
              <a:lnSpc>
                <a:spcPct val="124600"/>
              </a:lnSpc>
              <a:spcBef>
                <a:spcPts val="95"/>
              </a:spcBef>
            </a:pPr>
            <a:r>
              <a:rPr dirty="0" sz="1350">
                <a:solidFill>
                  <a:srgbClr val="3C495C"/>
                </a:solidFill>
                <a:latin typeface="Arial"/>
                <a:cs typeface="Arial"/>
              </a:rPr>
              <a:t>read_csv</a:t>
            </a:r>
            <a:r>
              <a:rPr dirty="0" sz="1350" spc="80">
                <a:solidFill>
                  <a:srgbClr val="3C495C"/>
                </a:solidFill>
                <a:latin typeface="Arial"/>
                <a:cs typeface="Arial"/>
              </a:rPr>
              <a:t> </a:t>
            </a:r>
            <a:r>
              <a:rPr dirty="0" sz="1350">
                <a:solidFill>
                  <a:srgbClr val="3C495C"/>
                </a:solidFill>
                <a:latin typeface="Arial"/>
                <a:cs typeface="Arial"/>
              </a:rPr>
              <a:t>takes</a:t>
            </a:r>
            <a:r>
              <a:rPr dirty="0" sz="1350" spc="85">
                <a:solidFill>
                  <a:srgbClr val="3C495C"/>
                </a:solidFill>
                <a:latin typeface="Arial"/>
                <a:cs typeface="Arial"/>
              </a:rPr>
              <a:t> </a:t>
            </a:r>
            <a:r>
              <a:rPr dirty="0" sz="1350" spc="50">
                <a:solidFill>
                  <a:srgbClr val="3C495C"/>
                </a:solidFill>
                <a:latin typeface="Arial"/>
                <a:cs typeface="Arial"/>
              </a:rPr>
              <a:t>the</a:t>
            </a:r>
            <a:r>
              <a:rPr dirty="0" sz="1350" spc="75">
                <a:solidFill>
                  <a:srgbClr val="3C495C"/>
                </a:solidFill>
                <a:latin typeface="Arial"/>
                <a:cs typeface="Arial"/>
              </a:rPr>
              <a:t> </a:t>
            </a:r>
            <a:r>
              <a:rPr dirty="0" sz="1350">
                <a:solidFill>
                  <a:srgbClr val="3C495C"/>
                </a:solidFill>
                <a:latin typeface="Arial"/>
                <a:cs typeface="Arial"/>
              </a:rPr>
              <a:t>column</a:t>
            </a:r>
            <a:r>
              <a:rPr dirty="0" sz="1350" spc="40">
                <a:solidFill>
                  <a:srgbClr val="3C495C"/>
                </a:solidFill>
                <a:latin typeface="Arial"/>
                <a:cs typeface="Arial"/>
              </a:rPr>
              <a:t> </a:t>
            </a:r>
            <a:r>
              <a:rPr dirty="0" sz="1350">
                <a:solidFill>
                  <a:srgbClr val="3C495C"/>
                </a:solidFill>
                <a:latin typeface="Arial"/>
                <a:cs typeface="Arial"/>
              </a:rPr>
              <a:t>names</a:t>
            </a:r>
            <a:r>
              <a:rPr dirty="0" sz="1350" spc="85">
                <a:solidFill>
                  <a:srgbClr val="3C495C"/>
                </a:solidFill>
                <a:latin typeface="Arial"/>
                <a:cs typeface="Arial"/>
              </a:rPr>
              <a:t> </a:t>
            </a:r>
            <a:r>
              <a:rPr dirty="0" sz="1350" spc="65">
                <a:solidFill>
                  <a:srgbClr val="3C495C"/>
                </a:solidFill>
                <a:latin typeface="Arial"/>
                <a:cs typeface="Arial"/>
              </a:rPr>
              <a:t>from</a:t>
            </a:r>
            <a:r>
              <a:rPr dirty="0" sz="1350" spc="55">
                <a:solidFill>
                  <a:srgbClr val="3C495C"/>
                </a:solidFill>
                <a:latin typeface="Arial"/>
                <a:cs typeface="Arial"/>
              </a:rPr>
              <a:t> </a:t>
            </a:r>
            <a:r>
              <a:rPr dirty="0" sz="1350" spc="50">
                <a:solidFill>
                  <a:srgbClr val="3C495C"/>
                </a:solidFill>
                <a:latin typeface="Arial"/>
                <a:cs typeface="Arial"/>
              </a:rPr>
              <a:t>the</a:t>
            </a:r>
            <a:r>
              <a:rPr dirty="0" sz="1350" spc="75">
                <a:solidFill>
                  <a:srgbClr val="3C495C"/>
                </a:solidFill>
                <a:latin typeface="Arial"/>
                <a:cs typeface="Arial"/>
              </a:rPr>
              <a:t> </a:t>
            </a:r>
            <a:r>
              <a:rPr dirty="0" sz="1350">
                <a:solidFill>
                  <a:srgbClr val="3C495C"/>
                </a:solidFill>
                <a:latin typeface="Arial"/>
                <a:cs typeface="Arial"/>
              </a:rPr>
              <a:t>file's</a:t>
            </a:r>
            <a:r>
              <a:rPr dirty="0" sz="1350" spc="85">
                <a:solidFill>
                  <a:srgbClr val="3C495C"/>
                </a:solidFill>
                <a:latin typeface="Arial"/>
                <a:cs typeface="Arial"/>
              </a:rPr>
              <a:t> </a:t>
            </a:r>
            <a:r>
              <a:rPr dirty="0" sz="1350" spc="60">
                <a:solidFill>
                  <a:srgbClr val="3C495C"/>
                </a:solidFill>
                <a:latin typeface="Arial"/>
                <a:cs typeface="Arial"/>
              </a:rPr>
              <a:t>first</a:t>
            </a:r>
            <a:r>
              <a:rPr dirty="0" sz="1350" spc="50">
                <a:solidFill>
                  <a:srgbClr val="3C495C"/>
                </a:solidFill>
                <a:latin typeface="Arial"/>
                <a:cs typeface="Arial"/>
              </a:rPr>
              <a:t> </a:t>
            </a:r>
            <a:r>
              <a:rPr dirty="0" sz="1350">
                <a:solidFill>
                  <a:srgbClr val="3C495C"/>
                </a:solidFill>
                <a:latin typeface="Arial"/>
                <a:cs typeface="Arial"/>
              </a:rPr>
              <a:t>line</a:t>
            </a:r>
            <a:r>
              <a:rPr dirty="0" sz="1350" spc="70">
                <a:solidFill>
                  <a:srgbClr val="3C495C"/>
                </a:solidFill>
                <a:latin typeface="Arial"/>
                <a:cs typeface="Arial"/>
              </a:rPr>
              <a:t> </a:t>
            </a:r>
            <a:r>
              <a:rPr dirty="0" sz="1350">
                <a:solidFill>
                  <a:srgbClr val="3C495C"/>
                </a:solidFill>
                <a:latin typeface="Arial"/>
                <a:cs typeface="Arial"/>
              </a:rPr>
              <a:t>and</a:t>
            </a:r>
            <a:r>
              <a:rPr dirty="0" sz="1350" spc="114">
                <a:solidFill>
                  <a:srgbClr val="3C495C"/>
                </a:solidFill>
                <a:latin typeface="Arial"/>
                <a:cs typeface="Arial"/>
              </a:rPr>
              <a:t> </a:t>
            </a:r>
            <a:r>
              <a:rPr dirty="0" sz="1350">
                <a:solidFill>
                  <a:srgbClr val="3C495C"/>
                </a:solidFill>
                <a:latin typeface="Arial"/>
                <a:cs typeface="Arial"/>
              </a:rPr>
              <a:t>works</a:t>
            </a:r>
            <a:r>
              <a:rPr dirty="0" sz="1350" spc="90">
                <a:solidFill>
                  <a:srgbClr val="3C495C"/>
                </a:solidFill>
                <a:latin typeface="Arial"/>
                <a:cs typeface="Arial"/>
              </a:rPr>
              <a:t> </a:t>
            </a:r>
            <a:r>
              <a:rPr dirty="0" sz="1350" spc="30">
                <a:solidFill>
                  <a:srgbClr val="3C495C"/>
                </a:solidFill>
                <a:latin typeface="Arial"/>
                <a:cs typeface="Arial"/>
              </a:rPr>
              <a:t>out </a:t>
            </a:r>
            <a:r>
              <a:rPr dirty="0" sz="1350">
                <a:solidFill>
                  <a:srgbClr val="3C495C"/>
                </a:solidFill>
                <a:latin typeface="Arial"/>
                <a:cs typeface="Arial"/>
              </a:rPr>
              <a:t>each</a:t>
            </a:r>
            <a:r>
              <a:rPr dirty="0" sz="1350" spc="-45">
                <a:solidFill>
                  <a:srgbClr val="3C495C"/>
                </a:solidFill>
                <a:latin typeface="Arial"/>
                <a:cs typeface="Arial"/>
              </a:rPr>
              <a:t> </a:t>
            </a:r>
            <a:r>
              <a:rPr dirty="0" sz="1350" spc="45">
                <a:solidFill>
                  <a:srgbClr val="3C495C"/>
                </a:solidFill>
                <a:latin typeface="Arial"/>
                <a:cs typeface="Arial"/>
              </a:rPr>
              <a:t>column's</a:t>
            </a:r>
            <a:r>
              <a:rPr dirty="0" sz="1350" spc="-5">
                <a:solidFill>
                  <a:srgbClr val="3C495C"/>
                </a:solidFill>
                <a:latin typeface="Arial"/>
                <a:cs typeface="Arial"/>
              </a:rPr>
              <a:t> </a:t>
            </a:r>
            <a:r>
              <a:rPr dirty="0" sz="1350" spc="-20">
                <a:solidFill>
                  <a:srgbClr val="3C495C"/>
                </a:solidFill>
                <a:latin typeface="Arial"/>
                <a:cs typeface="Arial"/>
              </a:rPr>
              <a:t>type.</a:t>
            </a:r>
            <a:endParaRPr sz="1350">
              <a:latin typeface="Arial"/>
              <a:cs typeface="Arial"/>
            </a:endParaRPr>
          </a:p>
        </p:txBody>
      </p:sp>
      <p:grpSp>
        <p:nvGrpSpPr>
          <p:cNvPr id="9" name="object 9"/>
          <p:cNvGrpSpPr/>
          <p:nvPr/>
        </p:nvGrpSpPr>
        <p:grpSpPr>
          <a:xfrm>
            <a:off x="6703948" y="1913001"/>
            <a:ext cx="4679315" cy="3408679"/>
            <a:chOff x="6703948" y="1913001"/>
            <a:chExt cx="4679315" cy="3408679"/>
          </a:xfrm>
        </p:grpSpPr>
        <p:sp>
          <p:nvSpPr>
            <p:cNvPr id="10" name="object 10"/>
            <p:cNvSpPr/>
            <p:nvPr/>
          </p:nvSpPr>
          <p:spPr>
            <a:xfrm>
              <a:off x="6707123" y="1916176"/>
              <a:ext cx="4672965" cy="3402329"/>
            </a:xfrm>
            <a:custGeom>
              <a:avLst/>
              <a:gdLst/>
              <a:ahLst/>
              <a:cxnLst/>
              <a:rect l="l" t="t" r="r" b="b"/>
              <a:pathLst>
                <a:path w="4672965" h="3402329">
                  <a:moveTo>
                    <a:pt x="4574285" y="0"/>
                  </a:moveTo>
                  <a:lnTo>
                    <a:pt x="98298" y="0"/>
                  </a:lnTo>
                  <a:lnTo>
                    <a:pt x="60061" y="7733"/>
                  </a:lnTo>
                  <a:lnTo>
                    <a:pt x="28813" y="28813"/>
                  </a:lnTo>
                  <a:lnTo>
                    <a:pt x="7733" y="60061"/>
                  </a:lnTo>
                  <a:lnTo>
                    <a:pt x="0" y="98298"/>
                  </a:lnTo>
                  <a:lnTo>
                    <a:pt x="0" y="3304031"/>
                  </a:lnTo>
                  <a:lnTo>
                    <a:pt x="7733" y="3342322"/>
                  </a:lnTo>
                  <a:lnTo>
                    <a:pt x="28813" y="3373564"/>
                  </a:lnTo>
                  <a:lnTo>
                    <a:pt x="60061" y="3394614"/>
                  </a:lnTo>
                  <a:lnTo>
                    <a:pt x="98298" y="3402329"/>
                  </a:lnTo>
                  <a:lnTo>
                    <a:pt x="4574285" y="3402329"/>
                  </a:lnTo>
                  <a:lnTo>
                    <a:pt x="4612522" y="3394614"/>
                  </a:lnTo>
                  <a:lnTo>
                    <a:pt x="4643770" y="3373564"/>
                  </a:lnTo>
                  <a:lnTo>
                    <a:pt x="4664850" y="3342322"/>
                  </a:lnTo>
                  <a:lnTo>
                    <a:pt x="4672583" y="3304031"/>
                  </a:lnTo>
                  <a:lnTo>
                    <a:pt x="4672583" y="98298"/>
                  </a:lnTo>
                  <a:lnTo>
                    <a:pt x="4664850" y="60061"/>
                  </a:lnTo>
                  <a:lnTo>
                    <a:pt x="4643770" y="28813"/>
                  </a:lnTo>
                  <a:lnTo>
                    <a:pt x="4612522" y="7733"/>
                  </a:lnTo>
                  <a:lnTo>
                    <a:pt x="4574285" y="0"/>
                  </a:lnTo>
                  <a:close/>
                </a:path>
              </a:pathLst>
            </a:custGeom>
            <a:solidFill>
              <a:srgbClr val="FAFAF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" name="object 11"/>
            <p:cNvSpPr/>
            <p:nvPr/>
          </p:nvSpPr>
          <p:spPr>
            <a:xfrm>
              <a:off x="6707123" y="1916176"/>
              <a:ext cx="4672965" cy="3402329"/>
            </a:xfrm>
            <a:custGeom>
              <a:avLst/>
              <a:gdLst/>
              <a:ahLst/>
              <a:cxnLst/>
              <a:rect l="l" t="t" r="r" b="b"/>
              <a:pathLst>
                <a:path w="4672965" h="3402329">
                  <a:moveTo>
                    <a:pt x="0" y="98298"/>
                  </a:moveTo>
                  <a:lnTo>
                    <a:pt x="7733" y="60061"/>
                  </a:lnTo>
                  <a:lnTo>
                    <a:pt x="28813" y="28813"/>
                  </a:lnTo>
                  <a:lnTo>
                    <a:pt x="60061" y="7733"/>
                  </a:lnTo>
                  <a:lnTo>
                    <a:pt x="98298" y="0"/>
                  </a:lnTo>
                  <a:lnTo>
                    <a:pt x="4574285" y="0"/>
                  </a:lnTo>
                  <a:lnTo>
                    <a:pt x="4612522" y="7733"/>
                  </a:lnTo>
                  <a:lnTo>
                    <a:pt x="4643770" y="28813"/>
                  </a:lnTo>
                  <a:lnTo>
                    <a:pt x="4664850" y="60061"/>
                  </a:lnTo>
                  <a:lnTo>
                    <a:pt x="4672583" y="98298"/>
                  </a:lnTo>
                  <a:lnTo>
                    <a:pt x="4672583" y="3304031"/>
                  </a:lnTo>
                  <a:lnTo>
                    <a:pt x="4664850" y="3342322"/>
                  </a:lnTo>
                  <a:lnTo>
                    <a:pt x="4643770" y="3373564"/>
                  </a:lnTo>
                  <a:lnTo>
                    <a:pt x="4612522" y="3394614"/>
                  </a:lnTo>
                  <a:lnTo>
                    <a:pt x="4574285" y="3402329"/>
                  </a:lnTo>
                  <a:lnTo>
                    <a:pt x="98298" y="3402329"/>
                  </a:lnTo>
                  <a:lnTo>
                    <a:pt x="60061" y="3394614"/>
                  </a:lnTo>
                  <a:lnTo>
                    <a:pt x="28813" y="3373564"/>
                  </a:lnTo>
                  <a:lnTo>
                    <a:pt x="7733" y="3342322"/>
                  </a:lnTo>
                  <a:lnTo>
                    <a:pt x="0" y="3304031"/>
                  </a:lnTo>
                  <a:lnTo>
                    <a:pt x="0" y="98298"/>
                  </a:lnTo>
                  <a:close/>
                </a:path>
              </a:pathLst>
            </a:custGeom>
            <a:ln w="6350">
              <a:solidFill>
                <a:srgbClr val="D9DEE6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2" name="object 12"/>
          <p:cNvSpPr txBox="1"/>
          <p:nvPr/>
        </p:nvSpPr>
        <p:spPr>
          <a:xfrm>
            <a:off x="6955663" y="2150935"/>
            <a:ext cx="1880870" cy="26733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550" b="1">
                <a:solidFill>
                  <a:srgbClr val="13203C"/>
                </a:solidFill>
                <a:latin typeface="Arial"/>
                <a:cs typeface="Arial"/>
              </a:rPr>
              <a:t>Either</a:t>
            </a:r>
            <a:r>
              <a:rPr dirty="0" sz="1550" spc="-15" b="1">
                <a:solidFill>
                  <a:srgbClr val="13203C"/>
                </a:solidFill>
                <a:latin typeface="Arial"/>
                <a:cs typeface="Arial"/>
              </a:rPr>
              <a:t> </a:t>
            </a:r>
            <a:r>
              <a:rPr dirty="0" sz="1550" spc="55" b="1">
                <a:solidFill>
                  <a:srgbClr val="13203C"/>
                </a:solidFill>
                <a:latin typeface="Arial"/>
                <a:cs typeface="Arial"/>
              </a:rPr>
              <a:t>way:</a:t>
            </a:r>
            <a:r>
              <a:rPr dirty="0" sz="1550" spc="-35" b="1">
                <a:solidFill>
                  <a:srgbClr val="13203C"/>
                </a:solidFill>
                <a:latin typeface="Arial"/>
                <a:cs typeface="Arial"/>
              </a:rPr>
              <a:t> </a:t>
            </a:r>
            <a:r>
              <a:rPr dirty="0" sz="1550" spc="-10" b="1">
                <a:solidFill>
                  <a:srgbClr val="13203C"/>
                </a:solidFill>
                <a:latin typeface="Arial"/>
                <a:cs typeface="Arial"/>
              </a:rPr>
              <a:t>avatars</a:t>
            </a:r>
            <a:endParaRPr sz="1550">
              <a:latin typeface="Arial"/>
              <a:cs typeface="Arial"/>
            </a:endParaRPr>
          </a:p>
        </p:txBody>
      </p:sp>
      <p:graphicFrame>
        <p:nvGraphicFramePr>
          <p:cNvPr id="13" name="object 13"/>
          <p:cNvGraphicFramePr>
            <a:graphicFrameLocks noGrp="1"/>
          </p:cNvGraphicFramePr>
          <p:nvPr/>
        </p:nvGraphicFramePr>
        <p:xfrm>
          <a:off x="6967346" y="2544317"/>
          <a:ext cx="4232910" cy="214122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662940"/>
                <a:gridCol w="1491615"/>
                <a:gridCol w="994409"/>
                <a:gridCol w="994410"/>
              </a:tblGrid>
              <a:tr h="35687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C7C7C5"/>
                      </a:solidFill>
                      <a:prstDash val="solid"/>
                    </a:lnL>
                    <a:lnR w="12700">
                      <a:solidFill>
                        <a:srgbClr val="BDC0C3"/>
                      </a:solidFill>
                      <a:prstDash val="solid"/>
                    </a:lnR>
                    <a:lnT w="12700">
                      <a:solidFill>
                        <a:srgbClr val="C7C7C5"/>
                      </a:solidFill>
                      <a:prstDash val="solid"/>
                    </a:lnT>
                    <a:lnB w="12700">
                      <a:solidFill>
                        <a:srgbClr val="BDC0C3"/>
                      </a:solidFill>
                      <a:prstDash val="solid"/>
                    </a:lnB>
                    <a:solidFill>
                      <a:srgbClr val="EDF0F5"/>
                    </a:solidFill>
                  </a:tcPr>
                </a:tc>
                <a:tc>
                  <a:txBody>
                    <a:bodyPr/>
                    <a:lstStyle/>
                    <a:p>
                      <a:pPr marL="63500">
                        <a:lnSpc>
                          <a:spcPct val="100000"/>
                        </a:lnSpc>
                        <a:spcBef>
                          <a:spcPts val="555"/>
                        </a:spcBef>
                      </a:pPr>
                      <a:r>
                        <a:rPr dirty="0" sz="1300" spc="-20" b="1">
                          <a:solidFill>
                            <a:srgbClr val="13203C"/>
                          </a:solidFill>
                          <a:latin typeface="Arial"/>
                          <a:cs typeface="Arial"/>
                        </a:rPr>
                        <a:t>Name</a:t>
                      </a:r>
                      <a:endParaRPr sz="1300">
                        <a:latin typeface="Arial"/>
                        <a:cs typeface="Arial"/>
                      </a:endParaRPr>
                    </a:p>
                  </a:txBody>
                  <a:tcPr marL="0" marR="0" marB="0" marT="70485">
                    <a:lnL w="12700">
                      <a:solidFill>
                        <a:srgbClr val="BDC0C3"/>
                      </a:solidFill>
                      <a:prstDash val="solid"/>
                    </a:lnL>
                    <a:lnR w="12700">
                      <a:solidFill>
                        <a:srgbClr val="BDC0C3"/>
                      </a:solidFill>
                      <a:prstDash val="solid"/>
                    </a:lnR>
                    <a:lnT w="12700">
                      <a:solidFill>
                        <a:srgbClr val="C7C7C5"/>
                      </a:solidFill>
                      <a:prstDash val="solid"/>
                    </a:lnT>
                    <a:lnB w="12700">
                      <a:solidFill>
                        <a:srgbClr val="BDC0C3"/>
                      </a:solidFill>
                      <a:prstDash val="solid"/>
                    </a:lnB>
                    <a:solidFill>
                      <a:srgbClr val="EDF0F5"/>
                    </a:solidFill>
                  </a:tcPr>
                </a:tc>
                <a:tc>
                  <a:txBody>
                    <a:bodyPr/>
                    <a:lstStyle/>
                    <a:p>
                      <a:pPr algn="r" marR="46355">
                        <a:lnSpc>
                          <a:spcPct val="100000"/>
                        </a:lnSpc>
                        <a:spcBef>
                          <a:spcPts val="555"/>
                        </a:spcBef>
                      </a:pPr>
                      <a:r>
                        <a:rPr dirty="0" sz="1300" spc="-10" b="1">
                          <a:solidFill>
                            <a:srgbClr val="13203C"/>
                          </a:solidFill>
                          <a:latin typeface="Arial"/>
                          <a:cs typeface="Arial"/>
                        </a:rPr>
                        <a:t>Weight</a:t>
                      </a:r>
                      <a:endParaRPr sz="1300">
                        <a:latin typeface="Arial"/>
                        <a:cs typeface="Arial"/>
                      </a:endParaRPr>
                    </a:p>
                  </a:txBody>
                  <a:tcPr marL="0" marR="0" marB="0" marT="70485">
                    <a:lnL w="12700">
                      <a:solidFill>
                        <a:srgbClr val="BDC0C3"/>
                      </a:solidFill>
                      <a:prstDash val="solid"/>
                    </a:lnL>
                    <a:lnR w="12700">
                      <a:solidFill>
                        <a:srgbClr val="BDC0C3"/>
                      </a:solidFill>
                      <a:prstDash val="solid"/>
                    </a:lnR>
                    <a:lnT w="12700">
                      <a:solidFill>
                        <a:srgbClr val="C7C7C5"/>
                      </a:solidFill>
                      <a:prstDash val="solid"/>
                    </a:lnT>
                    <a:lnB w="12700">
                      <a:solidFill>
                        <a:srgbClr val="BDC0C3"/>
                      </a:solidFill>
                      <a:prstDash val="solid"/>
                    </a:lnB>
                    <a:solidFill>
                      <a:srgbClr val="EDF0F5"/>
                    </a:solidFill>
                  </a:tcPr>
                </a:tc>
                <a:tc>
                  <a:txBody>
                    <a:bodyPr/>
                    <a:lstStyle/>
                    <a:p>
                      <a:pPr algn="r" marR="42545">
                        <a:lnSpc>
                          <a:spcPct val="100000"/>
                        </a:lnSpc>
                        <a:spcBef>
                          <a:spcPts val="555"/>
                        </a:spcBef>
                      </a:pPr>
                      <a:r>
                        <a:rPr dirty="0" sz="1300" spc="-10" b="1">
                          <a:solidFill>
                            <a:srgbClr val="13203C"/>
                          </a:solidFill>
                          <a:latin typeface="Arial"/>
                          <a:cs typeface="Arial"/>
                        </a:rPr>
                        <a:t>Height</a:t>
                      </a:r>
                      <a:endParaRPr sz="1300">
                        <a:latin typeface="Arial"/>
                        <a:cs typeface="Arial"/>
                      </a:endParaRPr>
                    </a:p>
                  </a:txBody>
                  <a:tcPr marL="0" marR="0" marB="0" marT="70485">
                    <a:lnL w="12700">
                      <a:solidFill>
                        <a:srgbClr val="BDC0C3"/>
                      </a:solidFill>
                      <a:prstDash val="solid"/>
                    </a:lnL>
                    <a:lnR w="12700">
                      <a:solidFill>
                        <a:srgbClr val="BDC0C3"/>
                      </a:solidFill>
                      <a:prstDash val="solid"/>
                    </a:lnR>
                    <a:lnT w="12700">
                      <a:solidFill>
                        <a:srgbClr val="C7C7C5"/>
                      </a:solidFill>
                      <a:prstDash val="solid"/>
                    </a:lnT>
                    <a:lnB w="12700">
                      <a:solidFill>
                        <a:srgbClr val="BDC0C3"/>
                      </a:solidFill>
                      <a:prstDash val="solid"/>
                    </a:lnB>
                    <a:solidFill>
                      <a:srgbClr val="EDF0F5"/>
                    </a:solidFill>
                  </a:tcPr>
                </a:tc>
              </a:tr>
              <a:tr h="356870">
                <a:tc>
                  <a:txBody>
                    <a:bodyPr/>
                    <a:lstStyle/>
                    <a:p>
                      <a:pPr marL="62865">
                        <a:lnSpc>
                          <a:spcPct val="100000"/>
                        </a:lnSpc>
                        <a:spcBef>
                          <a:spcPts val="560"/>
                        </a:spcBef>
                      </a:pPr>
                      <a:r>
                        <a:rPr dirty="0" sz="1300" spc="-50">
                          <a:solidFill>
                            <a:srgbClr val="13203C"/>
                          </a:solidFill>
                          <a:latin typeface="Arial"/>
                          <a:cs typeface="Arial"/>
                        </a:rPr>
                        <a:t>0</a:t>
                      </a:r>
                      <a:endParaRPr sz="1300">
                        <a:latin typeface="Arial"/>
                        <a:cs typeface="Arial"/>
                      </a:endParaRPr>
                    </a:p>
                  </a:txBody>
                  <a:tcPr marL="0" marR="0" marB="0" marT="71120">
                    <a:lnL w="12700">
                      <a:solidFill>
                        <a:srgbClr val="C7C7C5"/>
                      </a:solidFill>
                      <a:prstDash val="solid"/>
                    </a:lnL>
                    <a:lnR w="12700">
                      <a:solidFill>
                        <a:srgbClr val="C7C7C5"/>
                      </a:solidFill>
                      <a:prstDash val="solid"/>
                    </a:lnR>
                    <a:lnT w="12700">
                      <a:solidFill>
                        <a:srgbClr val="BDC0C3"/>
                      </a:solidFill>
                      <a:prstDash val="solid"/>
                    </a:lnT>
                    <a:lnB w="12700">
                      <a:solidFill>
                        <a:srgbClr val="C7C7C5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00">
                        <a:lnSpc>
                          <a:spcPct val="100000"/>
                        </a:lnSpc>
                        <a:spcBef>
                          <a:spcPts val="560"/>
                        </a:spcBef>
                      </a:pPr>
                      <a:r>
                        <a:rPr dirty="0" sz="1300" spc="-10">
                          <a:solidFill>
                            <a:srgbClr val="13203C"/>
                          </a:solidFill>
                          <a:latin typeface="Arial"/>
                          <a:cs typeface="Arial"/>
                        </a:rPr>
                        <a:t>Apple</a:t>
                      </a:r>
                      <a:endParaRPr sz="1300">
                        <a:latin typeface="Arial"/>
                        <a:cs typeface="Arial"/>
                      </a:endParaRPr>
                    </a:p>
                  </a:txBody>
                  <a:tcPr marL="0" marR="0" marB="0" marT="71120">
                    <a:lnL w="12700">
                      <a:solidFill>
                        <a:srgbClr val="C7C7C5"/>
                      </a:solidFill>
                      <a:prstDash val="solid"/>
                    </a:lnL>
                    <a:lnR w="12700">
                      <a:solidFill>
                        <a:srgbClr val="C7C7C5"/>
                      </a:solidFill>
                      <a:prstDash val="solid"/>
                    </a:lnR>
                    <a:lnT w="12700">
                      <a:solidFill>
                        <a:srgbClr val="BDC0C3"/>
                      </a:solidFill>
                      <a:prstDash val="solid"/>
                    </a:lnT>
                    <a:lnB w="12700">
                      <a:solidFill>
                        <a:srgbClr val="C7C7C5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 marR="46990">
                        <a:lnSpc>
                          <a:spcPct val="100000"/>
                        </a:lnSpc>
                        <a:spcBef>
                          <a:spcPts val="560"/>
                        </a:spcBef>
                      </a:pPr>
                      <a:r>
                        <a:rPr dirty="0" sz="1300" spc="-25">
                          <a:solidFill>
                            <a:srgbClr val="13203C"/>
                          </a:solidFill>
                          <a:latin typeface="Arial"/>
                          <a:cs typeface="Arial"/>
                        </a:rPr>
                        <a:t>50</a:t>
                      </a:r>
                      <a:endParaRPr sz="1300">
                        <a:latin typeface="Arial"/>
                        <a:cs typeface="Arial"/>
                      </a:endParaRPr>
                    </a:p>
                  </a:txBody>
                  <a:tcPr marL="0" marR="0" marB="0" marT="71120">
                    <a:lnL w="12700">
                      <a:solidFill>
                        <a:srgbClr val="C7C7C5"/>
                      </a:solidFill>
                      <a:prstDash val="solid"/>
                    </a:lnL>
                    <a:lnR w="12700">
                      <a:solidFill>
                        <a:srgbClr val="C7C7C5"/>
                      </a:solidFill>
                      <a:prstDash val="solid"/>
                    </a:lnR>
                    <a:lnT w="12700">
                      <a:solidFill>
                        <a:srgbClr val="BDC0C3"/>
                      </a:solidFill>
                      <a:prstDash val="solid"/>
                    </a:lnT>
                    <a:lnB w="12700">
                      <a:solidFill>
                        <a:srgbClr val="C7C7C5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 marR="47625">
                        <a:lnSpc>
                          <a:spcPct val="100000"/>
                        </a:lnSpc>
                        <a:spcBef>
                          <a:spcPts val="560"/>
                        </a:spcBef>
                      </a:pPr>
                      <a:r>
                        <a:rPr dirty="0" sz="1300" spc="-25">
                          <a:solidFill>
                            <a:srgbClr val="13203C"/>
                          </a:solidFill>
                          <a:latin typeface="Arial"/>
                          <a:cs typeface="Arial"/>
                        </a:rPr>
                        <a:t>155</a:t>
                      </a:r>
                      <a:endParaRPr sz="1300">
                        <a:latin typeface="Arial"/>
                        <a:cs typeface="Arial"/>
                      </a:endParaRPr>
                    </a:p>
                  </a:txBody>
                  <a:tcPr marL="0" marR="0" marB="0" marT="71120">
                    <a:lnL w="12700">
                      <a:solidFill>
                        <a:srgbClr val="C7C7C5"/>
                      </a:solidFill>
                      <a:prstDash val="solid"/>
                    </a:lnL>
                    <a:lnR w="12700">
                      <a:solidFill>
                        <a:srgbClr val="C7C7C5"/>
                      </a:solidFill>
                      <a:prstDash val="solid"/>
                    </a:lnR>
                    <a:lnT w="12700">
                      <a:solidFill>
                        <a:srgbClr val="BDC0C3"/>
                      </a:solidFill>
                      <a:prstDash val="solid"/>
                    </a:lnT>
                    <a:lnB w="12700">
                      <a:solidFill>
                        <a:srgbClr val="C7C7C5"/>
                      </a:solidFill>
                      <a:prstDash val="solid"/>
                    </a:lnB>
                  </a:tcPr>
                </a:tc>
              </a:tr>
              <a:tr h="356870">
                <a:tc>
                  <a:txBody>
                    <a:bodyPr/>
                    <a:lstStyle/>
                    <a:p>
                      <a:pPr marL="62865">
                        <a:lnSpc>
                          <a:spcPct val="100000"/>
                        </a:lnSpc>
                        <a:spcBef>
                          <a:spcPts val="565"/>
                        </a:spcBef>
                      </a:pPr>
                      <a:r>
                        <a:rPr dirty="0" sz="1300" spc="-50">
                          <a:solidFill>
                            <a:srgbClr val="13203C"/>
                          </a:solidFill>
                          <a:latin typeface="Arial"/>
                          <a:cs typeface="Arial"/>
                        </a:rPr>
                        <a:t>1</a:t>
                      </a:r>
                      <a:endParaRPr sz="1300">
                        <a:latin typeface="Arial"/>
                        <a:cs typeface="Arial"/>
                      </a:endParaRPr>
                    </a:p>
                  </a:txBody>
                  <a:tcPr marL="0" marR="0" marB="0" marT="71755">
                    <a:lnL w="12700">
                      <a:solidFill>
                        <a:srgbClr val="C7C7C5"/>
                      </a:solidFill>
                      <a:prstDash val="solid"/>
                    </a:lnL>
                    <a:lnR w="12700">
                      <a:solidFill>
                        <a:srgbClr val="C7C7C5"/>
                      </a:solidFill>
                      <a:prstDash val="solid"/>
                    </a:lnR>
                    <a:lnT w="12700">
                      <a:solidFill>
                        <a:srgbClr val="C7C7C5"/>
                      </a:solidFill>
                      <a:prstDash val="solid"/>
                    </a:lnT>
                    <a:lnB w="12700">
                      <a:solidFill>
                        <a:srgbClr val="C7C7C5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00">
                        <a:lnSpc>
                          <a:spcPct val="100000"/>
                        </a:lnSpc>
                        <a:spcBef>
                          <a:spcPts val="565"/>
                        </a:spcBef>
                      </a:pPr>
                      <a:r>
                        <a:rPr dirty="0" sz="1300" spc="-10">
                          <a:solidFill>
                            <a:srgbClr val="13203C"/>
                          </a:solidFill>
                          <a:latin typeface="Arial"/>
                          <a:cs typeface="Arial"/>
                        </a:rPr>
                        <a:t>Berry</a:t>
                      </a:r>
                      <a:endParaRPr sz="1300">
                        <a:latin typeface="Arial"/>
                        <a:cs typeface="Arial"/>
                      </a:endParaRPr>
                    </a:p>
                  </a:txBody>
                  <a:tcPr marL="0" marR="0" marB="0" marT="71755">
                    <a:lnL w="12700">
                      <a:solidFill>
                        <a:srgbClr val="C7C7C5"/>
                      </a:solidFill>
                      <a:prstDash val="solid"/>
                    </a:lnL>
                    <a:lnR w="12700">
                      <a:solidFill>
                        <a:srgbClr val="C7C7C5"/>
                      </a:solidFill>
                      <a:prstDash val="solid"/>
                    </a:lnR>
                    <a:lnT w="12700">
                      <a:solidFill>
                        <a:srgbClr val="C7C7C5"/>
                      </a:solidFill>
                      <a:prstDash val="solid"/>
                    </a:lnT>
                    <a:lnB w="12700">
                      <a:solidFill>
                        <a:srgbClr val="C7C7C5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 marR="46990">
                        <a:lnSpc>
                          <a:spcPct val="100000"/>
                        </a:lnSpc>
                        <a:spcBef>
                          <a:spcPts val="565"/>
                        </a:spcBef>
                      </a:pPr>
                      <a:r>
                        <a:rPr dirty="0" sz="1300" spc="-25">
                          <a:solidFill>
                            <a:srgbClr val="13203C"/>
                          </a:solidFill>
                          <a:latin typeface="Arial"/>
                          <a:cs typeface="Arial"/>
                        </a:rPr>
                        <a:t>46</a:t>
                      </a:r>
                      <a:endParaRPr sz="1300">
                        <a:latin typeface="Arial"/>
                        <a:cs typeface="Arial"/>
                      </a:endParaRPr>
                    </a:p>
                  </a:txBody>
                  <a:tcPr marL="0" marR="0" marB="0" marT="71755">
                    <a:lnL w="12700">
                      <a:solidFill>
                        <a:srgbClr val="C7C7C5"/>
                      </a:solidFill>
                      <a:prstDash val="solid"/>
                    </a:lnL>
                    <a:lnR w="12700">
                      <a:solidFill>
                        <a:srgbClr val="C7C7C5"/>
                      </a:solidFill>
                      <a:prstDash val="solid"/>
                    </a:lnR>
                    <a:lnT w="12700">
                      <a:solidFill>
                        <a:srgbClr val="C7C7C5"/>
                      </a:solidFill>
                      <a:prstDash val="solid"/>
                    </a:lnT>
                    <a:lnB w="12700">
                      <a:solidFill>
                        <a:srgbClr val="C7C7C5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 marR="47625">
                        <a:lnSpc>
                          <a:spcPct val="100000"/>
                        </a:lnSpc>
                        <a:spcBef>
                          <a:spcPts val="565"/>
                        </a:spcBef>
                      </a:pPr>
                      <a:r>
                        <a:rPr dirty="0" sz="1300" spc="-25">
                          <a:solidFill>
                            <a:srgbClr val="13203C"/>
                          </a:solidFill>
                          <a:latin typeface="Arial"/>
                          <a:cs typeface="Arial"/>
                        </a:rPr>
                        <a:t>154</a:t>
                      </a:r>
                      <a:endParaRPr sz="1300">
                        <a:latin typeface="Arial"/>
                        <a:cs typeface="Arial"/>
                      </a:endParaRPr>
                    </a:p>
                  </a:txBody>
                  <a:tcPr marL="0" marR="0" marB="0" marT="71755">
                    <a:lnL w="12700">
                      <a:solidFill>
                        <a:srgbClr val="C7C7C5"/>
                      </a:solidFill>
                      <a:prstDash val="solid"/>
                    </a:lnL>
                    <a:lnR w="12700">
                      <a:solidFill>
                        <a:srgbClr val="C7C7C5"/>
                      </a:solidFill>
                      <a:prstDash val="solid"/>
                    </a:lnR>
                    <a:lnT w="12700">
                      <a:solidFill>
                        <a:srgbClr val="C7C7C5"/>
                      </a:solidFill>
                      <a:prstDash val="solid"/>
                    </a:lnT>
                    <a:lnB w="12700">
                      <a:solidFill>
                        <a:srgbClr val="C7C7C5"/>
                      </a:solidFill>
                      <a:prstDash val="solid"/>
                    </a:lnB>
                  </a:tcPr>
                </a:tc>
              </a:tr>
              <a:tr h="356870">
                <a:tc>
                  <a:txBody>
                    <a:bodyPr/>
                    <a:lstStyle/>
                    <a:p>
                      <a:pPr marL="62865">
                        <a:lnSpc>
                          <a:spcPct val="100000"/>
                        </a:lnSpc>
                        <a:spcBef>
                          <a:spcPts val="570"/>
                        </a:spcBef>
                      </a:pPr>
                      <a:r>
                        <a:rPr dirty="0" sz="1300" spc="-50">
                          <a:solidFill>
                            <a:srgbClr val="13203C"/>
                          </a:solidFill>
                          <a:latin typeface="Arial"/>
                          <a:cs typeface="Arial"/>
                        </a:rPr>
                        <a:t>2</a:t>
                      </a:r>
                      <a:endParaRPr sz="1300">
                        <a:latin typeface="Arial"/>
                        <a:cs typeface="Arial"/>
                      </a:endParaRPr>
                    </a:p>
                  </a:txBody>
                  <a:tcPr marL="0" marR="0" marB="0" marT="72390">
                    <a:lnL w="12700">
                      <a:solidFill>
                        <a:srgbClr val="C7C7C5"/>
                      </a:solidFill>
                      <a:prstDash val="solid"/>
                    </a:lnL>
                    <a:lnR w="12700">
                      <a:solidFill>
                        <a:srgbClr val="C7C7C5"/>
                      </a:solidFill>
                      <a:prstDash val="solid"/>
                    </a:lnR>
                    <a:lnT w="12700">
                      <a:solidFill>
                        <a:srgbClr val="C7C7C5"/>
                      </a:solidFill>
                      <a:prstDash val="solid"/>
                    </a:lnT>
                    <a:lnB w="12700">
                      <a:solidFill>
                        <a:srgbClr val="C7C7C5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00">
                        <a:lnSpc>
                          <a:spcPct val="100000"/>
                        </a:lnSpc>
                        <a:spcBef>
                          <a:spcPts val="570"/>
                        </a:spcBef>
                      </a:pPr>
                      <a:r>
                        <a:rPr dirty="0" sz="1300" spc="-20">
                          <a:solidFill>
                            <a:srgbClr val="13203C"/>
                          </a:solidFill>
                          <a:latin typeface="Arial"/>
                          <a:cs typeface="Arial"/>
                        </a:rPr>
                        <a:t>Coco</a:t>
                      </a:r>
                      <a:endParaRPr sz="1300">
                        <a:latin typeface="Arial"/>
                        <a:cs typeface="Arial"/>
                      </a:endParaRPr>
                    </a:p>
                  </a:txBody>
                  <a:tcPr marL="0" marR="0" marB="0" marT="72390">
                    <a:lnL w="12700">
                      <a:solidFill>
                        <a:srgbClr val="C7C7C5"/>
                      </a:solidFill>
                      <a:prstDash val="solid"/>
                    </a:lnL>
                    <a:lnR w="12700">
                      <a:solidFill>
                        <a:srgbClr val="C7C7C5"/>
                      </a:solidFill>
                      <a:prstDash val="solid"/>
                    </a:lnR>
                    <a:lnT w="12700">
                      <a:solidFill>
                        <a:srgbClr val="C7C7C5"/>
                      </a:solidFill>
                      <a:prstDash val="solid"/>
                    </a:lnT>
                    <a:lnB w="12700">
                      <a:solidFill>
                        <a:srgbClr val="C7C7C5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 marR="46990">
                        <a:lnSpc>
                          <a:spcPct val="100000"/>
                        </a:lnSpc>
                        <a:spcBef>
                          <a:spcPts val="570"/>
                        </a:spcBef>
                      </a:pPr>
                      <a:r>
                        <a:rPr dirty="0" sz="1300" spc="-25">
                          <a:solidFill>
                            <a:srgbClr val="13203C"/>
                          </a:solidFill>
                          <a:latin typeface="Arial"/>
                          <a:cs typeface="Arial"/>
                        </a:rPr>
                        <a:t>56</a:t>
                      </a:r>
                      <a:endParaRPr sz="1300">
                        <a:latin typeface="Arial"/>
                        <a:cs typeface="Arial"/>
                      </a:endParaRPr>
                    </a:p>
                  </a:txBody>
                  <a:tcPr marL="0" marR="0" marB="0" marT="72390">
                    <a:lnL w="12700">
                      <a:solidFill>
                        <a:srgbClr val="C7C7C5"/>
                      </a:solidFill>
                      <a:prstDash val="solid"/>
                    </a:lnL>
                    <a:lnR w="12700">
                      <a:solidFill>
                        <a:srgbClr val="C7C7C5"/>
                      </a:solidFill>
                      <a:prstDash val="solid"/>
                    </a:lnR>
                    <a:lnT w="12700">
                      <a:solidFill>
                        <a:srgbClr val="C7C7C5"/>
                      </a:solidFill>
                      <a:prstDash val="solid"/>
                    </a:lnT>
                    <a:lnB w="12700">
                      <a:solidFill>
                        <a:srgbClr val="C7C7C5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 marR="47625">
                        <a:lnSpc>
                          <a:spcPct val="100000"/>
                        </a:lnSpc>
                        <a:spcBef>
                          <a:spcPts val="570"/>
                        </a:spcBef>
                      </a:pPr>
                      <a:r>
                        <a:rPr dirty="0" sz="1300" spc="-25">
                          <a:solidFill>
                            <a:srgbClr val="13203C"/>
                          </a:solidFill>
                          <a:latin typeface="Arial"/>
                          <a:cs typeface="Arial"/>
                        </a:rPr>
                        <a:t>156</a:t>
                      </a:r>
                      <a:endParaRPr sz="1300">
                        <a:latin typeface="Arial"/>
                        <a:cs typeface="Arial"/>
                      </a:endParaRPr>
                    </a:p>
                  </a:txBody>
                  <a:tcPr marL="0" marR="0" marB="0" marT="72390">
                    <a:lnL w="12700">
                      <a:solidFill>
                        <a:srgbClr val="C7C7C5"/>
                      </a:solidFill>
                      <a:prstDash val="solid"/>
                    </a:lnL>
                    <a:lnR w="12700">
                      <a:solidFill>
                        <a:srgbClr val="C7C7C5"/>
                      </a:solidFill>
                      <a:prstDash val="solid"/>
                    </a:lnR>
                    <a:lnT w="12700">
                      <a:solidFill>
                        <a:srgbClr val="C7C7C5"/>
                      </a:solidFill>
                      <a:prstDash val="solid"/>
                    </a:lnT>
                    <a:lnB w="12700">
                      <a:solidFill>
                        <a:srgbClr val="C7C7C5"/>
                      </a:solidFill>
                      <a:prstDash val="solid"/>
                    </a:lnB>
                  </a:tcPr>
                </a:tc>
              </a:tr>
              <a:tr h="356870">
                <a:tc>
                  <a:txBody>
                    <a:bodyPr/>
                    <a:lstStyle/>
                    <a:p>
                      <a:pPr marL="62865">
                        <a:lnSpc>
                          <a:spcPct val="100000"/>
                        </a:lnSpc>
                        <a:spcBef>
                          <a:spcPts val="570"/>
                        </a:spcBef>
                      </a:pPr>
                      <a:r>
                        <a:rPr dirty="0" sz="1300" spc="-50">
                          <a:solidFill>
                            <a:srgbClr val="13203C"/>
                          </a:solidFill>
                          <a:latin typeface="Arial"/>
                          <a:cs typeface="Arial"/>
                        </a:rPr>
                        <a:t>3</a:t>
                      </a:r>
                      <a:endParaRPr sz="1300">
                        <a:latin typeface="Arial"/>
                        <a:cs typeface="Arial"/>
                      </a:endParaRPr>
                    </a:p>
                  </a:txBody>
                  <a:tcPr marL="0" marR="0" marB="0" marT="72390">
                    <a:lnL w="12700">
                      <a:solidFill>
                        <a:srgbClr val="C7C7C5"/>
                      </a:solidFill>
                      <a:prstDash val="solid"/>
                    </a:lnL>
                    <a:lnR w="12700">
                      <a:solidFill>
                        <a:srgbClr val="C7C7C5"/>
                      </a:solidFill>
                      <a:prstDash val="solid"/>
                    </a:lnR>
                    <a:lnT w="12700">
                      <a:solidFill>
                        <a:srgbClr val="C7C7C5"/>
                      </a:solidFill>
                      <a:prstDash val="solid"/>
                    </a:lnT>
                    <a:lnB w="12700">
                      <a:solidFill>
                        <a:srgbClr val="C7C7C5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00">
                        <a:lnSpc>
                          <a:spcPct val="100000"/>
                        </a:lnSpc>
                        <a:spcBef>
                          <a:spcPts val="570"/>
                        </a:spcBef>
                      </a:pPr>
                      <a:r>
                        <a:rPr dirty="0" sz="1300" spc="-10">
                          <a:solidFill>
                            <a:srgbClr val="13203C"/>
                          </a:solidFill>
                          <a:latin typeface="Arial"/>
                          <a:cs typeface="Arial"/>
                        </a:rPr>
                        <a:t>Dunkin</a:t>
                      </a:r>
                      <a:endParaRPr sz="1300">
                        <a:latin typeface="Arial"/>
                        <a:cs typeface="Arial"/>
                      </a:endParaRPr>
                    </a:p>
                  </a:txBody>
                  <a:tcPr marL="0" marR="0" marB="0" marT="72390">
                    <a:lnL w="12700">
                      <a:solidFill>
                        <a:srgbClr val="C7C7C5"/>
                      </a:solidFill>
                      <a:prstDash val="solid"/>
                    </a:lnL>
                    <a:lnR w="12700">
                      <a:solidFill>
                        <a:srgbClr val="C7C7C5"/>
                      </a:solidFill>
                      <a:prstDash val="solid"/>
                    </a:lnR>
                    <a:lnT w="12700">
                      <a:solidFill>
                        <a:srgbClr val="C7C7C5"/>
                      </a:solidFill>
                      <a:prstDash val="solid"/>
                    </a:lnT>
                    <a:lnB w="12700">
                      <a:solidFill>
                        <a:srgbClr val="C7C7C5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 marR="46990">
                        <a:lnSpc>
                          <a:spcPct val="100000"/>
                        </a:lnSpc>
                        <a:spcBef>
                          <a:spcPts val="570"/>
                        </a:spcBef>
                      </a:pPr>
                      <a:r>
                        <a:rPr dirty="0" sz="1300" spc="-25">
                          <a:solidFill>
                            <a:srgbClr val="13203C"/>
                          </a:solidFill>
                          <a:latin typeface="Arial"/>
                          <a:cs typeface="Arial"/>
                        </a:rPr>
                        <a:t>44</a:t>
                      </a:r>
                      <a:endParaRPr sz="1300">
                        <a:latin typeface="Arial"/>
                        <a:cs typeface="Arial"/>
                      </a:endParaRPr>
                    </a:p>
                  </a:txBody>
                  <a:tcPr marL="0" marR="0" marB="0" marT="72390">
                    <a:lnL w="12700">
                      <a:solidFill>
                        <a:srgbClr val="C7C7C5"/>
                      </a:solidFill>
                      <a:prstDash val="solid"/>
                    </a:lnL>
                    <a:lnR w="12700">
                      <a:solidFill>
                        <a:srgbClr val="C7C7C5"/>
                      </a:solidFill>
                      <a:prstDash val="solid"/>
                    </a:lnR>
                    <a:lnT w="12700">
                      <a:solidFill>
                        <a:srgbClr val="C7C7C5"/>
                      </a:solidFill>
                      <a:prstDash val="solid"/>
                    </a:lnT>
                    <a:lnB w="12700">
                      <a:solidFill>
                        <a:srgbClr val="C7C7C5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 marR="47625">
                        <a:lnSpc>
                          <a:spcPct val="100000"/>
                        </a:lnSpc>
                        <a:spcBef>
                          <a:spcPts val="570"/>
                        </a:spcBef>
                      </a:pPr>
                      <a:r>
                        <a:rPr dirty="0" sz="1300" spc="-25">
                          <a:solidFill>
                            <a:srgbClr val="13203C"/>
                          </a:solidFill>
                          <a:latin typeface="Arial"/>
                          <a:cs typeface="Arial"/>
                        </a:rPr>
                        <a:t>167</a:t>
                      </a:r>
                      <a:endParaRPr sz="1300">
                        <a:latin typeface="Arial"/>
                        <a:cs typeface="Arial"/>
                      </a:endParaRPr>
                    </a:p>
                  </a:txBody>
                  <a:tcPr marL="0" marR="0" marB="0" marT="72390">
                    <a:lnL w="12700">
                      <a:solidFill>
                        <a:srgbClr val="C7C7C5"/>
                      </a:solidFill>
                      <a:prstDash val="solid"/>
                    </a:lnL>
                    <a:lnR w="12700">
                      <a:solidFill>
                        <a:srgbClr val="C7C7C5"/>
                      </a:solidFill>
                      <a:prstDash val="solid"/>
                    </a:lnR>
                    <a:lnT w="12700">
                      <a:solidFill>
                        <a:srgbClr val="C7C7C5"/>
                      </a:solidFill>
                      <a:prstDash val="solid"/>
                    </a:lnT>
                    <a:lnB w="12700">
                      <a:solidFill>
                        <a:srgbClr val="C7C7C5"/>
                      </a:solidFill>
                      <a:prstDash val="solid"/>
                    </a:lnB>
                  </a:tcPr>
                </a:tc>
              </a:tr>
              <a:tr h="356870">
                <a:tc>
                  <a:txBody>
                    <a:bodyPr/>
                    <a:lstStyle/>
                    <a:p>
                      <a:pPr marL="62865">
                        <a:lnSpc>
                          <a:spcPct val="100000"/>
                        </a:lnSpc>
                        <a:spcBef>
                          <a:spcPts val="580"/>
                        </a:spcBef>
                      </a:pPr>
                      <a:r>
                        <a:rPr dirty="0" sz="1300" spc="-50">
                          <a:solidFill>
                            <a:srgbClr val="13203C"/>
                          </a:solidFill>
                          <a:latin typeface="Arial"/>
                          <a:cs typeface="Arial"/>
                        </a:rPr>
                        <a:t>4</a:t>
                      </a:r>
                      <a:endParaRPr sz="1300">
                        <a:latin typeface="Arial"/>
                        <a:cs typeface="Arial"/>
                      </a:endParaRPr>
                    </a:p>
                  </a:txBody>
                  <a:tcPr marL="0" marR="0" marB="0" marT="73660">
                    <a:lnL w="12700">
                      <a:solidFill>
                        <a:srgbClr val="C7C7C5"/>
                      </a:solidFill>
                      <a:prstDash val="solid"/>
                    </a:lnL>
                    <a:lnR w="12700">
                      <a:solidFill>
                        <a:srgbClr val="C7C7C5"/>
                      </a:solidFill>
                      <a:prstDash val="solid"/>
                    </a:lnR>
                    <a:lnT w="12700">
                      <a:solidFill>
                        <a:srgbClr val="C7C7C5"/>
                      </a:solidFill>
                      <a:prstDash val="solid"/>
                    </a:lnT>
                    <a:lnB w="12700">
                      <a:solidFill>
                        <a:srgbClr val="C7C7C5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00">
                        <a:lnSpc>
                          <a:spcPct val="100000"/>
                        </a:lnSpc>
                        <a:spcBef>
                          <a:spcPts val="580"/>
                        </a:spcBef>
                      </a:pPr>
                      <a:r>
                        <a:rPr dirty="0" sz="1300" spc="-20">
                          <a:solidFill>
                            <a:srgbClr val="13203C"/>
                          </a:solidFill>
                          <a:latin typeface="Arial"/>
                          <a:cs typeface="Arial"/>
                        </a:rPr>
                        <a:t>Ella</a:t>
                      </a:r>
                      <a:endParaRPr sz="1300">
                        <a:latin typeface="Arial"/>
                        <a:cs typeface="Arial"/>
                      </a:endParaRPr>
                    </a:p>
                  </a:txBody>
                  <a:tcPr marL="0" marR="0" marB="0" marT="73660">
                    <a:lnL w="12700">
                      <a:solidFill>
                        <a:srgbClr val="C7C7C5"/>
                      </a:solidFill>
                      <a:prstDash val="solid"/>
                    </a:lnL>
                    <a:lnR w="12700">
                      <a:solidFill>
                        <a:srgbClr val="C7C7C5"/>
                      </a:solidFill>
                      <a:prstDash val="solid"/>
                    </a:lnR>
                    <a:lnT w="12700">
                      <a:solidFill>
                        <a:srgbClr val="C7C7C5"/>
                      </a:solidFill>
                      <a:prstDash val="solid"/>
                    </a:lnT>
                    <a:lnB w="12700">
                      <a:solidFill>
                        <a:srgbClr val="C7C7C5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 marR="46990">
                        <a:lnSpc>
                          <a:spcPct val="100000"/>
                        </a:lnSpc>
                        <a:spcBef>
                          <a:spcPts val="580"/>
                        </a:spcBef>
                      </a:pPr>
                      <a:r>
                        <a:rPr dirty="0" sz="1300" spc="-25">
                          <a:solidFill>
                            <a:srgbClr val="13203C"/>
                          </a:solidFill>
                          <a:latin typeface="Arial"/>
                          <a:cs typeface="Arial"/>
                        </a:rPr>
                        <a:t>45</a:t>
                      </a:r>
                      <a:endParaRPr sz="1300">
                        <a:latin typeface="Arial"/>
                        <a:cs typeface="Arial"/>
                      </a:endParaRPr>
                    </a:p>
                  </a:txBody>
                  <a:tcPr marL="0" marR="0" marB="0" marT="73660">
                    <a:lnL w="12700">
                      <a:solidFill>
                        <a:srgbClr val="C7C7C5"/>
                      </a:solidFill>
                      <a:prstDash val="solid"/>
                    </a:lnL>
                    <a:lnR w="12700">
                      <a:solidFill>
                        <a:srgbClr val="C7C7C5"/>
                      </a:solidFill>
                      <a:prstDash val="solid"/>
                    </a:lnR>
                    <a:lnT w="12700">
                      <a:solidFill>
                        <a:srgbClr val="C7C7C5"/>
                      </a:solidFill>
                      <a:prstDash val="solid"/>
                    </a:lnT>
                    <a:lnB w="12700">
                      <a:solidFill>
                        <a:srgbClr val="C7C7C5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 marR="47625">
                        <a:lnSpc>
                          <a:spcPct val="100000"/>
                        </a:lnSpc>
                        <a:spcBef>
                          <a:spcPts val="580"/>
                        </a:spcBef>
                      </a:pPr>
                      <a:r>
                        <a:rPr dirty="0" sz="1300" spc="-25">
                          <a:solidFill>
                            <a:srgbClr val="13203C"/>
                          </a:solidFill>
                          <a:latin typeface="Arial"/>
                          <a:cs typeface="Arial"/>
                        </a:rPr>
                        <a:t>150</a:t>
                      </a:r>
                      <a:endParaRPr sz="1300">
                        <a:latin typeface="Arial"/>
                        <a:cs typeface="Arial"/>
                      </a:endParaRPr>
                    </a:p>
                  </a:txBody>
                  <a:tcPr marL="0" marR="0" marB="0" marT="73660">
                    <a:lnL w="12700">
                      <a:solidFill>
                        <a:srgbClr val="C7C7C5"/>
                      </a:solidFill>
                      <a:prstDash val="solid"/>
                    </a:lnL>
                    <a:lnR w="12700">
                      <a:solidFill>
                        <a:srgbClr val="C7C7C5"/>
                      </a:solidFill>
                      <a:prstDash val="solid"/>
                    </a:lnR>
                    <a:lnT w="12700">
                      <a:solidFill>
                        <a:srgbClr val="C7C7C5"/>
                      </a:solidFill>
                      <a:prstDash val="solid"/>
                    </a:lnT>
                    <a:lnB w="12700">
                      <a:solidFill>
                        <a:srgbClr val="C7C7C5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4" name="object 14"/>
          <p:cNvSpPr txBox="1"/>
          <p:nvPr/>
        </p:nvSpPr>
        <p:spPr>
          <a:xfrm>
            <a:off x="6955663" y="4825047"/>
            <a:ext cx="4074795" cy="2235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300" spc="-10">
                <a:solidFill>
                  <a:srgbClr val="3C495C"/>
                </a:solidFill>
                <a:latin typeface="Arial"/>
                <a:cs typeface="Arial"/>
              </a:rPr>
              <a:t>Row</a:t>
            </a:r>
            <a:r>
              <a:rPr dirty="0" sz="1300" spc="-25">
                <a:solidFill>
                  <a:srgbClr val="3C495C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3C495C"/>
                </a:solidFill>
                <a:latin typeface="Arial"/>
                <a:cs typeface="Arial"/>
              </a:rPr>
              <a:t>labels</a:t>
            </a:r>
            <a:r>
              <a:rPr dirty="0" sz="1300" spc="-20">
                <a:solidFill>
                  <a:srgbClr val="3C495C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3C495C"/>
                </a:solidFill>
                <a:latin typeface="Arial"/>
                <a:cs typeface="Arial"/>
              </a:rPr>
              <a:t>default</a:t>
            </a:r>
            <a:r>
              <a:rPr dirty="0" sz="1300" spc="15">
                <a:solidFill>
                  <a:srgbClr val="3C495C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3C495C"/>
                </a:solidFill>
                <a:latin typeface="Arial"/>
                <a:cs typeface="Arial"/>
              </a:rPr>
              <a:t>to</a:t>
            </a:r>
            <a:r>
              <a:rPr dirty="0" sz="1300" spc="-50">
                <a:solidFill>
                  <a:srgbClr val="3C495C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3C495C"/>
                </a:solidFill>
                <a:latin typeface="Arial"/>
                <a:cs typeface="Arial"/>
              </a:rPr>
              <a:t>0,</a:t>
            </a:r>
            <a:r>
              <a:rPr dirty="0" sz="1300" spc="-30">
                <a:solidFill>
                  <a:srgbClr val="3C495C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3C495C"/>
                </a:solidFill>
                <a:latin typeface="Arial"/>
                <a:cs typeface="Arial"/>
              </a:rPr>
              <a:t>1,</a:t>
            </a:r>
            <a:r>
              <a:rPr dirty="0" sz="1300" spc="-30">
                <a:solidFill>
                  <a:srgbClr val="3C495C"/>
                </a:solidFill>
                <a:latin typeface="Arial"/>
                <a:cs typeface="Arial"/>
              </a:rPr>
              <a:t> </a:t>
            </a:r>
            <a:r>
              <a:rPr dirty="0" sz="1300" spc="50">
                <a:solidFill>
                  <a:srgbClr val="3C495C"/>
                </a:solidFill>
                <a:latin typeface="Arial"/>
                <a:cs typeface="Arial"/>
              </a:rPr>
              <a:t>2</a:t>
            </a:r>
            <a:r>
              <a:rPr dirty="0" sz="1300" spc="-25">
                <a:solidFill>
                  <a:srgbClr val="3C495C"/>
                </a:solidFill>
                <a:latin typeface="Arial"/>
                <a:cs typeface="Arial"/>
              </a:rPr>
              <a:t> </a:t>
            </a:r>
            <a:r>
              <a:rPr dirty="0" sz="1300" spc="-260">
                <a:solidFill>
                  <a:srgbClr val="3C495C"/>
                </a:solidFill>
                <a:latin typeface="Arial"/>
                <a:cs typeface="Arial"/>
              </a:rPr>
              <a:t>…</a:t>
            </a:r>
            <a:r>
              <a:rPr dirty="0" sz="1300" spc="5">
                <a:solidFill>
                  <a:srgbClr val="3C495C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3C495C"/>
                </a:solidFill>
                <a:latin typeface="Arial"/>
                <a:cs typeface="Arial"/>
              </a:rPr>
              <a:t>unless</a:t>
            </a:r>
            <a:r>
              <a:rPr dirty="0" sz="1300" spc="-20">
                <a:solidFill>
                  <a:srgbClr val="3C495C"/>
                </a:solidFill>
                <a:latin typeface="Arial"/>
                <a:cs typeface="Arial"/>
              </a:rPr>
              <a:t> </a:t>
            </a:r>
            <a:r>
              <a:rPr dirty="0" sz="1300" spc="-10">
                <a:solidFill>
                  <a:srgbClr val="3C495C"/>
                </a:solidFill>
                <a:latin typeface="Arial"/>
                <a:cs typeface="Arial"/>
              </a:rPr>
              <a:t>you</a:t>
            </a:r>
            <a:r>
              <a:rPr dirty="0" sz="1300" spc="-60">
                <a:solidFill>
                  <a:srgbClr val="3C495C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3C495C"/>
                </a:solidFill>
                <a:latin typeface="Arial"/>
                <a:cs typeface="Arial"/>
              </a:rPr>
              <a:t>pass</a:t>
            </a:r>
            <a:r>
              <a:rPr dirty="0" sz="1300" spc="95">
                <a:solidFill>
                  <a:srgbClr val="3C495C"/>
                </a:solidFill>
                <a:latin typeface="Arial"/>
                <a:cs typeface="Arial"/>
              </a:rPr>
              <a:t> </a:t>
            </a:r>
            <a:r>
              <a:rPr dirty="0" sz="1300" spc="-10">
                <a:solidFill>
                  <a:srgbClr val="B45209"/>
                </a:solidFill>
                <a:latin typeface="Arial"/>
                <a:cs typeface="Arial"/>
              </a:rPr>
              <a:t>index=</a:t>
            </a:r>
            <a:r>
              <a:rPr dirty="0" sz="1300" spc="-10">
                <a:solidFill>
                  <a:srgbClr val="3C495C"/>
                </a:solidFill>
                <a:latin typeface="Arial"/>
                <a:cs typeface="Arial"/>
              </a:rPr>
              <a:t>.</a:t>
            </a:r>
            <a:endParaRPr sz="13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800480" y="819721"/>
            <a:ext cx="1702435" cy="234315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1350" spc="65" b="1">
                <a:solidFill>
                  <a:srgbClr val="B45209"/>
                </a:solidFill>
                <a:latin typeface="Arial"/>
                <a:cs typeface="Arial"/>
              </a:rPr>
              <a:t>0</a:t>
            </a:r>
            <a:r>
              <a:rPr dirty="0" sz="1350" spc="-185" b="1">
                <a:solidFill>
                  <a:srgbClr val="B45209"/>
                </a:solidFill>
                <a:latin typeface="Arial"/>
                <a:cs typeface="Arial"/>
              </a:rPr>
              <a:t> </a:t>
            </a:r>
            <a:r>
              <a:rPr dirty="0" sz="1350" spc="65" b="1">
                <a:solidFill>
                  <a:srgbClr val="B45209"/>
                </a:solidFill>
                <a:latin typeface="Arial"/>
                <a:cs typeface="Arial"/>
              </a:rPr>
              <a:t>3</a:t>
            </a:r>
            <a:r>
              <a:rPr dirty="0" sz="1350" spc="290" b="1">
                <a:solidFill>
                  <a:srgbClr val="B45209"/>
                </a:solidFill>
                <a:latin typeface="Arial"/>
                <a:cs typeface="Arial"/>
              </a:rPr>
              <a:t> </a:t>
            </a:r>
            <a:r>
              <a:rPr dirty="0" sz="1350" b="1">
                <a:solidFill>
                  <a:srgbClr val="B45209"/>
                </a:solidFill>
                <a:latin typeface="Arial"/>
                <a:cs typeface="Arial"/>
              </a:rPr>
              <a:t>·</a:t>
            </a:r>
            <a:r>
              <a:rPr dirty="0" sz="1350" spc="335" b="1">
                <a:solidFill>
                  <a:srgbClr val="B45209"/>
                </a:solidFill>
                <a:latin typeface="Arial"/>
                <a:cs typeface="Arial"/>
              </a:rPr>
              <a:t> </a:t>
            </a:r>
            <a:r>
              <a:rPr dirty="0" sz="1350" b="1">
                <a:solidFill>
                  <a:srgbClr val="B45209"/>
                </a:solidFill>
                <a:latin typeface="Arial"/>
                <a:cs typeface="Arial"/>
              </a:rPr>
              <a:t>DA</a:t>
            </a:r>
            <a:r>
              <a:rPr dirty="0" sz="1350" spc="-150" b="1">
                <a:solidFill>
                  <a:srgbClr val="B45209"/>
                </a:solidFill>
                <a:latin typeface="Arial"/>
                <a:cs typeface="Arial"/>
              </a:rPr>
              <a:t> </a:t>
            </a:r>
            <a:r>
              <a:rPr dirty="0" sz="1350" b="1">
                <a:solidFill>
                  <a:srgbClr val="B45209"/>
                </a:solidFill>
                <a:latin typeface="Arial"/>
                <a:cs typeface="Arial"/>
              </a:rPr>
              <a:t>TA</a:t>
            </a:r>
            <a:r>
              <a:rPr dirty="0" sz="1350" spc="-150" b="1">
                <a:solidFill>
                  <a:srgbClr val="B45209"/>
                </a:solidFill>
                <a:latin typeface="Arial"/>
                <a:cs typeface="Arial"/>
              </a:rPr>
              <a:t> </a:t>
            </a:r>
            <a:r>
              <a:rPr dirty="0" sz="1350" spc="50" b="1">
                <a:solidFill>
                  <a:srgbClr val="B45209"/>
                </a:solidFill>
                <a:latin typeface="Arial"/>
                <a:cs typeface="Arial"/>
              </a:rPr>
              <a:t>FRA</a:t>
            </a:r>
            <a:r>
              <a:rPr dirty="0" sz="1350" spc="-145" b="1">
                <a:solidFill>
                  <a:srgbClr val="B45209"/>
                </a:solidFill>
                <a:latin typeface="Arial"/>
                <a:cs typeface="Arial"/>
              </a:rPr>
              <a:t> </a:t>
            </a:r>
            <a:r>
              <a:rPr dirty="0" sz="1350" spc="-20" b="1">
                <a:solidFill>
                  <a:srgbClr val="B45209"/>
                </a:solidFill>
                <a:latin typeface="Arial"/>
                <a:cs typeface="Arial"/>
              </a:rPr>
              <a:t>M</a:t>
            </a:r>
            <a:r>
              <a:rPr dirty="0" sz="1350" spc="-190" b="1">
                <a:solidFill>
                  <a:srgbClr val="B45209"/>
                </a:solidFill>
                <a:latin typeface="Arial"/>
                <a:cs typeface="Arial"/>
              </a:rPr>
              <a:t> </a:t>
            </a:r>
            <a:r>
              <a:rPr dirty="0" sz="1350" spc="-60" b="1">
                <a:solidFill>
                  <a:srgbClr val="B45209"/>
                </a:solidFill>
                <a:latin typeface="Arial"/>
                <a:cs typeface="Arial"/>
              </a:rPr>
              <a:t>E</a:t>
            </a:r>
            <a:endParaRPr sz="1350">
              <a:latin typeface="Arial"/>
              <a:cs typeface="Arial"/>
            </a:endParaRPr>
          </a:p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/>
              <a:t>First</a:t>
            </a:r>
            <a:r>
              <a:rPr dirty="0" spc="-140"/>
              <a:t> </a:t>
            </a:r>
            <a:r>
              <a:rPr dirty="0" spc="-25"/>
              <a:t>questions</a:t>
            </a:r>
            <a:r>
              <a:rPr dirty="0" spc="-155"/>
              <a:t> </a:t>
            </a:r>
            <a:r>
              <a:rPr dirty="0"/>
              <a:t>to</a:t>
            </a:r>
            <a:r>
              <a:rPr dirty="0" spc="-50"/>
              <a:t> </a:t>
            </a:r>
            <a:r>
              <a:rPr dirty="0"/>
              <a:t>ask</a:t>
            </a:r>
            <a:r>
              <a:rPr dirty="0" spc="-100"/>
              <a:t> </a:t>
            </a:r>
            <a:r>
              <a:rPr dirty="0"/>
              <a:t>any</a:t>
            </a:r>
            <a:r>
              <a:rPr dirty="0" spc="-105"/>
              <a:t> </a:t>
            </a:r>
            <a:r>
              <a:rPr dirty="0" spc="55"/>
              <a:t>new</a:t>
            </a:r>
            <a:r>
              <a:rPr dirty="0" spc="-75"/>
              <a:t> </a:t>
            </a:r>
            <a:r>
              <a:rPr dirty="0" spc="55"/>
              <a:t>table</a:t>
            </a:r>
          </a:p>
        </p:txBody>
      </p:sp>
      <p:graphicFrame>
        <p:nvGraphicFramePr>
          <p:cNvPr id="4" name="object 4"/>
          <p:cNvGraphicFramePr>
            <a:graphicFrameLocks noGrp="1"/>
          </p:cNvGraphicFramePr>
          <p:nvPr/>
        </p:nvGraphicFramePr>
        <p:xfrm>
          <a:off x="816800" y="1888744"/>
          <a:ext cx="10642600" cy="3068319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588385"/>
                <a:gridCol w="3166110"/>
                <a:gridCol w="3799204"/>
              </a:tblGrid>
              <a:tr h="383540">
                <a:tc>
                  <a:txBody>
                    <a:bodyPr/>
                    <a:lstStyle/>
                    <a:p>
                      <a:pPr marL="62865">
                        <a:lnSpc>
                          <a:spcPct val="100000"/>
                        </a:lnSpc>
                        <a:spcBef>
                          <a:spcPts val="680"/>
                        </a:spcBef>
                      </a:pPr>
                      <a:r>
                        <a:rPr dirty="0" sz="1350" b="1">
                          <a:solidFill>
                            <a:srgbClr val="13203C"/>
                          </a:solidFill>
                          <a:latin typeface="Arial"/>
                          <a:cs typeface="Arial"/>
                        </a:rPr>
                        <a:t>You</a:t>
                      </a:r>
                      <a:r>
                        <a:rPr dirty="0" sz="1350" spc="-75" b="1">
                          <a:solidFill>
                            <a:srgbClr val="13203C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350" spc="-20" b="1">
                          <a:solidFill>
                            <a:srgbClr val="13203C"/>
                          </a:solidFill>
                          <a:latin typeface="Arial"/>
                          <a:cs typeface="Arial"/>
                        </a:rPr>
                        <a:t>type</a:t>
                      </a:r>
                      <a:endParaRPr sz="1350">
                        <a:latin typeface="Arial"/>
                        <a:cs typeface="Arial"/>
                      </a:endParaRPr>
                    </a:p>
                  </a:txBody>
                  <a:tcPr marL="0" marR="0" marB="0" marT="86360">
                    <a:lnL w="12700">
                      <a:solidFill>
                        <a:srgbClr val="C7C7C5"/>
                      </a:solidFill>
                      <a:prstDash val="solid"/>
                    </a:lnL>
                    <a:lnR w="12700">
                      <a:solidFill>
                        <a:srgbClr val="BDC0C3"/>
                      </a:solidFill>
                      <a:prstDash val="solid"/>
                    </a:lnR>
                    <a:lnT w="12700">
                      <a:solidFill>
                        <a:srgbClr val="C7C7C5"/>
                      </a:solidFill>
                      <a:prstDash val="solid"/>
                    </a:lnT>
                    <a:lnB w="12700">
                      <a:solidFill>
                        <a:srgbClr val="BDC0C3"/>
                      </a:solidFill>
                      <a:prstDash val="solid"/>
                    </a:lnB>
                    <a:solidFill>
                      <a:srgbClr val="EDF0F5"/>
                    </a:solidFill>
                  </a:tcPr>
                </a:tc>
                <a:tc>
                  <a:txBody>
                    <a:bodyPr/>
                    <a:lstStyle/>
                    <a:p>
                      <a:pPr marL="65405">
                        <a:lnSpc>
                          <a:spcPct val="100000"/>
                        </a:lnSpc>
                        <a:spcBef>
                          <a:spcPts val="680"/>
                        </a:spcBef>
                      </a:pPr>
                      <a:r>
                        <a:rPr dirty="0" sz="1350" spc="-10" b="1">
                          <a:solidFill>
                            <a:srgbClr val="13203C"/>
                          </a:solidFill>
                          <a:latin typeface="Arial"/>
                          <a:cs typeface="Arial"/>
                        </a:rPr>
                        <a:t>On </a:t>
                      </a:r>
                      <a:r>
                        <a:rPr dirty="0" sz="1350" b="1">
                          <a:solidFill>
                            <a:srgbClr val="13203C"/>
                          </a:solidFill>
                          <a:latin typeface="Arial"/>
                          <a:cs typeface="Arial"/>
                        </a:rPr>
                        <a:t>avatars</a:t>
                      </a:r>
                      <a:r>
                        <a:rPr dirty="0" sz="1350" spc="-30" b="1">
                          <a:solidFill>
                            <a:srgbClr val="13203C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350" b="1">
                          <a:solidFill>
                            <a:srgbClr val="13203C"/>
                          </a:solidFill>
                          <a:latin typeface="Arial"/>
                          <a:cs typeface="Arial"/>
                        </a:rPr>
                        <a:t>you</a:t>
                      </a:r>
                      <a:r>
                        <a:rPr dirty="0" sz="1350" spc="-5" b="1">
                          <a:solidFill>
                            <a:srgbClr val="13203C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350" spc="-25" b="1">
                          <a:solidFill>
                            <a:srgbClr val="13203C"/>
                          </a:solidFill>
                          <a:latin typeface="Arial"/>
                          <a:cs typeface="Arial"/>
                        </a:rPr>
                        <a:t>get</a:t>
                      </a:r>
                      <a:endParaRPr sz="1350">
                        <a:latin typeface="Arial"/>
                        <a:cs typeface="Arial"/>
                      </a:endParaRPr>
                    </a:p>
                  </a:txBody>
                  <a:tcPr marL="0" marR="0" marB="0" marT="86360">
                    <a:lnL w="12700">
                      <a:solidFill>
                        <a:srgbClr val="BDC0C3"/>
                      </a:solidFill>
                      <a:prstDash val="solid"/>
                    </a:lnL>
                    <a:lnR w="12700">
                      <a:solidFill>
                        <a:srgbClr val="BDC0C3"/>
                      </a:solidFill>
                      <a:prstDash val="solid"/>
                    </a:lnR>
                    <a:lnT w="12700">
                      <a:solidFill>
                        <a:srgbClr val="C7C7C5"/>
                      </a:solidFill>
                      <a:prstDash val="solid"/>
                    </a:lnT>
                    <a:lnB w="12700">
                      <a:solidFill>
                        <a:srgbClr val="BDC0C3"/>
                      </a:solidFill>
                      <a:prstDash val="solid"/>
                    </a:lnB>
                    <a:solidFill>
                      <a:srgbClr val="EDF0F5"/>
                    </a:solidFill>
                  </a:tcPr>
                </a:tc>
                <a:tc>
                  <a:txBody>
                    <a:bodyPr/>
                    <a:lstStyle/>
                    <a:p>
                      <a:pPr marL="67945">
                        <a:lnSpc>
                          <a:spcPct val="100000"/>
                        </a:lnSpc>
                        <a:spcBef>
                          <a:spcPts val="680"/>
                        </a:spcBef>
                      </a:pPr>
                      <a:r>
                        <a:rPr dirty="0" sz="1350" spc="135" b="1">
                          <a:solidFill>
                            <a:srgbClr val="13203C"/>
                          </a:solidFill>
                          <a:latin typeface="Arial"/>
                          <a:cs typeface="Arial"/>
                        </a:rPr>
                        <a:t>It</a:t>
                      </a:r>
                      <a:r>
                        <a:rPr dirty="0" sz="1350" spc="-40" b="1">
                          <a:solidFill>
                            <a:srgbClr val="13203C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350" spc="-10" b="1">
                          <a:solidFill>
                            <a:srgbClr val="13203C"/>
                          </a:solidFill>
                          <a:latin typeface="Arial"/>
                          <a:cs typeface="Arial"/>
                        </a:rPr>
                        <a:t>answers</a:t>
                      </a:r>
                      <a:endParaRPr sz="1350">
                        <a:latin typeface="Arial"/>
                        <a:cs typeface="Arial"/>
                      </a:endParaRPr>
                    </a:p>
                  </a:txBody>
                  <a:tcPr marL="0" marR="0" marB="0" marT="86360">
                    <a:lnL w="12700">
                      <a:solidFill>
                        <a:srgbClr val="BDC0C3"/>
                      </a:solidFill>
                      <a:prstDash val="solid"/>
                    </a:lnL>
                    <a:lnR w="12700">
                      <a:solidFill>
                        <a:srgbClr val="BDC0C3"/>
                      </a:solidFill>
                      <a:prstDash val="solid"/>
                    </a:lnR>
                    <a:lnT w="12700">
                      <a:solidFill>
                        <a:srgbClr val="C7C7C5"/>
                      </a:solidFill>
                      <a:prstDash val="solid"/>
                    </a:lnT>
                    <a:lnB w="12700">
                      <a:solidFill>
                        <a:srgbClr val="BDC0C3"/>
                      </a:solidFill>
                      <a:prstDash val="solid"/>
                    </a:lnB>
                    <a:solidFill>
                      <a:srgbClr val="EDF0F5"/>
                    </a:solidFill>
                  </a:tcPr>
                </a:tc>
              </a:tr>
              <a:tr h="383540">
                <a:tc>
                  <a:txBody>
                    <a:bodyPr/>
                    <a:lstStyle/>
                    <a:p>
                      <a:pPr marL="62865">
                        <a:lnSpc>
                          <a:spcPct val="100000"/>
                        </a:lnSpc>
                        <a:spcBef>
                          <a:spcPts val="680"/>
                        </a:spcBef>
                      </a:pPr>
                      <a:r>
                        <a:rPr dirty="0" sz="1350" spc="-10">
                          <a:solidFill>
                            <a:srgbClr val="13203C"/>
                          </a:solidFill>
                          <a:latin typeface="Arial"/>
                          <a:cs typeface="Arial"/>
                        </a:rPr>
                        <a:t>len(avatars)</a:t>
                      </a:r>
                      <a:endParaRPr sz="1350">
                        <a:latin typeface="Arial"/>
                        <a:cs typeface="Arial"/>
                      </a:endParaRPr>
                    </a:p>
                  </a:txBody>
                  <a:tcPr marL="0" marR="0" marB="0" marT="86360">
                    <a:lnL w="12700">
                      <a:solidFill>
                        <a:srgbClr val="C7C7C5"/>
                      </a:solidFill>
                      <a:prstDash val="solid"/>
                    </a:lnL>
                    <a:lnR w="12700">
                      <a:solidFill>
                        <a:srgbClr val="C7C7C5"/>
                      </a:solidFill>
                      <a:prstDash val="solid"/>
                    </a:lnR>
                    <a:lnT w="12700">
                      <a:solidFill>
                        <a:srgbClr val="BDC0C3"/>
                      </a:solidFill>
                      <a:prstDash val="solid"/>
                    </a:lnT>
                    <a:lnB w="12700">
                      <a:solidFill>
                        <a:srgbClr val="C7C7C5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5405">
                        <a:lnSpc>
                          <a:spcPct val="100000"/>
                        </a:lnSpc>
                        <a:spcBef>
                          <a:spcPts val="680"/>
                        </a:spcBef>
                      </a:pPr>
                      <a:r>
                        <a:rPr dirty="0" sz="1350" spc="15">
                          <a:solidFill>
                            <a:srgbClr val="13203C"/>
                          </a:solidFill>
                          <a:latin typeface="Arial"/>
                          <a:cs typeface="Arial"/>
                        </a:rPr>
                        <a:t>5</a:t>
                      </a:r>
                      <a:endParaRPr sz="1350">
                        <a:latin typeface="Arial"/>
                        <a:cs typeface="Arial"/>
                      </a:endParaRPr>
                    </a:p>
                  </a:txBody>
                  <a:tcPr marL="0" marR="0" marB="0" marT="86360">
                    <a:lnL w="12700">
                      <a:solidFill>
                        <a:srgbClr val="C7C7C5"/>
                      </a:solidFill>
                      <a:prstDash val="solid"/>
                    </a:lnL>
                    <a:lnR w="12700">
                      <a:solidFill>
                        <a:srgbClr val="C7C7C5"/>
                      </a:solidFill>
                      <a:prstDash val="solid"/>
                    </a:lnR>
                    <a:lnT w="12700">
                      <a:solidFill>
                        <a:srgbClr val="BDC0C3"/>
                      </a:solidFill>
                      <a:prstDash val="solid"/>
                    </a:lnT>
                    <a:lnB w="12700">
                      <a:solidFill>
                        <a:srgbClr val="C7C7C5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7945">
                        <a:lnSpc>
                          <a:spcPct val="100000"/>
                        </a:lnSpc>
                        <a:spcBef>
                          <a:spcPts val="680"/>
                        </a:spcBef>
                      </a:pPr>
                      <a:r>
                        <a:rPr dirty="0" sz="1350">
                          <a:solidFill>
                            <a:srgbClr val="13203C"/>
                          </a:solidFill>
                          <a:latin typeface="Arial"/>
                          <a:cs typeface="Arial"/>
                        </a:rPr>
                        <a:t>How</a:t>
                      </a:r>
                      <a:r>
                        <a:rPr dirty="0" sz="1350" spc="75">
                          <a:solidFill>
                            <a:srgbClr val="13203C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350">
                          <a:solidFill>
                            <a:srgbClr val="13203C"/>
                          </a:solidFill>
                          <a:latin typeface="Arial"/>
                          <a:cs typeface="Arial"/>
                        </a:rPr>
                        <a:t>many</a:t>
                      </a:r>
                      <a:r>
                        <a:rPr dirty="0" sz="1350" spc="95">
                          <a:solidFill>
                            <a:srgbClr val="13203C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350" spc="-20">
                          <a:solidFill>
                            <a:srgbClr val="13203C"/>
                          </a:solidFill>
                          <a:latin typeface="Arial"/>
                          <a:cs typeface="Arial"/>
                        </a:rPr>
                        <a:t>rows?</a:t>
                      </a:r>
                      <a:endParaRPr sz="1350">
                        <a:latin typeface="Arial"/>
                        <a:cs typeface="Arial"/>
                      </a:endParaRPr>
                    </a:p>
                  </a:txBody>
                  <a:tcPr marL="0" marR="0" marB="0" marT="86360">
                    <a:lnL w="12700">
                      <a:solidFill>
                        <a:srgbClr val="C7C7C5"/>
                      </a:solidFill>
                      <a:prstDash val="solid"/>
                    </a:lnL>
                    <a:lnR w="12700">
                      <a:solidFill>
                        <a:srgbClr val="C7C7C5"/>
                      </a:solidFill>
                      <a:prstDash val="solid"/>
                    </a:lnR>
                    <a:lnT w="12700">
                      <a:solidFill>
                        <a:srgbClr val="BDC0C3"/>
                      </a:solidFill>
                      <a:prstDash val="solid"/>
                    </a:lnT>
                    <a:lnB w="12700">
                      <a:solidFill>
                        <a:srgbClr val="C7C7C5"/>
                      </a:solidFill>
                      <a:prstDash val="solid"/>
                    </a:lnB>
                  </a:tcPr>
                </a:tc>
              </a:tr>
              <a:tr h="383540">
                <a:tc>
                  <a:txBody>
                    <a:bodyPr/>
                    <a:lstStyle/>
                    <a:p>
                      <a:pPr marL="62865">
                        <a:lnSpc>
                          <a:spcPct val="100000"/>
                        </a:lnSpc>
                        <a:spcBef>
                          <a:spcPts val="685"/>
                        </a:spcBef>
                      </a:pPr>
                      <a:r>
                        <a:rPr dirty="0" sz="1350" spc="-10">
                          <a:solidFill>
                            <a:srgbClr val="13203C"/>
                          </a:solidFill>
                          <a:latin typeface="Arial"/>
                          <a:cs typeface="Arial"/>
                        </a:rPr>
                        <a:t>avatars.shape</a:t>
                      </a:r>
                      <a:endParaRPr sz="1350">
                        <a:latin typeface="Arial"/>
                        <a:cs typeface="Arial"/>
                      </a:endParaRPr>
                    </a:p>
                  </a:txBody>
                  <a:tcPr marL="0" marR="0" marB="0" marT="86995">
                    <a:lnL w="12700">
                      <a:solidFill>
                        <a:srgbClr val="C7C7C5"/>
                      </a:solidFill>
                      <a:prstDash val="solid"/>
                    </a:lnL>
                    <a:lnR w="12700">
                      <a:solidFill>
                        <a:srgbClr val="C7C7C5"/>
                      </a:solidFill>
                      <a:prstDash val="solid"/>
                    </a:lnR>
                    <a:lnT w="12700">
                      <a:solidFill>
                        <a:srgbClr val="C7C7C5"/>
                      </a:solidFill>
                      <a:prstDash val="solid"/>
                    </a:lnT>
                    <a:lnB w="12700">
                      <a:solidFill>
                        <a:srgbClr val="C7C7C5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5405">
                        <a:lnSpc>
                          <a:spcPct val="100000"/>
                        </a:lnSpc>
                        <a:spcBef>
                          <a:spcPts val="685"/>
                        </a:spcBef>
                      </a:pPr>
                      <a:r>
                        <a:rPr dirty="0" sz="1350">
                          <a:solidFill>
                            <a:srgbClr val="13203C"/>
                          </a:solidFill>
                          <a:latin typeface="Arial"/>
                          <a:cs typeface="Arial"/>
                        </a:rPr>
                        <a:t>(5,</a:t>
                      </a:r>
                      <a:r>
                        <a:rPr dirty="0" sz="1350" spc="45">
                          <a:solidFill>
                            <a:srgbClr val="13203C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350" spc="30">
                          <a:solidFill>
                            <a:srgbClr val="13203C"/>
                          </a:solidFill>
                          <a:latin typeface="Arial"/>
                          <a:cs typeface="Arial"/>
                        </a:rPr>
                        <a:t>3)</a:t>
                      </a:r>
                      <a:endParaRPr sz="1350">
                        <a:latin typeface="Arial"/>
                        <a:cs typeface="Arial"/>
                      </a:endParaRPr>
                    </a:p>
                  </a:txBody>
                  <a:tcPr marL="0" marR="0" marB="0" marT="86995">
                    <a:lnL w="12700">
                      <a:solidFill>
                        <a:srgbClr val="C7C7C5"/>
                      </a:solidFill>
                      <a:prstDash val="solid"/>
                    </a:lnL>
                    <a:lnR w="12700">
                      <a:solidFill>
                        <a:srgbClr val="C7C7C5"/>
                      </a:solidFill>
                      <a:prstDash val="solid"/>
                    </a:lnR>
                    <a:lnT w="12700">
                      <a:solidFill>
                        <a:srgbClr val="C7C7C5"/>
                      </a:solidFill>
                      <a:prstDash val="solid"/>
                    </a:lnT>
                    <a:lnB w="12700">
                      <a:solidFill>
                        <a:srgbClr val="C7C7C5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7945">
                        <a:lnSpc>
                          <a:spcPct val="100000"/>
                        </a:lnSpc>
                        <a:spcBef>
                          <a:spcPts val="685"/>
                        </a:spcBef>
                      </a:pPr>
                      <a:r>
                        <a:rPr dirty="0" sz="1350">
                          <a:solidFill>
                            <a:srgbClr val="13203C"/>
                          </a:solidFill>
                          <a:latin typeface="Arial"/>
                          <a:cs typeface="Arial"/>
                        </a:rPr>
                        <a:t>How</a:t>
                      </a:r>
                      <a:r>
                        <a:rPr dirty="0" sz="1350" spc="45">
                          <a:solidFill>
                            <a:srgbClr val="13203C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350">
                          <a:solidFill>
                            <a:srgbClr val="13203C"/>
                          </a:solidFill>
                          <a:latin typeface="Arial"/>
                          <a:cs typeface="Arial"/>
                        </a:rPr>
                        <a:t>many</a:t>
                      </a:r>
                      <a:r>
                        <a:rPr dirty="0" sz="1350" spc="65">
                          <a:solidFill>
                            <a:srgbClr val="13203C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350">
                          <a:solidFill>
                            <a:srgbClr val="13203C"/>
                          </a:solidFill>
                          <a:latin typeface="Arial"/>
                          <a:cs typeface="Arial"/>
                        </a:rPr>
                        <a:t>rows</a:t>
                      </a:r>
                      <a:r>
                        <a:rPr dirty="0" sz="1350" spc="85">
                          <a:solidFill>
                            <a:srgbClr val="13203C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350">
                          <a:solidFill>
                            <a:srgbClr val="13203C"/>
                          </a:solidFill>
                          <a:latin typeface="Arial"/>
                          <a:cs typeface="Arial"/>
                        </a:rPr>
                        <a:t>and</a:t>
                      </a:r>
                      <a:r>
                        <a:rPr dirty="0" sz="1350" spc="105">
                          <a:solidFill>
                            <a:srgbClr val="13203C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350" spc="-10">
                          <a:solidFill>
                            <a:srgbClr val="13203C"/>
                          </a:solidFill>
                          <a:latin typeface="Arial"/>
                          <a:cs typeface="Arial"/>
                        </a:rPr>
                        <a:t>columns?</a:t>
                      </a:r>
                      <a:endParaRPr sz="1350">
                        <a:latin typeface="Arial"/>
                        <a:cs typeface="Arial"/>
                      </a:endParaRPr>
                    </a:p>
                  </a:txBody>
                  <a:tcPr marL="0" marR="0" marB="0" marT="86995">
                    <a:lnL w="12700">
                      <a:solidFill>
                        <a:srgbClr val="C7C7C5"/>
                      </a:solidFill>
                      <a:prstDash val="solid"/>
                    </a:lnL>
                    <a:lnR w="12700">
                      <a:solidFill>
                        <a:srgbClr val="C7C7C5"/>
                      </a:solidFill>
                      <a:prstDash val="solid"/>
                    </a:lnR>
                    <a:lnT w="12700">
                      <a:solidFill>
                        <a:srgbClr val="C7C7C5"/>
                      </a:solidFill>
                      <a:prstDash val="solid"/>
                    </a:lnT>
                    <a:lnB w="12700">
                      <a:solidFill>
                        <a:srgbClr val="C7C7C5"/>
                      </a:solidFill>
                      <a:prstDash val="solid"/>
                    </a:lnB>
                  </a:tcPr>
                </a:tc>
              </a:tr>
              <a:tr h="383540">
                <a:tc>
                  <a:txBody>
                    <a:bodyPr/>
                    <a:lstStyle/>
                    <a:p>
                      <a:pPr marL="62865">
                        <a:lnSpc>
                          <a:spcPct val="100000"/>
                        </a:lnSpc>
                        <a:spcBef>
                          <a:spcPts val="690"/>
                        </a:spcBef>
                      </a:pPr>
                      <a:r>
                        <a:rPr dirty="0" sz="1350" spc="-10">
                          <a:solidFill>
                            <a:srgbClr val="13203C"/>
                          </a:solidFill>
                          <a:latin typeface="Arial"/>
                          <a:cs typeface="Arial"/>
                        </a:rPr>
                        <a:t>avatars.columns</a:t>
                      </a:r>
                      <a:endParaRPr sz="1350">
                        <a:latin typeface="Arial"/>
                        <a:cs typeface="Arial"/>
                      </a:endParaRPr>
                    </a:p>
                  </a:txBody>
                  <a:tcPr marL="0" marR="0" marB="0" marT="87630">
                    <a:lnL w="12700">
                      <a:solidFill>
                        <a:srgbClr val="C7C7C5"/>
                      </a:solidFill>
                      <a:prstDash val="solid"/>
                    </a:lnL>
                    <a:lnR w="12700">
                      <a:solidFill>
                        <a:srgbClr val="C7C7C5"/>
                      </a:solidFill>
                      <a:prstDash val="solid"/>
                    </a:lnR>
                    <a:lnT w="12700">
                      <a:solidFill>
                        <a:srgbClr val="C7C7C5"/>
                      </a:solidFill>
                      <a:prstDash val="solid"/>
                    </a:lnT>
                    <a:lnB w="12700">
                      <a:solidFill>
                        <a:srgbClr val="C7C7C5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5405">
                        <a:lnSpc>
                          <a:spcPct val="100000"/>
                        </a:lnSpc>
                        <a:spcBef>
                          <a:spcPts val="690"/>
                        </a:spcBef>
                      </a:pPr>
                      <a:r>
                        <a:rPr dirty="0" sz="1350">
                          <a:solidFill>
                            <a:srgbClr val="13203C"/>
                          </a:solidFill>
                          <a:latin typeface="Arial"/>
                          <a:cs typeface="Arial"/>
                        </a:rPr>
                        <a:t>Name,</a:t>
                      </a:r>
                      <a:r>
                        <a:rPr dirty="0" sz="1350" spc="20">
                          <a:solidFill>
                            <a:srgbClr val="13203C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350">
                          <a:solidFill>
                            <a:srgbClr val="13203C"/>
                          </a:solidFill>
                          <a:latin typeface="Arial"/>
                          <a:cs typeface="Arial"/>
                        </a:rPr>
                        <a:t>Weight,</a:t>
                      </a:r>
                      <a:r>
                        <a:rPr dirty="0" sz="1350" spc="125">
                          <a:solidFill>
                            <a:srgbClr val="13203C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350" spc="-10">
                          <a:solidFill>
                            <a:srgbClr val="13203C"/>
                          </a:solidFill>
                          <a:latin typeface="Arial"/>
                          <a:cs typeface="Arial"/>
                        </a:rPr>
                        <a:t>Height</a:t>
                      </a:r>
                      <a:endParaRPr sz="1350">
                        <a:latin typeface="Arial"/>
                        <a:cs typeface="Arial"/>
                      </a:endParaRPr>
                    </a:p>
                  </a:txBody>
                  <a:tcPr marL="0" marR="0" marB="0" marT="87630">
                    <a:lnL w="12700">
                      <a:solidFill>
                        <a:srgbClr val="C7C7C5"/>
                      </a:solidFill>
                      <a:prstDash val="solid"/>
                    </a:lnL>
                    <a:lnR w="12700">
                      <a:solidFill>
                        <a:srgbClr val="C7C7C5"/>
                      </a:solidFill>
                      <a:prstDash val="solid"/>
                    </a:lnR>
                    <a:lnT w="12700">
                      <a:solidFill>
                        <a:srgbClr val="C7C7C5"/>
                      </a:solidFill>
                      <a:prstDash val="solid"/>
                    </a:lnT>
                    <a:lnB w="12700">
                      <a:solidFill>
                        <a:srgbClr val="C7C7C5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7945">
                        <a:lnSpc>
                          <a:spcPct val="100000"/>
                        </a:lnSpc>
                        <a:spcBef>
                          <a:spcPts val="690"/>
                        </a:spcBef>
                      </a:pPr>
                      <a:r>
                        <a:rPr dirty="0" sz="1350">
                          <a:solidFill>
                            <a:srgbClr val="13203C"/>
                          </a:solidFill>
                          <a:latin typeface="Arial"/>
                          <a:cs typeface="Arial"/>
                        </a:rPr>
                        <a:t>What</a:t>
                      </a:r>
                      <a:r>
                        <a:rPr dirty="0" sz="1350" spc="40">
                          <a:solidFill>
                            <a:srgbClr val="13203C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350">
                          <a:solidFill>
                            <a:srgbClr val="13203C"/>
                          </a:solidFill>
                          <a:latin typeface="Arial"/>
                          <a:cs typeface="Arial"/>
                        </a:rPr>
                        <a:t>are</a:t>
                      </a:r>
                      <a:r>
                        <a:rPr dirty="0" sz="1350" spc="70">
                          <a:solidFill>
                            <a:srgbClr val="13203C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350" spc="50">
                          <a:solidFill>
                            <a:srgbClr val="13203C"/>
                          </a:solidFill>
                          <a:latin typeface="Arial"/>
                          <a:cs typeface="Arial"/>
                        </a:rPr>
                        <a:t>the</a:t>
                      </a:r>
                      <a:r>
                        <a:rPr dirty="0" sz="1350" spc="70">
                          <a:solidFill>
                            <a:srgbClr val="13203C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350">
                          <a:solidFill>
                            <a:srgbClr val="13203C"/>
                          </a:solidFill>
                          <a:latin typeface="Arial"/>
                          <a:cs typeface="Arial"/>
                        </a:rPr>
                        <a:t>columns</a:t>
                      </a:r>
                      <a:r>
                        <a:rPr dirty="0" sz="1350" spc="80">
                          <a:solidFill>
                            <a:srgbClr val="13203C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350" spc="-10">
                          <a:solidFill>
                            <a:srgbClr val="13203C"/>
                          </a:solidFill>
                          <a:latin typeface="Arial"/>
                          <a:cs typeface="Arial"/>
                        </a:rPr>
                        <a:t>called?</a:t>
                      </a:r>
                      <a:endParaRPr sz="1350">
                        <a:latin typeface="Arial"/>
                        <a:cs typeface="Arial"/>
                      </a:endParaRPr>
                    </a:p>
                  </a:txBody>
                  <a:tcPr marL="0" marR="0" marB="0" marT="87630">
                    <a:lnL w="12700">
                      <a:solidFill>
                        <a:srgbClr val="C7C7C5"/>
                      </a:solidFill>
                      <a:prstDash val="solid"/>
                    </a:lnL>
                    <a:lnR w="12700">
                      <a:solidFill>
                        <a:srgbClr val="C7C7C5"/>
                      </a:solidFill>
                      <a:prstDash val="solid"/>
                    </a:lnR>
                    <a:lnT w="12700">
                      <a:solidFill>
                        <a:srgbClr val="C7C7C5"/>
                      </a:solidFill>
                      <a:prstDash val="solid"/>
                    </a:lnT>
                    <a:lnB w="12700">
                      <a:solidFill>
                        <a:srgbClr val="C7C7C5"/>
                      </a:solidFill>
                      <a:prstDash val="solid"/>
                    </a:lnB>
                  </a:tcPr>
                </a:tc>
              </a:tr>
              <a:tr h="383540">
                <a:tc>
                  <a:txBody>
                    <a:bodyPr/>
                    <a:lstStyle/>
                    <a:p>
                      <a:pPr marL="62865">
                        <a:lnSpc>
                          <a:spcPct val="100000"/>
                        </a:lnSpc>
                        <a:spcBef>
                          <a:spcPts val="695"/>
                        </a:spcBef>
                      </a:pPr>
                      <a:r>
                        <a:rPr dirty="0" sz="1350" spc="-10">
                          <a:solidFill>
                            <a:srgbClr val="13203C"/>
                          </a:solidFill>
                          <a:latin typeface="Arial"/>
                          <a:cs typeface="Arial"/>
                        </a:rPr>
                        <a:t>avatars.dtypes</a:t>
                      </a:r>
                      <a:endParaRPr sz="1350">
                        <a:latin typeface="Arial"/>
                        <a:cs typeface="Arial"/>
                      </a:endParaRPr>
                    </a:p>
                  </a:txBody>
                  <a:tcPr marL="0" marR="0" marB="0" marT="88265">
                    <a:lnL w="12700">
                      <a:solidFill>
                        <a:srgbClr val="C7C7C5"/>
                      </a:solidFill>
                      <a:prstDash val="solid"/>
                    </a:lnL>
                    <a:lnR w="12700">
                      <a:solidFill>
                        <a:srgbClr val="C7C7C5"/>
                      </a:solidFill>
                      <a:prstDash val="solid"/>
                    </a:lnR>
                    <a:lnT w="12700">
                      <a:solidFill>
                        <a:srgbClr val="C7C7C5"/>
                      </a:solidFill>
                      <a:prstDash val="solid"/>
                    </a:lnT>
                    <a:lnB w="12700">
                      <a:solidFill>
                        <a:srgbClr val="C7C7C5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5405">
                        <a:lnSpc>
                          <a:spcPct val="100000"/>
                        </a:lnSpc>
                        <a:spcBef>
                          <a:spcPts val="695"/>
                        </a:spcBef>
                      </a:pPr>
                      <a:r>
                        <a:rPr dirty="0" sz="1350">
                          <a:solidFill>
                            <a:srgbClr val="13203C"/>
                          </a:solidFill>
                          <a:latin typeface="Arial"/>
                          <a:cs typeface="Arial"/>
                        </a:rPr>
                        <a:t>text,</a:t>
                      </a:r>
                      <a:r>
                        <a:rPr dirty="0" sz="1350" spc="114">
                          <a:solidFill>
                            <a:srgbClr val="13203C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350" spc="55">
                          <a:solidFill>
                            <a:srgbClr val="13203C"/>
                          </a:solidFill>
                          <a:latin typeface="Arial"/>
                          <a:cs typeface="Arial"/>
                        </a:rPr>
                        <a:t>int64,</a:t>
                      </a:r>
                      <a:r>
                        <a:rPr dirty="0" sz="1350" spc="15">
                          <a:solidFill>
                            <a:srgbClr val="13203C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350" spc="55">
                          <a:solidFill>
                            <a:srgbClr val="13203C"/>
                          </a:solidFill>
                          <a:latin typeface="Arial"/>
                          <a:cs typeface="Arial"/>
                        </a:rPr>
                        <a:t>int64</a:t>
                      </a:r>
                      <a:endParaRPr sz="1350">
                        <a:latin typeface="Arial"/>
                        <a:cs typeface="Arial"/>
                      </a:endParaRPr>
                    </a:p>
                  </a:txBody>
                  <a:tcPr marL="0" marR="0" marB="0" marT="88265">
                    <a:lnL w="12700">
                      <a:solidFill>
                        <a:srgbClr val="C7C7C5"/>
                      </a:solidFill>
                      <a:prstDash val="solid"/>
                    </a:lnL>
                    <a:lnR w="12700">
                      <a:solidFill>
                        <a:srgbClr val="C7C7C5"/>
                      </a:solidFill>
                      <a:prstDash val="solid"/>
                    </a:lnR>
                    <a:lnT w="12700">
                      <a:solidFill>
                        <a:srgbClr val="C7C7C5"/>
                      </a:solidFill>
                      <a:prstDash val="solid"/>
                    </a:lnT>
                    <a:lnB w="12700">
                      <a:solidFill>
                        <a:srgbClr val="C7C7C5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7945">
                        <a:lnSpc>
                          <a:spcPct val="100000"/>
                        </a:lnSpc>
                        <a:spcBef>
                          <a:spcPts val="695"/>
                        </a:spcBef>
                      </a:pPr>
                      <a:r>
                        <a:rPr dirty="0" sz="1350">
                          <a:solidFill>
                            <a:srgbClr val="13203C"/>
                          </a:solidFill>
                          <a:latin typeface="Arial"/>
                          <a:cs typeface="Arial"/>
                        </a:rPr>
                        <a:t>What</a:t>
                      </a:r>
                      <a:r>
                        <a:rPr dirty="0" sz="1350" spc="5">
                          <a:solidFill>
                            <a:srgbClr val="13203C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350">
                          <a:solidFill>
                            <a:srgbClr val="13203C"/>
                          </a:solidFill>
                          <a:latin typeface="Arial"/>
                          <a:cs typeface="Arial"/>
                        </a:rPr>
                        <a:t>kind</a:t>
                      </a:r>
                      <a:r>
                        <a:rPr dirty="0" sz="1350" spc="60">
                          <a:solidFill>
                            <a:srgbClr val="13203C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350" spc="50">
                          <a:solidFill>
                            <a:srgbClr val="13203C"/>
                          </a:solidFill>
                          <a:latin typeface="Arial"/>
                          <a:cs typeface="Arial"/>
                        </a:rPr>
                        <a:t>of</a:t>
                      </a:r>
                      <a:r>
                        <a:rPr dirty="0" sz="1350" spc="55">
                          <a:solidFill>
                            <a:srgbClr val="13203C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350">
                          <a:solidFill>
                            <a:srgbClr val="13203C"/>
                          </a:solidFill>
                          <a:latin typeface="Arial"/>
                          <a:cs typeface="Arial"/>
                        </a:rPr>
                        <a:t>data</a:t>
                      </a:r>
                      <a:r>
                        <a:rPr dirty="0" sz="1350" spc="55">
                          <a:solidFill>
                            <a:srgbClr val="13203C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350">
                          <a:solidFill>
                            <a:srgbClr val="13203C"/>
                          </a:solidFill>
                          <a:latin typeface="Arial"/>
                          <a:cs typeface="Arial"/>
                        </a:rPr>
                        <a:t>is</a:t>
                      </a:r>
                      <a:r>
                        <a:rPr dirty="0" sz="1350" spc="45">
                          <a:solidFill>
                            <a:srgbClr val="13203C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350">
                          <a:solidFill>
                            <a:srgbClr val="13203C"/>
                          </a:solidFill>
                          <a:latin typeface="Arial"/>
                          <a:cs typeface="Arial"/>
                        </a:rPr>
                        <a:t>in</a:t>
                      </a:r>
                      <a:r>
                        <a:rPr dirty="0" sz="1350" spc="85">
                          <a:solidFill>
                            <a:srgbClr val="13203C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350" spc="-20">
                          <a:solidFill>
                            <a:srgbClr val="13203C"/>
                          </a:solidFill>
                          <a:latin typeface="Arial"/>
                          <a:cs typeface="Arial"/>
                        </a:rPr>
                        <a:t>each?</a:t>
                      </a:r>
                      <a:endParaRPr sz="1350">
                        <a:latin typeface="Arial"/>
                        <a:cs typeface="Arial"/>
                      </a:endParaRPr>
                    </a:p>
                  </a:txBody>
                  <a:tcPr marL="0" marR="0" marB="0" marT="88265">
                    <a:lnL w="12700">
                      <a:solidFill>
                        <a:srgbClr val="C7C7C5"/>
                      </a:solidFill>
                      <a:prstDash val="solid"/>
                    </a:lnL>
                    <a:lnR w="12700">
                      <a:solidFill>
                        <a:srgbClr val="C7C7C5"/>
                      </a:solidFill>
                      <a:prstDash val="solid"/>
                    </a:lnR>
                    <a:lnT w="12700">
                      <a:solidFill>
                        <a:srgbClr val="C7C7C5"/>
                      </a:solidFill>
                      <a:prstDash val="solid"/>
                    </a:lnT>
                    <a:lnB w="12700">
                      <a:solidFill>
                        <a:srgbClr val="C7C7C5"/>
                      </a:solidFill>
                      <a:prstDash val="solid"/>
                    </a:lnB>
                  </a:tcPr>
                </a:tc>
              </a:tr>
              <a:tr h="383540">
                <a:tc>
                  <a:txBody>
                    <a:bodyPr/>
                    <a:lstStyle/>
                    <a:p>
                      <a:pPr marL="62865">
                        <a:lnSpc>
                          <a:spcPct val="100000"/>
                        </a:lnSpc>
                        <a:spcBef>
                          <a:spcPts val="700"/>
                        </a:spcBef>
                      </a:pPr>
                      <a:r>
                        <a:rPr dirty="0" sz="1350" spc="-10">
                          <a:solidFill>
                            <a:srgbClr val="13203C"/>
                          </a:solidFill>
                          <a:latin typeface="Arial"/>
                          <a:cs typeface="Arial"/>
                        </a:rPr>
                        <a:t>avatars.head(n)</a:t>
                      </a:r>
                      <a:endParaRPr sz="1350">
                        <a:latin typeface="Arial"/>
                        <a:cs typeface="Arial"/>
                      </a:endParaRPr>
                    </a:p>
                  </a:txBody>
                  <a:tcPr marL="0" marR="0" marB="0" marT="88900">
                    <a:lnL w="12700">
                      <a:solidFill>
                        <a:srgbClr val="C7C7C5"/>
                      </a:solidFill>
                      <a:prstDash val="solid"/>
                    </a:lnL>
                    <a:lnR w="12700">
                      <a:solidFill>
                        <a:srgbClr val="C7C7C5"/>
                      </a:solidFill>
                      <a:prstDash val="solid"/>
                    </a:lnR>
                    <a:lnT w="12700">
                      <a:solidFill>
                        <a:srgbClr val="C7C7C5"/>
                      </a:solidFill>
                      <a:prstDash val="solid"/>
                    </a:lnT>
                    <a:lnB w="12700">
                      <a:solidFill>
                        <a:srgbClr val="C7C7C5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5405">
                        <a:lnSpc>
                          <a:spcPct val="100000"/>
                        </a:lnSpc>
                        <a:spcBef>
                          <a:spcPts val="700"/>
                        </a:spcBef>
                      </a:pPr>
                      <a:r>
                        <a:rPr dirty="0" sz="1350" spc="60">
                          <a:solidFill>
                            <a:srgbClr val="13203C"/>
                          </a:solidFill>
                          <a:latin typeface="Arial"/>
                          <a:cs typeface="Arial"/>
                        </a:rPr>
                        <a:t>first</a:t>
                      </a:r>
                      <a:r>
                        <a:rPr dirty="0" sz="1350" spc="-25">
                          <a:solidFill>
                            <a:srgbClr val="13203C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350">
                          <a:solidFill>
                            <a:srgbClr val="13203C"/>
                          </a:solidFill>
                          <a:latin typeface="Arial"/>
                          <a:cs typeface="Arial"/>
                        </a:rPr>
                        <a:t>n</a:t>
                      </a:r>
                      <a:r>
                        <a:rPr dirty="0" sz="1350" spc="50">
                          <a:solidFill>
                            <a:srgbClr val="13203C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350">
                          <a:solidFill>
                            <a:srgbClr val="13203C"/>
                          </a:solidFill>
                          <a:latin typeface="Arial"/>
                          <a:cs typeface="Arial"/>
                        </a:rPr>
                        <a:t>rows</a:t>
                      </a:r>
                      <a:r>
                        <a:rPr dirty="0" sz="1350" spc="10">
                          <a:solidFill>
                            <a:srgbClr val="13203C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350">
                          <a:solidFill>
                            <a:srgbClr val="13203C"/>
                          </a:solidFill>
                          <a:latin typeface="Arial"/>
                          <a:cs typeface="Arial"/>
                        </a:rPr>
                        <a:t>(5</a:t>
                      </a:r>
                      <a:r>
                        <a:rPr dirty="0" sz="1350" spc="-5">
                          <a:solidFill>
                            <a:srgbClr val="13203C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350" spc="50">
                          <a:solidFill>
                            <a:srgbClr val="13203C"/>
                          </a:solidFill>
                          <a:latin typeface="Arial"/>
                          <a:cs typeface="Arial"/>
                        </a:rPr>
                        <a:t>by</a:t>
                      </a:r>
                      <a:r>
                        <a:rPr dirty="0" sz="1350" spc="-5">
                          <a:solidFill>
                            <a:srgbClr val="13203C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350" spc="35">
                          <a:solidFill>
                            <a:srgbClr val="13203C"/>
                          </a:solidFill>
                          <a:latin typeface="Arial"/>
                          <a:cs typeface="Arial"/>
                        </a:rPr>
                        <a:t>default)</a:t>
                      </a:r>
                      <a:endParaRPr sz="1350">
                        <a:latin typeface="Arial"/>
                        <a:cs typeface="Arial"/>
                      </a:endParaRPr>
                    </a:p>
                  </a:txBody>
                  <a:tcPr marL="0" marR="0" marB="0" marT="88900">
                    <a:lnL w="12700">
                      <a:solidFill>
                        <a:srgbClr val="C7C7C5"/>
                      </a:solidFill>
                      <a:prstDash val="solid"/>
                    </a:lnL>
                    <a:lnR w="12700">
                      <a:solidFill>
                        <a:srgbClr val="C7C7C5"/>
                      </a:solidFill>
                      <a:prstDash val="solid"/>
                    </a:lnR>
                    <a:lnT w="12700">
                      <a:solidFill>
                        <a:srgbClr val="C7C7C5"/>
                      </a:solidFill>
                      <a:prstDash val="solid"/>
                    </a:lnT>
                    <a:lnB w="12700">
                      <a:solidFill>
                        <a:srgbClr val="C7C7C5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7945">
                        <a:lnSpc>
                          <a:spcPct val="100000"/>
                        </a:lnSpc>
                        <a:spcBef>
                          <a:spcPts val="700"/>
                        </a:spcBef>
                      </a:pPr>
                      <a:r>
                        <a:rPr dirty="0" sz="1350">
                          <a:solidFill>
                            <a:srgbClr val="13203C"/>
                          </a:solidFill>
                          <a:latin typeface="Arial"/>
                          <a:cs typeface="Arial"/>
                        </a:rPr>
                        <a:t>What</a:t>
                      </a:r>
                      <a:r>
                        <a:rPr dirty="0" sz="1350" spc="20">
                          <a:solidFill>
                            <a:srgbClr val="13203C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350">
                          <a:solidFill>
                            <a:srgbClr val="13203C"/>
                          </a:solidFill>
                          <a:latin typeface="Arial"/>
                          <a:cs typeface="Arial"/>
                        </a:rPr>
                        <a:t>does</a:t>
                      </a:r>
                      <a:r>
                        <a:rPr dirty="0" sz="1350" spc="60">
                          <a:solidFill>
                            <a:srgbClr val="13203C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350" spc="50">
                          <a:solidFill>
                            <a:srgbClr val="13203C"/>
                          </a:solidFill>
                          <a:latin typeface="Arial"/>
                          <a:cs typeface="Arial"/>
                        </a:rPr>
                        <a:t>the</a:t>
                      </a:r>
                      <a:r>
                        <a:rPr dirty="0" sz="1350" spc="45">
                          <a:solidFill>
                            <a:srgbClr val="13203C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350">
                          <a:solidFill>
                            <a:srgbClr val="13203C"/>
                          </a:solidFill>
                          <a:latin typeface="Arial"/>
                          <a:cs typeface="Arial"/>
                        </a:rPr>
                        <a:t>data</a:t>
                      </a:r>
                      <a:r>
                        <a:rPr dirty="0" sz="1350" spc="75">
                          <a:solidFill>
                            <a:srgbClr val="13203C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350">
                          <a:solidFill>
                            <a:srgbClr val="13203C"/>
                          </a:solidFill>
                          <a:latin typeface="Arial"/>
                          <a:cs typeface="Arial"/>
                        </a:rPr>
                        <a:t>look</a:t>
                      </a:r>
                      <a:r>
                        <a:rPr dirty="0" sz="1350" spc="85">
                          <a:solidFill>
                            <a:srgbClr val="13203C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350" spc="-20">
                          <a:solidFill>
                            <a:srgbClr val="13203C"/>
                          </a:solidFill>
                          <a:latin typeface="Arial"/>
                          <a:cs typeface="Arial"/>
                        </a:rPr>
                        <a:t>like?</a:t>
                      </a:r>
                      <a:endParaRPr sz="1350">
                        <a:latin typeface="Arial"/>
                        <a:cs typeface="Arial"/>
                      </a:endParaRPr>
                    </a:p>
                  </a:txBody>
                  <a:tcPr marL="0" marR="0" marB="0" marT="88900">
                    <a:lnL w="12700">
                      <a:solidFill>
                        <a:srgbClr val="C7C7C5"/>
                      </a:solidFill>
                      <a:prstDash val="solid"/>
                    </a:lnL>
                    <a:lnR w="12700">
                      <a:solidFill>
                        <a:srgbClr val="C7C7C5"/>
                      </a:solidFill>
                      <a:prstDash val="solid"/>
                    </a:lnR>
                    <a:lnT w="12700">
                      <a:solidFill>
                        <a:srgbClr val="C7C7C5"/>
                      </a:solidFill>
                      <a:prstDash val="solid"/>
                    </a:lnT>
                    <a:lnB w="12700">
                      <a:solidFill>
                        <a:srgbClr val="C7C7C5"/>
                      </a:solidFill>
                      <a:prstDash val="solid"/>
                    </a:lnB>
                  </a:tcPr>
                </a:tc>
              </a:tr>
              <a:tr h="383540">
                <a:tc>
                  <a:txBody>
                    <a:bodyPr/>
                    <a:lstStyle/>
                    <a:p>
                      <a:pPr marL="62865">
                        <a:lnSpc>
                          <a:spcPct val="100000"/>
                        </a:lnSpc>
                        <a:spcBef>
                          <a:spcPts val="705"/>
                        </a:spcBef>
                      </a:pPr>
                      <a:r>
                        <a:rPr dirty="0" sz="1350" spc="-10">
                          <a:solidFill>
                            <a:srgbClr val="13203C"/>
                          </a:solidFill>
                          <a:latin typeface="Arial"/>
                          <a:cs typeface="Arial"/>
                        </a:rPr>
                        <a:t>avatars.describe()</a:t>
                      </a:r>
                      <a:endParaRPr sz="1350">
                        <a:latin typeface="Arial"/>
                        <a:cs typeface="Arial"/>
                      </a:endParaRPr>
                    </a:p>
                  </a:txBody>
                  <a:tcPr marL="0" marR="0" marB="0" marT="89535">
                    <a:lnL w="12700">
                      <a:solidFill>
                        <a:srgbClr val="C7C7C5"/>
                      </a:solidFill>
                      <a:prstDash val="solid"/>
                    </a:lnL>
                    <a:lnR w="12700">
                      <a:solidFill>
                        <a:srgbClr val="C7C7C5"/>
                      </a:solidFill>
                      <a:prstDash val="solid"/>
                    </a:lnR>
                    <a:lnT w="12700">
                      <a:solidFill>
                        <a:srgbClr val="C7C7C5"/>
                      </a:solidFill>
                      <a:prstDash val="solid"/>
                    </a:lnT>
                    <a:lnB w="12700">
                      <a:solidFill>
                        <a:srgbClr val="C7C7C5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5405">
                        <a:lnSpc>
                          <a:spcPct val="100000"/>
                        </a:lnSpc>
                        <a:spcBef>
                          <a:spcPts val="705"/>
                        </a:spcBef>
                      </a:pPr>
                      <a:r>
                        <a:rPr dirty="0" sz="1350">
                          <a:solidFill>
                            <a:srgbClr val="13203C"/>
                          </a:solidFill>
                          <a:latin typeface="Arial"/>
                          <a:cs typeface="Arial"/>
                        </a:rPr>
                        <a:t>count,</a:t>
                      </a:r>
                      <a:r>
                        <a:rPr dirty="0" sz="1350" spc="25">
                          <a:solidFill>
                            <a:srgbClr val="13203C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350">
                          <a:solidFill>
                            <a:srgbClr val="13203C"/>
                          </a:solidFill>
                          <a:latin typeface="Arial"/>
                          <a:cs typeface="Arial"/>
                        </a:rPr>
                        <a:t>mean,</a:t>
                      </a:r>
                      <a:r>
                        <a:rPr dirty="0" sz="1350" spc="130">
                          <a:solidFill>
                            <a:srgbClr val="13203C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350">
                          <a:solidFill>
                            <a:srgbClr val="13203C"/>
                          </a:solidFill>
                          <a:latin typeface="Arial"/>
                          <a:cs typeface="Arial"/>
                        </a:rPr>
                        <a:t>min,</a:t>
                      </a:r>
                      <a:r>
                        <a:rPr dirty="0" sz="1350" spc="130">
                          <a:solidFill>
                            <a:srgbClr val="13203C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350">
                          <a:solidFill>
                            <a:srgbClr val="13203C"/>
                          </a:solidFill>
                          <a:latin typeface="Arial"/>
                          <a:cs typeface="Arial"/>
                        </a:rPr>
                        <a:t>max</a:t>
                      </a:r>
                      <a:r>
                        <a:rPr dirty="0" sz="1350" spc="185">
                          <a:solidFill>
                            <a:srgbClr val="13203C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350" spc="-310">
                          <a:solidFill>
                            <a:srgbClr val="13203C"/>
                          </a:solidFill>
                          <a:latin typeface="Arial"/>
                          <a:cs typeface="Arial"/>
                        </a:rPr>
                        <a:t>…</a:t>
                      </a:r>
                      <a:endParaRPr sz="1350">
                        <a:latin typeface="Arial"/>
                        <a:cs typeface="Arial"/>
                      </a:endParaRPr>
                    </a:p>
                  </a:txBody>
                  <a:tcPr marL="0" marR="0" marB="0" marT="89535">
                    <a:lnL w="12700">
                      <a:solidFill>
                        <a:srgbClr val="C7C7C5"/>
                      </a:solidFill>
                      <a:prstDash val="solid"/>
                    </a:lnL>
                    <a:lnR w="12700">
                      <a:solidFill>
                        <a:srgbClr val="C7C7C5"/>
                      </a:solidFill>
                      <a:prstDash val="solid"/>
                    </a:lnR>
                    <a:lnT w="12700">
                      <a:solidFill>
                        <a:srgbClr val="C7C7C5"/>
                      </a:solidFill>
                      <a:prstDash val="solid"/>
                    </a:lnT>
                    <a:lnB w="12700">
                      <a:solidFill>
                        <a:srgbClr val="C7C7C5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7945">
                        <a:lnSpc>
                          <a:spcPct val="100000"/>
                        </a:lnSpc>
                        <a:spcBef>
                          <a:spcPts val="705"/>
                        </a:spcBef>
                      </a:pPr>
                      <a:r>
                        <a:rPr dirty="0" sz="1350">
                          <a:solidFill>
                            <a:srgbClr val="13203C"/>
                          </a:solidFill>
                          <a:latin typeface="Arial"/>
                          <a:cs typeface="Arial"/>
                        </a:rPr>
                        <a:t>What</a:t>
                      </a:r>
                      <a:r>
                        <a:rPr dirty="0" sz="1350" spc="-5">
                          <a:solidFill>
                            <a:srgbClr val="13203C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350">
                          <a:solidFill>
                            <a:srgbClr val="13203C"/>
                          </a:solidFill>
                          <a:latin typeface="Arial"/>
                          <a:cs typeface="Arial"/>
                        </a:rPr>
                        <a:t>are</a:t>
                      </a:r>
                      <a:r>
                        <a:rPr dirty="0" sz="1350" spc="25">
                          <a:solidFill>
                            <a:srgbClr val="13203C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350" spc="45">
                          <a:solidFill>
                            <a:srgbClr val="13203C"/>
                          </a:solidFill>
                          <a:latin typeface="Arial"/>
                          <a:cs typeface="Arial"/>
                        </a:rPr>
                        <a:t>typical</a:t>
                      </a:r>
                      <a:r>
                        <a:rPr dirty="0" sz="1350" spc="-40">
                          <a:solidFill>
                            <a:srgbClr val="13203C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350" spc="-10">
                          <a:solidFill>
                            <a:srgbClr val="13203C"/>
                          </a:solidFill>
                          <a:latin typeface="Arial"/>
                          <a:cs typeface="Arial"/>
                        </a:rPr>
                        <a:t>values?</a:t>
                      </a:r>
                      <a:endParaRPr sz="1350">
                        <a:latin typeface="Arial"/>
                        <a:cs typeface="Arial"/>
                      </a:endParaRPr>
                    </a:p>
                  </a:txBody>
                  <a:tcPr marL="0" marR="0" marB="0" marT="89535">
                    <a:lnL w="12700">
                      <a:solidFill>
                        <a:srgbClr val="C7C7C5"/>
                      </a:solidFill>
                      <a:prstDash val="solid"/>
                    </a:lnL>
                    <a:lnR w="12700">
                      <a:solidFill>
                        <a:srgbClr val="C7C7C5"/>
                      </a:solidFill>
                      <a:prstDash val="solid"/>
                    </a:lnR>
                    <a:lnT w="12700">
                      <a:solidFill>
                        <a:srgbClr val="C7C7C5"/>
                      </a:solidFill>
                      <a:prstDash val="solid"/>
                    </a:lnT>
                    <a:lnB w="12700">
                      <a:solidFill>
                        <a:srgbClr val="C7C7C5"/>
                      </a:solidFill>
                      <a:prstDash val="solid"/>
                    </a:lnB>
                  </a:tcPr>
                </a:tc>
              </a:tr>
              <a:tr h="383540">
                <a:tc>
                  <a:txBody>
                    <a:bodyPr/>
                    <a:lstStyle/>
                    <a:p>
                      <a:pPr marL="62865">
                        <a:lnSpc>
                          <a:spcPct val="100000"/>
                        </a:lnSpc>
                        <a:spcBef>
                          <a:spcPts val="710"/>
                        </a:spcBef>
                      </a:pPr>
                      <a:r>
                        <a:rPr dirty="0" sz="1350" spc="-10">
                          <a:solidFill>
                            <a:srgbClr val="13203C"/>
                          </a:solidFill>
                          <a:latin typeface="Arial"/>
                          <a:cs typeface="Arial"/>
                        </a:rPr>
                        <a:t>avatars.info()</a:t>
                      </a:r>
                      <a:endParaRPr sz="1350">
                        <a:latin typeface="Arial"/>
                        <a:cs typeface="Arial"/>
                      </a:endParaRPr>
                    </a:p>
                  </a:txBody>
                  <a:tcPr marL="0" marR="0" marB="0" marT="90170">
                    <a:lnL w="12700">
                      <a:solidFill>
                        <a:srgbClr val="C7C7C5"/>
                      </a:solidFill>
                      <a:prstDash val="solid"/>
                    </a:lnL>
                    <a:lnR w="12700">
                      <a:solidFill>
                        <a:srgbClr val="C7C7C5"/>
                      </a:solidFill>
                      <a:prstDash val="solid"/>
                    </a:lnR>
                    <a:lnT w="12700">
                      <a:solidFill>
                        <a:srgbClr val="C7C7C5"/>
                      </a:solidFill>
                      <a:prstDash val="solid"/>
                    </a:lnT>
                    <a:lnB w="12700">
                      <a:solidFill>
                        <a:srgbClr val="C7C7C5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5405">
                        <a:lnSpc>
                          <a:spcPct val="100000"/>
                        </a:lnSpc>
                        <a:spcBef>
                          <a:spcPts val="710"/>
                        </a:spcBef>
                      </a:pPr>
                      <a:r>
                        <a:rPr dirty="0" sz="1350" spc="50">
                          <a:solidFill>
                            <a:srgbClr val="13203C"/>
                          </a:solidFill>
                          <a:latin typeface="Arial"/>
                          <a:cs typeface="Arial"/>
                        </a:rPr>
                        <a:t>all</a:t>
                      </a:r>
                      <a:r>
                        <a:rPr dirty="0" sz="1350" spc="-85">
                          <a:solidFill>
                            <a:srgbClr val="13203C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350" spc="50">
                          <a:solidFill>
                            <a:srgbClr val="13203C"/>
                          </a:solidFill>
                          <a:latin typeface="Arial"/>
                          <a:cs typeface="Arial"/>
                        </a:rPr>
                        <a:t>of</a:t>
                      </a:r>
                      <a:r>
                        <a:rPr dirty="0" sz="1350" spc="-10">
                          <a:solidFill>
                            <a:srgbClr val="13203C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350" spc="50">
                          <a:solidFill>
                            <a:srgbClr val="13203C"/>
                          </a:solidFill>
                          <a:latin typeface="Arial"/>
                          <a:cs typeface="Arial"/>
                        </a:rPr>
                        <a:t>the</a:t>
                      </a:r>
                      <a:r>
                        <a:rPr dirty="0" sz="1350" spc="-30">
                          <a:solidFill>
                            <a:srgbClr val="13203C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350">
                          <a:solidFill>
                            <a:srgbClr val="13203C"/>
                          </a:solidFill>
                          <a:latin typeface="Arial"/>
                          <a:cs typeface="Arial"/>
                        </a:rPr>
                        <a:t>above</a:t>
                      </a:r>
                      <a:r>
                        <a:rPr dirty="0" sz="1350" spc="-35">
                          <a:solidFill>
                            <a:srgbClr val="13203C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350" spc="65">
                          <a:solidFill>
                            <a:srgbClr val="13203C"/>
                          </a:solidFill>
                          <a:latin typeface="Arial"/>
                          <a:cs typeface="Arial"/>
                        </a:rPr>
                        <a:t>at</a:t>
                      </a:r>
                      <a:r>
                        <a:rPr dirty="0" sz="1350" spc="-50">
                          <a:solidFill>
                            <a:srgbClr val="13203C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350" spc="-20">
                          <a:solidFill>
                            <a:srgbClr val="13203C"/>
                          </a:solidFill>
                          <a:latin typeface="Arial"/>
                          <a:cs typeface="Arial"/>
                        </a:rPr>
                        <a:t>once</a:t>
                      </a:r>
                      <a:endParaRPr sz="1350">
                        <a:latin typeface="Arial"/>
                        <a:cs typeface="Arial"/>
                      </a:endParaRPr>
                    </a:p>
                  </a:txBody>
                  <a:tcPr marL="0" marR="0" marB="0" marT="90170">
                    <a:lnL w="12700">
                      <a:solidFill>
                        <a:srgbClr val="C7C7C5"/>
                      </a:solidFill>
                      <a:prstDash val="solid"/>
                    </a:lnL>
                    <a:lnR w="12700">
                      <a:solidFill>
                        <a:srgbClr val="C7C7C5"/>
                      </a:solidFill>
                      <a:prstDash val="solid"/>
                    </a:lnR>
                    <a:lnT w="12700">
                      <a:solidFill>
                        <a:srgbClr val="C7C7C5"/>
                      </a:solidFill>
                      <a:prstDash val="solid"/>
                    </a:lnT>
                    <a:lnB w="12700">
                      <a:solidFill>
                        <a:srgbClr val="C7C7C5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7945">
                        <a:lnSpc>
                          <a:spcPct val="100000"/>
                        </a:lnSpc>
                        <a:spcBef>
                          <a:spcPts val="710"/>
                        </a:spcBef>
                      </a:pPr>
                      <a:r>
                        <a:rPr dirty="0" sz="1350" spc="90">
                          <a:solidFill>
                            <a:srgbClr val="13203C"/>
                          </a:solidFill>
                          <a:latin typeface="Arial"/>
                          <a:cs typeface="Arial"/>
                        </a:rPr>
                        <a:t>Is</a:t>
                      </a:r>
                      <a:r>
                        <a:rPr dirty="0" sz="1350" spc="80">
                          <a:solidFill>
                            <a:srgbClr val="13203C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350">
                          <a:solidFill>
                            <a:srgbClr val="13203C"/>
                          </a:solidFill>
                          <a:latin typeface="Arial"/>
                          <a:cs typeface="Arial"/>
                        </a:rPr>
                        <a:t>anything</a:t>
                      </a:r>
                      <a:r>
                        <a:rPr dirty="0" sz="1350" spc="105">
                          <a:solidFill>
                            <a:srgbClr val="13203C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350" spc="-10">
                          <a:solidFill>
                            <a:srgbClr val="13203C"/>
                          </a:solidFill>
                          <a:latin typeface="Arial"/>
                          <a:cs typeface="Arial"/>
                        </a:rPr>
                        <a:t>missing?</a:t>
                      </a:r>
                      <a:endParaRPr sz="1350">
                        <a:latin typeface="Arial"/>
                        <a:cs typeface="Arial"/>
                      </a:endParaRPr>
                    </a:p>
                  </a:txBody>
                  <a:tcPr marL="0" marR="0" marB="0" marT="90170">
                    <a:lnL w="12700">
                      <a:solidFill>
                        <a:srgbClr val="C7C7C5"/>
                      </a:solidFill>
                      <a:prstDash val="solid"/>
                    </a:lnL>
                    <a:lnR w="12700">
                      <a:solidFill>
                        <a:srgbClr val="C7C7C5"/>
                      </a:solidFill>
                      <a:prstDash val="solid"/>
                    </a:lnR>
                    <a:lnT w="12700">
                      <a:solidFill>
                        <a:srgbClr val="C7C7C5"/>
                      </a:solidFill>
                      <a:prstDash val="solid"/>
                    </a:lnT>
                    <a:lnB w="12700">
                      <a:solidFill>
                        <a:srgbClr val="C7C7C5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5" name="object 5"/>
          <p:cNvSpPr txBox="1"/>
          <p:nvPr/>
        </p:nvSpPr>
        <p:spPr>
          <a:xfrm>
            <a:off x="800480" y="5212384"/>
            <a:ext cx="10343515" cy="53848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 marR="5080">
              <a:lnSpc>
                <a:spcPct val="124600"/>
              </a:lnSpc>
              <a:spcBef>
                <a:spcPts val="95"/>
              </a:spcBef>
            </a:pPr>
            <a:r>
              <a:rPr dirty="0" sz="1350">
                <a:solidFill>
                  <a:srgbClr val="3C495C"/>
                </a:solidFill>
                <a:latin typeface="Arial"/>
                <a:cs typeface="Arial"/>
              </a:rPr>
              <a:t>No</a:t>
            </a:r>
            <a:r>
              <a:rPr dirty="0" sz="1350" spc="40">
                <a:solidFill>
                  <a:srgbClr val="3C495C"/>
                </a:solidFill>
                <a:latin typeface="Arial"/>
                <a:cs typeface="Arial"/>
              </a:rPr>
              <a:t> </a:t>
            </a:r>
            <a:r>
              <a:rPr dirty="0" sz="1350">
                <a:solidFill>
                  <a:srgbClr val="3C495C"/>
                </a:solidFill>
                <a:latin typeface="Arial"/>
                <a:cs typeface="Arial"/>
              </a:rPr>
              <a:t>parentheses</a:t>
            </a:r>
            <a:r>
              <a:rPr dirty="0" sz="1350" spc="80">
                <a:solidFill>
                  <a:srgbClr val="3C495C"/>
                </a:solidFill>
                <a:latin typeface="Arial"/>
                <a:cs typeface="Arial"/>
              </a:rPr>
              <a:t> </a:t>
            </a:r>
            <a:r>
              <a:rPr dirty="0" sz="1350">
                <a:solidFill>
                  <a:srgbClr val="3C495C"/>
                </a:solidFill>
                <a:latin typeface="Arial"/>
                <a:cs typeface="Arial"/>
              </a:rPr>
              <a:t>=</a:t>
            </a:r>
            <a:r>
              <a:rPr dirty="0" sz="1350" spc="65">
                <a:solidFill>
                  <a:srgbClr val="3C495C"/>
                </a:solidFill>
                <a:latin typeface="Arial"/>
                <a:cs typeface="Arial"/>
              </a:rPr>
              <a:t> </a:t>
            </a:r>
            <a:r>
              <a:rPr dirty="0" sz="1350">
                <a:solidFill>
                  <a:srgbClr val="3C495C"/>
                </a:solidFill>
                <a:latin typeface="Arial"/>
                <a:cs typeface="Arial"/>
              </a:rPr>
              <a:t>an</a:t>
            </a:r>
            <a:r>
              <a:rPr dirty="0" sz="1350" spc="110">
                <a:solidFill>
                  <a:srgbClr val="3C495C"/>
                </a:solidFill>
                <a:latin typeface="Arial"/>
                <a:cs typeface="Arial"/>
              </a:rPr>
              <a:t> </a:t>
            </a:r>
            <a:r>
              <a:rPr dirty="0" sz="1350" b="1">
                <a:solidFill>
                  <a:srgbClr val="3C495C"/>
                </a:solidFill>
                <a:latin typeface="Arial"/>
                <a:cs typeface="Arial"/>
              </a:rPr>
              <a:t>attribute</a:t>
            </a:r>
            <a:r>
              <a:rPr dirty="0" sz="1350" spc="125" b="1">
                <a:solidFill>
                  <a:srgbClr val="3C495C"/>
                </a:solidFill>
                <a:latin typeface="Arial"/>
                <a:cs typeface="Arial"/>
              </a:rPr>
              <a:t> </a:t>
            </a:r>
            <a:r>
              <a:rPr dirty="0" sz="1350">
                <a:solidFill>
                  <a:srgbClr val="3C495C"/>
                </a:solidFill>
                <a:latin typeface="Arial"/>
                <a:cs typeface="Arial"/>
              </a:rPr>
              <a:t>you</a:t>
            </a:r>
            <a:r>
              <a:rPr dirty="0" sz="1350" spc="35">
                <a:solidFill>
                  <a:srgbClr val="3C495C"/>
                </a:solidFill>
                <a:latin typeface="Arial"/>
                <a:cs typeface="Arial"/>
              </a:rPr>
              <a:t> </a:t>
            </a:r>
            <a:r>
              <a:rPr dirty="0" sz="1350">
                <a:solidFill>
                  <a:srgbClr val="3C495C"/>
                </a:solidFill>
                <a:latin typeface="Arial"/>
                <a:cs typeface="Arial"/>
              </a:rPr>
              <a:t>read.</a:t>
            </a:r>
            <a:r>
              <a:rPr dirty="0" sz="1350" spc="-5">
                <a:solidFill>
                  <a:srgbClr val="3C495C"/>
                </a:solidFill>
                <a:latin typeface="Arial"/>
                <a:cs typeface="Arial"/>
              </a:rPr>
              <a:t> </a:t>
            </a:r>
            <a:r>
              <a:rPr dirty="0" sz="1350">
                <a:solidFill>
                  <a:srgbClr val="3C495C"/>
                </a:solidFill>
                <a:latin typeface="Arial"/>
                <a:cs typeface="Arial"/>
              </a:rPr>
              <a:t>Parentheses</a:t>
            </a:r>
            <a:r>
              <a:rPr dirty="0" sz="1350" spc="80">
                <a:solidFill>
                  <a:srgbClr val="3C495C"/>
                </a:solidFill>
                <a:latin typeface="Arial"/>
                <a:cs typeface="Arial"/>
              </a:rPr>
              <a:t> </a:t>
            </a:r>
            <a:r>
              <a:rPr dirty="0" sz="1350">
                <a:solidFill>
                  <a:srgbClr val="3C495C"/>
                </a:solidFill>
                <a:latin typeface="Arial"/>
                <a:cs typeface="Arial"/>
              </a:rPr>
              <a:t>=</a:t>
            </a:r>
            <a:r>
              <a:rPr dirty="0" sz="1350" spc="60">
                <a:solidFill>
                  <a:srgbClr val="3C495C"/>
                </a:solidFill>
                <a:latin typeface="Arial"/>
                <a:cs typeface="Arial"/>
              </a:rPr>
              <a:t> </a:t>
            </a:r>
            <a:r>
              <a:rPr dirty="0" sz="1350">
                <a:solidFill>
                  <a:srgbClr val="3C495C"/>
                </a:solidFill>
                <a:latin typeface="Arial"/>
                <a:cs typeface="Arial"/>
              </a:rPr>
              <a:t>a</a:t>
            </a:r>
            <a:r>
              <a:rPr dirty="0" sz="1350" spc="155">
                <a:solidFill>
                  <a:srgbClr val="3C495C"/>
                </a:solidFill>
                <a:latin typeface="Arial"/>
                <a:cs typeface="Arial"/>
              </a:rPr>
              <a:t> </a:t>
            </a:r>
            <a:r>
              <a:rPr dirty="0" sz="1350" b="1">
                <a:solidFill>
                  <a:srgbClr val="3C495C"/>
                </a:solidFill>
                <a:latin typeface="Arial"/>
                <a:cs typeface="Arial"/>
              </a:rPr>
              <a:t>method</a:t>
            </a:r>
            <a:r>
              <a:rPr dirty="0" sz="1350" spc="105" b="1">
                <a:solidFill>
                  <a:srgbClr val="3C495C"/>
                </a:solidFill>
                <a:latin typeface="Arial"/>
                <a:cs typeface="Arial"/>
              </a:rPr>
              <a:t> </a:t>
            </a:r>
            <a:r>
              <a:rPr dirty="0" sz="1350">
                <a:solidFill>
                  <a:srgbClr val="3C495C"/>
                </a:solidFill>
                <a:latin typeface="Arial"/>
                <a:cs typeface="Arial"/>
              </a:rPr>
              <a:t>you</a:t>
            </a:r>
            <a:r>
              <a:rPr dirty="0" sz="1350" spc="35">
                <a:solidFill>
                  <a:srgbClr val="3C495C"/>
                </a:solidFill>
                <a:latin typeface="Arial"/>
                <a:cs typeface="Arial"/>
              </a:rPr>
              <a:t> </a:t>
            </a:r>
            <a:r>
              <a:rPr dirty="0" sz="1350">
                <a:solidFill>
                  <a:srgbClr val="3C495C"/>
                </a:solidFill>
                <a:latin typeface="Arial"/>
                <a:cs typeface="Arial"/>
              </a:rPr>
              <a:t>call.</a:t>
            </a:r>
            <a:r>
              <a:rPr dirty="0" sz="1350" spc="95">
                <a:solidFill>
                  <a:srgbClr val="3C495C"/>
                </a:solidFill>
                <a:latin typeface="Arial"/>
                <a:cs typeface="Arial"/>
              </a:rPr>
              <a:t> </a:t>
            </a:r>
            <a:r>
              <a:rPr dirty="0" sz="1350">
                <a:solidFill>
                  <a:srgbClr val="3C495C"/>
                </a:solidFill>
                <a:latin typeface="Arial"/>
                <a:cs typeface="Arial"/>
              </a:rPr>
              <a:t>Text</a:t>
            </a:r>
            <a:r>
              <a:rPr dirty="0" sz="1350" spc="50">
                <a:solidFill>
                  <a:srgbClr val="3C495C"/>
                </a:solidFill>
                <a:latin typeface="Arial"/>
                <a:cs typeface="Arial"/>
              </a:rPr>
              <a:t> columns</a:t>
            </a:r>
            <a:r>
              <a:rPr dirty="0" sz="1350" spc="85">
                <a:solidFill>
                  <a:srgbClr val="3C495C"/>
                </a:solidFill>
                <a:latin typeface="Arial"/>
                <a:cs typeface="Arial"/>
              </a:rPr>
              <a:t> </a:t>
            </a:r>
            <a:r>
              <a:rPr dirty="0" sz="1350">
                <a:solidFill>
                  <a:srgbClr val="3C495C"/>
                </a:solidFill>
                <a:latin typeface="Arial"/>
                <a:cs typeface="Arial"/>
              </a:rPr>
              <a:t>show</a:t>
            </a:r>
            <a:r>
              <a:rPr dirty="0" sz="1350" spc="145">
                <a:solidFill>
                  <a:srgbClr val="3C495C"/>
                </a:solidFill>
                <a:latin typeface="Arial"/>
                <a:cs typeface="Arial"/>
              </a:rPr>
              <a:t> </a:t>
            </a:r>
            <a:r>
              <a:rPr dirty="0" sz="1350" spc="-20">
                <a:solidFill>
                  <a:srgbClr val="3C495C"/>
                </a:solidFill>
                <a:latin typeface="Arial"/>
                <a:cs typeface="Arial"/>
              </a:rPr>
              <a:t>as</a:t>
            </a:r>
            <a:r>
              <a:rPr dirty="0" sz="1350" spc="50">
                <a:solidFill>
                  <a:srgbClr val="3C495C"/>
                </a:solidFill>
                <a:latin typeface="Arial"/>
                <a:cs typeface="Arial"/>
              </a:rPr>
              <a:t> </a:t>
            </a:r>
            <a:r>
              <a:rPr dirty="0" sz="1350">
                <a:solidFill>
                  <a:srgbClr val="B45209"/>
                </a:solidFill>
                <a:latin typeface="Arial"/>
                <a:cs typeface="Arial"/>
              </a:rPr>
              <a:t>object</a:t>
            </a:r>
            <a:r>
              <a:rPr dirty="0" sz="1350" spc="105">
                <a:solidFill>
                  <a:srgbClr val="B45209"/>
                </a:solidFill>
                <a:latin typeface="Arial"/>
                <a:cs typeface="Arial"/>
              </a:rPr>
              <a:t> </a:t>
            </a:r>
            <a:r>
              <a:rPr dirty="0" sz="1350">
                <a:solidFill>
                  <a:srgbClr val="3C495C"/>
                </a:solidFill>
                <a:latin typeface="Arial"/>
                <a:cs typeface="Arial"/>
              </a:rPr>
              <a:t>in</a:t>
            </a:r>
            <a:r>
              <a:rPr dirty="0" sz="1350" spc="35">
                <a:solidFill>
                  <a:srgbClr val="3C495C"/>
                </a:solidFill>
                <a:latin typeface="Arial"/>
                <a:cs typeface="Arial"/>
              </a:rPr>
              <a:t> </a:t>
            </a:r>
            <a:r>
              <a:rPr dirty="0" sz="1350">
                <a:solidFill>
                  <a:srgbClr val="3C495C"/>
                </a:solidFill>
                <a:latin typeface="Arial"/>
                <a:cs typeface="Arial"/>
              </a:rPr>
              <a:t>older</a:t>
            </a:r>
            <a:r>
              <a:rPr dirty="0" sz="1350" spc="105">
                <a:solidFill>
                  <a:srgbClr val="3C495C"/>
                </a:solidFill>
                <a:latin typeface="Arial"/>
                <a:cs typeface="Arial"/>
              </a:rPr>
              <a:t> </a:t>
            </a:r>
            <a:r>
              <a:rPr dirty="0" sz="1350">
                <a:solidFill>
                  <a:srgbClr val="3C495C"/>
                </a:solidFill>
                <a:latin typeface="Arial"/>
                <a:cs typeface="Arial"/>
              </a:rPr>
              <a:t>pandas</a:t>
            </a:r>
            <a:r>
              <a:rPr dirty="0" sz="1350" spc="75">
                <a:solidFill>
                  <a:srgbClr val="3C495C"/>
                </a:solidFill>
                <a:latin typeface="Arial"/>
                <a:cs typeface="Arial"/>
              </a:rPr>
              <a:t> </a:t>
            </a:r>
            <a:r>
              <a:rPr dirty="0" sz="1350">
                <a:solidFill>
                  <a:srgbClr val="3C495C"/>
                </a:solidFill>
                <a:latin typeface="Arial"/>
                <a:cs typeface="Arial"/>
              </a:rPr>
              <a:t>and</a:t>
            </a:r>
            <a:r>
              <a:rPr dirty="0" sz="1350" spc="140">
                <a:solidFill>
                  <a:srgbClr val="3C495C"/>
                </a:solidFill>
                <a:latin typeface="Arial"/>
                <a:cs typeface="Arial"/>
              </a:rPr>
              <a:t> </a:t>
            </a:r>
            <a:r>
              <a:rPr dirty="0" sz="1350">
                <a:solidFill>
                  <a:srgbClr val="B45209"/>
                </a:solidFill>
                <a:latin typeface="Arial"/>
                <a:cs typeface="Arial"/>
              </a:rPr>
              <a:t>str</a:t>
            </a:r>
            <a:r>
              <a:rPr dirty="0" sz="1350" spc="110">
                <a:solidFill>
                  <a:srgbClr val="B45209"/>
                </a:solidFill>
                <a:latin typeface="Arial"/>
                <a:cs typeface="Arial"/>
              </a:rPr>
              <a:t> </a:t>
            </a:r>
            <a:r>
              <a:rPr dirty="0" sz="1350" spc="-25">
                <a:solidFill>
                  <a:srgbClr val="3C495C"/>
                </a:solidFill>
                <a:latin typeface="Arial"/>
                <a:cs typeface="Arial"/>
              </a:rPr>
              <a:t>in </a:t>
            </a:r>
            <a:r>
              <a:rPr dirty="0" sz="1350">
                <a:solidFill>
                  <a:srgbClr val="3C495C"/>
                </a:solidFill>
                <a:latin typeface="Arial"/>
                <a:cs typeface="Arial"/>
              </a:rPr>
              <a:t>pandas</a:t>
            </a:r>
            <a:r>
              <a:rPr dirty="0" sz="1350" spc="114">
                <a:solidFill>
                  <a:srgbClr val="3C495C"/>
                </a:solidFill>
                <a:latin typeface="Arial"/>
                <a:cs typeface="Arial"/>
              </a:rPr>
              <a:t> </a:t>
            </a:r>
            <a:r>
              <a:rPr dirty="0" sz="1350" spc="-25">
                <a:solidFill>
                  <a:srgbClr val="3C495C"/>
                </a:solidFill>
                <a:latin typeface="Arial"/>
                <a:cs typeface="Arial"/>
              </a:rPr>
              <a:t>3.</a:t>
            </a:r>
            <a:endParaRPr sz="135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-62"/>
            <a:ext cx="12189460" cy="6859905"/>
          </a:xfrm>
          <a:custGeom>
            <a:avLst/>
            <a:gdLst/>
            <a:ahLst/>
            <a:cxnLst/>
            <a:rect l="l" t="t" r="r" b="b"/>
            <a:pathLst>
              <a:path w="12189460" h="6859905">
                <a:moveTo>
                  <a:pt x="12188952" y="0"/>
                </a:moveTo>
                <a:lnTo>
                  <a:pt x="0" y="0"/>
                </a:lnTo>
                <a:lnTo>
                  <a:pt x="0" y="6859778"/>
                </a:lnTo>
                <a:lnTo>
                  <a:pt x="12188952" y="6859778"/>
                </a:lnTo>
                <a:lnTo>
                  <a:pt x="12188952" y="0"/>
                </a:lnTo>
                <a:close/>
              </a:path>
            </a:pathLst>
          </a:custGeom>
          <a:solidFill>
            <a:srgbClr val="EDF0F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800480" y="819721"/>
            <a:ext cx="1702435" cy="234315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1350" spc="65" b="1">
                <a:solidFill>
                  <a:srgbClr val="B45209"/>
                </a:solidFill>
                <a:latin typeface="Arial"/>
                <a:cs typeface="Arial"/>
              </a:rPr>
              <a:t>0</a:t>
            </a:r>
            <a:r>
              <a:rPr dirty="0" sz="1350" spc="-185" b="1">
                <a:solidFill>
                  <a:srgbClr val="B45209"/>
                </a:solidFill>
                <a:latin typeface="Arial"/>
                <a:cs typeface="Arial"/>
              </a:rPr>
              <a:t> </a:t>
            </a:r>
            <a:r>
              <a:rPr dirty="0" sz="1350" spc="65" b="1">
                <a:solidFill>
                  <a:srgbClr val="B45209"/>
                </a:solidFill>
                <a:latin typeface="Arial"/>
                <a:cs typeface="Arial"/>
              </a:rPr>
              <a:t>3</a:t>
            </a:r>
            <a:r>
              <a:rPr dirty="0" sz="1350" spc="290" b="1">
                <a:solidFill>
                  <a:srgbClr val="B45209"/>
                </a:solidFill>
                <a:latin typeface="Arial"/>
                <a:cs typeface="Arial"/>
              </a:rPr>
              <a:t> </a:t>
            </a:r>
            <a:r>
              <a:rPr dirty="0" sz="1350" b="1">
                <a:solidFill>
                  <a:srgbClr val="B45209"/>
                </a:solidFill>
                <a:latin typeface="Arial"/>
                <a:cs typeface="Arial"/>
              </a:rPr>
              <a:t>·</a:t>
            </a:r>
            <a:r>
              <a:rPr dirty="0" sz="1350" spc="335" b="1">
                <a:solidFill>
                  <a:srgbClr val="B45209"/>
                </a:solidFill>
                <a:latin typeface="Arial"/>
                <a:cs typeface="Arial"/>
              </a:rPr>
              <a:t> </a:t>
            </a:r>
            <a:r>
              <a:rPr dirty="0" sz="1350" b="1">
                <a:solidFill>
                  <a:srgbClr val="B45209"/>
                </a:solidFill>
                <a:latin typeface="Arial"/>
                <a:cs typeface="Arial"/>
              </a:rPr>
              <a:t>DA</a:t>
            </a:r>
            <a:r>
              <a:rPr dirty="0" sz="1350" spc="-150" b="1">
                <a:solidFill>
                  <a:srgbClr val="B45209"/>
                </a:solidFill>
                <a:latin typeface="Arial"/>
                <a:cs typeface="Arial"/>
              </a:rPr>
              <a:t> </a:t>
            </a:r>
            <a:r>
              <a:rPr dirty="0" sz="1350" b="1">
                <a:solidFill>
                  <a:srgbClr val="B45209"/>
                </a:solidFill>
                <a:latin typeface="Arial"/>
                <a:cs typeface="Arial"/>
              </a:rPr>
              <a:t>TA</a:t>
            </a:r>
            <a:r>
              <a:rPr dirty="0" sz="1350" spc="-150" b="1">
                <a:solidFill>
                  <a:srgbClr val="B45209"/>
                </a:solidFill>
                <a:latin typeface="Arial"/>
                <a:cs typeface="Arial"/>
              </a:rPr>
              <a:t> </a:t>
            </a:r>
            <a:r>
              <a:rPr dirty="0" sz="1350" spc="50" b="1">
                <a:solidFill>
                  <a:srgbClr val="B45209"/>
                </a:solidFill>
                <a:latin typeface="Arial"/>
                <a:cs typeface="Arial"/>
              </a:rPr>
              <a:t>FRA</a:t>
            </a:r>
            <a:r>
              <a:rPr dirty="0" sz="1350" spc="-145" b="1">
                <a:solidFill>
                  <a:srgbClr val="B45209"/>
                </a:solidFill>
                <a:latin typeface="Arial"/>
                <a:cs typeface="Arial"/>
              </a:rPr>
              <a:t> </a:t>
            </a:r>
            <a:r>
              <a:rPr dirty="0" sz="1350" spc="-20" b="1">
                <a:solidFill>
                  <a:srgbClr val="B45209"/>
                </a:solidFill>
                <a:latin typeface="Arial"/>
                <a:cs typeface="Arial"/>
              </a:rPr>
              <a:t>M</a:t>
            </a:r>
            <a:r>
              <a:rPr dirty="0" sz="1350" spc="-190" b="1">
                <a:solidFill>
                  <a:srgbClr val="B45209"/>
                </a:solidFill>
                <a:latin typeface="Arial"/>
                <a:cs typeface="Arial"/>
              </a:rPr>
              <a:t> </a:t>
            </a:r>
            <a:r>
              <a:rPr dirty="0" sz="1350" spc="-60" b="1">
                <a:solidFill>
                  <a:srgbClr val="B45209"/>
                </a:solidFill>
                <a:latin typeface="Arial"/>
                <a:cs typeface="Arial"/>
              </a:rPr>
              <a:t>E</a:t>
            </a:r>
            <a:endParaRPr sz="1350">
              <a:latin typeface="Arial"/>
              <a:cs typeface="Arial"/>
            </a:endParaRPr>
          </a:p>
        </p:txBody>
      </p:sp>
      <p:sp>
        <p:nvSpPr>
          <p:cNvPr id="4" name="object 4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/>
              <a:t>Real</a:t>
            </a:r>
            <a:r>
              <a:rPr dirty="0" spc="-135"/>
              <a:t> </a:t>
            </a:r>
            <a:r>
              <a:rPr dirty="0" spc="60"/>
              <a:t>data:</a:t>
            </a:r>
            <a:r>
              <a:rPr dirty="0" spc="-135"/>
              <a:t> </a:t>
            </a:r>
            <a:r>
              <a:rPr dirty="0"/>
              <a:t>how</a:t>
            </a:r>
            <a:r>
              <a:rPr dirty="0" spc="-175"/>
              <a:t> </a:t>
            </a:r>
            <a:r>
              <a:rPr dirty="0" spc="90"/>
              <a:t>two</a:t>
            </a:r>
            <a:r>
              <a:rPr dirty="0" spc="-165"/>
              <a:t> </a:t>
            </a:r>
            <a:r>
              <a:rPr dirty="0" spc="-10"/>
              <a:t>phone</a:t>
            </a:r>
            <a:r>
              <a:rPr dirty="0" spc="-90"/>
              <a:t> </a:t>
            </a:r>
            <a:r>
              <a:rPr dirty="0"/>
              <a:t>apps</a:t>
            </a:r>
            <a:r>
              <a:rPr dirty="0" spc="-114"/>
              <a:t> </a:t>
            </a:r>
            <a:r>
              <a:rPr dirty="0" spc="-40"/>
              <a:t>use</a:t>
            </a:r>
            <a:r>
              <a:rPr dirty="0" spc="-160"/>
              <a:t> </a:t>
            </a:r>
            <a:r>
              <a:rPr dirty="0" spc="-85"/>
              <a:t>CPU</a:t>
            </a:r>
            <a:r>
              <a:rPr dirty="0" spc="-65"/>
              <a:t> </a:t>
            </a:r>
            <a:r>
              <a:rPr dirty="0"/>
              <a:t>and</a:t>
            </a:r>
            <a:r>
              <a:rPr dirty="0" spc="-160"/>
              <a:t> </a:t>
            </a:r>
            <a:r>
              <a:rPr dirty="0" spc="-10"/>
              <a:t>memory</a:t>
            </a:r>
          </a:p>
        </p:txBody>
      </p:sp>
      <p:sp>
        <p:nvSpPr>
          <p:cNvPr id="5" name="object 5"/>
          <p:cNvSpPr/>
          <p:nvPr/>
        </p:nvSpPr>
        <p:spPr>
          <a:xfrm>
            <a:off x="813816" y="1829307"/>
            <a:ext cx="10561320" cy="695325"/>
          </a:xfrm>
          <a:custGeom>
            <a:avLst/>
            <a:gdLst/>
            <a:ahLst/>
            <a:cxnLst/>
            <a:rect l="l" t="t" r="r" b="b"/>
            <a:pathLst>
              <a:path w="10561320" h="695325">
                <a:moveTo>
                  <a:pt x="10459085" y="0"/>
                </a:moveTo>
                <a:lnTo>
                  <a:pt x="102196" y="0"/>
                </a:lnTo>
                <a:lnTo>
                  <a:pt x="62418" y="8024"/>
                </a:lnTo>
                <a:lnTo>
                  <a:pt x="29933" y="29908"/>
                </a:lnTo>
                <a:lnTo>
                  <a:pt x="8031" y="62364"/>
                </a:lnTo>
                <a:lnTo>
                  <a:pt x="0" y="102107"/>
                </a:lnTo>
                <a:lnTo>
                  <a:pt x="0" y="592836"/>
                </a:lnTo>
                <a:lnTo>
                  <a:pt x="8031" y="632652"/>
                </a:lnTo>
                <a:lnTo>
                  <a:pt x="29933" y="665146"/>
                </a:lnTo>
                <a:lnTo>
                  <a:pt x="62418" y="687044"/>
                </a:lnTo>
                <a:lnTo>
                  <a:pt x="102196" y="695070"/>
                </a:lnTo>
                <a:lnTo>
                  <a:pt x="10459085" y="695070"/>
                </a:lnTo>
                <a:lnTo>
                  <a:pt x="10498901" y="687044"/>
                </a:lnTo>
                <a:lnTo>
                  <a:pt x="10531395" y="665146"/>
                </a:lnTo>
                <a:lnTo>
                  <a:pt x="10553293" y="632652"/>
                </a:lnTo>
                <a:lnTo>
                  <a:pt x="10561319" y="592836"/>
                </a:lnTo>
                <a:lnTo>
                  <a:pt x="10561319" y="102107"/>
                </a:lnTo>
                <a:lnTo>
                  <a:pt x="10553293" y="62364"/>
                </a:lnTo>
                <a:lnTo>
                  <a:pt x="10531395" y="29908"/>
                </a:lnTo>
                <a:lnTo>
                  <a:pt x="10498901" y="8024"/>
                </a:lnTo>
                <a:lnTo>
                  <a:pt x="10459085" y="0"/>
                </a:lnTo>
                <a:close/>
              </a:path>
            </a:pathLst>
          </a:custGeom>
          <a:solidFill>
            <a:srgbClr val="13203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/>
          <p:nvPr/>
        </p:nvSpPr>
        <p:spPr>
          <a:xfrm>
            <a:off x="1054620" y="2063940"/>
            <a:ext cx="4655185" cy="234315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1350" spc="-30">
                <a:solidFill>
                  <a:srgbClr val="F4F0EA"/>
                </a:solidFill>
                <a:latin typeface="Arial"/>
                <a:cs typeface="Arial"/>
              </a:rPr>
              <a:t>df_mystery</a:t>
            </a:r>
            <a:r>
              <a:rPr dirty="0" sz="1350" spc="-50">
                <a:solidFill>
                  <a:srgbClr val="F4F0EA"/>
                </a:solidFill>
                <a:latin typeface="Arial"/>
                <a:cs typeface="Arial"/>
              </a:rPr>
              <a:t> </a:t>
            </a:r>
            <a:r>
              <a:rPr dirty="0" sz="1350" spc="-120">
                <a:solidFill>
                  <a:srgbClr val="F4F0EA"/>
                </a:solidFill>
                <a:latin typeface="Arial"/>
                <a:cs typeface="Arial"/>
              </a:rPr>
              <a:t>=</a:t>
            </a:r>
            <a:r>
              <a:rPr dirty="0" sz="1350" spc="-35">
                <a:solidFill>
                  <a:srgbClr val="F4F0EA"/>
                </a:solidFill>
                <a:latin typeface="Arial"/>
                <a:cs typeface="Arial"/>
              </a:rPr>
              <a:t> </a:t>
            </a:r>
            <a:r>
              <a:rPr dirty="0" sz="1350" spc="-40">
                <a:solidFill>
                  <a:srgbClr val="F4F0EA"/>
                </a:solidFill>
                <a:latin typeface="Arial"/>
                <a:cs typeface="Arial"/>
              </a:rPr>
              <a:t>pandas.read_csv("sherlock/sherlock_mystery.csv")</a:t>
            </a:r>
            <a:endParaRPr sz="1350">
              <a:latin typeface="Arial"/>
              <a:cs typeface="Arial"/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815213" y="2754376"/>
            <a:ext cx="3389629" cy="1579880"/>
            <a:chOff x="815213" y="2754376"/>
            <a:chExt cx="3389629" cy="1579880"/>
          </a:xfrm>
        </p:grpSpPr>
        <p:sp>
          <p:nvSpPr>
            <p:cNvPr id="8" name="object 8"/>
            <p:cNvSpPr/>
            <p:nvPr/>
          </p:nvSpPr>
          <p:spPr>
            <a:xfrm>
              <a:off x="818388" y="2757551"/>
              <a:ext cx="3383279" cy="1573530"/>
            </a:xfrm>
            <a:custGeom>
              <a:avLst/>
              <a:gdLst/>
              <a:ahLst/>
              <a:cxnLst/>
              <a:rect l="l" t="t" r="r" b="b"/>
              <a:pathLst>
                <a:path w="3383279" h="1573529">
                  <a:moveTo>
                    <a:pt x="3284982" y="0"/>
                  </a:moveTo>
                  <a:lnTo>
                    <a:pt x="98361" y="0"/>
                  </a:lnTo>
                  <a:lnTo>
                    <a:pt x="60077" y="7735"/>
                  </a:lnTo>
                  <a:lnTo>
                    <a:pt x="28811" y="28829"/>
                  </a:lnTo>
                  <a:lnTo>
                    <a:pt x="7730" y="60114"/>
                  </a:lnTo>
                  <a:lnTo>
                    <a:pt x="0" y="98425"/>
                  </a:lnTo>
                  <a:lnTo>
                    <a:pt x="0" y="1474851"/>
                  </a:lnTo>
                  <a:lnTo>
                    <a:pt x="7730" y="1513161"/>
                  </a:lnTo>
                  <a:lnTo>
                    <a:pt x="28811" y="1544447"/>
                  </a:lnTo>
                  <a:lnTo>
                    <a:pt x="60077" y="1565540"/>
                  </a:lnTo>
                  <a:lnTo>
                    <a:pt x="98361" y="1573276"/>
                  </a:lnTo>
                  <a:lnTo>
                    <a:pt x="3284982" y="1573276"/>
                  </a:lnTo>
                  <a:lnTo>
                    <a:pt x="3323218" y="1565540"/>
                  </a:lnTo>
                  <a:lnTo>
                    <a:pt x="3354466" y="1544446"/>
                  </a:lnTo>
                  <a:lnTo>
                    <a:pt x="3375546" y="1513161"/>
                  </a:lnTo>
                  <a:lnTo>
                    <a:pt x="3383279" y="1474851"/>
                  </a:lnTo>
                  <a:lnTo>
                    <a:pt x="3383279" y="98425"/>
                  </a:lnTo>
                  <a:lnTo>
                    <a:pt x="3375546" y="60114"/>
                  </a:lnTo>
                  <a:lnTo>
                    <a:pt x="3354466" y="28828"/>
                  </a:lnTo>
                  <a:lnTo>
                    <a:pt x="3323218" y="7735"/>
                  </a:lnTo>
                  <a:lnTo>
                    <a:pt x="3284982" y="0"/>
                  </a:lnTo>
                  <a:close/>
                </a:path>
              </a:pathLst>
            </a:custGeom>
            <a:solidFill>
              <a:srgbClr val="FAFAF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" name="object 9"/>
            <p:cNvSpPr/>
            <p:nvPr/>
          </p:nvSpPr>
          <p:spPr>
            <a:xfrm>
              <a:off x="818388" y="2757551"/>
              <a:ext cx="3383279" cy="1573530"/>
            </a:xfrm>
            <a:custGeom>
              <a:avLst/>
              <a:gdLst/>
              <a:ahLst/>
              <a:cxnLst/>
              <a:rect l="l" t="t" r="r" b="b"/>
              <a:pathLst>
                <a:path w="3383279" h="1573529">
                  <a:moveTo>
                    <a:pt x="0" y="98425"/>
                  </a:moveTo>
                  <a:lnTo>
                    <a:pt x="7730" y="60114"/>
                  </a:lnTo>
                  <a:lnTo>
                    <a:pt x="28811" y="28829"/>
                  </a:lnTo>
                  <a:lnTo>
                    <a:pt x="60077" y="7735"/>
                  </a:lnTo>
                  <a:lnTo>
                    <a:pt x="98361" y="0"/>
                  </a:lnTo>
                  <a:lnTo>
                    <a:pt x="3284982" y="0"/>
                  </a:lnTo>
                  <a:lnTo>
                    <a:pt x="3323218" y="7735"/>
                  </a:lnTo>
                  <a:lnTo>
                    <a:pt x="3354466" y="28828"/>
                  </a:lnTo>
                  <a:lnTo>
                    <a:pt x="3375546" y="60114"/>
                  </a:lnTo>
                  <a:lnTo>
                    <a:pt x="3383279" y="98425"/>
                  </a:lnTo>
                  <a:lnTo>
                    <a:pt x="3383279" y="1474851"/>
                  </a:lnTo>
                  <a:lnTo>
                    <a:pt x="3375546" y="1513161"/>
                  </a:lnTo>
                  <a:lnTo>
                    <a:pt x="3354466" y="1544446"/>
                  </a:lnTo>
                  <a:lnTo>
                    <a:pt x="3323218" y="1565540"/>
                  </a:lnTo>
                  <a:lnTo>
                    <a:pt x="3284982" y="1573276"/>
                  </a:lnTo>
                  <a:lnTo>
                    <a:pt x="98361" y="1573276"/>
                  </a:lnTo>
                  <a:lnTo>
                    <a:pt x="60077" y="1565540"/>
                  </a:lnTo>
                  <a:lnTo>
                    <a:pt x="28811" y="1544447"/>
                  </a:lnTo>
                  <a:lnTo>
                    <a:pt x="7730" y="1513161"/>
                  </a:lnTo>
                  <a:lnTo>
                    <a:pt x="0" y="1474851"/>
                  </a:lnTo>
                  <a:lnTo>
                    <a:pt x="0" y="98425"/>
                  </a:lnTo>
                  <a:close/>
                </a:path>
              </a:pathLst>
            </a:custGeom>
            <a:ln w="6350">
              <a:solidFill>
                <a:srgbClr val="D9DEE6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0" name="object 10"/>
          <p:cNvSpPr txBox="1"/>
          <p:nvPr/>
        </p:nvSpPr>
        <p:spPr>
          <a:xfrm>
            <a:off x="1059980" y="2522580"/>
            <a:ext cx="2656840" cy="1350010"/>
          </a:xfrm>
          <a:prstGeom prst="rect">
            <a:avLst/>
          </a:prstGeom>
        </p:spPr>
        <p:txBody>
          <a:bodyPr wrap="square" lIns="0" tIns="35179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770"/>
              </a:spcBef>
            </a:pPr>
            <a:r>
              <a:rPr dirty="0" sz="4400" spc="135" b="1">
                <a:solidFill>
                  <a:srgbClr val="13203C"/>
                </a:solidFill>
                <a:latin typeface="Arial"/>
                <a:cs typeface="Arial"/>
              </a:rPr>
              <a:t>200</a:t>
            </a:r>
            <a:endParaRPr sz="44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855"/>
              </a:spcBef>
            </a:pPr>
            <a:r>
              <a:rPr dirty="0" sz="1350">
                <a:solidFill>
                  <a:srgbClr val="3C495C"/>
                </a:solidFill>
                <a:latin typeface="Arial"/>
                <a:cs typeface="Arial"/>
              </a:rPr>
              <a:t>rows:</a:t>
            </a:r>
            <a:r>
              <a:rPr dirty="0" sz="1350" spc="75">
                <a:solidFill>
                  <a:srgbClr val="3C495C"/>
                </a:solidFill>
                <a:latin typeface="Arial"/>
                <a:cs typeface="Arial"/>
              </a:rPr>
              <a:t> </a:t>
            </a:r>
            <a:r>
              <a:rPr dirty="0" sz="1350">
                <a:solidFill>
                  <a:srgbClr val="3C495C"/>
                </a:solidFill>
                <a:latin typeface="Arial"/>
                <a:cs typeface="Arial"/>
              </a:rPr>
              <a:t>snapshots</a:t>
            </a:r>
            <a:r>
              <a:rPr dirty="0" sz="1350" spc="204">
                <a:solidFill>
                  <a:srgbClr val="3C495C"/>
                </a:solidFill>
                <a:latin typeface="Arial"/>
                <a:cs typeface="Arial"/>
              </a:rPr>
              <a:t> </a:t>
            </a:r>
            <a:r>
              <a:rPr dirty="0" sz="1350">
                <a:solidFill>
                  <a:srgbClr val="3C495C"/>
                </a:solidFill>
                <a:latin typeface="Arial"/>
                <a:cs typeface="Arial"/>
              </a:rPr>
              <a:t>of</a:t>
            </a:r>
            <a:r>
              <a:rPr dirty="0" sz="1350" spc="120">
                <a:solidFill>
                  <a:srgbClr val="3C495C"/>
                </a:solidFill>
                <a:latin typeface="Arial"/>
                <a:cs typeface="Arial"/>
              </a:rPr>
              <a:t> </a:t>
            </a:r>
            <a:r>
              <a:rPr dirty="0" sz="1350">
                <a:solidFill>
                  <a:srgbClr val="3C495C"/>
                </a:solidFill>
                <a:latin typeface="Arial"/>
                <a:cs typeface="Arial"/>
              </a:rPr>
              <a:t>a</a:t>
            </a:r>
            <a:r>
              <a:rPr dirty="0" sz="1350" spc="114">
                <a:solidFill>
                  <a:srgbClr val="3C495C"/>
                </a:solidFill>
                <a:latin typeface="Arial"/>
                <a:cs typeface="Arial"/>
              </a:rPr>
              <a:t> </a:t>
            </a:r>
            <a:r>
              <a:rPr dirty="0" sz="1350">
                <a:solidFill>
                  <a:srgbClr val="3C495C"/>
                </a:solidFill>
                <a:latin typeface="Arial"/>
                <a:cs typeface="Arial"/>
              </a:rPr>
              <a:t>running</a:t>
            </a:r>
            <a:r>
              <a:rPr dirty="0" sz="1350" spc="35">
                <a:solidFill>
                  <a:srgbClr val="3C495C"/>
                </a:solidFill>
                <a:latin typeface="Arial"/>
                <a:cs typeface="Arial"/>
              </a:rPr>
              <a:t> </a:t>
            </a:r>
            <a:r>
              <a:rPr dirty="0" sz="1350" spc="-25">
                <a:solidFill>
                  <a:srgbClr val="3C495C"/>
                </a:solidFill>
                <a:latin typeface="Arial"/>
                <a:cs typeface="Arial"/>
              </a:rPr>
              <a:t>app</a:t>
            </a:r>
            <a:endParaRPr sz="1350">
              <a:latin typeface="Arial"/>
              <a:cs typeface="Arial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4408804" y="2754376"/>
            <a:ext cx="3380740" cy="1579880"/>
            <a:chOff x="4408804" y="2754376"/>
            <a:chExt cx="3380740" cy="1579880"/>
          </a:xfrm>
        </p:grpSpPr>
        <p:sp>
          <p:nvSpPr>
            <p:cNvPr id="12" name="object 12"/>
            <p:cNvSpPr/>
            <p:nvPr/>
          </p:nvSpPr>
          <p:spPr>
            <a:xfrm>
              <a:off x="4411979" y="2757551"/>
              <a:ext cx="3374390" cy="1573530"/>
            </a:xfrm>
            <a:custGeom>
              <a:avLst/>
              <a:gdLst/>
              <a:ahLst/>
              <a:cxnLst/>
              <a:rect l="l" t="t" r="r" b="b"/>
              <a:pathLst>
                <a:path w="3374390" h="1573529">
                  <a:moveTo>
                    <a:pt x="3275838" y="0"/>
                  </a:moveTo>
                  <a:lnTo>
                    <a:pt x="98298" y="0"/>
                  </a:lnTo>
                  <a:lnTo>
                    <a:pt x="60061" y="7735"/>
                  </a:lnTo>
                  <a:lnTo>
                    <a:pt x="28813" y="28829"/>
                  </a:lnTo>
                  <a:lnTo>
                    <a:pt x="7733" y="60114"/>
                  </a:lnTo>
                  <a:lnTo>
                    <a:pt x="0" y="98425"/>
                  </a:lnTo>
                  <a:lnTo>
                    <a:pt x="0" y="1474851"/>
                  </a:lnTo>
                  <a:lnTo>
                    <a:pt x="7733" y="1513161"/>
                  </a:lnTo>
                  <a:lnTo>
                    <a:pt x="28813" y="1544447"/>
                  </a:lnTo>
                  <a:lnTo>
                    <a:pt x="60061" y="1565540"/>
                  </a:lnTo>
                  <a:lnTo>
                    <a:pt x="98298" y="1573276"/>
                  </a:lnTo>
                  <a:lnTo>
                    <a:pt x="3275838" y="1573276"/>
                  </a:lnTo>
                  <a:lnTo>
                    <a:pt x="3314074" y="1565540"/>
                  </a:lnTo>
                  <a:lnTo>
                    <a:pt x="3345322" y="1544446"/>
                  </a:lnTo>
                  <a:lnTo>
                    <a:pt x="3366402" y="1513161"/>
                  </a:lnTo>
                  <a:lnTo>
                    <a:pt x="3374136" y="1474851"/>
                  </a:lnTo>
                  <a:lnTo>
                    <a:pt x="3374136" y="98425"/>
                  </a:lnTo>
                  <a:lnTo>
                    <a:pt x="3366402" y="60114"/>
                  </a:lnTo>
                  <a:lnTo>
                    <a:pt x="3345322" y="28828"/>
                  </a:lnTo>
                  <a:lnTo>
                    <a:pt x="3314074" y="7735"/>
                  </a:lnTo>
                  <a:lnTo>
                    <a:pt x="3275838" y="0"/>
                  </a:lnTo>
                  <a:close/>
                </a:path>
              </a:pathLst>
            </a:custGeom>
            <a:solidFill>
              <a:srgbClr val="FAFAF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3" name="object 13"/>
            <p:cNvSpPr/>
            <p:nvPr/>
          </p:nvSpPr>
          <p:spPr>
            <a:xfrm>
              <a:off x="4411979" y="2757551"/>
              <a:ext cx="3374390" cy="1573530"/>
            </a:xfrm>
            <a:custGeom>
              <a:avLst/>
              <a:gdLst/>
              <a:ahLst/>
              <a:cxnLst/>
              <a:rect l="l" t="t" r="r" b="b"/>
              <a:pathLst>
                <a:path w="3374390" h="1573529">
                  <a:moveTo>
                    <a:pt x="0" y="98425"/>
                  </a:moveTo>
                  <a:lnTo>
                    <a:pt x="7733" y="60114"/>
                  </a:lnTo>
                  <a:lnTo>
                    <a:pt x="28813" y="28829"/>
                  </a:lnTo>
                  <a:lnTo>
                    <a:pt x="60061" y="7735"/>
                  </a:lnTo>
                  <a:lnTo>
                    <a:pt x="98298" y="0"/>
                  </a:lnTo>
                  <a:lnTo>
                    <a:pt x="3275838" y="0"/>
                  </a:lnTo>
                  <a:lnTo>
                    <a:pt x="3314074" y="7735"/>
                  </a:lnTo>
                  <a:lnTo>
                    <a:pt x="3345322" y="28828"/>
                  </a:lnTo>
                  <a:lnTo>
                    <a:pt x="3366402" y="60114"/>
                  </a:lnTo>
                  <a:lnTo>
                    <a:pt x="3374136" y="98425"/>
                  </a:lnTo>
                  <a:lnTo>
                    <a:pt x="3374136" y="1474851"/>
                  </a:lnTo>
                  <a:lnTo>
                    <a:pt x="3366402" y="1513161"/>
                  </a:lnTo>
                  <a:lnTo>
                    <a:pt x="3345322" y="1544446"/>
                  </a:lnTo>
                  <a:lnTo>
                    <a:pt x="3314074" y="1565540"/>
                  </a:lnTo>
                  <a:lnTo>
                    <a:pt x="3275838" y="1573276"/>
                  </a:lnTo>
                  <a:lnTo>
                    <a:pt x="98298" y="1573276"/>
                  </a:lnTo>
                  <a:lnTo>
                    <a:pt x="60061" y="1565540"/>
                  </a:lnTo>
                  <a:lnTo>
                    <a:pt x="28813" y="1544447"/>
                  </a:lnTo>
                  <a:lnTo>
                    <a:pt x="7733" y="1513161"/>
                  </a:lnTo>
                  <a:lnTo>
                    <a:pt x="0" y="1474851"/>
                  </a:lnTo>
                  <a:lnTo>
                    <a:pt x="0" y="98425"/>
                  </a:lnTo>
                  <a:close/>
                </a:path>
              </a:pathLst>
            </a:custGeom>
            <a:ln w="6350">
              <a:solidFill>
                <a:srgbClr val="D9DEE6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4" name="object 14"/>
          <p:cNvSpPr txBox="1"/>
          <p:nvPr/>
        </p:nvSpPr>
        <p:spPr>
          <a:xfrm>
            <a:off x="4651628" y="2522580"/>
            <a:ext cx="1853564" cy="1607185"/>
          </a:xfrm>
          <a:prstGeom prst="rect">
            <a:avLst/>
          </a:prstGeom>
        </p:spPr>
        <p:txBody>
          <a:bodyPr wrap="square" lIns="0" tIns="35179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770"/>
              </a:spcBef>
            </a:pPr>
            <a:r>
              <a:rPr dirty="0" sz="4400" spc="165" b="1">
                <a:solidFill>
                  <a:srgbClr val="13203C"/>
                </a:solidFill>
                <a:latin typeface="Arial"/>
                <a:cs typeface="Arial"/>
              </a:rPr>
              <a:t>14</a:t>
            </a:r>
            <a:endParaRPr sz="44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855"/>
              </a:spcBef>
            </a:pPr>
            <a:r>
              <a:rPr dirty="0" sz="1350" spc="10">
                <a:solidFill>
                  <a:srgbClr val="3C495C"/>
                </a:solidFill>
                <a:latin typeface="Arial"/>
                <a:cs typeface="Arial"/>
              </a:rPr>
              <a:t>columns:</a:t>
            </a:r>
            <a:r>
              <a:rPr dirty="0" sz="1350" spc="204">
                <a:solidFill>
                  <a:srgbClr val="3C495C"/>
                </a:solidFill>
                <a:latin typeface="Arial"/>
                <a:cs typeface="Arial"/>
              </a:rPr>
              <a:t> </a:t>
            </a:r>
            <a:r>
              <a:rPr dirty="0" sz="1350" spc="-40">
                <a:solidFill>
                  <a:srgbClr val="3C495C"/>
                </a:solidFill>
                <a:latin typeface="Arial"/>
                <a:cs typeface="Arial"/>
              </a:rPr>
              <a:t>CPU_USAGE,</a:t>
            </a:r>
            <a:endParaRPr sz="13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400"/>
              </a:spcBef>
            </a:pPr>
            <a:r>
              <a:rPr dirty="0" sz="1350" spc="20">
                <a:solidFill>
                  <a:srgbClr val="3C495C"/>
                </a:solidFill>
                <a:latin typeface="Arial"/>
                <a:cs typeface="Arial"/>
              </a:rPr>
              <a:t>num_threads,</a:t>
            </a:r>
            <a:r>
              <a:rPr dirty="0" sz="1350" spc="75">
                <a:solidFill>
                  <a:srgbClr val="3C495C"/>
                </a:solidFill>
                <a:latin typeface="Arial"/>
                <a:cs typeface="Arial"/>
              </a:rPr>
              <a:t> </a:t>
            </a:r>
            <a:r>
              <a:rPr dirty="0" sz="1350" spc="10">
                <a:solidFill>
                  <a:srgbClr val="3C495C"/>
                </a:solidFill>
                <a:latin typeface="Arial"/>
                <a:cs typeface="Arial"/>
              </a:rPr>
              <a:t>vsize</a:t>
            </a:r>
            <a:r>
              <a:rPr dirty="0" sz="1350" spc="45">
                <a:solidFill>
                  <a:srgbClr val="3C495C"/>
                </a:solidFill>
                <a:latin typeface="Arial"/>
                <a:cs typeface="Arial"/>
              </a:rPr>
              <a:t> </a:t>
            </a:r>
            <a:r>
              <a:rPr dirty="0" sz="1350" spc="-310">
                <a:solidFill>
                  <a:srgbClr val="3C495C"/>
                </a:solidFill>
                <a:latin typeface="Arial"/>
                <a:cs typeface="Arial"/>
              </a:rPr>
              <a:t>…</a:t>
            </a:r>
            <a:endParaRPr sz="1350">
              <a:latin typeface="Arial"/>
              <a:cs typeface="Arial"/>
            </a:endParaRPr>
          </a:p>
        </p:txBody>
      </p:sp>
      <p:grpSp>
        <p:nvGrpSpPr>
          <p:cNvPr id="15" name="object 15"/>
          <p:cNvGrpSpPr/>
          <p:nvPr/>
        </p:nvGrpSpPr>
        <p:grpSpPr>
          <a:xfrm>
            <a:off x="7993253" y="2754376"/>
            <a:ext cx="3389629" cy="1579880"/>
            <a:chOff x="7993253" y="2754376"/>
            <a:chExt cx="3389629" cy="1579880"/>
          </a:xfrm>
        </p:grpSpPr>
        <p:sp>
          <p:nvSpPr>
            <p:cNvPr id="16" name="object 16"/>
            <p:cNvSpPr/>
            <p:nvPr/>
          </p:nvSpPr>
          <p:spPr>
            <a:xfrm>
              <a:off x="7996428" y="2757551"/>
              <a:ext cx="3383279" cy="1573530"/>
            </a:xfrm>
            <a:custGeom>
              <a:avLst/>
              <a:gdLst/>
              <a:ahLst/>
              <a:cxnLst/>
              <a:rect l="l" t="t" r="r" b="b"/>
              <a:pathLst>
                <a:path w="3383279" h="1573529">
                  <a:moveTo>
                    <a:pt x="3284981" y="0"/>
                  </a:moveTo>
                  <a:lnTo>
                    <a:pt x="98298" y="0"/>
                  </a:lnTo>
                  <a:lnTo>
                    <a:pt x="60061" y="7735"/>
                  </a:lnTo>
                  <a:lnTo>
                    <a:pt x="28813" y="28829"/>
                  </a:lnTo>
                  <a:lnTo>
                    <a:pt x="7733" y="60114"/>
                  </a:lnTo>
                  <a:lnTo>
                    <a:pt x="0" y="98425"/>
                  </a:lnTo>
                  <a:lnTo>
                    <a:pt x="0" y="1474851"/>
                  </a:lnTo>
                  <a:lnTo>
                    <a:pt x="7733" y="1513161"/>
                  </a:lnTo>
                  <a:lnTo>
                    <a:pt x="28813" y="1544447"/>
                  </a:lnTo>
                  <a:lnTo>
                    <a:pt x="60061" y="1565540"/>
                  </a:lnTo>
                  <a:lnTo>
                    <a:pt x="98298" y="1573276"/>
                  </a:lnTo>
                  <a:lnTo>
                    <a:pt x="3284981" y="1573276"/>
                  </a:lnTo>
                  <a:lnTo>
                    <a:pt x="3323218" y="1565540"/>
                  </a:lnTo>
                  <a:lnTo>
                    <a:pt x="3354466" y="1544446"/>
                  </a:lnTo>
                  <a:lnTo>
                    <a:pt x="3375546" y="1513161"/>
                  </a:lnTo>
                  <a:lnTo>
                    <a:pt x="3383279" y="1474851"/>
                  </a:lnTo>
                  <a:lnTo>
                    <a:pt x="3383279" y="98425"/>
                  </a:lnTo>
                  <a:lnTo>
                    <a:pt x="3375546" y="60114"/>
                  </a:lnTo>
                  <a:lnTo>
                    <a:pt x="3354466" y="28828"/>
                  </a:lnTo>
                  <a:lnTo>
                    <a:pt x="3323218" y="7735"/>
                  </a:lnTo>
                  <a:lnTo>
                    <a:pt x="3284981" y="0"/>
                  </a:lnTo>
                  <a:close/>
                </a:path>
              </a:pathLst>
            </a:custGeom>
            <a:solidFill>
              <a:srgbClr val="FAFAF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7" name="object 17"/>
            <p:cNvSpPr/>
            <p:nvPr/>
          </p:nvSpPr>
          <p:spPr>
            <a:xfrm>
              <a:off x="7996428" y="2757551"/>
              <a:ext cx="3383279" cy="1573530"/>
            </a:xfrm>
            <a:custGeom>
              <a:avLst/>
              <a:gdLst/>
              <a:ahLst/>
              <a:cxnLst/>
              <a:rect l="l" t="t" r="r" b="b"/>
              <a:pathLst>
                <a:path w="3383279" h="1573529">
                  <a:moveTo>
                    <a:pt x="0" y="98425"/>
                  </a:moveTo>
                  <a:lnTo>
                    <a:pt x="7733" y="60114"/>
                  </a:lnTo>
                  <a:lnTo>
                    <a:pt x="28813" y="28829"/>
                  </a:lnTo>
                  <a:lnTo>
                    <a:pt x="60061" y="7735"/>
                  </a:lnTo>
                  <a:lnTo>
                    <a:pt x="98298" y="0"/>
                  </a:lnTo>
                  <a:lnTo>
                    <a:pt x="3284981" y="0"/>
                  </a:lnTo>
                  <a:lnTo>
                    <a:pt x="3323218" y="7735"/>
                  </a:lnTo>
                  <a:lnTo>
                    <a:pt x="3354466" y="28828"/>
                  </a:lnTo>
                  <a:lnTo>
                    <a:pt x="3375546" y="60114"/>
                  </a:lnTo>
                  <a:lnTo>
                    <a:pt x="3383279" y="98425"/>
                  </a:lnTo>
                  <a:lnTo>
                    <a:pt x="3383279" y="1474851"/>
                  </a:lnTo>
                  <a:lnTo>
                    <a:pt x="3375546" y="1513161"/>
                  </a:lnTo>
                  <a:lnTo>
                    <a:pt x="3354466" y="1544446"/>
                  </a:lnTo>
                  <a:lnTo>
                    <a:pt x="3323218" y="1565540"/>
                  </a:lnTo>
                  <a:lnTo>
                    <a:pt x="3284981" y="1573276"/>
                  </a:lnTo>
                  <a:lnTo>
                    <a:pt x="98298" y="1573276"/>
                  </a:lnTo>
                  <a:lnTo>
                    <a:pt x="60061" y="1565540"/>
                  </a:lnTo>
                  <a:lnTo>
                    <a:pt x="28813" y="1544447"/>
                  </a:lnTo>
                  <a:lnTo>
                    <a:pt x="7733" y="1513161"/>
                  </a:lnTo>
                  <a:lnTo>
                    <a:pt x="0" y="1474851"/>
                  </a:lnTo>
                  <a:lnTo>
                    <a:pt x="0" y="98425"/>
                  </a:lnTo>
                  <a:close/>
                </a:path>
              </a:pathLst>
            </a:custGeom>
            <a:ln w="6350">
              <a:solidFill>
                <a:srgbClr val="D9DEE6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8" name="object 18"/>
          <p:cNvSpPr txBox="1"/>
          <p:nvPr/>
        </p:nvSpPr>
        <p:spPr>
          <a:xfrm>
            <a:off x="8243443" y="2522580"/>
            <a:ext cx="2528570" cy="1607185"/>
          </a:xfrm>
          <a:prstGeom prst="rect">
            <a:avLst/>
          </a:prstGeom>
        </p:spPr>
        <p:txBody>
          <a:bodyPr wrap="square" lIns="0" tIns="35179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770"/>
              </a:spcBef>
            </a:pPr>
            <a:r>
              <a:rPr dirty="0" sz="4400" spc="120" b="1">
                <a:solidFill>
                  <a:srgbClr val="13203C"/>
                </a:solidFill>
                <a:latin typeface="Arial"/>
                <a:cs typeface="Arial"/>
              </a:rPr>
              <a:t>2</a:t>
            </a:r>
            <a:endParaRPr sz="4400">
              <a:latin typeface="Arial"/>
              <a:cs typeface="Arial"/>
            </a:endParaRPr>
          </a:p>
          <a:p>
            <a:pPr marL="12700" marR="5080">
              <a:lnSpc>
                <a:spcPct val="124800"/>
              </a:lnSpc>
              <a:spcBef>
                <a:spcPts val="450"/>
              </a:spcBef>
            </a:pPr>
            <a:r>
              <a:rPr dirty="0" sz="1350">
                <a:solidFill>
                  <a:srgbClr val="3C495C"/>
                </a:solidFill>
                <a:latin typeface="Arial"/>
                <a:cs typeface="Arial"/>
              </a:rPr>
              <a:t>apps:</a:t>
            </a:r>
            <a:r>
              <a:rPr dirty="0" sz="1350" spc="70">
                <a:solidFill>
                  <a:srgbClr val="3C495C"/>
                </a:solidFill>
                <a:latin typeface="Arial"/>
                <a:cs typeface="Arial"/>
              </a:rPr>
              <a:t> </a:t>
            </a:r>
            <a:r>
              <a:rPr dirty="0" sz="1350">
                <a:solidFill>
                  <a:srgbClr val="3C495C"/>
                </a:solidFill>
                <a:latin typeface="Arial"/>
                <a:cs typeface="Arial"/>
              </a:rPr>
              <a:t>Facebook</a:t>
            </a:r>
            <a:r>
              <a:rPr dirty="0" sz="1350" spc="30">
                <a:solidFill>
                  <a:srgbClr val="3C495C"/>
                </a:solidFill>
                <a:latin typeface="Arial"/>
                <a:cs typeface="Arial"/>
              </a:rPr>
              <a:t> </a:t>
            </a:r>
            <a:r>
              <a:rPr dirty="0" sz="1350" spc="60">
                <a:solidFill>
                  <a:srgbClr val="3C495C"/>
                </a:solidFill>
                <a:latin typeface="Arial"/>
                <a:cs typeface="Arial"/>
              </a:rPr>
              <a:t>(121</a:t>
            </a:r>
            <a:r>
              <a:rPr dirty="0" sz="1350" spc="90">
                <a:solidFill>
                  <a:srgbClr val="3C495C"/>
                </a:solidFill>
                <a:latin typeface="Arial"/>
                <a:cs typeface="Arial"/>
              </a:rPr>
              <a:t> </a:t>
            </a:r>
            <a:r>
              <a:rPr dirty="0" sz="1350">
                <a:solidFill>
                  <a:srgbClr val="3C495C"/>
                </a:solidFill>
                <a:latin typeface="Arial"/>
                <a:cs typeface="Arial"/>
              </a:rPr>
              <a:t>rows)</a:t>
            </a:r>
            <a:r>
              <a:rPr dirty="0" sz="1350" spc="95">
                <a:solidFill>
                  <a:srgbClr val="3C495C"/>
                </a:solidFill>
                <a:latin typeface="Arial"/>
                <a:cs typeface="Arial"/>
              </a:rPr>
              <a:t> </a:t>
            </a:r>
            <a:r>
              <a:rPr dirty="0" sz="1350" spc="-25">
                <a:solidFill>
                  <a:srgbClr val="3C495C"/>
                </a:solidFill>
                <a:latin typeface="Arial"/>
                <a:cs typeface="Arial"/>
              </a:rPr>
              <a:t>and </a:t>
            </a:r>
            <a:r>
              <a:rPr dirty="0" sz="1350">
                <a:solidFill>
                  <a:srgbClr val="3C495C"/>
                </a:solidFill>
                <a:latin typeface="Arial"/>
                <a:cs typeface="Arial"/>
              </a:rPr>
              <a:t>WhatsApp</a:t>
            </a:r>
            <a:r>
              <a:rPr dirty="0" sz="1350" spc="175">
                <a:solidFill>
                  <a:srgbClr val="3C495C"/>
                </a:solidFill>
                <a:latin typeface="Arial"/>
                <a:cs typeface="Arial"/>
              </a:rPr>
              <a:t> </a:t>
            </a:r>
            <a:r>
              <a:rPr dirty="0" sz="1350" spc="-20">
                <a:solidFill>
                  <a:srgbClr val="3C495C"/>
                </a:solidFill>
                <a:latin typeface="Arial"/>
                <a:cs typeface="Arial"/>
              </a:rPr>
              <a:t>(79)</a:t>
            </a:r>
            <a:endParaRPr sz="1350">
              <a:latin typeface="Arial"/>
              <a:cs typeface="Arial"/>
            </a:endParaRPr>
          </a:p>
        </p:txBody>
      </p:sp>
      <p:sp>
        <p:nvSpPr>
          <p:cNvPr id="19" name="object 19"/>
          <p:cNvSpPr/>
          <p:nvPr/>
        </p:nvSpPr>
        <p:spPr>
          <a:xfrm>
            <a:off x="813816" y="4563998"/>
            <a:ext cx="10561320" cy="622300"/>
          </a:xfrm>
          <a:custGeom>
            <a:avLst/>
            <a:gdLst/>
            <a:ahLst/>
            <a:cxnLst/>
            <a:rect l="l" t="t" r="r" b="b"/>
            <a:pathLst>
              <a:path w="10561320" h="622300">
                <a:moveTo>
                  <a:pt x="10459847" y="0"/>
                </a:moveTo>
                <a:lnTo>
                  <a:pt x="101523" y="0"/>
                </a:lnTo>
                <a:lnTo>
                  <a:pt x="62005" y="7981"/>
                </a:lnTo>
                <a:lnTo>
                  <a:pt x="29735" y="29749"/>
                </a:lnTo>
                <a:lnTo>
                  <a:pt x="7978" y="62043"/>
                </a:lnTo>
                <a:lnTo>
                  <a:pt x="0" y="101600"/>
                </a:lnTo>
                <a:lnTo>
                  <a:pt x="0" y="520445"/>
                </a:lnTo>
                <a:lnTo>
                  <a:pt x="7978" y="559929"/>
                </a:lnTo>
                <a:lnTo>
                  <a:pt x="29735" y="592185"/>
                </a:lnTo>
                <a:lnTo>
                  <a:pt x="62005" y="613939"/>
                </a:lnTo>
                <a:lnTo>
                  <a:pt x="101523" y="621919"/>
                </a:lnTo>
                <a:lnTo>
                  <a:pt x="10459847" y="621919"/>
                </a:lnTo>
                <a:lnTo>
                  <a:pt x="10499330" y="613939"/>
                </a:lnTo>
                <a:lnTo>
                  <a:pt x="10531586" y="592185"/>
                </a:lnTo>
                <a:lnTo>
                  <a:pt x="10553340" y="559929"/>
                </a:lnTo>
                <a:lnTo>
                  <a:pt x="10561319" y="520445"/>
                </a:lnTo>
                <a:lnTo>
                  <a:pt x="10561319" y="101600"/>
                </a:lnTo>
                <a:lnTo>
                  <a:pt x="10553340" y="62043"/>
                </a:lnTo>
                <a:lnTo>
                  <a:pt x="10531586" y="29749"/>
                </a:lnTo>
                <a:lnTo>
                  <a:pt x="10499330" y="7981"/>
                </a:lnTo>
                <a:lnTo>
                  <a:pt x="10459847" y="0"/>
                </a:lnTo>
                <a:close/>
              </a:path>
            </a:pathLst>
          </a:custGeom>
          <a:solidFill>
            <a:srgbClr val="FBEED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0" name="object 20"/>
          <p:cNvSpPr txBox="1"/>
          <p:nvPr/>
        </p:nvSpPr>
        <p:spPr>
          <a:xfrm>
            <a:off x="1054620" y="4743767"/>
            <a:ext cx="9402445" cy="256540"/>
          </a:xfrm>
          <a:prstGeom prst="rect">
            <a:avLst/>
          </a:prstGeom>
        </p:spPr>
        <p:txBody>
          <a:bodyPr wrap="square" lIns="0" tIns="1460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5"/>
              </a:spcBef>
              <a:tabLst>
                <a:tab pos="560705" algn="l"/>
              </a:tabLst>
            </a:pPr>
            <a:r>
              <a:rPr dirty="0" sz="1500" spc="-20" b="1">
                <a:solidFill>
                  <a:srgbClr val="B45209"/>
                </a:solidFill>
                <a:latin typeface="Arial"/>
                <a:cs typeface="Arial"/>
              </a:rPr>
              <a:t>Quiz</a:t>
            </a:r>
            <a:r>
              <a:rPr dirty="0" sz="1500" b="1">
                <a:solidFill>
                  <a:srgbClr val="B45209"/>
                </a:solidFill>
                <a:latin typeface="Arial"/>
                <a:cs typeface="Arial"/>
              </a:rPr>
              <a:t>	</a:t>
            </a:r>
            <a:r>
              <a:rPr dirty="0" sz="1500" spc="-45">
                <a:solidFill>
                  <a:srgbClr val="13203C"/>
                </a:solidFill>
                <a:latin typeface="Arial"/>
                <a:cs typeface="Arial"/>
              </a:rPr>
              <a:t>Run</a:t>
            </a:r>
            <a:r>
              <a:rPr dirty="0" sz="1500">
                <a:solidFill>
                  <a:srgbClr val="13203C"/>
                </a:solidFill>
                <a:latin typeface="Arial"/>
                <a:cs typeface="Arial"/>
              </a:rPr>
              <a:t> </a:t>
            </a:r>
            <a:r>
              <a:rPr dirty="0" sz="1500" spc="-10" b="1">
                <a:solidFill>
                  <a:srgbClr val="13203C"/>
                </a:solidFill>
                <a:latin typeface="Arial"/>
                <a:cs typeface="Arial"/>
              </a:rPr>
              <a:t>df_mystery.describe()</a:t>
            </a:r>
            <a:r>
              <a:rPr dirty="0" sz="1500" spc="-10">
                <a:solidFill>
                  <a:srgbClr val="13203C"/>
                </a:solidFill>
                <a:latin typeface="Arial"/>
                <a:cs typeface="Arial"/>
              </a:rPr>
              <a:t>.</a:t>
            </a:r>
            <a:r>
              <a:rPr dirty="0" sz="1500" spc="30">
                <a:solidFill>
                  <a:srgbClr val="13203C"/>
                </a:solidFill>
                <a:latin typeface="Arial"/>
                <a:cs typeface="Arial"/>
              </a:rPr>
              <a:t> </a:t>
            </a:r>
            <a:r>
              <a:rPr dirty="0" sz="1500" spc="-10">
                <a:solidFill>
                  <a:srgbClr val="13203C"/>
                </a:solidFill>
                <a:latin typeface="Arial"/>
                <a:cs typeface="Arial"/>
              </a:rPr>
              <a:t>What</a:t>
            </a:r>
            <a:r>
              <a:rPr dirty="0" sz="1500" spc="-20">
                <a:solidFill>
                  <a:srgbClr val="13203C"/>
                </a:solidFill>
                <a:latin typeface="Arial"/>
                <a:cs typeface="Arial"/>
              </a:rPr>
              <a:t> </a:t>
            </a:r>
            <a:r>
              <a:rPr dirty="0" sz="1500">
                <a:solidFill>
                  <a:srgbClr val="13203C"/>
                </a:solidFill>
                <a:latin typeface="Arial"/>
                <a:cs typeface="Arial"/>
              </a:rPr>
              <a:t>is</a:t>
            </a:r>
            <a:r>
              <a:rPr dirty="0" sz="1500" spc="-10">
                <a:solidFill>
                  <a:srgbClr val="13203C"/>
                </a:solidFill>
                <a:latin typeface="Arial"/>
                <a:cs typeface="Arial"/>
              </a:rPr>
              <a:t> </a:t>
            </a:r>
            <a:r>
              <a:rPr dirty="0" sz="1500">
                <a:solidFill>
                  <a:srgbClr val="13203C"/>
                </a:solidFill>
                <a:latin typeface="Arial"/>
                <a:cs typeface="Arial"/>
              </a:rPr>
              <a:t>the</a:t>
            </a:r>
            <a:r>
              <a:rPr dirty="0" sz="1500" spc="50">
                <a:solidFill>
                  <a:srgbClr val="13203C"/>
                </a:solidFill>
                <a:latin typeface="Arial"/>
                <a:cs typeface="Arial"/>
              </a:rPr>
              <a:t> </a:t>
            </a:r>
            <a:r>
              <a:rPr dirty="0" sz="1500">
                <a:solidFill>
                  <a:srgbClr val="13203C"/>
                </a:solidFill>
                <a:latin typeface="Arial"/>
                <a:cs typeface="Arial"/>
              </a:rPr>
              <a:t>mean</a:t>
            </a:r>
            <a:r>
              <a:rPr dirty="0" sz="1500" spc="-70">
                <a:solidFill>
                  <a:srgbClr val="13203C"/>
                </a:solidFill>
                <a:latin typeface="Arial"/>
                <a:cs typeface="Arial"/>
              </a:rPr>
              <a:t> </a:t>
            </a:r>
            <a:r>
              <a:rPr dirty="0" sz="1500">
                <a:solidFill>
                  <a:srgbClr val="13203C"/>
                </a:solidFill>
                <a:latin typeface="Arial"/>
                <a:cs typeface="Arial"/>
              </a:rPr>
              <a:t>of</a:t>
            </a:r>
            <a:r>
              <a:rPr dirty="0" sz="1500" spc="-60">
                <a:solidFill>
                  <a:srgbClr val="13203C"/>
                </a:solidFill>
                <a:latin typeface="Arial"/>
                <a:cs typeface="Arial"/>
              </a:rPr>
              <a:t> </a:t>
            </a:r>
            <a:r>
              <a:rPr dirty="0" sz="1500">
                <a:solidFill>
                  <a:srgbClr val="13203C"/>
                </a:solidFill>
                <a:latin typeface="Arial"/>
                <a:cs typeface="Arial"/>
              </a:rPr>
              <a:t>num_threads?</a:t>
            </a:r>
            <a:r>
              <a:rPr dirty="0" sz="1500" spc="-75">
                <a:solidFill>
                  <a:srgbClr val="13203C"/>
                </a:solidFill>
                <a:latin typeface="Arial"/>
                <a:cs typeface="Arial"/>
              </a:rPr>
              <a:t> </a:t>
            </a:r>
            <a:r>
              <a:rPr dirty="0" sz="1500">
                <a:solidFill>
                  <a:srgbClr val="13203C"/>
                </a:solidFill>
                <a:latin typeface="Arial"/>
                <a:cs typeface="Arial"/>
              </a:rPr>
              <a:t>71.365</a:t>
            </a:r>
            <a:r>
              <a:rPr dirty="0" sz="1500" spc="-40">
                <a:solidFill>
                  <a:srgbClr val="13203C"/>
                </a:solidFill>
                <a:latin typeface="Arial"/>
                <a:cs typeface="Arial"/>
              </a:rPr>
              <a:t> </a:t>
            </a:r>
            <a:r>
              <a:rPr dirty="0" sz="1500">
                <a:solidFill>
                  <a:srgbClr val="13203C"/>
                </a:solidFill>
                <a:latin typeface="Arial"/>
                <a:cs typeface="Arial"/>
              </a:rPr>
              <a:t>·</a:t>
            </a:r>
            <a:r>
              <a:rPr dirty="0" sz="1500" spc="20">
                <a:solidFill>
                  <a:srgbClr val="13203C"/>
                </a:solidFill>
                <a:latin typeface="Arial"/>
                <a:cs typeface="Arial"/>
              </a:rPr>
              <a:t> </a:t>
            </a:r>
            <a:r>
              <a:rPr dirty="0" sz="1500">
                <a:solidFill>
                  <a:srgbClr val="13203C"/>
                </a:solidFill>
                <a:latin typeface="Arial"/>
                <a:cs typeface="Arial"/>
              </a:rPr>
              <a:t>62.000</a:t>
            </a:r>
            <a:r>
              <a:rPr dirty="0" sz="1500" spc="-40">
                <a:solidFill>
                  <a:srgbClr val="13203C"/>
                </a:solidFill>
                <a:latin typeface="Arial"/>
                <a:cs typeface="Arial"/>
              </a:rPr>
              <a:t> </a:t>
            </a:r>
            <a:r>
              <a:rPr dirty="0" sz="1500">
                <a:solidFill>
                  <a:srgbClr val="13203C"/>
                </a:solidFill>
                <a:latin typeface="Arial"/>
                <a:cs typeface="Arial"/>
              </a:rPr>
              <a:t>·</a:t>
            </a:r>
            <a:r>
              <a:rPr dirty="0" sz="1500" spc="25">
                <a:solidFill>
                  <a:srgbClr val="13203C"/>
                </a:solidFill>
                <a:latin typeface="Arial"/>
                <a:cs typeface="Arial"/>
              </a:rPr>
              <a:t> </a:t>
            </a:r>
            <a:r>
              <a:rPr dirty="0" sz="1500">
                <a:solidFill>
                  <a:srgbClr val="13203C"/>
                </a:solidFill>
                <a:latin typeface="Arial"/>
                <a:cs typeface="Arial"/>
              </a:rPr>
              <a:t>0.075</a:t>
            </a:r>
            <a:r>
              <a:rPr dirty="0" sz="1500" spc="-40">
                <a:solidFill>
                  <a:srgbClr val="13203C"/>
                </a:solidFill>
                <a:latin typeface="Arial"/>
                <a:cs typeface="Arial"/>
              </a:rPr>
              <a:t> </a:t>
            </a:r>
            <a:r>
              <a:rPr dirty="0" sz="1500">
                <a:solidFill>
                  <a:srgbClr val="13203C"/>
                </a:solidFill>
                <a:latin typeface="Arial"/>
                <a:cs typeface="Arial"/>
              </a:rPr>
              <a:t>·</a:t>
            </a:r>
            <a:r>
              <a:rPr dirty="0" sz="1500" spc="25">
                <a:solidFill>
                  <a:srgbClr val="13203C"/>
                </a:solidFill>
                <a:latin typeface="Arial"/>
                <a:cs typeface="Arial"/>
              </a:rPr>
              <a:t> </a:t>
            </a:r>
            <a:r>
              <a:rPr dirty="0" sz="1500">
                <a:solidFill>
                  <a:srgbClr val="13203C"/>
                </a:solidFill>
                <a:latin typeface="Arial"/>
                <a:cs typeface="Arial"/>
              </a:rPr>
              <a:t>none</a:t>
            </a:r>
            <a:r>
              <a:rPr dirty="0" sz="1500" spc="55">
                <a:solidFill>
                  <a:srgbClr val="13203C"/>
                </a:solidFill>
                <a:latin typeface="Arial"/>
                <a:cs typeface="Arial"/>
              </a:rPr>
              <a:t> </a:t>
            </a:r>
            <a:r>
              <a:rPr dirty="0" sz="1500">
                <a:solidFill>
                  <a:srgbClr val="13203C"/>
                </a:solidFill>
                <a:latin typeface="Arial"/>
                <a:cs typeface="Arial"/>
              </a:rPr>
              <a:t>of</a:t>
            </a:r>
            <a:r>
              <a:rPr dirty="0" sz="1500" spc="25">
                <a:solidFill>
                  <a:srgbClr val="13203C"/>
                </a:solidFill>
                <a:latin typeface="Arial"/>
                <a:cs typeface="Arial"/>
              </a:rPr>
              <a:t> </a:t>
            </a:r>
            <a:r>
              <a:rPr dirty="0" sz="1500" spc="-10">
                <a:solidFill>
                  <a:srgbClr val="13203C"/>
                </a:solidFill>
                <a:latin typeface="Arial"/>
                <a:cs typeface="Arial"/>
              </a:rPr>
              <a:t>these</a:t>
            </a:r>
            <a:endParaRPr sz="15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800480" y="819721"/>
            <a:ext cx="1493520" cy="234315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1350" spc="65" b="1">
                <a:solidFill>
                  <a:srgbClr val="B45209"/>
                </a:solidFill>
                <a:latin typeface="Arial"/>
                <a:cs typeface="Arial"/>
              </a:rPr>
              <a:t>0</a:t>
            </a:r>
            <a:r>
              <a:rPr dirty="0" sz="1350" spc="-190" b="1">
                <a:solidFill>
                  <a:srgbClr val="B45209"/>
                </a:solidFill>
                <a:latin typeface="Arial"/>
                <a:cs typeface="Arial"/>
              </a:rPr>
              <a:t> </a:t>
            </a:r>
            <a:r>
              <a:rPr dirty="0" sz="1350" spc="65" b="1">
                <a:solidFill>
                  <a:srgbClr val="B45209"/>
                </a:solidFill>
                <a:latin typeface="Arial"/>
                <a:cs typeface="Arial"/>
              </a:rPr>
              <a:t>4</a:t>
            </a:r>
            <a:r>
              <a:rPr dirty="0" sz="1350" spc="260" b="1">
                <a:solidFill>
                  <a:srgbClr val="B45209"/>
                </a:solidFill>
                <a:latin typeface="Arial"/>
                <a:cs typeface="Arial"/>
              </a:rPr>
              <a:t> </a:t>
            </a:r>
            <a:r>
              <a:rPr dirty="0" sz="1350" b="1">
                <a:solidFill>
                  <a:srgbClr val="B45209"/>
                </a:solidFill>
                <a:latin typeface="Arial"/>
                <a:cs typeface="Arial"/>
              </a:rPr>
              <a:t>·</a:t>
            </a:r>
            <a:r>
              <a:rPr dirty="0" sz="1350" spc="305" b="1">
                <a:solidFill>
                  <a:srgbClr val="B45209"/>
                </a:solidFill>
                <a:latin typeface="Arial"/>
                <a:cs typeface="Arial"/>
              </a:rPr>
              <a:t> </a:t>
            </a:r>
            <a:r>
              <a:rPr dirty="0" sz="1350" spc="155" b="1">
                <a:solidFill>
                  <a:srgbClr val="B45209"/>
                </a:solidFill>
                <a:latin typeface="Arial"/>
                <a:cs typeface="Arial"/>
              </a:rPr>
              <a:t>IND</a:t>
            </a:r>
            <a:r>
              <a:rPr dirty="0" sz="1350" spc="-175" b="1">
                <a:solidFill>
                  <a:srgbClr val="B45209"/>
                </a:solidFill>
                <a:latin typeface="Arial"/>
                <a:cs typeface="Arial"/>
              </a:rPr>
              <a:t> </a:t>
            </a:r>
            <a:r>
              <a:rPr dirty="0" sz="1350" spc="-80" b="1">
                <a:solidFill>
                  <a:srgbClr val="B45209"/>
                </a:solidFill>
                <a:latin typeface="Arial"/>
                <a:cs typeface="Arial"/>
              </a:rPr>
              <a:t>E</a:t>
            </a:r>
            <a:r>
              <a:rPr dirty="0" sz="1350" spc="-195" b="1">
                <a:solidFill>
                  <a:srgbClr val="B45209"/>
                </a:solidFill>
                <a:latin typeface="Arial"/>
                <a:cs typeface="Arial"/>
              </a:rPr>
              <a:t> </a:t>
            </a:r>
            <a:r>
              <a:rPr dirty="0" sz="1350" spc="130" b="1">
                <a:solidFill>
                  <a:srgbClr val="B45209"/>
                </a:solidFill>
                <a:latin typeface="Arial"/>
                <a:cs typeface="Arial"/>
              </a:rPr>
              <a:t>XING</a:t>
            </a:r>
            <a:endParaRPr sz="1350">
              <a:latin typeface="Arial"/>
              <a:cs typeface="Arial"/>
            </a:endParaRPr>
          </a:p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/>
              <a:t>[]</a:t>
            </a:r>
            <a:r>
              <a:rPr dirty="0" spc="-180"/>
              <a:t> </a:t>
            </a:r>
            <a:r>
              <a:rPr dirty="0" spc="-20"/>
              <a:t>picks</a:t>
            </a:r>
            <a:r>
              <a:rPr dirty="0" spc="-200"/>
              <a:t> </a:t>
            </a:r>
            <a:r>
              <a:rPr dirty="0" spc="-20"/>
              <a:t>columns,</a:t>
            </a:r>
            <a:r>
              <a:rPr dirty="0" spc="-170"/>
              <a:t> </a:t>
            </a:r>
            <a:r>
              <a:rPr dirty="0"/>
              <a:t>.loc[]</a:t>
            </a:r>
            <a:r>
              <a:rPr dirty="0" spc="-105"/>
              <a:t> </a:t>
            </a:r>
            <a:r>
              <a:rPr dirty="0" spc="-20"/>
              <a:t>picks</a:t>
            </a:r>
            <a:r>
              <a:rPr dirty="0" spc="-140"/>
              <a:t> </a:t>
            </a:r>
            <a:r>
              <a:rPr dirty="0"/>
              <a:t>rows</a:t>
            </a:r>
            <a:r>
              <a:rPr dirty="0" spc="-140"/>
              <a:t> </a:t>
            </a:r>
            <a:r>
              <a:rPr dirty="0"/>
              <a:t>by</a:t>
            </a:r>
            <a:r>
              <a:rPr dirty="0" spc="-160"/>
              <a:t> </a:t>
            </a:r>
            <a:r>
              <a:rPr dirty="0" spc="35"/>
              <a:t>label</a:t>
            </a:r>
          </a:p>
        </p:txBody>
      </p:sp>
      <p:graphicFrame>
        <p:nvGraphicFramePr>
          <p:cNvPr id="4" name="object 4"/>
          <p:cNvGraphicFramePr>
            <a:graphicFrameLocks noGrp="1"/>
          </p:cNvGraphicFramePr>
          <p:nvPr/>
        </p:nvGraphicFramePr>
        <p:xfrm>
          <a:off x="816800" y="1863470"/>
          <a:ext cx="10642600" cy="285496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487670"/>
                <a:gridCol w="2954654"/>
                <a:gridCol w="2110104"/>
              </a:tblGrid>
              <a:tr h="356870">
                <a:tc>
                  <a:txBody>
                    <a:bodyPr/>
                    <a:lstStyle/>
                    <a:p>
                      <a:pPr marL="58419">
                        <a:lnSpc>
                          <a:spcPct val="100000"/>
                        </a:lnSpc>
                        <a:spcBef>
                          <a:spcPts val="550"/>
                        </a:spcBef>
                      </a:pPr>
                      <a:r>
                        <a:rPr dirty="0" sz="1300" spc="-50" b="1">
                          <a:solidFill>
                            <a:srgbClr val="13203C"/>
                          </a:solidFill>
                          <a:latin typeface="Arial"/>
                          <a:cs typeface="Arial"/>
                        </a:rPr>
                        <a:t>You</a:t>
                      </a:r>
                      <a:r>
                        <a:rPr dirty="0" sz="1300" spc="-30" b="1">
                          <a:solidFill>
                            <a:srgbClr val="13203C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300" b="1">
                          <a:solidFill>
                            <a:srgbClr val="13203C"/>
                          </a:solidFill>
                          <a:latin typeface="Arial"/>
                          <a:cs typeface="Arial"/>
                        </a:rPr>
                        <a:t>type</a:t>
                      </a:r>
                      <a:r>
                        <a:rPr dirty="0" sz="1300" spc="-60" b="1">
                          <a:solidFill>
                            <a:srgbClr val="13203C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300" b="1">
                          <a:solidFill>
                            <a:srgbClr val="13203C"/>
                          </a:solidFill>
                          <a:latin typeface="Arial"/>
                          <a:cs typeface="Arial"/>
                        </a:rPr>
                        <a:t>(df6</a:t>
                      </a:r>
                      <a:r>
                        <a:rPr dirty="0" sz="1300" spc="-35" b="1">
                          <a:solidFill>
                            <a:srgbClr val="13203C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300" b="1">
                          <a:solidFill>
                            <a:srgbClr val="13203C"/>
                          </a:solidFill>
                          <a:latin typeface="Arial"/>
                          <a:cs typeface="Arial"/>
                        </a:rPr>
                        <a:t>=</a:t>
                      </a:r>
                      <a:r>
                        <a:rPr dirty="0" sz="1300" spc="-35" b="1">
                          <a:solidFill>
                            <a:srgbClr val="13203C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300" b="1">
                          <a:solidFill>
                            <a:srgbClr val="13203C"/>
                          </a:solidFill>
                          <a:latin typeface="Arial"/>
                          <a:cs typeface="Arial"/>
                        </a:rPr>
                        <a:t>first</a:t>
                      </a:r>
                      <a:r>
                        <a:rPr dirty="0" sz="1300" spc="-40" b="1">
                          <a:solidFill>
                            <a:srgbClr val="13203C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300" spc="50" b="1">
                          <a:solidFill>
                            <a:srgbClr val="13203C"/>
                          </a:solidFill>
                          <a:latin typeface="Arial"/>
                          <a:cs typeface="Arial"/>
                        </a:rPr>
                        <a:t>6</a:t>
                      </a:r>
                      <a:r>
                        <a:rPr dirty="0" sz="1300" spc="-35" b="1">
                          <a:solidFill>
                            <a:srgbClr val="13203C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300" spc="-20" b="1">
                          <a:solidFill>
                            <a:srgbClr val="13203C"/>
                          </a:solidFill>
                          <a:latin typeface="Arial"/>
                          <a:cs typeface="Arial"/>
                        </a:rPr>
                        <a:t>rows)</a:t>
                      </a:r>
                      <a:endParaRPr sz="1300">
                        <a:latin typeface="Arial"/>
                        <a:cs typeface="Arial"/>
                      </a:endParaRPr>
                    </a:p>
                  </a:txBody>
                  <a:tcPr marL="0" marR="0" marB="0" marT="69850">
                    <a:lnL w="12700">
                      <a:solidFill>
                        <a:srgbClr val="C7C7C5"/>
                      </a:solidFill>
                      <a:prstDash val="solid"/>
                    </a:lnL>
                    <a:lnR w="12700">
                      <a:solidFill>
                        <a:srgbClr val="BDC0C3"/>
                      </a:solidFill>
                      <a:prstDash val="solid"/>
                    </a:lnR>
                    <a:lnT w="12700">
                      <a:solidFill>
                        <a:srgbClr val="C7C7C5"/>
                      </a:solidFill>
                      <a:prstDash val="solid"/>
                    </a:lnT>
                    <a:lnB w="12700">
                      <a:solidFill>
                        <a:srgbClr val="BDC0C3"/>
                      </a:solidFill>
                      <a:prstDash val="solid"/>
                    </a:lnB>
                    <a:solidFill>
                      <a:srgbClr val="EDF0F5"/>
                    </a:solidFill>
                  </a:tcPr>
                </a:tc>
                <a:tc>
                  <a:txBody>
                    <a:bodyPr/>
                    <a:lstStyle/>
                    <a:p>
                      <a:pPr marL="62230">
                        <a:lnSpc>
                          <a:spcPct val="100000"/>
                        </a:lnSpc>
                        <a:spcBef>
                          <a:spcPts val="550"/>
                        </a:spcBef>
                      </a:pPr>
                      <a:r>
                        <a:rPr dirty="0" sz="1300" spc="-50" b="1">
                          <a:solidFill>
                            <a:srgbClr val="13203C"/>
                          </a:solidFill>
                          <a:latin typeface="Arial"/>
                          <a:cs typeface="Arial"/>
                        </a:rPr>
                        <a:t>You</a:t>
                      </a:r>
                      <a:r>
                        <a:rPr dirty="0" sz="1300" spc="-40" b="1">
                          <a:solidFill>
                            <a:srgbClr val="13203C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300" spc="-10" b="1">
                          <a:solidFill>
                            <a:srgbClr val="13203C"/>
                          </a:solidFill>
                          <a:latin typeface="Arial"/>
                          <a:cs typeface="Arial"/>
                        </a:rPr>
                        <a:t>select</a:t>
                      </a:r>
                      <a:endParaRPr sz="1300">
                        <a:latin typeface="Arial"/>
                        <a:cs typeface="Arial"/>
                      </a:endParaRPr>
                    </a:p>
                  </a:txBody>
                  <a:tcPr marL="0" marR="0" marB="0" marT="69850">
                    <a:lnL w="12700">
                      <a:solidFill>
                        <a:srgbClr val="BDC0C3"/>
                      </a:solidFill>
                      <a:prstDash val="solid"/>
                    </a:lnL>
                    <a:lnR w="12700">
                      <a:solidFill>
                        <a:srgbClr val="BDC0C3"/>
                      </a:solidFill>
                      <a:prstDash val="solid"/>
                    </a:lnR>
                    <a:lnT w="12700">
                      <a:solidFill>
                        <a:srgbClr val="C7C7C5"/>
                      </a:solidFill>
                      <a:prstDash val="solid"/>
                    </a:lnT>
                    <a:lnB w="12700">
                      <a:solidFill>
                        <a:srgbClr val="BDC0C3"/>
                      </a:solidFill>
                      <a:prstDash val="solid"/>
                    </a:lnB>
                    <a:solidFill>
                      <a:srgbClr val="EDF0F5"/>
                    </a:solidFill>
                  </a:tcPr>
                </a:tc>
                <a:tc>
                  <a:txBody>
                    <a:bodyPr/>
                    <a:lstStyle/>
                    <a:p>
                      <a:pPr marL="64769">
                        <a:lnSpc>
                          <a:spcPct val="100000"/>
                        </a:lnSpc>
                        <a:spcBef>
                          <a:spcPts val="550"/>
                        </a:spcBef>
                      </a:pPr>
                      <a:r>
                        <a:rPr dirty="0" sz="1300" spc="-50" b="1">
                          <a:solidFill>
                            <a:srgbClr val="13203C"/>
                          </a:solidFill>
                          <a:latin typeface="Arial"/>
                          <a:cs typeface="Arial"/>
                        </a:rPr>
                        <a:t>You</a:t>
                      </a:r>
                      <a:r>
                        <a:rPr dirty="0" sz="1300" spc="-40" b="1">
                          <a:solidFill>
                            <a:srgbClr val="13203C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300" spc="-25" b="1">
                          <a:solidFill>
                            <a:srgbClr val="13203C"/>
                          </a:solidFill>
                          <a:latin typeface="Arial"/>
                          <a:cs typeface="Arial"/>
                        </a:rPr>
                        <a:t>get</a:t>
                      </a:r>
                      <a:endParaRPr sz="1300">
                        <a:latin typeface="Arial"/>
                        <a:cs typeface="Arial"/>
                      </a:endParaRPr>
                    </a:p>
                  </a:txBody>
                  <a:tcPr marL="0" marR="0" marB="0" marT="69850">
                    <a:lnL w="12700">
                      <a:solidFill>
                        <a:srgbClr val="BDC0C3"/>
                      </a:solidFill>
                      <a:prstDash val="solid"/>
                    </a:lnL>
                    <a:lnR w="12700">
                      <a:solidFill>
                        <a:srgbClr val="BDC0C3"/>
                      </a:solidFill>
                      <a:prstDash val="solid"/>
                    </a:lnR>
                    <a:lnT w="12700">
                      <a:solidFill>
                        <a:srgbClr val="C7C7C5"/>
                      </a:solidFill>
                      <a:prstDash val="solid"/>
                    </a:lnT>
                    <a:lnB w="12700">
                      <a:solidFill>
                        <a:srgbClr val="BDC0C3"/>
                      </a:solidFill>
                      <a:prstDash val="solid"/>
                    </a:lnB>
                    <a:solidFill>
                      <a:srgbClr val="EDF0F5"/>
                    </a:solidFill>
                  </a:tcPr>
                </a:tc>
              </a:tr>
              <a:tr h="356870">
                <a:tc>
                  <a:txBody>
                    <a:bodyPr/>
                    <a:lstStyle/>
                    <a:p>
                      <a:pPr marL="58419">
                        <a:lnSpc>
                          <a:spcPct val="100000"/>
                        </a:lnSpc>
                        <a:spcBef>
                          <a:spcPts val="550"/>
                        </a:spcBef>
                      </a:pPr>
                      <a:r>
                        <a:rPr dirty="0" sz="1300" spc="-10">
                          <a:solidFill>
                            <a:srgbClr val="13203C"/>
                          </a:solidFill>
                          <a:latin typeface="Arial"/>
                          <a:cs typeface="Arial"/>
                        </a:rPr>
                        <a:t>df6['ApplicationName']</a:t>
                      </a:r>
                      <a:endParaRPr sz="1300">
                        <a:latin typeface="Arial"/>
                        <a:cs typeface="Arial"/>
                      </a:endParaRPr>
                    </a:p>
                  </a:txBody>
                  <a:tcPr marL="0" marR="0" marB="0" marT="69850">
                    <a:lnL w="12700">
                      <a:solidFill>
                        <a:srgbClr val="C7C7C5"/>
                      </a:solidFill>
                      <a:prstDash val="solid"/>
                    </a:lnL>
                    <a:lnR w="12700">
                      <a:solidFill>
                        <a:srgbClr val="C7C7C5"/>
                      </a:solidFill>
                      <a:prstDash val="solid"/>
                    </a:lnR>
                    <a:lnT w="12700">
                      <a:solidFill>
                        <a:srgbClr val="BDC0C3"/>
                      </a:solidFill>
                      <a:prstDash val="solid"/>
                    </a:lnT>
                    <a:lnB w="12700">
                      <a:solidFill>
                        <a:srgbClr val="C7C7C5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2230">
                        <a:lnSpc>
                          <a:spcPct val="100000"/>
                        </a:lnSpc>
                        <a:spcBef>
                          <a:spcPts val="550"/>
                        </a:spcBef>
                      </a:pPr>
                      <a:r>
                        <a:rPr dirty="0" sz="1300">
                          <a:solidFill>
                            <a:srgbClr val="13203C"/>
                          </a:solidFill>
                          <a:latin typeface="Arial"/>
                          <a:cs typeface="Arial"/>
                        </a:rPr>
                        <a:t>one</a:t>
                      </a:r>
                      <a:r>
                        <a:rPr dirty="0" sz="1300" spc="-40">
                          <a:solidFill>
                            <a:srgbClr val="13203C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300" spc="-10">
                          <a:solidFill>
                            <a:srgbClr val="13203C"/>
                          </a:solidFill>
                          <a:latin typeface="Arial"/>
                          <a:cs typeface="Arial"/>
                        </a:rPr>
                        <a:t>column</a:t>
                      </a:r>
                      <a:endParaRPr sz="1300">
                        <a:latin typeface="Arial"/>
                        <a:cs typeface="Arial"/>
                      </a:endParaRPr>
                    </a:p>
                  </a:txBody>
                  <a:tcPr marL="0" marR="0" marB="0" marT="69850">
                    <a:lnL w="12700">
                      <a:solidFill>
                        <a:srgbClr val="C7C7C5"/>
                      </a:solidFill>
                      <a:prstDash val="solid"/>
                    </a:lnL>
                    <a:lnR w="12700">
                      <a:solidFill>
                        <a:srgbClr val="C7C7C5"/>
                      </a:solidFill>
                      <a:prstDash val="solid"/>
                    </a:lnR>
                    <a:lnT w="12700">
                      <a:solidFill>
                        <a:srgbClr val="BDC0C3"/>
                      </a:solidFill>
                      <a:prstDash val="solid"/>
                    </a:lnT>
                    <a:lnB w="12700">
                      <a:solidFill>
                        <a:srgbClr val="C7C7C5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4769">
                        <a:lnSpc>
                          <a:spcPct val="100000"/>
                        </a:lnSpc>
                        <a:spcBef>
                          <a:spcPts val="550"/>
                        </a:spcBef>
                      </a:pPr>
                      <a:r>
                        <a:rPr dirty="0" sz="1300" spc="-10">
                          <a:solidFill>
                            <a:srgbClr val="13203C"/>
                          </a:solidFill>
                          <a:latin typeface="Arial"/>
                          <a:cs typeface="Arial"/>
                        </a:rPr>
                        <a:t>Series</a:t>
                      </a:r>
                      <a:endParaRPr sz="1300">
                        <a:latin typeface="Arial"/>
                        <a:cs typeface="Arial"/>
                      </a:endParaRPr>
                    </a:p>
                  </a:txBody>
                  <a:tcPr marL="0" marR="0" marB="0" marT="69850">
                    <a:lnL w="12700">
                      <a:solidFill>
                        <a:srgbClr val="C7C7C5"/>
                      </a:solidFill>
                      <a:prstDash val="solid"/>
                    </a:lnL>
                    <a:lnR w="12700">
                      <a:solidFill>
                        <a:srgbClr val="C7C7C5"/>
                      </a:solidFill>
                      <a:prstDash val="solid"/>
                    </a:lnR>
                    <a:lnT w="12700">
                      <a:solidFill>
                        <a:srgbClr val="BDC0C3"/>
                      </a:solidFill>
                      <a:prstDash val="solid"/>
                    </a:lnT>
                    <a:lnB w="12700">
                      <a:solidFill>
                        <a:srgbClr val="C7C7C5"/>
                      </a:solidFill>
                      <a:prstDash val="solid"/>
                    </a:lnB>
                  </a:tcPr>
                </a:tc>
              </a:tr>
              <a:tr h="356870">
                <a:tc>
                  <a:txBody>
                    <a:bodyPr/>
                    <a:lstStyle/>
                    <a:p>
                      <a:pPr marL="58419">
                        <a:lnSpc>
                          <a:spcPct val="100000"/>
                        </a:lnSpc>
                        <a:spcBef>
                          <a:spcPts val="555"/>
                        </a:spcBef>
                      </a:pPr>
                      <a:r>
                        <a:rPr dirty="0" sz="1300" spc="10">
                          <a:solidFill>
                            <a:srgbClr val="13203C"/>
                          </a:solidFill>
                          <a:latin typeface="Arial"/>
                          <a:cs typeface="Arial"/>
                        </a:rPr>
                        <a:t>df6[['ApplicationName',</a:t>
                      </a:r>
                      <a:r>
                        <a:rPr dirty="0" sz="1300" spc="120">
                          <a:solidFill>
                            <a:srgbClr val="13203C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300" spc="-10">
                          <a:solidFill>
                            <a:srgbClr val="13203C"/>
                          </a:solidFill>
                          <a:latin typeface="Arial"/>
                          <a:cs typeface="Arial"/>
                        </a:rPr>
                        <a:t>'CPU_USAGE']]</a:t>
                      </a:r>
                      <a:endParaRPr sz="1300">
                        <a:latin typeface="Arial"/>
                        <a:cs typeface="Arial"/>
                      </a:endParaRPr>
                    </a:p>
                  </a:txBody>
                  <a:tcPr marL="0" marR="0" marB="0" marT="70485">
                    <a:lnL w="12700">
                      <a:solidFill>
                        <a:srgbClr val="C7C7C5"/>
                      </a:solidFill>
                      <a:prstDash val="solid"/>
                    </a:lnL>
                    <a:lnR w="12700">
                      <a:solidFill>
                        <a:srgbClr val="C7C7C5"/>
                      </a:solidFill>
                      <a:prstDash val="solid"/>
                    </a:lnR>
                    <a:lnT w="12700">
                      <a:solidFill>
                        <a:srgbClr val="C7C7C5"/>
                      </a:solidFill>
                      <a:prstDash val="solid"/>
                    </a:lnT>
                    <a:lnB w="12700">
                      <a:solidFill>
                        <a:srgbClr val="C7C7C5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2230">
                        <a:lnSpc>
                          <a:spcPct val="100000"/>
                        </a:lnSpc>
                        <a:spcBef>
                          <a:spcPts val="555"/>
                        </a:spcBef>
                      </a:pPr>
                      <a:r>
                        <a:rPr dirty="0" sz="1300">
                          <a:solidFill>
                            <a:srgbClr val="13203C"/>
                          </a:solidFill>
                          <a:latin typeface="Arial"/>
                          <a:cs typeface="Arial"/>
                        </a:rPr>
                        <a:t>several</a:t>
                      </a:r>
                      <a:r>
                        <a:rPr dirty="0" sz="1300" spc="-70">
                          <a:solidFill>
                            <a:srgbClr val="13203C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300" spc="-10">
                          <a:solidFill>
                            <a:srgbClr val="13203C"/>
                          </a:solidFill>
                          <a:latin typeface="Arial"/>
                          <a:cs typeface="Arial"/>
                        </a:rPr>
                        <a:t>columns</a:t>
                      </a:r>
                      <a:endParaRPr sz="1300">
                        <a:latin typeface="Arial"/>
                        <a:cs typeface="Arial"/>
                      </a:endParaRPr>
                    </a:p>
                  </a:txBody>
                  <a:tcPr marL="0" marR="0" marB="0" marT="70485">
                    <a:lnL w="12700">
                      <a:solidFill>
                        <a:srgbClr val="C7C7C5"/>
                      </a:solidFill>
                      <a:prstDash val="solid"/>
                    </a:lnL>
                    <a:lnR w="12700">
                      <a:solidFill>
                        <a:srgbClr val="C7C7C5"/>
                      </a:solidFill>
                      <a:prstDash val="solid"/>
                    </a:lnR>
                    <a:lnT w="12700">
                      <a:solidFill>
                        <a:srgbClr val="C7C7C5"/>
                      </a:solidFill>
                      <a:prstDash val="solid"/>
                    </a:lnT>
                    <a:lnB w="12700">
                      <a:solidFill>
                        <a:srgbClr val="C7C7C5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4769">
                        <a:lnSpc>
                          <a:spcPct val="100000"/>
                        </a:lnSpc>
                        <a:spcBef>
                          <a:spcPts val="555"/>
                        </a:spcBef>
                      </a:pPr>
                      <a:r>
                        <a:rPr dirty="0" sz="1300" spc="-10">
                          <a:solidFill>
                            <a:srgbClr val="13203C"/>
                          </a:solidFill>
                          <a:latin typeface="Arial"/>
                          <a:cs typeface="Arial"/>
                        </a:rPr>
                        <a:t>DataFrame</a:t>
                      </a:r>
                      <a:endParaRPr sz="1300">
                        <a:latin typeface="Arial"/>
                        <a:cs typeface="Arial"/>
                      </a:endParaRPr>
                    </a:p>
                  </a:txBody>
                  <a:tcPr marL="0" marR="0" marB="0" marT="70485">
                    <a:lnL w="12700">
                      <a:solidFill>
                        <a:srgbClr val="C7C7C5"/>
                      </a:solidFill>
                      <a:prstDash val="solid"/>
                    </a:lnL>
                    <a:lnR w="12700">
                      <a:solidFill>
                        <a:srgbClr val="C7C7C5"/>
                      </a:solidFill>
                      <a:prstDash val="solid"/>
                    </a:lnR>
                    <a:lnT w="12700">
                      <a:solidFill>
                        <a:srgbClr val="C7C7C5"/>
                      </a:solidFill>
                      <a:prstDash val="solid"/>
                    </a:lnT>
                    <a:lnB w="12700">
                      <a:solidFill>
                        <a:srgbClr val="C7C7C5"/>
                      </a:solidFill>
                      <a:prstDash val="solid"/>
                    </a:lnB>
                  </a:tcPr>
                </a:tc>
              </a:tr>
              <a:tr h="356870">
                <a:tc>
                  <a:txBody>
                    <a:bodyPr/>
                    <a:lstStyle/>
                    <a:p>
                      <a:pPr marL="58419">
                        <a:lnSpc>
                          <a:spcPct val="100000"/>
                        </a:lnSpc>
                        <a:spcBef>
                          <a:spcPts val="560"/>
                        </a:spcBef>
                      </a:pPr>
                      <a:r>
                        <a:rPr dirty="0" sz="1300">
                          <a:solidFill>
                            <a:srgbClr val="13203C"/>
                          </a:solidFill>
                          <a:latin typeface="Arial"/>
                          <a:cs typeface="Arial"/>
                        </a:rPr>
                        <a:t>df6[[True,</a:t>
                      </a:r>
                      <a:r>
                        <a:rPr dirty="0" sz="1300" spc="-20">
                          <a:solidFill>
                            <a:srgbClr val="13203C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300" spc="-25">
                          <a:solidFill>
                            <a:srgbClr val="13203C"/>
                          </a:solidFill>
                          <a:latin typeface="Arial"/>
                          <a:cs typeface="Arial"/>
                        </a:rPr>
                        <a:t>False,</a:t>
                      </a:r>
                      <a:r>
                        <a:rPr dirty="0" sz="1300" spc="-20">
                          <a:solidFill>
                            <a:srgbClr val="13203C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300" spc="-10">
                          <a:solidFill>
                            <a:srgbClr val="13203C"/>
                          </a:solidFill>
                          <a:latin typeface="Arial"/>
                          <a:cs typeface="Arial"/>
                        </a:rPr>
                        <a:t>False,</a:t>
                      </a:r>
                      <a:r>
                        <a:rPr dirty="0" sz="1300" spc="-20">
                          <a:solidFill>
                            <a:srgbClr val="13203C"/>
                          </a:solidFill>
                          <a:latin typeface="Arial"/>
                          <a:cs typeface="Arial"/>
                        </a:rPr>
                        <a:t> True,</a:t>
                      </a:r>
                      <a:r>
                        <a:rPr dirty="0" sz="1300" spc="-15">
                          <a:solidFill>
                            <a:srgbClr val="13203C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300" spc="-20">
                          <a:solidFill>
                            <a:srgbClr val="13203C"/>
                          </a:solidFill>
                          <a:latin typeface="Arial"/>
                          <a:cs typeface="Arial"/>
                        </a:rPr>
                        <a:t>True, </a:t>
                      </a:r>
                      <a:r>
                        <a:rPr dirty="0" sz="1300" spc="-10">
                          <a:solidFill>
                            <a:srgbClr val="13203C"/>
                          </a:solidFill>
                          <a:latin typeface="Arial"/>
                          <a:cs typeface="Arial"/>
                        </a:rPr>
                        <a:t>False]]</a:t>
                      </a:r>
                      <a:endParaRPr sz="1300">
                        <a:latin typeface="Arial"/>
                        <a:cs typeface="Arial"/>
                      </a:endParaRPr>
                    </a:p>
                  </a:txBody>
                  <a:tcPr marL="0" marR="0" marB="0" marT="71120">
                    <a:lnL w="12700">
                      <a:solidFill>
                        <a:srgbClr val="C7C7C5"/>
                      </a:solidFill>
                      <a:prstDash val="solid"/>
                    </a:lnL>
                    <a:lnR w="12700">
                      <a:solidFill>
                        <a:srgbClr val="C7C7C5"/>
                      </a:solidFill>
                      <a:prstDash val="solid"/>
                    </a:lnR>
                    <a:lnT w="12700">
                      <a:solidFill>
                        <a:srgbClr val="C7C7C5"/>
                      </a:solidFill>
                      <a:prstDash val="solid"/>
                    </a:lnT>
                    <a:lnB w="12700">
                      <a:solidFill>
                        <a:srgbClr val="C7C7C5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2230">
                        <a:lnSpc>
                          <a:spcPct val="100000"/>
                        </a:lnSpc>
                        <a:spcBef>
                          <a:spcPts val="560"/>
                        </a:spcBef>
                      </a:pPr>
                      <a:r>
                        <a:rPr dirty="0" sz="1300">
                          <a:solidFill>
                            <a:srgbClr val="13203C"/>
                          </a:solidFill>
                          <a:latin typeface="Arial"/>
                          <a:cs typeface="Arial"/>
                        </a:rPr>
                        <a:t>rows</a:t>
                      </a:r>
                      <a:r>
                        <a:rPr dirty="0" sz="1300" spc="-25">
                          <a:solidFill>
                            <a:srgbClr val="13203C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300">
                          <a:solidFill>
                            <a:srgbClr val="13203C"/>
                          </a:solidFill>
                          <a:latin typeface="Arial"/>
                          <a:cs typeface="Arial"/>
                        </a:rPr>
                        <a:t>0,</a:t>
                      </a:r>
                      <a:r>
                        <a:rPr dirty="0" sz="1300" spc="-30">
                          <a:solidFill>
                            <a:srgbClr val="13203C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300">
                          <a:solidFill>
                            <a:srgbClr val="13203C"/>
                          </a:solidFill>
                          <a:latin typeface="Arial"/>
                          <a:cs typeface="Arial"/>
                        </a:rPr>
                        <a:t>3,</a:t>
                      </a:r>
                      <a:r>
                        <a:rPr dirty="0" sz="1300" spc="45">
                          <a:solidFill>
                            <a:srgbClr val="13203C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300">
                          <a:solidFill>
                            <a:srgbClr val="13203C"/>
                          </a:solidFill>
                          <a:latin typeface="Arial"/>
                          <a:cs typeface="Arial"/>
                        </a:rPr>
                        <a:t>4</a:t>
                      </a:r>
                      <a:endParaRPr sz="1300">
                        <a:latin typeface="Arial"/>
                        <a:cs typeface="Arial"/>
                      </a:endParaRPr>
                    </a:p>
                  </a:txBody>
                  <a:tcPr marL="0" marR="0" marB="0" marT="71120">
                    <a:lnL w="12700">
                      <a:solidFill>
                        <a:srgbClr val="C7C7C5"/>
                      </a:solidFill>
                      <a:prstDash val="solid"/>
                    </a:lnL>
                    <a:lnR w="12700">
                      <a:solidFill>
                        <a:srgbClr val="C7C7C5"/>
                      </a:solidFill>
                      <a:prstDash val="solid"/>
                    </a:lnR>
                    <a:lnT w="12700">
                      <a:solidFill>
                        <a:srgbClr val="C7C7C5"/>
                      </a:solidFill>
                      <a:prstDash val="solid"/>
                    </a:lnT>
                    <a:lnB w="12700">
                      <a:solidFill>
                        <a:srgbClr val="C7C7C5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4769">
                        <a:lnSpc>
                          <a:spcPct val="100000"/>
                        </a:lnSpc>
                        <a:spcBef>
                          <a:spcPts val="560"/>
                        </a:spcBef>
                      </a:pPr>
                      <a:r>
                        <a:rPr dirty="0" sz="1300" spc="-10">
                          <a:solidFill>
                            <a:srgbClr val="13203C"/>
                          </a:solidFill>
                          <a:latin typeface="Arial"/>
                          <a:cs typeface="Arial"/>
                        </a:rPr>
                        <a:t>DataFrame</a:t>
                      </a:r>
                      <a:endParaRPr sz="1300">
                        <a:latin typeface="Arial"/>
                        <a:cs typeface="Arial"/>
                      </a:endParaRPr>
                    </a:p>
                  </a:txBody>
                  <a:tcPr marL="0" marR="0" marB="0" marT="71120">
                    <a:lnL w="12700">
                      <a:solidFill>
                        <a:srgbClr val="C7C7C5"/>
                      </a:solidFill>
                      <a:prstDash val="solid"/>
                    </a:lnL>
                    <a:lnR w="12700">
                      <a:solidFill>
                        <a:srgbClr val="C7C7C5"/>
                      </a:solidFill>
                      <a:prstDash val="solid"/>
                    </a:lnR>
                    <a:lnT w="12700">
                      <a:solidFill>
                        <a:srgbClr val="C7C7C5"/>
                      </a:solidFill>
                      <a:prstDash val="solid"/>
                    </a:lnT>
                    <a:lnB w="12700">
                      <a:solidFill>
                        <a:srgbClr val="C7C7C5"/>
                      </a:solidFill>
                      <a:prstDash val="solid"/>
                    </a:lnB>
                  </a:tcPr>
                </a:tc>
              </a:tr>
              <a:tr h="356870">
                <a:tc>
                  <a:txBody>
                    <a:bodyPr/>
                    <a:lstStyle/>
                    <a:p>
                      <a:pPr marL="58419">
                        <a:lnSpc>
                          <a:spcPct val="100000"/>
                        </a:lnSpc>
                        <a:spcBef>
                          <a:spcPts val="565"/>
                        </a:spcBef>
                      </a:pPr>
                      <a:r>
                        <a:rPr dirty="0" sz="1300" spc="-10">
                          <a:solidFill>
                            <a:srgbClr val="13203C"/>
                          </a:solidFill>
                          <a:latin typeface="Arial"/>
                          <a:cs typeface="Arial"/>
                        </a:rPr>
                        <a:t>df6.loc[1]</a:t>
                      </a:r>
                      <a:endParaRPr sz="1300">
                        <a:latin typeface="Arial"/>
                        <a:cs typeface="Arial"/>
                      </a:endParaRPr>
                    </a:p>
                  </a:txBody>
                  <a:tcPr marL="0" marR="0" marB="0" marT="71755">
                    <a:lnL w="12700">
                      <a:solidFill>
                        <a:srgbClr val="C7C7C5"/>
                      </a:solidFill>
                      <a:prstDash val="solid"/>
                    </a:lnL>
                    <a:lnR w="12700">
                      <a:solidFill>
                        <a:srgbClr val="C7C7C5"/>
                      </a:solidFill>
                      <a:prstDash val="solid"/>
                    </a:lnR>
                    <a:lnT w="12700">
                      <a:solidFill>
                        <a:srgbClr val="C7C7C5"/>
                      </a:solidFill>
                      <a:prstDash val="solid"/>
                    </a:lnT>
                    <a:lnB w="12700">
                      <a:solidFill>
                        <a:srgbClr val="C7C7C5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2230">
                        <a:lnSpc>
                          <a:spcPct val="100000"/>
                        </a:lnSpc>
                        <a:spcBef>
                          <a:spcPts val="565"/>
                        </a:spcBef>
                      </a:pPr>
                      <a:r>
                        <a:rPr dirty="0" sz="1300">
                          <a:solidFill>
                            <a:srgbClr val="13203C"/>
                          </a:solidFill>
                          <a:latin typeface="Arial"/>
                          <a:cs typeface="Arial"/>
                        </a:rPr>
                        <a:t>row</a:t>
                      </a:r>
                      <a:r>
                        <a:rPr dirty="0" sz="1300" spc="40">
                          <a:solidFill>
                            <a:srgbClr val="13203C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300">
                          <a:solidFill>
                            <a:srgbClr val="13203C"/>
                          </a:solidFill>
                          <a:latin typeface="Arial"/>
                          <a:cs typeface="Arial"/>
                        </a:rPr>
                        <a:t>1</a:t>
                      </a:r>
                      <a:endParaRPr sz="1300">
                        <a:latin typeface="Arial"/>
                        <a:cs typeface="Arial"/>
                      </a:endParaRPr>
                    </a:p>
                  </a:txBody>
                  <a:tcPr marL="0" marR="0" marB="0" marT="71755">
                    <a:lnL w="12700">
                      <a:solidFill>
                        <a:srgbClr val="C7C7C5"/>
                      </a:solidFill>
                      <a:prstDash val="solid"/>
                    </a:lnL>
                    <a:lnR w="12700">
                      <a:solidFill>
                        <a:srgbClr val="C7C7C5"/>
                      </a:solidFill>
                      <a:prstDash val="solid"/>
                    </a:lnR>
                    <a:lnT w="12700">
                      <a:solidFill>
                        <a:srgbClr val="C7C7C5"/>
                      </a:solidFill>
                      <a:prstDash val="solid"/>
                    </a:lnT>
                    <a:lnB w="12700">
                      <a:solidFill>
                        <a:srgbClr val="C7C7C5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4769">
                        <a:lnSpc>
                          <a:spcPct val="100000"/>
                        </a:lnSpc>
                        <a:spcBef>
                          <a:spcPts val="565"/>
                        </a:spcBef>
                      </a:pPr>
                      <a:r>
                        <a:rPr dirty="0" sz="1300" spc="-10">
                          <a:solidFill>
                            <a:srgbClr val="13203C"/>
                          </a:solidFill>
                          <a:latin typeface="Arial"/>
                          <a:cs typeface="Arial"/>
                        </a:rPr>
                        <a:t>Series</a:t>
                      </a:r>
                      <a:endParaRPr sz="1300">
                        <a:latin typeface="Arial"/>
                        <a:cs typeface="Arial"/>
                      </a:endParaRPr>
                    </a:p>
                  </a:txBody>
                  <a:tcPr marL="0" marR="0" marB="0" marT="71755">
                    <a:lnL w="12700">
                      <a:solidFill>
                        <a:srgbClr val="C7C7C5"/>
                      </a:solidFill>
                      <a:prstDash val="solid"/>
                    </a:lnL>
                    <a:lnR w="12700">
                      <a:solidFill>
                        <a:srgbClr val="C7C7C5"/>
                      </a:solidFill>
                      <a:prstDash val="solid"/>
                    </a:lnR>
                    <a:lnT w="12700">
                      <a:solidFill>
                        <a:srgbClr val="C7C7C5"/>
                      </a:solidFill>
                      <a:prstDash val="solid"/>
                    </a:lnT>
                    <a:lnB w="12700">
                      <a:solidFill>
                        <a:srgbClr val="C7C7C5"/>
                      </a:solidFill>
                      <a:prstDash val="solid"/>
                    </a:lnB>
                  </a:tcPr>
                </a:tc>
              </a:tr>
              <a:tr h="356870">
                <a:tc>
                  <a:txBody>
                    <a:bodyPr/>
                    <a:lstStyle/>
                    <a:p>
                      <a:pPr marL="58419">
                        <a:lnSpc>
                          <a:spcPct val="100000"/>
                        </a:lnSpc>
                        <a:spcBef>
                          <a:spcPts val="570"/>
                        </a:spcBef>
                      </a:pPr>
                      <a:r>
                        <a:rPr dirty="0" sz="1300">
                          <a:solidFill>
                            <a:srgbClr val="13203C"/>
                          </a:solidFill>
                          <a:latin typeface="Arial"/>
                          <a:cs typeface="Arial"/>
                        </a:rPr>
                        <a:t>df6.loc[[1,</a:t>
                      </a:r>
                      <a:r>
                        <a:rPr dirty="0" sz="1300" spc="85">
                          <a:solidFill>
                            <a:srgbClr val="13203C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300">
                          <a:solidFill>
                            <a:srgbClr val="13203C"/>
                          </a:solidFill>
                          <a:latin typeface="Arial"/>
                          <a:cs typeface="Arial"/>
                        </a:rPr>
                        <a:t>3,</a:t>
                      </a:r>
                      <a:r>
                        <a:rPr dirty="0" sz="1300" spc="85">
                          <a:solidFill>
                            <a:srgbClr val="13203C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300" spc="30">
                          <a:solidFill>
                            <a:srgbClr val="13203C"/>
                          </a:solidFill>
                          <a:latin typeface="Arial"/>
                          <a:cs typeface="Arial"/>
                        </a:rPr>
                        <a:t>5]]</a:t>
                      </a:r>
                      <a:endParaRPr sz="1300">
                        <a:latin typeface="Arial"/>
                        <a:cs typeface="Arial"/>
                      </a:endParaRPr>
                    </a:p>
                  </a:txBody>
                  <a:tcPr marL="0" marR="0" marB="0" marT="72390">
                    <a:lnL w="12700">
                      <a:solidFill>
                        <a:srgbClr val="C7C7C5"/>
                      </a:solidFill>
                      <a:prstDash val="solid"/>
                    </a:lnL>
                    <a:lnR w="12700">
                      <a:solidFill>
                        <a:srgbClr val="C7C7C5"/>
                      </a:solidFill>
                      <a:prstDash val="solid"/>
                    </a:lnR>
                    <a:lnT w="12700">
                      <a:solidFill>
                        <a:srgbClr val="C7C7C5"/>
                      </a:solidFill>
                      <a:prstDash val="solid"/>
                    </a:lnT>
                    <a:lnB w="12700">
                      <a:solidFill>
                        <a:srgbClr val="C7C7C5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2230">
                        <a:lnSpc>
                          <a:spcPct val="100000"/>
                        </a:lnSpc>
                        <a:spcBef>
                          <a:spcPts val="570"/>
                        </a:spcBef>
                      </a:pPr>
                      <a:r>
                        <a:rPr dirty="0" sz="1300">
                          <a:solidFill>
                            <a:srgbClr val="13203C"/>
                          </a:solidFill>
                          <a:latin typeface="Arial"/>
                          <a:cs typeface="Arial"/>
                        </a:rPr>
                        <a:t>rows</a:t>
                      </a:r>
                      <a:r>
                        <a:rPr dirty="0" sz="1300" spc="-25">
                          <a:solidFill>
                            <a:srgbClr val="13203C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300">
                          <a:solidFill>
                            <a:srgbClr val="13203C"/>
                          </a:solidFill>
                          <a:latin typeface="Arial"/>
                          <a:cs typeface="Arial"/>
                        </a:rPr>
                        <a:t>1,</a:t>
                      </a:r>
                      <a:r>
                        <a:rPr dirty="0" sz="1300" spc="-30">
                          <a:solidFill>
                            <a:srgbClr val="13203C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300">
                          <a:solidFill>
                            <a:srgbClr val="13203C"/>
                          </a:solidFill>
                          <a:latin typeface="Arial"/>
                          <a:cs typeface="Arial"/>
                        </a:rPr>
                        <a:t>3,</a:t>
                      </a:r>
                      <a:r>
                        <a:rPr dirty="0" sz="1300" spc="45">
                          <a:solidFill>
                            <a:srgbClr val="13203C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300">
                          <a:solidFill>
                            <a:srgbClr val="13203C"/>
                          </a:solidFill>
                          <a:latin typeface="Arial"/>
                          <a:cs typeface="Arial"/>
                        </a:rPr>
                        <a:t>5</a:t>
                      </a:r>
                      <a:endParaRPr sz="1300">
                        <a:latin typeface="Arial"/>
                        <a:cs typeface="Arial"/>
                      </a:endParaRPr>
                    </a:p>
                  </a:txBody>
                  <a:tcPr marL="0" marR="0" marB="0" marT="72390">
                    <a:lnL w="12700">
                      <a:solidFill>
                        <a:srgbClr val="C7C7C5"/>
                      </a:solidFill>
                      <a:prstDash val="solid"/>
                    </a:lnL>
                    <a:lnR w="12700">
                      <a:solidFill>
                        <a:srgbClr val="C7C7C5"/>
                      </a:solidFill>
                      <a:prstDash val="solid"/>
                    </a:lnR>
                    <a:lnT w="12700">
                      <a:solidFill>
                        <a:srgbClr val="C7C7C5"/>
                      </a:solidFill>
                      <a:prstDash val="solid"/>
                    </a:lnT>
                    <a:lnB w="12700">
                      <a:solidFill>
                        <a:srgbClr val="C7C7C5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4769">
                        <a:lnSpc>
                          <a:spcPct val="100000"/>
                        </a:lnSpc>
                        <a:spcBef>
                          <a:spcPts val="570"/>
                        </a:spcBef>
                      </a:pPr>
                      <a:r>
                        <a:rPr dirty="0" sz="1300" spc="-10">
                          <a:solidFill>
                            <a:srgbClr val="13203C"/>
                          </a:solidFill>
                          <a:latin typeface="Arial"/>
                          <a:cs typeface="Arial"/>
                        </a:rPr>
                        <a:t>DataFrame</a:t>
                      </a:r>
                      <a:endParaRPr sz="1300">
                        <a:latin typeface="Arial"/>
                        <a:cs typeface="Arial"/>
                      </a:endParaRPr>
                    </a:p>
                  </a:txBody>
                  <a:tcPr marL="0" marR="0" marB="0" marT="72390">
                    <a:lnL w="12700">
                      <a:solidFill>
                        <a:srgbClr val="C7C7C5"/>
                      </a:solidFill>
                      <a:prstDash val="solid"/>
                    </a:lnL>
                    <a:lnR w="12700">
                      <a:solidFill>
                        <a:srgbClr val="C7C7C5"/>
                      </a:solidFill>
                      <a:prstDash val="solid"/>
                    </a:lnR>
                    <a:lnT w="12700">
                      <a:solidFill>
                        <a:srgbClr val="C7C7C5"/>
                      </a:solidFill>
                      <a:prstDash val="solid"/>
                    </a:lnT>
                    <a:lnB w="12700">
                      <a:solidFill>
                        <a:srgbClr val="C7C7C5"/>
                      </a:solidFill>
                      <a:prstDash val="solid"/>
                    </a:lnB>
                  </a:tcPr>
                </a:tc>
              </a:tr>
              <a:tr h="356870">
                <a:tc>
                  <a:txBody>
                    <a:bodyPr/>
                    <a:lstStyle/>
                    <a:p>
                      <a:pPr marL="58419">
                        <a:lnSpc>
                          <a:spcPct val="100000"/>
                        </a:lnSpc>
                        <a:spcBef>
                          <a:spcPts val="575"/>
                        </a:spcBef>
                      </a:pPr>
                      <a:r>
                        <a:rPr dirty="0" sz="1300">
                          <a:solidFill>
                            <a:srgbClr val="13203C"/>
                          </a:solidFill>
                          <a:latin typeface="Arial"/>
                          <a:cs typeface="Arial"/>
                        </a:rPr>
                        <a:t>df6.loc[1,</a:t>
                      </a:r>
                      <a:r>
                        <a:rPr dirty="0" sz="1300" spc="195">
                          <a:solidFill>
                            <a:srgbClr val="13203C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300" spc="-10">
                          <a:solidFill>
                            <a:srgbClr val="13203C"/>
                          </a:solidFill>
                          <a:latin typeface="Arial"/>
                          <a:cs typeface="Arial"/>
                        </a:rPr>
                        <a:t>'num_threads']</a:t>
                      </a:r>
                      <a:endParaRPr sz="1300">
                        <a:latin typeface="Arial"/>
                        <a:cs typeface="Arial"/>
                      </a:endParaRPr>
                    </a:p>
                  </a:txBody>
                  <a:tcPr marL="0" marR="0" marB="0" marT="73025">
                    <a:lnL w="12700">
                      <a:solidFill>
                        <a:srgbClr val="C7C7C5"/>
                      </a:solidFill>
                      <a:prstDash val="solid"/>
                    </a:lnL>
                    <a:lnR w="12700">
                      <a:solidFill>
                        <a:srgbClr val="C7C7C5"/>
                      </a:solidFill>
                      <a:prstDash val="solid"/>
                    </a:lnR>
                    <a:lnT w="12700">
                      <a:solidFill>
                        <a:srgbClr val="C7C7C5"/>
                      </a:solidFill>
                      <a:prstDash val="solid"/>
                    </a:lnT>
                    <a:lnB w="12700">
                      <a:solidFill>
                        <a:srgbClr val="C7C7C5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2230">
                        <a:lnSpc>
                          <a:spcPct val="100000"/>
                        </a:lnSpc>
                        <a:spcBef>
                          <a:spcPts val="575"/>
                        </a:spcBef>
                      </a:pPr>
                      <a:r>
                        <a:rPr dirty="0" sz="1300">
                          <a:solidFill>
                            <a:srgbClr val="13203C"/>
                          </a:solidFill>
                          <a:latin typeface="Arial"/>
                          <a:cs typeface="Arial"/>
                        </a:rPr>
                        <a:t>one</a:t>
                      </a:r>
                      <a:r>
                        <a:rPr dirty="0" sz="1300" spc="-40">
                          <a:solidFill>
                            <a:srgbClr val="13203C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300" spc="-20">
                          <a:solidFill>
                            <a:srgbClr val="13203C"/>
                          </a:solidFill>
                          <a:latin typeface="Arial"/>
                          <a:cs typeface="Arial"/>
                        </a:rPr>
                        <a:t>cell</a:t>
                      </a:r>
                      <a:endParaRPr sz="1300">
                        <a:latin typeface="Arial"/>
                        <a:cs typeface="Arial"/>
                      </a:endParaRPr>
                    </a:p>
                  </a:txBody>
                  <a:tcPr marL="0" marR="0" marB="0" marT="73025">
                    <a:lnL w="12700">
                      <a:solidFill>
                        <a:srgbClr val="C7C7C5"/>
                      </a:solidFill>
                      <a:prstDash val="solid"/>
                    </a:lnL>
                    <a:lnR w="12700">
                      <a:solidFill>
                        <a:srgbClr val="C7C7C5"/>
                      </a:solidFill>
                      <a:prstDash val="solid"/>
                    </a:lnR>
                    <a:lnT w="12700">
                      <a:solidFill>
                        <a:srgbClr val="C7C7C5"/>
                      </a:solidFill>
                      <a:prstDash val="solid"/>
                    </a:lnT>
                    <a:lnB w="12700">
                      <a:solidFill>
                        <a:srgbClr val="C7C7C5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4769">
                        <a:lnSpc>
                          <a:spcPct val="100000"/>
                        </a:lnSpc>
                        <a:spcBef>
                          <a:spcPts val="575"/>
                        </a:spcBef>
                      </a:pPr>
                      <a:r>
                        <a:rPr dirty="0" sz="1300" spc="35">
                          <a:solidFill>
                            <a:srgbClr val="13203C"/>
                          </a:solidFill>
                          <a:latin typeface="Arial"/>
                          <a:cs typeface="Arial"/>
                        </a:rPr>
                        <a:t>47</a:t>
                      </a:r>
                      <a:endParaRPr sz="1300">
                        <a:latin typeface="Arial"/>
                        <a:cs typeface="Arial"/>
                      </a:endParaRPr>
                    </a:p>
                  </a:txBody>
                  <a:tcPr marL="0" marR="0" marB="0" marT="73025">
                    <a:lnL w="12700">
                      <a:solidFill>
                        <a:srgbClr val="C7C7C5"/>
                      </a:solidFill>
                      <a:prstDash val="solid"/>
                    </a:lnL>
                    <a:lnR w="12700">
                      <a:solidFill>
                        <a:srgbClr val="C7C7C5"/>
                      </a:solidFill>
                      <a:prstDash val="solid"/>
                    </a:lnR>
                    <a:lnT w="12700">
                      <a:solidFill>
                        <a:srgbClr val="C7C7C5"/>
                      </a:solidFill>
                      <a:prstDash val="solid"/>
                    </a:lnT>
                    <a:lnB w="12700">
                      <a:solidFill>
                        <a:srgbClr val="C7C7C5"/>
                      </a:solidFill>
                      <a:prstDash val="solid"/>
                    </a:lnB>
                  </a:tcPr>
                </a:tc>
              </a:tr>
              <a:tr h="356870">
                <a:tc>
                  <a:txBody>
                    <a:bodyPr/>
                    <a:lstStyle/>
                    <a:p>
                      <a:pPr marL="58419">
                        <a:lnSpc>
                          <a:spcPct val="100000"/>
                        </a:lnSpc>
                        <a:spcBef>
                          <a:spcPts val="580"/>
                        </a:spcBef>
                      </a:pPr>
                      <a:r>
                        <a:rPr dirty="0" sz="1300">
                          <a:solidFill>
                            <a:srgbClr val="13203C"/>
                          </a:solidFill>
                          <a:latin typeface="Arial"/>
                          <a:cs typeface="Arial"/>
                        </a:rPr>
                        <a:t>df6.loc[[1,</a:t>
                      </a:r>
                      <a:r>
                        <a:rPr dirty="0" sz="1300" spc="100">
                          <a:solidFill>
                            <a:srgbClr val="13203C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300">
                          <a:solidFill>
                            <a:srgbClr val="13203C"/>
                          </a:solidFill>
                          <a:latin typeface="Arial"/>
                          <a:cs typeface="Arial"/>
                        </a:rPr>
                        <a:t>2,</a:t>
                      </a:r>
                      <a:r>
                        <a:rPr dirty="0" sz="1300" spc="105">
                          <a:solidFill>
                            <a:srgbClr val="13203C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300">
                          <a:solidFill>
                            <a:srgbClr val="13203C"/>
                          </a:solidFill>
                          <a:latin typeface="Arial"/>
                          <a:cs typeface="Arial"/>
                        </a:rPr>
                        <a:t>5],</a:t>
                      </a:r>
                      <a:r>
                        <a:rPr dirty="0" sz="1300" spc="105">
                          <a:solidFill>
                            <a:srgbClr val="13203C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300">
                          <a:solidFill>
                            <a:srgbClr val="13203C"/>
                          </a:solidFill>
                          <a:latin typeface="Arial"/>
                          <a:cs typeface="Arial"/>
                        </a:rPr>
                        <a:t>['num_threads',</a:t>
                      </a:r>
                      <a:r>
                        <a:rPr dirty="0" sz="1300" spc="105">
                          <a:solidFill>
                            <a:srgbClr val="13203C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300" spc="-10">
                          <a:solidFill>
                            <a:srgbClr val="13203C"/>
                          </a:solidFill>
                          <a:latin typeface="Arial"/>
                          <a:cs typeface="Arial"/>
                        </a:rPr>
                        <a:t>'CPU_USAGE']]</a:t>
                      </a:r>
                      <a:endParaRPr sz="1300">
                        <a:latin typeface="Arial"/>
                        <a:cs typeface="Arial"/>
                      </a:endParaRPr>
                    </a:p>
                  </a:txBody>
                  <a:tcPr marL="0" marR="0" marB="0" marT="73660">
                    <a:lnL w="12700">
                      <a:solidFill>
                        <a:srgbClr val="C7C7C5"/>
                      </a:solidFill>
                      <a:prstDash val="solid"/>
                    </a:lnL>
                    <a:lnR w="12700">
                      <a:solidFill>
                        <a:srgbClr val="C7C7C5"/>
                      </a:solidFill>
                      <a:prstDash val="solid"/>
                    </a:lnR>
                    <a:lnT w="12700">
                      <a:solidFill>
                        <a:srgbClr val="C7C7C5"/>
                      </a:solidFill>
                      <a:prstDash val="solid"/>
                    </a:lnT>
                    <a:lnB w="12700">
                      <a:solidFill>
                        <a:srgbClr val="C7C7C5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2230">
                        <a:lnSpc>
                          <a:spcPct val="100000"/>
                        </a:lnSpc>
                        <a:spcBef>
                          <a:spcPts val="580"/>
                        </a:spcBef>
                      </a:pPr>
                      <a:r>
                        <a:rPr dirty="0" sz="1300">
                          <a:solidFill>
                            <a:srgbClr val="13203C"/>
                          </a:solidFill>
                          <a:latin typeface="Arial"/>
                          <a:cs typeface="Arial"/>
                        </a:rPr>
                        <a:t>rows</a:t>
                      </a:r>
                      <a:r>
                        <a:rPr dirty="0" sz="1300" spc="-25">
                          <a:solidFill>
                            <a:srgbClr val="13203C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300" spc="530">
                          <a:solidFill>
                            <a:srgbClr val="13203C"/>
                          </a:solidFill>
                          <a:latin typeface="Arial"/>
                          <a:cs typeface="Arial"/>
                        </a:rPr>
                        <a:t>×</a:t>
                      </a:r>
                      <a:r>
                        <a:rPr dirty="0" sz="1300">
                          <a:solidFill>
                            <a:srgbClr val="13203C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300" spc="-10">
                          <a:solidFill>
                            <a:srgbClr val="13203C"/>
                          </a:solidFill>
                          <a:latin typeface="Arial"/>
                          <a:cs typeface="Arial"/>
                        </a:rPr>
                        <a:t>columns</a:t>
                      </a:r>
                      <a:endParaRPr sz="1300">
                        <a:latin typeface="Arial"/>
                        <a:cs typeface="Arial"/>
                      </a:endParaRPr>
                    </a:p>
                  </a:txBody>
                  <a:tcPr marL="0" marR="0" marB="0" marT="73660">
                    <a:lnL w="12700">
                      <a:solidFill>
                        <a:srgbClr val="C7C7C5"/>
                      </a:solidFill>
                      <a:prstDash val="solid"/>
                    </a:lnL>
                    <a:lnR w="12700">
                      <a:solidFill>
                        <a:srgbClr val="C7C7C5"/>
                      </a:solidFill>
                      <a:prstDash val="solid"/>
                    </a:lnR>
                    <a:lnT w="12700">
                      <a:solidFill>
                        <a:srgbClr val="C7C7C5"/>
                      </a:solidFill>
                      <a:prstDash val="solid"/>
                    </a:lnT>
                    <a:lnB w="12700">
                      <a:solidFill>
                        <a:srgbClr val="C7C7C5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4769">
                        <a:lnSpc>
                          <a:spcPct val="100000"/>
                        </a:lnSpc>
                        <a:spcBef>
                          <a:spcPts val="580"/>
                        </a:spcBef>
                      </a:pPr>
                      <a:r>
                        <a:rPr dirty="0" sz="1300" spc="-10">
                          <a:solidFill>
                            <a:srgbClr val="13203C"/>
                          </a:solidFill>
                          <a:latin typeface="Arial"/>
                          <a:cs typeface="Arial"/>
                        </a:rPr>
                        <a:t>DataFrame</a:t>
                      </a:r>
                      <a:endParaRPr sz="1300">
                        <a:latin typeface="Arial"/>
                        <a:cs typeface="Arial"/>
                      </a:endParaRPr>
                    </a:p>
                  </a:txBody>
                  <a:tcPr marL="0" marR="0" marB="0" marT="73660">
                    <a:lnL w="12700">
                      <a:solidFill>
                        <a:srgbClr val="C7C7C5"/>
                      </a:solidFill>
                      <a:prstDash val="solid"/>
                    </a:lnL>
                    <a:lnR w="12700">
                      <a:solidFill>
                        <a:srgbClr val="C7C7C5"/>
                      </a:solidFill>
                      <a:prstDash val="solid"/>
                    </a:lnR>
                    <a:lnT w="12700">
                      <a:solidFill>
                        <a:srgbClr val="C7C7C5"/>
                      </a:solidFill>
                      <a:prstDash val="solid"/>
                    </a:lnT>
                    <a:lnB w="12700">
                      <a:solidFill>
                        <a:srgbClr val="C7C7C5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5" name="object 5"/>
          <p:cNvSpPr txBox="1"/>
          <p:nvPr/>
        </p:nvSpPr>
        <p:spPr>
          <a:xfrm>
            <a:off x="800480" y="4947679"/>
            <a:ext cx="10646410" cy="53848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 marR="5080">
              <a:lnSpc>
                <a:spcPct val="124600"/>
              </a:lnSpc>
              <a:spcBef>
                <a:spcPts val="95"/>
              </a:spcBef>
            </a:pPr>
            <a:r>
              <a:rPr dirty="0" sz="1350">
                <a:solidFill>
                  <a:srgbClr val="3C495C"/>
                </a:solidFill>
                <a:latin typeface="Arial"/>
                <a:cs typeface="Arial"/>
              </a:rPr>
              <a:t>One</a:t>
            </a:r>
            <a:r>
              <a:rPr dirty="0" sz="1350" spc="-5">
                <a:solidFill>
                  <a:srgbClr val="3C495C"/>
                </a:solidFill>
                <a:latin typeface="Arial"/>
                <a:cs typeface="Arial"/>
              </a:rPr>
              <a:t> </a:t>
            </a:r>
            <a:r>
              <a:rPr dirty="0" sz="1350">
                <a:solidFill>
                  <a:srgbClr val="3C495C"/>
                </a:solidFill>
                <a:latin typeface="Arial"/>
                <a:cs typeface="Arial"/>
              </a:rPr>
              <a:t>label</a:t>
            </a:r>
            <a:r>
              <a:rPr dirty="0" sz="1350" spc="25">
                <a:solidFill>
                  <a:srgbClr val="3C495C"/>
                </a:solidFill>
                <a:latin typeface="Arial"/>
                <a:cs typeface="Arial"/>
              </a:rPr>
              <a:t> </a:t>
            </a:r>
            <a:r>
              <a:rPr dirty="0" sz="1350">
                <a:solidFill>
                  <a:srgbClr val="3C495C"/>
                </a:solidFill>
                <a:latin typeface="Arial"/>
                <a:cs typeface="Arial"/>
              </a:rPr>
              <a:t>in</a:t>
            </a:r>
            <a:r>
              <a:rPr dirty="0" sz="1350" spc="50">
                <a:solidFill>
                  <a:srgbClr val="3C495C"/>
                </a:solidFill>
                <a:latin typeface="Arial"/>
                <a:cs typeface="Arial"/>
              </a:rPr>
              <a:t> </a:t>
            </a:r>
            <a:r>
              <a:rPr dirty="0" sz="1350" spc="-235">
                <a:solidFill>
                  <a:srgbClr val="3C495C"/>
                </a:solidFill>
                <a:latin typeface="Arial"/>
                <a:cs typeface="Arial"/>
              </a:rPr>
              <a:t>→</a:t>
            </a:r>
            <a:r>
              <a:rPr dirty="0" sz="1350" spc="-10">
                <a:solidFill>
                  <a:srgbClr val="3C495C"/>
                </a:solidFill>
                <a:latin typeface="Arial"/>
                <a:cs typeface="Arial"/>
              </a:rPr>
              <a:t> </a:t>
            </a:r>
            <a:r>
              <a:rPr dirty="0" sz="1350">
                <a:solidFill>
                  <a:srgbClr val="3C495C"/>
                </a:solidFill>
                <a:latin typeface="Arial"/>
                <a:cs typeface="Arial"/>
              </a:rPr>
              <a:t>a</a:t>
            </a:r>
            <a:r>
              <a:rPr dirty="0" sz="1350" spc="25">
                <a:solidFill>
                  <a:srgbClr val="3C495C"/>
                </a:solidFill>
                <a:latin typeface="Arial"/>
                <a:cs typeface="Arial"/>
              </a:rPr>
              <a:t> </a:t>
            </a:r>
            <a:r>
              <a:rPr dirty="0" sz="1350">
                <a:solidFill>
                  <a:srgbClr val="3C495C"/>
                </a:solidFill>
                <a:latin typeface="Arial"/>
                <a:cs typeface="Arial"/>
              </a:rPr>
              <a:t>Series</a:t>
            </a:r>
            <a:r>
              <a:rPr dirty="0" sz="1350" spc="90">
                <a:solidFill>
                  <a:srgbClr val="3C495C"/>
                </a:solidFill>
                <a:latin typeface="Arial"/>
                <a:cs typeface="Arial"/>
              </a:rPr>
              <a:t> </a:t>
            </a:r>
            <a:r>
              <a:rPr dirty="0" sz="1350">
                <a:solidFill>
                  <a:srgbClr val="3C495C"/>
                </a:solidFill>
                <a:latin typeface="Arial"/>
                <a:cs typeface="Arial"/>
              </a:rPr>
              <a:t>or</a:t>
            </a:r>
            <a:r>
              <a:rPr dirty="0" sz="1350" spc="35">
                <a:solidFill>
                  <a:srgbClr val="3C495C"/>
                </a:solidFill>
                <a:latin typeface="Arial"/>
                <a:cs typeface="Arial"/>
              </a:rPr>
              <a:t> </a:t>
            </a:r>
            <a:r>
              <a:rPr dirty="0" sz="1350">
                <a:solidFill>
                  <a:srgbClr val="3C495C"/>
                </a:solidFill>
                <a:latin typeface="Arial"/>
                <a:cs typeface="Arial"/>
              </a:rPr>
              <a:t>a</a:t>
            </a:r>
            <a:r>
              <a:rPr dirty="0" sz="1350" spc="20">
                <a:solidFill>
                  <a:srgbClr val="3C495C"/>
                </a:solidFill>
                <a:latin typeface="Arial"/>
                <a:cs typeface="Arial"/>
              </a:rPr>
              <a:t> </a:t>
            </a:r>
            <a:r>
              <a:rPr dirty="0" sz="1350">
                <a:solidFill>
                  <a:srgbClr val="3C495C"/>
                </a:solidFill>
                <a:latin typeface="Arial"/>
                <a:cs typeface="Arial"/>
              </a:rPr>
              <a:t>single value.</a:t>
            </a:r>
            <a:r>
              <a:rPr dirty="0" sz="1350" spc="25">
                <a:solidFill>
                  <a:srgbClr val="3C495C"/>
                </a:solidFill>
                <a:latin typeface="Arial"/>
                <a:cs typeface="Arial"/>
              </a:rPr>
              <a:t> </a:t>
            </a:r>
            <a:r>
              <a:rPr dirty="0" sz="1350">
                <a:solidFill>
                  <a:srgbClr val="3C495C"/>
                </a:solidFill>
                <a:latin typeface="Arial"/>
                <a:cs typeface="Arial"/>
              </a:rPr>
              <a:t>A</a:t>
            </a:r>
            <a:r>
              <a:rPr dirty="0" sz="1350" spc="50">
                <a:solidFill>
                  <a:srgbClr val="3C495C"/>
                </a:solidFill>
                <a:latin typeface="Arial"/>
                <a:cs typeface="Arial"/>
              </a:rPr>
              <a:t> </a:t>
            </a:r>
            <a:r>
              <a:rPr dirty="0" sz="1350" b="1">
                <a:solidFill>
                  <a:srgbClr val="3C495C"/>
                </a:solidFill>
                <a:latin typeface="Arial"/>
                <a:cs typeface="Arial"/>
              </a:rPr>
              <a:t>list</a:t>
            </a:r>
            <a:r>
              <a:rPr dirty="0" sz="1350" spc="30" b="1">
                <a:solidFill>
                  <a:srgbClr val="3C495C"/>
                </a:solidFill>
                <a:latin typeface="Arial"/>
                <a:cs typeface="Arial"/>
              </a:rPr>
              <a:t> </a:t>
            </a:r>
            <a:r>
              <a:rPr dirty="0" sz="1350" spc="50">
                <a:solidFill>
                  <a:srgbClr val="3C495C"/>
                </a:solidFill>
                <a:latin typeface="Arial"/>
                <a:cs typeface="Arial"/>
              </a:rPr>
              <a:t>of</a:t>
            </a:r>
            <a:r>
              <a:rPr dirty="0" sz="1350" spc="25">
                <a:solidFill>
                  <a:srgbClr val="3C495C"/>
                </a:solidFill>
                <a:latin typeface="Arial"/>
                <a:cs typeface="Arial"/>
              </a:rPr>
              <a:t> </a:t>
            </a:r>
            <a:r>
              <a:rPr dirty="0" sz="1350">
                <a:solidFill>
                  <a:srgbClr val="3C495C"/>
                </a:solidFill>
                <a:latin typeface="Arial"/>
                <a:cs typeface="Arial"/>
              </a:rPr>
              <a:t>labels</a:t>
            </a:r>
            <a:r>
              <a:rPr dirty="0" sz="1350" spc="15">
                <a:solidFill>
                  <a:srgbClr val="3C495C"/>
                </a:solidFill>
                <a:latin typeface="Arial"/>
                <a:cs typeface="Arial"/>
              </a:rPr>
              <a:t> </a:t>
            </a:r>
            <a:r>
              <a:rPr dirty="0" sz="1350">
                <a:solidFill>
                  <a:srgbClr val="3C495C"/>
                </a:solidFill>
                <a:latin typeface="Arial"/>
                <a:cs typeface="Arial"/>
              </a:rPr>
              <a:t>in</a:t>
            </a:r>
            <a:r>
              <a:rPr dirty="0" sz="1350" spc="50">
                <a:solidFill>
                  <a:srgbClr val="3C495C"/>
                </a:solidFill>
                <a:latin typeface="Arial"/>
                <a:cs typeface="Arial"/>
              </a:rPr>
              <a:t> </a:t>
            </a:r>
            <a:r>
              <a:rPr dirty="0" sz="1350" spc="-235">
                <a:solidFill>
                  <a:srgbClr val="3C495C"/>
                </a:solidFill>
                <a:latin typeface="Arial"/>
                <a:cs typeface="Arial"/>
              </a:rPr>
              <a:t>→</a:t>
            </a:r>
            <a:r>
              <a:rPr dirty="0" sz="1350" spc="-10">
                <a:solidFill>
                  <a:srgbClr val="3C495C"/>
                </a:solidFill>
                <a:latin typeface="Arial"/>
                <a:cs typeface="Arial"/>
              </a:rPr>
              <a:t> </a:t>
            </a:r>
            <a:r>
              <a:rPr dirty="0" sz="1350">
                <a:solidFill>
                  <a:srgbClr val="3C495C"/>
                </a:solidFill>
                <a:latin typeface="Arial"/>
                <a:cs typeface="Arial"/>
              </a:rPr>
              <a:t>a</a:t>
            </a:r>
            <a:r>
              <a:rPr dirty="0" sz="1350" spc="20">
                <a:solidFill>
                  <a:srgbClr val="3C495C"/>
                </a:solidFill>
                <a:latin typeface="Arial"/>
                <a:cs typeface="Arial"/>
              </a:rPr>
              <a:t> </a:t>
            </a:r>
            <a:r>
              <a:rPr dirty="0" sz="1350">
                <a:solidFill>
                  <a:srgbClr val="3C495C"/>
                </a:solidFill>
                <a:latin typeface="Arial"/>
                <a:cs typeface="Arial"/>
              </a:rPr>
              <a:t>DataFrame.</a:t>
            </a:r>
            <a:r>
              <a:rPr dirty="0" sz="1350" spc="25">
                <a:solidFill>
                  <a:srgbClr val="3C495C"/>
                </a:solidFill>
                <a:latin typeface="Arial"/>
                <a:cs typeface="Arial"/>
              </a:rPr>
              <a:t> </a:t>
            </a:r>
            <a:r>
              <a:rPr dirty="0" sz="1350">
                <a:solidFill>
                  <a:srgbClr val="3C495C"/>
                </a:solidFill>
                <a:latin typeface="Arial"/>
                <a:cs typeface="Arial"/>
              </a:rPr>
              <a:t>To </a:t>
            </a:r>
            <a:r>
              <a:rPr dirty="0" sz="1350" b="1">
                <a:solidFill>
                  <a:srgbClr val="3C495C"/>
                </a:solidFill>
                <a:latin typeface="Arial"/>
                <a:cs typeface="Arial"/>
              </a:rPr>
              <a:t>change</a:t>
            </a:r>
            <a:r>
              <a:rPr dirty="0" sz="1350" spc="40" b="1">
                <a:solidFill>
                  <a:srgbClr val="3C495C"/>
                </a:solidFill>
                <a:latin typeface="Arial"/>
                <a:cs typeface="Arial"/>
              </a:rPr>
              <a:t> </a:t>
            </a:r>
            <a:r>
              <a:rPr dirty="0" sz="1350">
                <a:solidFill>
                  <a:srgbClr val="3C495C"/>
                </a:solidFill>
                <a:latin typeface="Arial"/>
                <a:cs typeface="Arial"/>
              </a:rPr>
              <a:t>cells,</a:t>
            </a:r>
            <a:r>
              <a:rPr dirty="0" sz="1350" spc="25">
                <a:solidFill>
                  <a:srgbClr val="3C495C"/>
                </a:solidFill>
                <a:latin typeface="Arial"/>
                <a:cs typeface="Arial"/>
              </a:rPr>
              <a:t> </a:t>
            </a:r>
            <a:r>
              <a:rPr dirty="0" sz="1350">
                <a:solidFill>
                  <a:srgbClr val="3C495C"/>
                </a:solidFill>
                <a:latin typeface="Arial"/>
                <a:cs typeface="Arial"/>
              </a:rPr>
              <a:t>always</a:t>
            </a:r>
            <a:r>
              <a:rPr dirty="0" sz="1350" spc="10">
                <a:solidFill>
                  <a:srgbClr val="3C495C"/>
                </a:solidFill>
                <a:latin typeface="Arial"/>
                <a:cs typeface="Arial"/>
              </a:rPr>
              <a:t> </a:t>
            </a:r>
            <a:r>
              <a:rPr dirty="0" sz="1350">
                <a:solidFill>
                  <a:srgbClr val="3C495C"/>
                </a:solidFill>
                <a:latin typeface="Arial"/>
                <a:cs typeface="Arial"/>
              </a:rPr>
              <a:t>use .loc:</a:t>
            </a:r>
            <a:r>
              <a:rPr dirty="0" sz="1350" spc="5">
                <a:solidFill>
                  <a:srgbClr val="3C495C"/>
                </a:solidFill>
                <a:latin typeface="Arial"/>
                <a:cs typeface="Arial"/>
              </a:rPr>
              <a:t> </a:t>
            </a:r>
            <a:r>
              <a:rPr dirty="0" sz="1350" spc="45">
                <a:solidFill>
                  <a:srgbClr val="B45209"/>
                </a:solidFill>
                <a:latin typeface="Arial"/>
                <a:cs typeface="Arial"/>
              </a:rPr>
              <a:t>df6.loc[2,</a:t>
            </a:r>
            <a:r>
              <a:rPr dirty="0" sz="1350" spc="20">
                <a:solidFill>
                  <a:srgbClr val="B45209"/>
                </a:solidFill>
                <a:latin typeface="Arial"/>
                <a:cs typeface="Arial"/>
              </a:rPr>
              <a:t> </a:t>
            </a:r>
            <a:r>
              <a:rPr dirty="0" sz="1350" spc="-25">
                <a:solidFill>
                  <a:srgbClr val="B45209"/>
                </a:solidFill>
                <a:latin typeface="Arial"/>
                <a:cs typeface="Arial"/>
              </a:rPr>
              <a:t>'CPU_USAGE']</a:t>
            </a:r>
            <a:r>
              <a:rPr dirty="0" sz="1350" spc="35">
                <a:solidFill>
                  <a:srgbClr val="B45209"/>
                </a:solidFill>
                <a:latin typeface="Arial"/>
                <a:cs typeface="Arial"/>
              </a:rPr>
              <a:t> </a:t>
            </a:r>
            <a:r>
              <a:rPr dirty="0" sz="1350" spc="-50">
                <a:solidFill>
                  <a:srgbClr val="B45209"/>
                </a:solidFill>
                <a:latin typeface="Arial"/>
                <a:cs typeface="Arial"/>
              </a:rPr>
              <a:t>= </a:t>
            </a:r>
            <a:r>
              <a:rPr dirty="0" sz="1350" spc="-20">
                <a:solidFill>
                  <a:srgbClr val="B45209"/>
                </a:solidFill>
                <a:latin typeface="Arial"/>
                <a:cs typeface="Arial"/>
              </a:rPr>
              <a:t>0.01</a:t>
            </a:r>
            <a:endParaRPr sz="135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800480" y="819721"/>
            <a:ext cx="1493520" cy="234315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1350" spc="65" b="1">
                <a:solidFill>
                  <a:srgbClr val="B45209"/>
                </a:solidFill>
                <a:latin typeface="Arial"/>
                <a:cs typeface="Arial"/>
              </a:rPr>
              <a:t>0</a:t>
            </a:r>
            <a:r>
              <a:rPr dirty="0" sz="1350" spc="-190" b="1">
                <a:solidFill>
                  <a:srgbClr val="B45209"/>
                </a:solidFill>
                <a:latin typeface="Arial"/>
                <a:cs typeface="Arial"/>
              </a:rPr>
              <a:t> </a:t>
            </a:r>
            <a:r>
              <a:rPr dirty="0" sz="1350" spc="65" b="1">
                <a:solidFill>
                  <a:srgbClr val="B45209"/>
                </a:solidFill>
                <a:latin typeface="Arial"/>
                <a:cs typeface="Arial"/>
              </a:rPr>
              <a:t>4</a:t>
            </a:r>
            <a:r>
              <a:rPr dirty="0" sz="1350" spc="260" b="1">
                <a:solidFill>
                  <a:srgbClr val="B45209"/>
                </a:solidFill>
                <a:latin typeface="Arial"/>
                <a:cs typeface="Arial"/>
              </a:rPr>
              <a:t> </a:t>
            </a:r>
            <a:r>
              <a:rPr dirty="0" sz="1350" b="1">
                <a:solidFill>
                  <a:srgbClr val="B45209"/>
                </a:solidFill>
                <a:latin typeface="Arial"/>
                <a:cs typeface="Arial"/>
              </a:rPr>
              <a:t>·</a:t>
            </a:r>
            <a:r>
              <a:rPr dirty="0" sz="1350" spc="305" b="1">
                <a:solidFill>
                  <a:srgbClr val="B45209"/>
                </a:solidFill>
                <a:latin typeface="Arial"/>
                <a:cs typeface="Arial"/>
              </a:rPr>
              <a:t> </a:t>
            </a:r>
            <a:r>
              <a:rPr dirty="0" sz="1350" spc="155" b="1">
                <a:solidFill>
                  <a:srgbClr val="B45209"/>
                </a:solidFill>
                <a:latin typeface="Arial"/>
                <a:cs typeface="Arial"/>
              </a:rPr>
              <a:t>IND</a:t>
            </a:r>
            <a:r>
              <a:rPr dirty="0" sz="1350" spc="-175" b="1">
                <a:solidFill>
                  <a:srgbClr val="B45209"/>
                </a:solidFill>
                <a:latin typeface="Arial"/>
                <a:cs typeface="Arial"/>
              </a:rPr>
              <a:t> </a:t>
            </a:r>
            <a:r>
              <a:rPr dirty="0" sz="1350" spc="-80" b="1">
                <a:solidFill>
                  <a:srgbClr val="B45209"/>
                </a:solidFill>
                <a:latin typeface="Arial"/>
                <a:cs typeface="Arial"/>
              </a:rPr>
              <a:t>E</a:t>
            </a:r>
            <a:r>
              <a:rPr dirty="0" sz="1350" spc="-195" b="1">
                <a:solidFill>
                  <a:srgbClr val="B45209"/>
                </a:solidFill>
                <a:latin typeface="Arial"/>
                <a:cs typeface="Arial"/>
              </a:rPr>
              <a:t> </a:t>
            </a:r>
            <a:r>
              <a:rPr dirty="0" sz="1350" spc="130" b="1">
                <a:solidFill>
                  <a:srgbClr val="B45209"/>
                </a:solidFill>
                <a:latin typeface="Arial"/>
                <a:cs typeface="Arial"/>
              </a:rPr>
              <a:t>XING</a:t>
            </a:r>
            <a:endParaRPr sz="1350">
              <a:latin typeface="Arial"/>
              <a:cs typeface="Arial"/>
            </a:endParaRPr>
          </a:p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pc="-25"/>
              <a:t>Slices</a:t>
            </a:r>
            <a:r>
              <a:rPr dirty="0" spc="-120"/>
              <a:t> </a:t>
            </a:r>
            <a:r>
              <a:rPr dirty="0" spc="90"/>
              <a:t>with</a:t>
            </a:r>
            <a:r>
              <a:rPr dirty="0" spc="-114"/>
              <a:t> </a:t>
            </a:r>
            <a:r>
              <a:rPr dirty="0" spc="-10"/>
              <a:t>.loc</a:t>
            </a:r>
            <a:r>
              <a:rPr dirty="0" spc="-160"/>
              <a:t> </a:t>
            </a:r>
            <a:r>
              <a:rPr dirty="0"/>
              <a:t>include</a:t>
            </a:r>
            <a:r>
              <a:rPr dirty="0" spc="-160"/>
              <a:t> </a:t>
            </a:r>
            <a:r>
              <a:rPr dirty="0"/>
              <a:t>both</a:t>
            </a:r>
            <a:r>
              <a:rPr dirty="0" spc="-114"/>
              <a:t> </a:t>
            </a:r>
            <a:r>
              <a:rPr dirty="0" spc="-20"/>
              <a:t>ends</a:t>
            </a:r>
          </a:p>
        </p:txBody>
      </p:sp>
      <p:graphicFrame>
        <p:nvGraphicFramePr>
          <p:cNvPr id="4" name="object 4"/>
          <p:cNvGraphicFramePr>
            <a:graphicFrameLocks noGrp="1"/>
          </p:cNvGraphicFramePr>
          <p:nvPr/>
        </p:nvGraphicFramePr>
        <p:xfrm>
          <a:off x="816800" y="1914144"/>
          <a:ext cx="7036434" cy="255016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029710"/>
                <a:gridCol w="2918460"/>
              </a:tblGrid>
              <a:tr h="383540">
                <a:tc>
                  <a:txBody>
                    <a:bodyPr/>
                    <a:lstStyle/>
                    <a:p>
                      <a:pPr marL="62865">
                        <a:lnSpc>
                          <a:spcPct val="100000"/>
                        </a:lnSpc>
                        <a:spcBef>
                          <a:spcPts val="680"/>
                        </a:spcBef>
                      </a:pPr>
                      <a:r>
                        <a:rPr dirty="0" sz="1350" b="1">
                          <a:solidFill>
                            <a:srgbClr val="13203C"/>
                          </a:solidFill>
                          <a:latin typeface="Arial"/>
                          <a:cs typeface="Arial"/>
                        </a:rPr>
                        <a:t>You</a:t>
                      </a:r>
                      <a:r>
                        <a:rPr dirty="0" sz="1350" spc="-70" b="1">
                          <a:solidFill>
                            <a:srgbClr val="13203C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350" spc="-20" b="1">
                          <a:solidFill>
                            <a:srgbClr val="13203C"/>
                          </a:solidFill>
                          <a:latin typeface="Arial"/>
                          <a:cs typeface="Arial"/>
                        </a:rPr>
                        <a:t>type</a:t>
                      </a:r>
                      <a:endParaRPr sz="1350">
                        <a:latin typeface="Arial"/>
                        <a:cs typeface="Arial"/>
                      </a:endParaRPr>
                    </a:p>
                  </a:txBody>
                  <a:tcPr marL="0" marR="0" marB="0" marT="86360">
                    <a:lnL w="12700">
                      <a:solidFill>
                        <a:srgbClr val="C7C7C5"/>
                      </a:solidFill>
                      <a:prstDash val="solid"/>
                    </a:lnL>
                    <a:lnR w="12700">
                      <a:solidFill>
                        <a:srgbClr val="BDC0C3"/>
                      </a:solidFill>
                      <a:prstDash val="solid"/>
                    </a:lnR>
                    <a:lnT w="12700">
                      <a:solidFill>
                        <a:srgbClr val="C7C7C5"/>
                      </a:solidFill>
                      <a:prstDash val="solid"/>
                    </a:lnT>
                    <a:lnB w="12700">
                      <a:solidFill>
                        <a:srgbClr val="BDC0C3"/>
                      </a:solidFill>
                      <a:prstDash val="solid"/>
                    </a:lnB>
                    <a:solidFill>
                      <a:srgbClr val="EDF0F5"/>
                    </a:solidFill>
                  </a:tcPr>
                </a:tc>
                <a:tc>
                  <a:txBody>
                    <a:bodyPr/>
                    <a:lstStyle/>
                    <a:p>
                      <a:pPr marL="66040">
                        <a:lnSpc>
                          <a:spcPct val="100000"/>
                        </a:lnSpc>
                        <a:spcBef>
                          <a:spcPts val="680"/>
                        </a:spcBef>
                      </a:pPr>
                      <a:r>
                        <a:rPr dirty="0" sz="1350" b="1">
                          <a:solidFill>
                            <a:srgbClr val="13203C"/>
                          </a:solidFill>
                          <a:latin typeface="Arial"/>
                          <a:cs typeface="Arial"/>
                        </a:rPr>
                        <a:t>You</a:t>
                      </a:r>
                      <a:r>
                        <a:rPr dirty="0" sz="1350" spc="-70" b="1">
                          <a:solidFill>
                            <a:srgbClr val="13203C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350" spc="-10" b="1">
                          <a:solidFill>
                            <a:srgbClr val="13203C"/>
                          </a:solidFill>
                          <a:latin typeface="Arial"/>
                          <a:cs typeface="Arial"/>
                        </a:rPr>
                        <a:t>select</a:t>
                      </a:r>
                      <a:endParaRPr sz="1350">
                        <a:latin typeface="Arial"/>
                        <a:cs typeface="Arial"/>
                      </a:endParaRPr>
                    </a:p>
                  </a:txBody>
                  <a:tcPr marL="0" marR="0" marB="0" marT="86360">
                    <a:lnL w="12700">
                      <a:solidFill>
                        <a:srgbClr val="BDC0C3"/>
                      </a:solidFill>
                      <a:prstDash val="solid"/>
                    </a:lnL>
                    <a:lnR w="12700">
                      <a:solidFill>
                        <a:srgbClr val="BDC0C3"/>
                      </a:solidFill>
                      <a:prstDash val="solid"/>
                    </a:lnR>
                    <a:lnT w="12700">
                      <a:solidFill>
                        <a:srgbClr val="C7C7C5"/>
                      </a:solidFill>
                      <a:prstDash val="solid"/>
                    </a:lnT>
                    <a:lnB w="12700">
                      <a:solidFill>
                        <a:srgbClr val="BDC0C3"/>
                      </a:solidFill>
                      <a:prstDash val="solid"/>
                    </a:lnB>
                    <a:solidFill>
                      <a:srgbClr val="EDF0F5"/>
                    </a:solidFill>
                  </a:tcPr>
                </a:tc>
              </a:tr>
              <a:tr h="383540">
                <a:tc>
                  <a:txBody>
                    <a:bodyPr/>
                    <a:lstStyle/>
                    <a:p>
                      <a:pPr marL="62865">
                        <a:lnSpc>
                          <a:spcPct val="100000"/>
                        </a:lnSpc>
                        <a:spcBef>
                          <a:spcPts val="680"/>
                        </a:spcBef>
                      </a:pPr>
                      <a:r>
                        <a:rPr dirty="0" sz="1350" spc="45">
                          <a:solidFill>
                            <a:srgbClr val="13203C"/>
                          </a:solidFill>
                          <a:latin typeface="Arial"/>
                          <a:cs typeface="Arial"/>
                        </a:rPr>
                        <a:t>df6.loc[1,</a:t>
                      </a:r>
                      <a:r>
                        <a:rPr dirty="0" sz="1350" spc="-15">
                          <a:solidFill>
                            <a:srgbClr val="13203C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350" spc="25">
                          <a:solidFill>
                            <a:srgbClr val="13203C"/>
                          </a:solidFill>
                          <a:latin typeface="Arial"/>
                          <a:cs typeface="Arial"/>
                        </a:rPr>
                        <a:t>:]</a:t>
                      </a:r>
                      <a:endParaRPr sz="1350">
                        <a:latin typeface="Arial"/>
                        <a:cs typeface="Arial"/>
                      </a:endParaRPr>
                    </a:p>
                  </a:txBody>
                  <a:tcPr marL="0" marR="0" marB="0" marT="86360">
                    <a:lnL w="12700">
                      <a:solidFill>
                        <a:srgbClr val="C7C7C5"/>
                      </a:solidFill>
                      <a:prstDash val="solid"/>
                    </a:lnL>
                    <a:lnR w="12700">
                      <a:solidFill>
                        <a:srgbClr val="C7C7C5"/>
                      </a:solidFill>
                      <a:prstDash val="solid"/>
                    </a:lnR>
                    <a:lnT w="12700">
                      <a:solidFill>
                        <a:srgbClr val="BDC0C3"/>
                      </a:solidFill>
                      <a:prstDash val="solid"/>
                    </a:lnT>
                    <a:lnB w="12700">
                      <a:solidFill>
                        <a:srgbClr val="C7C7C5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6040">
                        <a:lnSpc>
                          <a:spcPct val="100000"/>
                        </a:lnSpc>
                        <a:spcBef>
                          <a:spcPts val="680"/>
                        </a:spcBef>
                      </a:pPr>
                      <a:r>
                        <a:rPr dirty="0" sz="1350">
                          <a:solidFill>
                            <a:srgbClr val="13203C"/>
                          </a:solidFill>
                          <a:latin typeface="Arial"/>
                          <a:cs typeface="Arial"/>
                        </a:rPr>
                        <a:t>row</a:t>
                      </a:r>
                      <a:r>
                        <a:rPr dirty="0" sz="1350" spc="40">
                          <a:solidFill>
                            <a:srgbClr val="13203C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350">
                          <a:solidFill>
                            <a:srgbClr val="13203C"/>
                          </a:solidFill>
                          <a:latin typeface="Arial"/>
                          <a:cs typeface="Arial"/>
                        </a:rPr>
                        <a:t>1,</a:t>
                      </a:r>
                      <a:r>
                        <a:rPr dirty="0" sz="1350" spc="90">
                          <a:solidFill>
                            <a:srgbClr val="13203C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350">
                          <a:solidFill>
                            <a:srgbClr val="13203C"/>
                          </a:solidFill>
                          <a:latin typeface="Arial"/>
                          <a:cs typeface="Arial"/>
                        </a:rPr>
                        <a:t>every</a:t>
                      </a:r>
                      <a:r>
                        <a:rPr dirty="0" sz="1350" spc="55">
                          <a:solidFill>
                            <a:srgbClr val="13203C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350" spc="-10">
                          <a:solidFill>
                            <a:srgbClr val="13203C"/>
                          </a:solidFill>
                          <a:latin typeface="Arial"/>
                          <a:cs typeface="Arial"/>
                        </a:rPr>
                        <a:t>column</a:t>
                      </a:r>
                      <a:endParaRPr sz="1350">
                        <a:latin typeface="Arial"/>
                        <a:cs typeface="Arial"/>
                      </a:endParaRPr>
                    </a:p>
                  </a:txBody>
                  <a:tcPr marL="0" marR="0" marB="0" marT="86360">
                    <a:lnL w="12700">
                      <a:solidFill>
                        <a:srgbClr val="C7C7C5"/>
                      </a:solidFill>
                      <a:prstDash val="solid"/>
                    </a:lnL>
                    <a:lnR w="12700">
                      <a:solidFill>
                        <a:srgbClr val="C7C7C5"/>
                      </a:solidFill>
                      <a:prstDash val="solid"/>
                    </a:lnR>
                    <a:lnT w="12700">
                      <a:solidFill>
                        <a:srgbClr val="BDC0C3"/>
                      </a:solidFill>
                      <a:prstDash val="solid"/>
                    </a:lnT>
                    <a:lnB w="12700">
                      <a:solidFill>
                        <a:srgbClr val="C7C7C5"/>
                      </a:solidFill>
                      <a:prstDash val="solid"/>
                    </a:lnB>
                  </a:tcPr>
                </a:tc>
              </a:tr>
              <a:tr h="383540">
                <a:tc>
                  <a:txBody>
                    <a:bodyPr/>
                    <a:lstStyle/>
                    <a:p>
                      <a:pPr marL="62865">
                        <a:lnSpc>
                          <a:spcPct val="100000"/>
                        </a:lnSpc>
                        <a:spcBef>
                          <a:spcPts val="685"/>
                        </a:spcBef>
                      </a:pPr>
                      <a:r>
                        <a:rPr dirty="0" sz="1350" spc="10">
                          <a:solidFill>
                            <a:srgbClr val="13203C"/>
                          </a:solidFill>
                          <a:latin typeface="Arial"/>
                          <a:cs typeface="Arial"/>
                        </a:rPr>
                        <a:t>df6.loc[:,</a:t>
                      </a:r>
                      <a:r>
                        <a:rPr dirty="0" sz="1350" spc="285">
                          <a:solidFill>
                            <a:srgbClr val="13203C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350" spc="-10">
                          <a:solidFill>
                            <a:srgbClr val="13203C"/>
                          </a:solidFill>
                          <a:latin typeface="Arial"/>
                          <a:cs typeface="Arial"/>
                        </a:rPr>
                        <a:t>'CPU_USAGE']</a:t>
                      </a:r>
                      <a:endParaRPr sz="1350">
                        <a:latin typeface="Arial"/>
                        <a:cs typeface="Arial"/>
                      </a:endParaRPr>
                    </a:p>
                  </a:txBody>
                  <a:tcPr marL="0" marR="0" marB="0" marT="86995">
                    <a:lnL w="12700">
                      <a:solidFill>
                        <a:srgbClr val="C7C7C5"/>
                      </a:solidFill>
                      <a:prstDash val="solid"/>
                    </a:lnL>
                    <a:lnR w="12700">
                      <a:solidFill>
                        <a:srgbClr val="C7C7C5"/>
                      </a:solidFill>
                      <a:prstDash val="solid"/>
                    </a:lnR>
                    <a:lnT w="12700">
                      <a:solidFill>
                        <a:srgbClr val="C7C7C5"/>
                      </a:solidFill>
                      <a:prstDash val="solid"/>
                    </a:lnT>
                    <a:lnB w="12700">
                      <a:solidFill>
                        <a:srgbClr val="C7C7C5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6040">
                        <a:lnSpc>
                          <a:spcPct val="100000"/>
                        </a:lnSpc>
                        <a:spcBef>
                          <a:spcPts val="685"/>
                        </a:spcBef>
                      </a:pPr>
                      <a:r>
                        <a:rPr dirty="0" sz="1350">
                          <a:solidFill>
                            <a:srgbClr val="13203C"/>
                          </a:solidFill>
                          <a:latin typeface="Arial"/>
                          <a:cs typeface="Arial"/>
                        </a:rPr>
                        <a:t>every</a:t>
                      </a:r>
                      <a:r>
                        <a:rPr dirty="0" sz="1350" spc="50">
                          <a:solidFill>
                            <a:srgbClr val="13203C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350">
                          <a:solidFill>
                            <a:srgbClr val="13203C"/>
                          </a:solidFill>
                          <a:latin typeface="Arial"/>
                          <a:cs typeface="Arial"/>
                        </a:rPr>
                        <a:t>row,</a:t>
                      </a:r>
                      <a:r>
                        <a:rPr dirty="0" sz="1350" spc="80">
                          <a:solidFill>
                            <a:srgbClr val="13203C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350">
                          <a:solidFill>
                            <a:srgbClr val="13203C"/>
                          </a:solidFill>
                          <a:latin typeface="Arial"/>
                          <a:cs typeface="Arial"/>
                        </a:rPr>
                        <a:t>one</a:t>
                      </a:r>
                      <a:r>
                        <a:rPr dirty="0" sz="1350" spc="60">
                          <a:solidFill>
                            <a:srgbClr val="13203C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350" spc="-10">
                          <a:solidFill>
                            <a:srgbClr val="13203C"/>
                          </a:solidFill>
                          <a:latin typeface="Arial"/>
                          <a:cs typeface="Arial"/>
                        </a:rPr>
                        <a:t>column</a:t>
                      </a:r>
                      <a:endParaRPr sz="1350">
                        <a:latin typeface="Arial"/>
                        <a:cs typeface="Arial"/>
                      </a:endParaRPr>
                    </a:p>
                  </a:txBody>
                  <a:tcPr marL="0" marR="0" marB="0" marT="86995">
                    <a:lnL w="12700">
                      <a:solidFill>
                        <a:srgbClr val="C7C7C5"/>
                      </a:solidFill>
                      <a:prstDash val="solid"/>
                    </a:lnL>
                    <a:lnR w="12700">
                      <a:solidFill>
                        <a:srgbClr val="C7C7C5"/>
                      </a:solidFill>
                      <a:prstDash val="solid"/>
                    </a:lnR>
                    <a:lnT w="12700">
                      <a:solidFill>
                        <a:srgbClr val="C7C7C5"/>
                      </a:solidFill>
                      <a:prstDash val="solid"/>
                    </a:lnT>
                    <a:lnB w="12700">
                      <a:solidFill>
                        <a:srgbClr val="C7C7C5"/>
                      </a:solidFill>
                      <a:prstDash val="solid"/>
                    </a:lnB>
                  </a:tcPr>
                </a:tc>
              </a:tr>
              <a:tr h="383540">
                <a:tc>
                  <a:txBody>
                    <a:bodyPr/>
                    <a:lstStyle/>
                    <a:p>
                      <a:pPr marL="62865">
                        <a:lnSpc>
                          <a:spcPct val="100000"/>
                        </a:lnSpc>
                        <a:spcBef>
                          <a:spcPts val="690"/>
                        </a:spcBef>
                      </a:pPr>
                      <a:r>
                        <a:rPr dirty="0" sz="1350" spc="40">
                          <a:solidFill>
                            <a:srgbClr val="13203C"/>
                          </a:solidFill>
                          <a:latin typeface="Arial"/>
                          <a:cs typeface="Arial"/>
                        </a:rPr>
                        <a:t>df6.loc[:3]</a:t>
                      </a:r>
                      <a:endParaRPr sz="1350">
                        <a:latin typeface="Arial"/>
                        <a:cs typeface="Arial"/>
                      </a:endParaRPr>
                    </a:p>
                  </a:txBody>
                  <a:tcPr marL="0" marR="0" marB="0" marT="87630">
                    <a:lnL w="12700">
                      <a:solidFill>
                        <a:srgbClr val="C7C7C5"/>
                      </a:solidFill>
                      <a:prstDash val="solid"/>
                    </a:lnL>
                    <a:lnR w="12700">
                      <a:solidFill>
                        <a:srgbClr val="C7C7C5"/>
                      </a:solidFill>
                      <a:prstDash val="solid"/>
                    </a:lnR>
                    <a:lnT w="12700">
                      <a:solidFill>
                        <a:srgbClr val="C7C7C5"/>
                      </a:solidFill>
                      <a:prstDash val="solid"/>
                    </a:lnT>
                    <a:lnB w="12700">
                      <a:solidFill>
                        <a:srgbClr val="C7C7C5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6040">
                        <a:lnSpc>
                          <a:spcPct val="100000"/>
                        </a:lnSpc>
                        <a:spcBef>
                          <a:spcPts val="690"/>
                        </a:spcBef>
                      </a:pPr>
                      <a:r>
                        <a:rPr dirty="0" sz="1350">
                          <a:solidFill>
                            <a:srgbClr val="13203C"/>
                          </a:solidFill>
                          <a:latin typeface="Arial"/>
                          <a:cs typeface="Arial"/>
                        </a:rPr>
                        <a:t>rows</a:t>
                      </a:r>
                      <a:r>
                        <a:rPr dirty="0" sz="1350" spc="55">
                          <a:solidFill>
                            <a:srgbClr val="13203C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350">
                          <a:solidFill>
                            <a:srgbClr val="13203C"/>
                          </a:solidFill>
                          <a:latin typeface="Arial"/>
                          <a:cs typeface="Arial"/>
                        </a:rPr>
                        <a:t>0,</a:t>
                      </a:r>
                      <a:r>
                        <a:rPr dirty="0" sz="1350" spc="-15">
                          <a:solidFill>
                            <a:srgbClr val="13203C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350">
                          <a:solidFill>
                            <a:srgbClr val="13203C"/>
                          </a:solidFill>
                          <a:latin typeface="Arial"/>
                          <a:cs typeface="Arial"/>
                        </a:rPr>
                        <a:t>1,</a:t>
                      </a:r>
                      <a:r>
                        <a:rPr dirty="0" sz="1350" spc="70">
                          <a:solidFill>
                            <a:srgbClr val="13203C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350">
                          <a:solidFill>
                            <a:srgbClr val="13203C"/>
                          </a:solidFill>
                          <a:latin typeface="Arial"/>
                          <a:cs typeface="Arial"/>
                        </a:rPr>
                        <a:t>2,</a:t>
                      </a:r>
                      <a:r>
                        <a:rPr dirty="0" sz="1350" spc="75">
                          <a:solidFill>
                            <a:srgbClr val="13203C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350" spc="15">
                          <a:solidFill>
                            <a:srgbClr val="13203C"/>
                          </a:solidFill>
                          <a:latin typeface="Arial"/>
                          <a:cs typeface="Arial"/>
                        </a:rPr>
                        <a:t>3</a:t>
                      </a:r>
                      <a:endParaRPr sz="1350">
                        <a:latin typeface="Arial"/>
                        <a:cs typeface="Arial"/>
                      </a:endParaRPr>
                    </a:p>
                  </a:txBody>
                  <a:tcPr marL="0" marR="0" marB="0" marT="87630">
                    <a:lnL w="12700">
                      <a:solidFill>
                        <a:srgbClr val="C7C7C5"/>
                      </a:solidFill>
                      <a:prstDash val="solid"/>
                    </a:lnL>
                    <a:lnR w="12700">
                      <a:solidFill>
                        <a:srgbClr val="C7C7C5"/>
                      </a:solidFill>
                      <a:prstDash val="solid"/>
                    </a:lnR>
                    <a:lnT w="12700">
                      <a:solidFill>
                        <a:srgbClr val="C7C7C5"/>
                      </a:solidFill>
                      <a:prstDash val="solid"/>
                    </a:lnT>
                    <a:lnB w="12700">
                      <a:solidFill>
                        <a:srgbClr val="C7C7C5"/>
                      </a:solidFill>
                      <a:prstDash val="solid"/>
                    </a:lnB>
                  </a:tcPr>
                </a:tc>
              </a:tr>
              <a:tr h="383540">
                <a:tc>
                  <a:txBody>
                    <a:bodyPr/>
                    <a:lstStyle/>
                    <a:p>
                      <a:pPr marL="62865">
                        <a:lnSpc>
                          <a:spcPct val="100000"/>
                        </a:lnSpc>
                        <a:spcBef>
                          <a:spcPts val="695"/>
                        </a:spcBef>
                      </a:pPr>
                      <a:r>
                        <a:rPr dirty="0" sz="1350" spc="40">
                          <a:solidFill>
                            <a:srgbClr val="13203C"/>
                          </a:solidFill>
                          <a:latin typeface="Arial"/>
                          <a:cs typeface="Arial"/>
                        </a:rPr>
                        <a:t>df6.loc[2:5]</a:t>
                      </a:r>
                      <a:endParaRPr sz="1350">
                        <a:latin typeface="Arial"/>
                        <a:cs typeface="Arial"/>
                      </a:endParaRPr>
                    </a:p>
                  </a:txBody>
                  <a:tcPr marL="0" marR="0" marB="0" marT="88265">
                    <a:lnL w="12700">
                      <a:solidFill>
                        <a:srgbClr val="C7C7C5"/>
                      </a:solidFill>
                      <a:prstDash val="solid"/>
                    </a:lnL>
                    <a:lnR w="12700">
                      <a:solidFill>
                        <a:srgbClr val="C7C7C5"/>
                      </a:solidFill>
                      <a:prstDash val="solid"/>
                    </a:lnR>
                    <a:lnT w="12700">
                      <a:solidFill>
                        <a:srgbClr val="C7C7C5"/>
                      </a:solidFill>
                      <a:prstDash val="solid"/>
                    </a:lnT>
                    <a:lnB w="12700">
                      <a:solidFill>
                        <a:srgbClr val="C7C7C5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6040">
                        <a:lnSpc>
                          <a:spcPct val="100000"/>
                        </a:lnSpc>
                        <a:spcBef>
                          <a:spcPts val="695"/>
                        </a:spcBef>
                      </a:pPr>
                      <a:r>
                        <a:rPr dirty="0" sz="1350">
                          <a:solidFill>
                            <a:srgbClr val="13203C"/>
                          </a:solidFill>
                          <a:latin typeface="Arial"/>
                          <a:cs typeface="Arial"/>
                        </a:rPr>
                        <a:t>rows</a:t>
                      </a:r>
                      <a:r>
                        <a:rPr dirty="0" sz="1350" spc="55">
                          <a:solidFill>
                            <a:srgbClr val="13203C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350">
                          <a:solidFill>
                            <a:srgbClr val="13203C"/>
                          </a:solidFill>
                          <a:latin typeface="Arial"/>
                          <a:cs typeface="Arial"/>
                        </a:rPr>
                        <a:t>2,</a:t>
                      </a:r>
                      <a:r>
                        <a:rPr dirty="0" sz="1350" spc="-15">
                          <a:solidFill>
                            <a:srgbClr val="13203C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350">
                          <a:solidFill>
                            <a:srgbClr val="13203C"/>
                          </a:solidFill>
                          <a:latin typeface="Arial"/>
                          <a:cs typeface="Arial"/>
                        </a:rPr>
                        <a:t>3,</a:t>
                      </a:r>
                      <a:r>
                        <a:rPr dirty="0" sz="1350" spc="70">
                          <a:solidFill>
                            <a:srgbClr val="13203C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350">
                          <a:solidFill>
                            <a:srgbClr val="13203C"/>
                          </a:solidFill>
                          <a:latin typeface="Arial"/>
                          <a:cs typeface="Arial"/>
                        </a:rPr>
                        <a:t>4,</a:t>
                      </a:r>
                      <a:r>
                        <a:rPr dirty="0" sz="1350" spc="75">
                          <a:solidFill>
                            <a:srgbClr val="13203C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350" spc="15">
                          <a:solidFill>
                            <a:srgbClr val="13203C"/>
                          </a:solidFill>
                          <a:latin typeface="Arial"/>
                          <a:cs typeface="Arial"/>
                        </a:rPr>
                        <a:t>5</a:t>
                      </a:r>
                      <a:endParaRPr sz="1350">
                        <a:latin typeface="Arial"/>
                        <a:cs typeface="Arial"/>
                      </a:endParaRPr>
                    </a:p>
                  </a:txBody>
                  <a:tcPr marL="0" marR="0" marB="0" marT="88265">
                    <a:lnL w="12700">
                      <a:solidFill>
                        <a:srgbClr val="C7C7C5"/>
                      </a:solidFill>
                      <a:prstDash val="solid"/>
                    </a:lnL>
                    <a:lnR w="12700">
                      <a:solidFill>
                        <a:srgbClr val="C7C7C5"/>
                      </a:solidFill>
                      <a:prstDash val="solid"/>
                    </a:lnR>
                    <a:lnT w="12700">
                      <a:solidFill>
                        <a:srgbClr val="C7C7C5"/>
                      </a:solidFill>
                      <a:prstDash val="solid"/>
                    </a:lnT>
                    <a:lnB w="12700">
                      <a:solidFill>
                        <a:srgbClr val="C7C7C5"/>
                      </a:solidFill>
                      <a:prstDash val="solid"/>
                    </a:lnB>
                  </a:tcPr>
                </a:tc>
              </a:tr>
              <a:tr h="632460">
                <a:tc>
                  <a:txBody>
                    <a:bodyPr/>
                    <a:lstStyle/>
                    <a:p>
                      <a:pPr marL="62865">
                        <a:lnSpc>
                          <a:spcPct val="100000"/>
                        </a:lnSpc>
                        <a:spcBef>
                          <a:spcPts val="700"/>
                        </a:spcBef>
                      </a:pPr>
                      <a:r>
                        <a:rPr dirty="0" sz="1350" spc="45">
                          <a:solidFill>
                            <a:srgbClr val="13203C"/>
                          </a:solidFill>
                          <a:latin typeface="Arial"/>
                          <a:cs typeface="Arial"/>
                        </a:rPr>
                        <a:t>df6.loc[:3,</a:t>
                      </a:r>
                      <a:r>
                        <a:rPr dirty="0" sz="1350" spc="-10">
                          <a:solidFill>
                            <a:srgbClr val="13203C"/>
                          </a:solidFill>
                          <a:latin typeface="Arial"/>
                          <a:cs typeface="Arial"/>
                        </a:rPr>
                        <a:t> 'CPU_USAGE':'num_threads']</a:t>
                      </a:r>
                      <a:endParaRPr sz="1350">
                        <a:latin typeface="Arial"/>
                        <a:cs typeface="Arial"/>
                      </a:endParaRPr>
                    </a:p>
                  </a:txBody>
                  <a:tcPr marL="0" marR="0" marB="0" marT="88900">
                    <a:lnL w="12700">
                      <a:solidFill>
                        <a:srgbClr val="C7C7C5"/>
                      </a:solidFill>
                      <a:prstDash val="solid"/>
                    </a:lnL>
                    <a:lnR w="12700">
                      <a:solidFill>
                        <a:srgbClr val="C7C7C5"/>
                      </a:solidFill>
                      <a:prstDash val="solid"/>
                    </a:lnR>
                    <a:lnT w="12700">
                      <a:solidFill>
                        <a:srgbClr val="C7C7C5"/>
                      </a:solidFill>
                      <a:prstDash val="solid"/>
                    </a:lnT>
                    <a:lnB w="12700">
                      <a:solidFill>
                        <a:srgbClr val="C7C7C5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6040" marR="310515">
                        <a:lnSpc>
                          <a:spcPct val="124600"/>
                        </a:lnSpc>
                        <a:spcBef>
                          <a:spcPts val="305"/>
                        </a:spcBef>
                      </a:pPr>
                      <a:r>
                        <a:rPr dirty="0" sz="1350">
                          <a:solidFill>
                            <a:srgbClr val="13203C"/>
                          </a:solidFill>
                          <a:latin typeface="Arial"/>
                          <a:cs typeface="Arial"/>
                        </a:rPr>
                        <a:t>rows</a:t>
                      </a:r>
                      <a:r>
                        <a:rPr dirty="0" sz="1350" spc="45">
                          <a:solidFill>
                            <a:srgbClr val="13203C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350" spc="80">
                          <a:solidFill>
                            <a:srgbClr val="13203C"/>
                          </a:solidFill>
                          <a:latin typeface="Arial"/>
                          <a:cs typeface="Arial"/>
                        </a:rPr>
                        <a:t>0–</a:t>
                      </a:r>
                      <a:r>
                        <a:rPr dirty="0" sz="1350" spc="60">
                          <a:solidFill>
                            <a:srgbClr val="13203C"/>
                          </a:solidFill>
                          <a:latin typeface="Arial"/>
                          <a:cs typeface="Arial"/>
                        </a:rPr>
                        <a:t>3;</a:t>
                      </a:r>
                      <a:r>
                        <a:rPr dirty="0" sz="1350" spc="25">
                          <a:solidFill>
                            <a:srgbClr val="13203C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350" spc="-55">
                          <a:solidFill>
                            <a:srgbClr val="13203C"/>
                          </a:solidFill>
                          <a:latin typeface="Arial"/>
                          <a:cs typeface="Arial"/>
                        </a:rPr>
                        <a:t>CPU_USAGE,</a:t>
                      </a:r>
                      <a:r>
                        <a:rPr dirty="0" sz="1350" spc="-30">
                          <a:solidFill>
                            <a:srgbClr val="13203C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350" spc="40">
                          <a:solidFill>
                            <a:srgbClr val="13203C"/>
                          </a:solidFill>
                          <a:latin typeface="Arial"/>
                          <a:cs typeface="Arial"/>
                        </a:rPr>
                        <a:t>cutime, </a:t>
                      </a:r>
                      <a:r>
                        <a:rPr dirty="0" sz="1350">
                          <a:solidFill>
                            <a:srgbClr val="13203C"/>
                          </a:solidFill>
                          <a:latin typeface="Arial"/>
                          <a:cs typeface="Arial"/>
                        </a:rPr>
                        <a:t>lru,</a:t>
                      </a:r>
                      <a:r>
                        <a:rPr dirty="0" sz="1350" spc="105">
                          <a:solidFill>
                            <a:srgbClr val="13203C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350" spc="-10">
                          <a:solidFill>
                            <a:srgbClr val="13203C"/>
                          </a:solidFill>
                          <a:latin typeface="Arial"/>
                          <a:cs typeface="Arial"/>
                        </a:rPr>
                        <a:t>num_threads</a:t>
                      </a:r>
                      <a:endParaRPr sz="1350">
                        <a:latin typeface="Arial"/>
                        <a:cs typeface="Arial"/>
                      </a:endParaRPr>
                    </a:p>
                  </a:txBody>
                  <a:tcPr marL="0" marR="0" marB="0" marT="38735">
                    <a:lnL w="12700">
                      <a:solidFill>
                        <a:srgbClr val="C7C7C5"/>
                      </a:solidFill>
                      <a:prstDash val="solid"/>
                    </a:lnL>
                    <a:lnR w="12700">
                      <a:solidFill>
                        <a:srgbClr val="C7C7C5"/>
                      </a:solidFill>
                      <a:prstDash val="solid"/>
                    </a:lnR>
                    <a:lnT w="12700">
                      <a:solidFill>
                        <a:srgbClr val="C7C7C5"/>
                      </a:solidFill>
                      <a:prstDash val="solid"/>
                    </a:lnT>
                    <a:lnB w="12700">
                      <a:solidFill>
                        <a:srgbClr val="C7C7C5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5" name="object 5"/>
          <p:cNvSpPr/>
          <p:nvPr/>
        </p:nvSpPr>
        <p:spPr>
          <a:xfrm>
            <a:off x="8074152" y="1911604"/>
            <a:ext cx="3301365" cy="2560955"/>
          </a:xfrm>
          <a:custGeom>
            <a:avLst/>
            <a:gdLst/>
            <a:ahLst/>
            <a:cxnLst/>
            <a:rect l="l" t="t" r="r" b="b"/>
            <a:pathLst>
              <a:path w="3301365" h="2560954">
                <a:moveTo>
                  <a:pt x="3199511" y="0"/>
                </a:moveTo>
                <a:lnTo>
                  <a:pt x="101473" y="0"/>
                </a:lnTo>
                <a:lnTo>
                  <a:pt x="61989" y="7979"/>
                </a:lnTo>
                <a:lnTo>
                  <a:pt x="29733" y="29733"/>
                </a:lnTo>
                <a:lnTo>
                  <a:pt x="7979" y="61989"/>
                </a:lnTo>
                <a:lnTo>
                  <a:pt x="0" y="101473"/>
                </a:lnTo>
                <a:lnTo>
                  <a:pt x="0" y="2459355"/>
                </a:lnTo>
                <a:lnTo>
                  <a:pt x="7979" y="2498911"/>
                </a:lnTo>
                <a:lnTo>
                  <a:pt x="29733" y="2531205"/>
                </a:lnTo>
                <a:lnTo>
                  <a:pt x="61989" y="2552973"/>
                </a:lnTo>
                <a:lnTo>
                  <a:pt x="101473" y="2560955"/>
                </a:lnTo>
                <a:lnTo>
                  <a:pt x="3199511" y="2560955"/>
                </a:lnTo>
                <a:lnTo>
                  <a:pt x="3238994" y="2552973"/>
                </a:lnTo>
                <a:lnTo>
                  <a:pt x="3271250" y="2531205"/>
                </a:lnTo>
                <a:lnTo>
                  <a:pt x="3293004" y="2498911"/>
                </a:lnTo>
                <a:lnTo>
                  <a:pt x="3300983" y="2459355"/>
                </a:lnTo>
                <a:lnTo>
                  <a:pt x="3300983" y="101473"/>
                </a:lnTo>
                <a:lnTo>
                  <a:pt x="3293004" y="61989"/>
                </a:lnTo>
                <a:lnTo>
                  <a:pt x="3271250" y="29733"/>
                </a:lnTo>
                <a:lnTo>
                  <a:pt x="3238994" y="7979"/>
                </a:lnTo>
                <a:lnTo>
                  <a:pt x="3199511" y="0"/>
                </a:lnTo>
                <a:close/>
              </a:path>
            </a:pathLst>
          </a:custGeom>
          <a:solidFill>
            <a:srgbClr val="FBEED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/>
          <p:nvPr/>
        </p:nvSpPr>
        <p:spPr>
          <a:xfrm>
            <a:off x="8322564" y="2136457"/>
            <a:ext cx="2800350" cy="187388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b="1">
                <a:solidFill>
                  <a:srgbClr val="13203C"/>
                </a:solidFill>
                <a:latin typeface="Arial"/>
                <a:cs typeface="Arial"/>
              </a:rPr>
              <a:t>Not</a:t>
            </a:r>
            <a:r>
              <a:rPr dirty="0" sz="1800" spc="-10" b="1">
                <a:solidFill>
                  <a:srgbClr val="13203C"/>
                </a:solidFill>
                <a:latin typeface="Arial"/>
                <a:cs typeface="Arial"/>
              </a:rPr>
              <a:t> </a:t>
            </a:r>
            <a:r>
              <a:rPr dirty="0" sz="1800" b="1">
                <a:solidFill>
                  <a:srgbClr val="13203C"/>
                </a:solidFill>
                <a:latin typeface="Arial"/>
                <a:cs typeface="Arial"/>
              </a:rPr>
              <a:t>like</a:t>
            </a:r>
            <a:r>
              <a:rPr dirty="0" sz="1800" spc="-45" b="1">
                <a:solidFill>
                  <a:srgbClr val="13203C"/>
                </a:solidFill>
                <a:latin typeface="Arial"/>
                <a:cs typeface="Arial"/>
              </a:rPr>
              <a:t> </a:t>
            </a:r>
            <a:r>
              <a:rPr dirty="0" sz="1800" b="1">
                <a:solidFill>
                  <a:srgbClr val="13203C"/>
                </a:solidFill>
                <a:latin typeface="Arial"/>
                <a:cs typeface="Arial"/>
              </a:rPr>
              <a:t>a</a:t>
            </a:r>
            <a:r>
              <a:rPr dirty="0" sz="1800" spc="-55" b="1">
                <a:solidFill>
                  <a:srgbClr val="13203C"/>
                </a:solidFill>
                <a:latin typeface="Arial"/>
                <a:cs typeface="Arial"/>
              </a:rPr>
              <a:t> </a:t>
            </a:r>
            <a:r>
              <a:rPr dirty="0" sz="1800" spc="-20" b="1">
                <a:solidFill>
                  <a:srgbClr val="13203C"/>
                </a:solidFill>
                <a:latin typeface="Arial"/>
                <a:cs typeface="Arial"/>
              </a:rPr>
              <a:t>list</a:t>
            </a:r>
            <a:endParaRPr sz="18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455"/>
              </a:spcBef>
            </a:pPr>
            <a:r>
              <a:rPr dirty="0" sz="1350" spc="-10">
                <a:solidFill>
                  <a:srgbClr val="13203C"/>
                </a:solidFill>
                <a:latin typeface="Arial"/>
                <a:cs typeface="Arial"/>
              </a:rPr>
              <a:t>[10,</a:t>
            </a:r>
            <a:r>
              <a:rPr dirty="0" sz="1350" spc="-85">
                <a:solidFill>
                  <a:srgbClr val="13203C"/>
                </a:solidFill>
                <a:latin typeface="Arial"/>
                <a:cs typeface="Arial"/>
              </a:rPr>
              <a:t> </a:t>
            </a:r>
            <a:r>
              <a:rPr dirty="0" sz="1350" spc="-35">
                <a:solidFill>
                  <a:srgbClr val="13203C"/>
                </a:solidFill>
                <a:latin typeface="Arial"/>
                <a:cs typeface="Arial"/>
              </a:rPr>
              <a:t>20,</a:t>
            </a:r>
            <a:r>
              <a:rPr dirty="0" sz="1350" spc="-75">
                <a:solidFill>
                  <a:srgbClr val="13203C"/>
                </a:solidFill>
                <a:latin typeface="Arial"/>
                <a:cs typeface="Arial"/>
              </a:rPr>
              <a:t> </a:t>
            </a:r>
            <a:r>
              <a:rPr dirty="0" sz="1350" spc="-35">
                <a:solidFill>
                  <a:srgbClr val="13203C"/>
                </a:solidFill>
                <a:latin typeface="Arial"/>
                <a:cs typeface="Arial"/>
              </a:rPr>
              <a:t>30,</a:t>
            </a:r>
            <a:r>
              <a:rPr dirty="0" sz="1350" spc="-75">
                <a:solidFill>
                  <a:srgbClr val="13203C"/>
                </a:solidFill>
                <a:latin typeface="Arial"/>
                <a:cs typeface="Arial"/>
              </a:rPr>
              <a:t> </a:t>
            </a:r>
            <a:r>
              <a:rPr dirty="0" sz="1350" spc="-10">
                <a:solidFill>
                  <a:srgbClr val="13203C"/>
                </a:solidFill>
                <a:latin typeface="Arial"/>
                <a:cs typeface="Arial"/>
              </a:rPr>
              <a:t>40][:3]</a:t>
            </a:r>
            <a:endParaRPr sz="13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545"/>
              </a:spcBef>
            </a:pPr>
            <a:r>
              <a:rPr dirty="0" sz="1350" spc="-70">
                <a:solidFill>
                  <a:srgbClr val="B45209"/>
                </a:solidFill>
                <a:latin typeface="Arial"/>
                <a:cs typeface="Arial"/>
              </a:rPr>
              <a:t>#</a:t>
            </a:r>
            <a:r>
              <a:rPr dirty="0" sz="1350" spc="-50">
                <a:solidFill>
                  <a:srgbClr val="B45209"/>
                </a:solidFill>
                <a:latin typeface="Arial"/>
                <a:cs typeface="Arial"/>
              </a:rPr>
              <a:t> </a:t>
            </a:r>
            <a:r>
              <a:rPr dirty="0" sz="1350" spc="-10">
                <a:solidFill>
                  <a:srgbClr val="B45209"/>
                </a:solidFill>
                <a:latin typeface="Arial"/>
                <a:cs typeface="Arial"/>
              </a:rPr>
              <a:t>[10,</a:t>
            </a:r>
            <a:r>
              <a:rPr dirty="0" sz="1350" spc="-80">
                <a:solidFill>
                  <a:srgbClr val="B45209"/>
                </a:solidFill>
                <a:latin typeface="Arial"/>
                <a:cs typeface="Arial"/>
              </a:rPr>
              <a:t> </a:t>
            </a:r>
            <a:r>
              <a:rPr dirty="0" sz="1350" spc="-35">
                <a:solidFill>
                  <a:srgbClr val="B45209"/>
                </a:solidFill>
                <a:latin typeface="Arial"/>
                <a:cs typeface="Arial"/>
              </a:rPr>
              <a:t>20,</a:t>
            </a:r>
            <a:r>
              <a:rPr dirty="0" sz="1350" spc="-75">
                <a:solidFill>
                  <a:srgbClr val="B45209"/>
                </a:solidFill>
                <a:latin typeface="Arial"/>
                <a:cs typeface="Arial"/>
              </a:rPr>
              <a:t> </a:t>
            </a:r>
            <a:r>
              <a:rPr dirty="0" sz="1350" spc="-25">
                <a:solidFill>
                  <a:srgbClr val="B45209"/>
                </a:solidFill>
                <a:latin typeface="Arial"/>
                <a:cs typeface="Arial"/>
              </a:rPr>
              <a:t>30]</a:t>
            </a:r>
            <a:endParaRPr sz="1350">
              <a:latin typeface="Arial"/>
              <a:cs typeface="Arial"/>
            </a:endParaRPr>
          </a:p>
          <a:p>
            <a:pPr marL="12700" marR="5080">
              <a:lnSpc>
                <a:spcPct val="122500"/>
              </a:lnSpc>
              <a:spcBef>
                <a:spcPts val="1195"/>
              </a:spcBef>
            </a:pPr>
            <a:r>
              <a:rPr dirty="0" sz="1350">
                <a:solidFill>
                  <a:srgbClr val="3C495C"/>
                </a:solidFill>
                <a:latin typeface="Arial"/>
                <a:cs typeface="Arial"/>
              </a:rPr>
              <a:t>A</a:t>
            </a:r>
            <a:r>
              <a:rPr dirty="0" sz="1350" spc="60">
                <a:solidFill>
                  <a:srgbClr val="3C495C"/>
                </a:solidFill>
                <a:latin typeface="Arial"/>
                <a:cs typeface="Arial"/>
              </a:rPr>
              <a:t> </a:t>
            </a:r>
            <a:r>
              <a:rPr dirty="0" sz="1350">
                <a:solidFill>
                  <a:srgbClr val="3C495C"/>
                </a:solidFill>
                <a:latin typeface="Arial"/>
                <a:cs typeface="Arial"/>
              </a:rPr>
              <a:t>Python</a:t>
            </a:r>
            <a:r>
              <a:rPr dirty="0" sz="1350" spc="100">
                <a:solidFill>
                  <a:srgbClr val="3C495C"/>
                </a:solidFill>
                <a:latin typeface="Arial"/>
                <a:cs typeface="Arial"/>
              </a:rPr>
              <a:t> </a:t>
            </a:r>
            <a:r>
              <a:rPr dirty="0" sz="1350" spc="60">
                <a:solidFill>
                  <a:srgbClr val="3C495C"/>
                </a:solidFill>
                <a:latin typeface="Arial"/>
                <a:cs typeface="Arial"/>
              </a:rPr>
              <a:t>list</a:t>
            </a:r>
            <a:r>
              <a:rPr dirty="0" sz="1350" spc="10">
                <a:solidFill>
                  <a:srgbClr val="3C495C"/>
                </a:solidFill>
                <a:latin typeface="Arial"/>
                <a:cs typeface="Arial"/>
              </a:rPr>
              <a:t> </a:t>
            </a:r>
            <a:r>
              <a:rPr dirty="0" sz="1350">
                <a:solidFill>
                  <a:srgbClr val="3C495C"/>
                </a:solidFill>
                <a:latin typeface="Arial"/>
                <a:cs typeface="Arial"/>
              </a:rPr>
              <a:t>slice</a:t>
            </a:r>
            <a:r>
              <a:rPr dirty="0" sz="1350" spc="40">
                <a:solidFill>
                  <a:srgbClr val="3C495C"/>
                </a:solidFill>
                <a:latin typeface="Arial"/>
                <a:cs typeface="Arial"/>
              </a:rPr>
              <a:t> </a:t>
            </a:r>
            <a:r>
              <a:rPr dirty="0" sz="1350">
                <a:solidFill>
                  <a:srgbClr val="3C495C"/>
                </a:solidFill>
                <a:latin typeface="Arial"/>
                <a:cs typeface="Arial"/>
              </a:rPr>
              <a:t>stops</a:t>
            </a:r>
            <a:r>
              <a:rPr dirty="0" sz="1350" spc="45">
                <a:solidFill>
                  <a:srgbClr val="3C495C"/>
                </a:solidFill>
                <a:latin typeface="Arial"/>
                <a:cs typeface="Arial"/>
              </a:rPr>
              <a:t> </a:t>
            </a:r>
            <a:r>
              <a:rPr dirty="0" sz="1350" b="1">
                <a:solidFill>
                  <a:srgbClr val="3C495C"/>
                </a:solidFill>
                <a:latin typeface="Arial"/>
                <a:cs typeface="Arial"/>
              </a:rPr>
              <a:t>before</a:t>
            </a:r>
            <a:r>
              <a:rPr dirty="0" sz="1350" spc="100" b="1">
                <a:solidFill>
                  <a:srgbClr val="3C495C"/>
                </a:solidFill>
                <a:latin typeface="Arial"/>
                <a:cs typeface="Arial"/>
              </a:rPr>
              <a:t> </a:t>
            </a:r>
            <a:r>
              <a:rPr dirty="0" sz="1350" spc="25">
                <a:solidFill>
                  <a:srgbClr val="3C495C"/>
                </a:solidFill>
                <a:latin typeface="Arial"/>
                <a:cs typeface="Arial"/>
              </a:rPr>
              <a:t>the </a:t>
            </a:r>
            <a:r>
              <a:rPr dirty="0" sz="1350">
                <a:solidFill>
                  <a:srgbClr val="3C495C"/>
                </a:solidFill>
                <a:latin typeface="Arial"/>
                <a:cs typeface="Arial"/>
              </a:rPr>
              <a:t>end.</a:t>
            </a:r>
            <a:r>
              <a:rPr dirty="0" sz="1350" spc="75">
                <a:solidFill>
                  <a:srgbClr val="3C495C"/>
                </a:solidFill>
                <a:latin typeface="Arial"/>
                <a:cs typeface="Arial"/>
              </a:rPr>
              <a:t> </a:t>
            </a:r>
            <a:r>
              <a:rPr dirty="0" sz="1350">
                <a:solidFill>
                  <a:srgbClr val="3C495C"/>
                </a:solidFill>
                <a:latin typeface="Arial"/>
                <a:cs typeface="Arial"/>
              </a:rPr>
              <a:t>A</a:t>
            </a:r>
            <a:r>
              <a:rPr dirty="0" sz="1350" spc="75">
                <a:solidFill>
                  <a:srgbClr val="3C495C"/>
                </a:solidFill>
                <a:latin typeface="Arial"/>
                <a:cs typeface="Arial"/>
              </a:rPr>
              <a:t> </a:t>
            </a:r>
            <a:r>
              <a:rPr dirty="0" sz="1350">
                <a:solidFill>
                  <a:srgbClr val="3C495C"/>
                </a:solidFill>
                <a:latin typeface="Arial"/>
                <a:cs typeface="Arial"/>
              </a:rPr>
              <a:t>.loc</a:t>
            </a:r>
            <a:r>
              <a:rPr dirty="0" sz="1350" spc="40">
                <a:solidFill>
                  <a:srgbClr val="3C495C"/>
                </a:solidFill>
                <a:latin typeface="Arial"/>
                <a:cs typeface="Arial"/>
              </a:rPr>
              <a:t> </a:t>
            </a:r>
            <a:r>
              <a:rPr dirty="0" sz="1350">
                <a:solidFill>
                  <a:srgbClr val="3C495C"/>
                </a:solidFill>
                <a:latin typeface="Arial"/>
                <a:cs typeface="Arial"/>
              </a:rPr>
              <a:t>slice</a:t>
            </a:r>
            <a:r>
              <a:rPr dirty="0" sz="1350" spc="50">
                <a:solidFill>
                  <a:srgbClr val="3C495C"/>
                </a:solidFill>
                <a:latin typeface="Arial"/>
                <a:cs typeface="Arial"/>
              </a:rPr>
              <a:t> </a:t>
            </a:r>
            <a:r>
              <a:rPr dirty="0" sz="1350">
                <a:solidFill>
                  <a:srgbClr val="3C495C"/>
                </a:solidFill>
                <a:latin typeface="Arial"/>
                <a:cs typeface="Arial"/>
              </a:rPr>
              <a:t>works</a:t>
            </a:r>
            <a:r>
              <a:rPr dirty="0" sz="1350" spc="70">
                <a:solidFill>
                  <a:srgbClr val="3C495C"/>
                </a:solidFill>
                <a:latin typeface="Arial"/>
                <a:cs typeface="Arial"/>
              </a:rPr>
              <a:t> with</a:t>
            </a:r>
            <a:r>
              <a:rPr dirty="0" sz="1350" spc="20">
                <a:solidFill>
                  <a:srgbClr val="3C495C"/>
                </a:solidFill>
                <a:latin typeface="Arial"/>
                <a:cs typeface="Arial"/>
              </a:rPr>
              <a:t> </a:t>
            </a:r>
            <a:r>
              <a:rPr dirty="0" sz="1350" spc="-10">
                <a:solidFill>
                  <a:srgbClr val="3C495C"/>
                </a:solidFill>
                <a:latin typeface="Arial"/>
                <a:cs typeface="Arial"/>
              </a:rPr>
              <a:t>labels, </a:t>
            </a:r>
            <a:r>
              <a:rPr dirty="0" sz="1350">
                <a:solidFill>
                  <a:srgbClr val="3C495C"/>
                </a:solidFill>
                <a:latin typeface="Arial"/>
                <a:cs typeface="Arial"/>
              </a:rPr>
              <a:t>so </a:t>
            </a:r>
            <a:r>
              <a:rPr dirty="0" sz="1350" spc="80">
                <a:solidFill>
                  <a:srgbClr val="3C495C"/>
                </a:solidFill>
                <a:latin typeface="Arial"/>
                <a:cs typeface="Arial"/>
              </a:rPr>
              <a:t>it</a:t>
            </a:r>
            <a:r>
              <a:rPr dirty="0" sz="1350" spc="-5">
                <a:solidFill>
                  <a:srgbClr val="3C495C"/>
                </a:solidFill>
                <a:latin typeface="Arial"/>
                <a:cs typeface="Arial"/>
              </a:rPr>
              <a:t> </a:t>
            </a:r>
            <a:r>
              <a:rPr dirty="0" sz="1350">
                <a:solidFill>
                  <a:srgbClr val="3C495C"/>
                </a:solidFill>
                <a:latin typeface="Arial"/>
                <a:cs typeface="Arial"/>
              </a:rPr>
              <a:t>stops</a:t>
            </a:r>
            <a:r>
              <a:rPr dirty="0" sz="1350" spc="15">
                <a:solidFill>
                  <a:srgbClr val="3C495C"/>
                </a:solidFill>
                <a:latin typeface="Arial"/>
                <a:cs typeface="Arial"/>
              </a:rPr>
              <a:t> </a:t>
            </a:r>
            <a:r>
              <a:rPr dirty="0" sz="1350" spc="50" b="1">
                <a:solidFill>
                  <a:srgbClr val="3C495C"/>
                </a:solidFill>
                <a:latin typeface="Arial"/>
                <a:cs typeface="Arial"/>
              </a:rPr>
              <a:t>at</a:t>
            </a:r>
            <a:r>
              <a:rPr dirty="0" sz="1350" spc="35" b="1">
                <a:solidFill>
                  <a:srgbClr val="3C495C"/>
                </a:solidFill>
                <a:latin typeface="Arial"/>
                <a:cs typeface="Arial"/>
              </a:rPr>
              <a:t> </a:t>
            </a:r>
            <a:r>
              <a:rPr dirty="0" sz="1350" spc="50">
                <a:solidFill>
                  <a:srgbClr val="3C495C"/>
                </a:solidFill>
                <a:latin typeface="Arial"/>
                <a:cs typeface="Arial"/>
              </a:rPr>
              <a:t>the</a:t>
            </a:r>
            <a:r>
              <a:rPr dirty="0" sz="1350" spc="30">
                <a:solidFill>
                  <a:srgbClr val="3C495C"/>
                </a:solidFill>
                <a:latin typeface="Arial"/>
                <a:cs typeface="Arial"/>
              </a:rPr>
              <a:t> </a:t>
            </a:r>
            <a:r>
              <a:rPr dirty="0" sz="1350">
                <a:solidFill>
                  <a:srgbClr val="3C495C"/>
                </a:solidFill>
                <a:latin typeface="Arial"/>
                <a:cs typeface="Arial"/>
              </a:rPr>
              <a:t>end</a:t>
            </a:r>
            <a:r>
              <a:rPr dirty="0" sz="1350" spc="-30">
                <a:solidFill>
                  <a:srgbClr val="3C495C"/>
                </a:solidFill>
                <a:latin typeface="Arial"/>
                <a:cs typeface="Arial"/>
              </a:rPr>
              <a:t> </a:t>
            </a:r>
            <a:r>
              <a:rPr dirty="0" sz="1350" spc="-10">
                <a:solidFill>
                  <a:srgbClr val="3C495C"/>
                </a:solidFill>
                <a:latin typeface="Arial"/>
                <a:cs typeface="Arial"/>
              </a:rPr>
              <a:t>label.</a:t>
            </a:r>
            <a:endParaRPr sz="135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-62"/>
            <a:ext cx="12189460" cy="6859905"/>
          </a:xfrm>
          <a:custGeom>
            <a:avLst/>
            <a:gdLst/>
            <a:ahLst/>
            <a:cxnLst/>
            <a:rect l="l" t="t" r="r" b="b"/>
            <a:pathLst>
              <a:path w="12189460" h="6859905">
                <a:moveTo>
                  <a:pt x="12188952" y="0"/>
                </a:moveTo>
                <a:lnTo>
                  <a:pt x="0" y="0"/>
                </a:lnTo>
                <a:lnTo>
                  <a:pt x="0" y="6859778"/>
                </a:lnTo>
                <a:lnTo>
                  <a:pt x="12188952" y="6859778"/>
                </a:lnTo>
                <a:lnTo>
                  <a:pt x="12188952" y="0"/>
                </a:lnTo>
                <a:close/>
              </a:path>
            </a:pathLst>
          </a:custGeom>
          <a:solidFill>
            <a:srgbClr val="EDF0F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800480" y="819721"/>
            <a:ext cx="2087880" cy="234315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1350" spc="65" b="1">
                <a:solidFill>
                  <a:srgbClr val="B45209"/>
                </a:solidFill>
                <a:latin typeface="Arial"/>
                <a:cs typeface="Arial"/>
              </a:rPr>
              <a:t>0</a:t>
            </a:r>
            <a:r>
              <a:rPr dirty="0" sz="1350" spc="-185" b="1">
                <a:solidFill>
                  <a:srgbClr val="B45209"/>
                </a:solidFill>
                <a:latin typeface="Arial"/>
                <a:cs typeface="Arial"/>
              </a:rPr>
              <a:t> </a:t>
            </a:r>
            <a:r>
              <a:rPr dirty="0" sz="1350" spc="65" b="1">
                <a:solidFill>
                  <a:srgbClr val="B45209"/>
                </a:solidFill>
                <a:latin typeface="Arial"/>
                <a:cs typeface="Arial"/>
              </a:rPr>
              <a:t>5</a:t>
            </a:r>
            <a:r>
              <a:rPr dirty="0" sz="1350" spc="270" b="1">
                <a:solidFill>
                  <a:srgbClr val="B45209"/>
                </a:solidFill>
                <a:latin typeface="Arial"/>
                <a:cs typeface="Arial"/>
              </a:rPr>
              <a:t> </a:t>
            </a:r>
            <a:r>
              <a:rPr dirty="0" sz="1350" b="1">
                <a:solidFill>
                  <a:srgbClr val="B45209"/>
                </a:solidFill>
                <a:latin typeface="Arial"/>
                <a:cs typeface="Arial"/>
              </a:rPr>
              <a:t>·</a:t>
            </a:r>
            <a:r>
              <a:rPr dirty="0" sz="1350" spc="320" b="1">
                <a:solidFill>
                  <a:srgbClr val="B45209"/>
                </a:solidFill>
                <a:latin typeface="Arial"/>
                <a:cs typeface="Arial"/>
              </a:rPr>
              <a:t> </a:t>
            </a:r>
            <a:r>
              <a:rPr dirty="0" sz="1350" spc="145" b="1">
                <a:solidFill>
                  <a:srgbClr val="B45209"/>
                </a:solidFill>
                <a:latin typeface="Arial"/>
                <a:cs typeface="Arial"/>
              </a:rPr>
              <a:t>VISU</a:t>
            </a:r>
            <a:r>
              <a:rPr dirty="0" sz="1350" spc="-165" b="1">
                <a:solidFill>
                  <a:srgbClr val="B45209"/>
                </a:solidFill>
                <a:latin typeface="Arial"/>
                <a:cs typeface="Arial"/>
              </a:rPr>
              <a:t> </a:t>
            </a:r>
            <a:r>
              <a:rPr dirty="0" sz="1350" spc="135" b="1">
                <a:solidFill>
                  <a:srgbClr val="B45209"/>
                </a:solidFill>
                <a:latin typeface="Arial"/>
                <a:cs typeface="Arial"/>
              </a:rPr>
              <a:t>ALIZ</a:t>
            </a:r>
            <a:r>
              <a:rPr dirty="0" sz="1350" spc="-190" b="1">
                <a:solidFill>
                  <a:srgbClr val="B45209"/>
                </a:solidFill>
                <a:latin typeface="Arial"/>
                <a:cs typeface="Arial"/>
              </a:rPr>
              <a:t> </a:t>
            </a:r>
            <a:r>
              <a:rPr dirty="0" sz="1350" b="1">
                <a:solidFill>
                  <a:srgbClr val="B45209"/>
                </a:solidFill>
                <a:latin typeface="Arial"/>
                <a:cs typeface="Arial"/>
              </a:rPr>
              <a:t>AT</a:t>
            </a:r>
            <a:r>
              <a:rPr dirty="0" sz="1350" spc="-160" b="1">
                <a:solidFill>
                  <a:srgbClr val="B45209"/>
                </a:solidFill>
                <a:latin typeface="Arial"/>
                <a:cs typeface="Arial"/>
              </a:rPr>
              <a:t> </a:t>
            </a:r>
            <a:r>
              <a:rPr dirty="0" sz="1350" spc="130" b="1">
                <a:solidFill>
                  <a:srgbClr val="B45209"/>
                </a:solidFill>
                <a:latin typeface="Arial"/>
                <a:cs typeface="Arial"/>
              </a:rPr>
              <a:t>IO</a:t>
            </a:r>
            <a:r>
              <a:rPr dirty="0" sz="1350" spc="-195" b="1">
                <a:solidFill>
                  <a:srgbClr val="B45209"/>
                </a:solidFill>
                <a:latin typeface="Arial"/>
                <a:cs typeface="Arial"/>
              </a:rPr>
              <a:t> </a:t>
            </a:r>
            <a:r>
              <a:rPr dirty="0" sz="1350" spc="-50" b="1">
                <a:solidFill>
                  <a:srgbClr val="B45209"/>
                </a:solidFill>
                <a:latin typeface="Arial"/>
                <a:cs typeface="Arial"/>
              </a:rPr>
              <a:t>N</a:t>
            </a:r>
            <a:endParaRPr sz="1350">
              <a:latin typeface="Arial"/>
              <a:cs typeface="Arial"/>
            </a:endParaRPr>
          </a:p>
        </p:txBody>
      </p:sp>
      <p:sp>
        <p:nvSpPr>
          <p:cNvPr id="4" name="object 4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pc="-30"/>
              <a:t>Every</a:t>
            </a:r>
            <a:r>
              <a:rPr dirty="0" spc="-105"/>
              <a:t> </a:t>
            </a:r>
            <a:r>
              <a:rPr dirty="0"/>
              <a:t>pandas</a:t>
            </a:r>
            <a:r>
              <a:rPr dirty="0" spc="-80"/>
              <a:t> </a:t>
            </a:r>
            <a:r>
              <a:rPr dirty="0"/>
              <a:t>plot</a:t>
            </a:r>
            <a:r>
              <a:rPr dirty="0" spc="-130"/>
              <a:t> </a:t>
            </a:r>
            <a:r>
              <a:rPr dirty="0"/>
              <a:t>is</a:t>
            </a:r>
            <a:r>
              <a:rPr dirty="0" spc="-75"/>
              <a:t> </a:t>
            </a:r>
            <a:r>
              <a:rPr dirty="0"/>
              <a:t>drawn</a:t>
            </a:r>
            <a:r>
              <a:rPr dirty="0" spc="-85"/>
              <a:t> </a:t>
            </a:r>
            <a:r>
              <a:rPr dirty="0"/>
              <a:t>by</a:t>
            </a:r>
            <a:r>
              <a:rPr dirty="0" spc="-105"/>
              <a:t> </a:t>
            </a:r>
            <a:r>
              <a:rPr dirty="0" spc="40"/>
              <a:t>matplotlib</a:t>
            </a:r>
          </a:p>
        </p:txBody>
      </p:sp>
      <p:sp>
        <p:nvSpPr>
          <p:cNvPr id="5" name="object 5"/>
          <p:cNvSpPr/>
          <p:nvPr/>
        </p:nvSpPr>
        <p:spPr>
          <a:xfrm>
            <a:off x="813816" y="1911604"/>
            <a:ext cx="5203190" cy="2159000"/>
          </a:xfrm>
          <a:custGeom>
            <a:avLst/>
            <a:gdLst/>
            <a:ahLst/>
            <a:cxnLst/>
            <a:rect l="l" t="t" r="r" b="b"/>
            <a:pathLst>
              <a:path w="5203190" h="2159000">
                <a:moveTo>
                  <a:pt x="5101590" y="0"/>
                </a:moveTo>
                <a:lnTo>
                  <a:pt x="101320" y="0"/>
                </a:lnTo>
                <a:lnTo>
                  <a:pt x="61882" y="7959"/>
                </a:lnTo>
                <a:lnTo>
                  <a:pt x="29676" y="29670"/>
                </a:lnTo>
                <a:lnTo>
                  <a:pt x="7962" y="61882"/>
                </a:lnTo>
                <a:lnTo>
                  <a:pt x="0" y="101346"/>
                </a:lnTo>
                <a:lnTo>
                  <a:pt x="0" y="2057146"/>
                </a:lnTo>
                <a:lnTo>
                  <a:pt x="7962" y="2096609"/>
                </a:lnTo>
                <a:lnTo>
                  <a:pt x="29676" y="2128821"/>
                </a:lnTo>
                <a:lnTo>
                  <a:pt x="61882" y="2150532"/>
                </a:lnTo>
                <a:lnTo>
                  <a:pt x="101320" y="2158492"/>
                </a:lnTo>
                <a:lnTo>
                  <a:pt x="5101590" y="2158492"/>
                </a:lnTo>
                <a:lnTo>
                  <a:pt x="5141053" y="2150532"/>
                </a:lnTo>
                <a:lnTo>
                  <a:pt x="5173265" y="2128821"/>
                </a:lnTo>
                <a:lnTo>
                  <a:pt x="5194976" y="2096609"/>
                </a:lnTo>
                <a:lnTo>
                  <a:pt x="5202936" y="2057146"/>
                </a:lnTo>
                <a:lnTo>
                  <a:pt x="5202936" y="101346"/>
                </a:lnTo>
                <a:lnTo>
                  <a:pt x="5194976" y="61882"/>
                </a:lnTo>
                <a:lnTo>
                  <a:pt x="5173265" y="29670"/>
                </a:lnTo>
                <a:lnTo>
                  <a:pt x="5141053" y="7959"/>
                </a:lnTo>
                <a:lnTo>
                  <a:pt x="5101590" y="0"/>
                </a:lnTo>
                <a:close/>
              </a:path>
            </a:pathLst>
          </a:custGeom>
          <a:solidFill>
            <a:srgbClr val="13203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/>
          <p:nvPr/>
        </p:nvSpPr>
        <p:spPr>
          <a:xfrm>
            <a:off x="1054620" y="2165794"/>
            <a:ext cx="2240280" cy="234315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1350">
                <a:solidFill>
                  <a:srgbClr val="F4F0EA"/>
                </a:solidFill>
                <a:latin typeface="Arial"/>
                <a:cs typeface="Arial"/>
              </a:rPr>
              <a:t>import matplotlib.pyplot </a:t>
            </a:r>
            <a:r>
              <a:rPr dirty="0" sz="1350" spc="-130">
                <a:solidFill>
                  <a:srgbClr val="F4F0EA"/>
                </a:solidFill>
                <a:latin typeface="Arial"/>
                <a:cs typeface="Arial"/>
              </a:rPr>
              <a:t>as</a:t>
            </a:r>
            <a:r>
              <a:rPr dirty="0" sz="1350">
                <a:solidFill>
                  <a:srgbClr val="F4F0EA"/>
                </a:solidFill>
                <a:latin typeface="Arial"/>
                <a:cs typeface="Arial"/>
              </a:rPr>
              <a:t> </a:t>
            </a:r>
            <a:r>
              <a:rPr dirty="0" sz="1350" spc="-25">
                <a:solidFill>
                  <a:srgbClr val="F4F0EA"/>
                </a:solidFill>
                <a:latin typeface="Arial"/>
                <a:cs typeface="Arial"/>
              </a:rPr>
              <a:t>plt</a:t>
            </a:r>
            <a:endParaRPr sz="1350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054620" y="2649487"/>
            <a:ext cx="2127250" cy="1151890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 marR="5080">
              <a:lnSpc>
                <a:spcPct val="136500"/>
              </a:lnSpc>
              <a:spcBef>
                <a:spcPts val="120"/>
              </a:spcBef>
            </a:pPr>
            <a:r>
              <a:rPr dirty="0" sz="1350">
                <a:solidFill>
                  <a:srgbClr val="F4F0EA"/>
                </a:solidFill>
                <a:latin typeface="Arial"/>
                <a:cs typeface="Arial"/>
              </a:rPr>
              <a:t>plt.plot(x,</a:t>
            </a:r>
            <a:r>
              <a:rPr dirty="0" sz="1350" spc="-95">
                <a:solidFill>
                  <a:srgbClr val="F4F0EA"/>
                </a:solidFill>
                <a:latin typeface="Arial"/>
                <a:cs typeface="Arial"/>
              </a:rPr>
              <a:t> </a:t>
            </a:r>
            <a:r>
              <a:rPr dirty="0" sz="1350" spc="-10">
                <a:solidFill>
                  <a:srgbClr val="F4F0EA"/>
                </a:solidFill>
                <a:latin typeface="Arial"/>
                <a:cs typeface="Arial"/>
              </a:rPr>
              <a:t>y)</a:t>
            </a:r>
            <a:r>
              <a:rPr dirty="0" sz="1350" spc="-65">
                <a:solidFill>
                  <a:srgbClr val="F4F0EA"/>
                </a:solidFill>
                <a:latin typeface="Arial"/>
                <a:cs typeface="Arial"/>
              </a:rPr>
              <a:t> </a:t>
            </a:r>
            <a:r>
              <a:rPr dirty="0" sz="1350" spc="-75">
                <a:solidFill>
                  <a:srgbClr val="9FAFC7"/>
                </a:solidFill>
                <a:latin typeface="Arial"/>
                <a:cs typeface="Arial"/>
              </a:rPr>
              <a:t>#</a:t>
            </a:r>
            <a:r>
              <a:rPr dirty="0" sz="1350" spc="-55">
                <a:solidFill>
                  <a:srgbClr val="9FAFC7"/>
                </a:solidFill>
                <a:latin typeface="Arial"/>
                <a:cs typeface="Arial"/>
              </a:rPr>
              <a:t> </a:t>
            </a:r>
            <a:r>
              <a:rPr dirty="0" sz="1350" spc="-10">
                <a:solidFill>
                  <a:srgbClr val="9FAFC7"/>
                </a:solidFill>
                <a:latin typeface="Arial"/>
                <a:cs typeface="Arial"/>
              </a:rPr>
              <a:t>line</a:t>
            </a:r>
            <a:r>
              <a:rPr dirty="0" sz="1350" spc="-70">
                <a:solidFill>
                  <a:srgbClr val="9FAFC7"/>
                </a:solidFill>
                <a:latin typeface="Arial"/>
                <a:cs typeface="Arial"/>
              </a:rPr>
              <a:t> </a:t>
            </a:r>
            <a:r>
              <a:rPr dirty="0" sz="1350" spc="-10">
                <a:solidFill>
                  <a:srgbClr val="9FAFC7"/>
                </a:solidFill>
                <a:latin typeface="Arial"/>
                <a:cs typeface="Arial"/>
              </a:rPr>
              <a:t>graph </a:t>
            </a:r>
            <a:r>
              <a:rPr dirty="0" sz="1350" spc="-20">
                <a:solidFill>
                  <a:srgbClr val="F4F0EA"/>
                </a:solidFill>
                <a:latin typeface="Arial"/>
                <a:cs typeface="Arial"/>
              </a:rPr>
              <a:t>plt.bar(x,</a:t>
            </a:r>
            <a:r>
              <a:rPr dirty="0" sz="1350" spc="-65">
                <a:solidFill>
                  <a:srgbClr val="F4F0EA"/>
                </a:solidFill>
                <a:latin typeface="Arial"/>
                <a:cs typeface="Arial"/>
              </a:rPr>
              <a:t> </a:t>
            </a:r>
            <a:r>
              <a:rPr dirty="0" sz="1350" spc="-30">
                <a:solidFill>
                  <a:srgbClr val="F4F0EA"/>
                </a:solidFill>
                <a:latin typeface="Arial"/>
                <a:cs typeface="Arial"/>
              </a:rPr>
              <a:t>heights)</a:t>
            </a:r>
            <a:r>
              <a:rPr dirty="0" sz="1350" spc="-20">
                <a:solidFill>
                  <a:srgbClr val="F4F0EA"/>
                </a:solidFill>
                <a:latin typeface="Arial"/>
                <a:cs typeface="Arial"/>
              </a:rPr>
              <a:t> </a:t>
            </a:r>
            <a:r>
              <a:rPr dirty="0" sz="1350" spc="-75">
                <a:solidFill>
                  <a:srgbClr val="9FAFC7"/>
                </a:solidFill>
                <a:latin typeface="Arial"/>
                <a:cs typeface="Arial"/>
              </a:rPr>
              <a:t>#</a:t>
            </a:r>
            <a:r>
              <a:rPr dirty="0" sz="1350" spc="-40">
                <a:solidFill>
                  <a:srgbClr val="9FAFC7"/>
                </a:solidFill>
                <a:latin typeface="Arial"/>
                <a:cs typeface="Arial"/>
              </a:rPr>
              <a:t> </a:t>
            </a:r>
            <a:r>
              <a:rPr dirty="0" sz="1350" spc="-10">
                <a:solidFill>
                  <a:srgbClr val="9FAFC7"/>
                </a:solidFill>
                <a:latin typeface="Arial"/>
                <a:cs typeface="Arial"/>
              </a:rPr>
              <a:t>bar</a:t>
            </a:r>
            <a:r>
              <a:rPr dirty="0" sz="1350" spc="-55">
                <a:solidFill>
                  <a:srgbClr val="9FAFC7"/>
                </a:solidFill>
                <a:latin typeface="Arial"/>
                <a:cs typeface="Arial"/>
              </a:rPr>
              <a:t> </a:t>
            </a:r>
            <a:r>
              <a:rPr dirty="0" sz="1350" spc="-20">
                <a:solidFill>
                  <a:srgbClr val="9FAFC7"/>
                </a:solidFill>
                <a:latin typeface="Arial"/>
                <a:cs typeface="Arial"/>
              </a:rPr>
              <a:t>chart </a:t>
            </a:r>
            <a:r>
              <a:rPr dirty="0" sz="1350" spc="-30">
                <a:solidFill>
                  <a:srgbClr val="F4F0EA"/>
                </a:solidFill>
                <a:latin typeface="Arial"/>
                <a:cs typeface="Arial"/>
              </a:rPr>
              <a:t>plt.pie(values)</a:t>
            </a:r>
            <a:r>
              <a:rPr dirty="0" sz="1350" spc="-45">
                <a:solidFill>
                  <a:srgbClr val="F4F0EA"/>
                </a:solidFill>
                <a:latin typeface="Arial"/>
                <a:cs typeface="Arial"/>
              </a:rPr>
              <a:t> </a:t>
            </a:r>
            <a:r>
              <a:rPr dirty="0" sz="1350" spc="-75">
                <a:solidFill>
                  <a:srgbClr val="9FAFC7"/>
                </a:solidFill>
                <a:latin typeface="Arial"/>
                <a:cs typeface="Arial"/>
              </a:rPr>
              <a:t>#</a:t>
            </a:r>
            <a:r>
              <a:rPr dirty="0" sz="1350" spc="-35">
                <a:solidFill>
                  <a:srgbClr val="9FAFC7"/>
                </a:solidFill>
                <a:latin typeface="Arial"/>
                <a:cs typeface="Arial"/>
              </a:rPr>
              <a:t> </a:t>
            </a:r>
            <a:r>
              <a:rPr dirty="0" sz="1350" spc="-10">
                <a:solidFill>
                  <a:srgbClr val="9FAFC7"/>
                </a:solidFill>
                <a:latin typeface="Arial"/>
                <a:cs typeface="Arial"/>
              </a:rPr>
              <a:t>pie</a:t>
            </a:r>
            <a:r>
              <a:rPr dirty="0" sz="1350" spc="-35">
                <a:solidFill>
                  <a:srgbClr val="9FAFC7"/>
                </a:solidFill>
                <a:latin typeface="Arial"/>
                <a:cs typeface="Arial"/>
              </a:rPr>
              <a:t> </a:t>
            </a:r>
            <a:r>
              <a:rPr dirty="0" sz="1350" spc="-20">
                <a:solidFill>
                  <a:srgbClr val="9FAFC7"/>
                </a:solidFill>
                <a:latin typeface="Arial"/>
                <a:cs typeface="Arial"/>
              </a:rPr>
              <a:t>chart </a:t>
            </a:r>
            <a:r>
              <a:rPr dirty="0" sz="1350" spc="-20">
                <a:solidFill>
                  <a:srgbClr val="F4F0EA"/>
                </a:solidFill>
                <a:latin typeface="Arial"/>
                <a:cs typeface="Arial"/>
              </a:rPr>
              <a:t>plt.show()</a:t>
            </a:r>
            <a:r>
              <a:rPr dirty="0" sz="1350" spc="-30">
                <a:solidFill>
                  <a:srgbClr val="F4F0EA"/>
                </a:solidFill>
                <a:latin typeface="Arial"/>
                <a:cs typeface="Arial"/>
              </a:rPr>
              <a:t> </a:t>
            </a:r>
            <a:r>
              <a:rPr dirty="0" sz="1350" spc="-75">
                <a:solidFill>
                  <a:srgbClr val="9FAFC7"/>
                </a:solidFill>
                <a:latin typeface="Arial"/>
                <a:cs typeface="Arial"/>
              </a:rPr>
              <a:t>#</a:t>
            </a:r>
            <a:r>
              <a:rPr dirty="0" sz="1350" spc="-40">
                <a:solidFill>
                  <a:srgbClr val="9FAFC7"/>
                </a:solidFill>
                <a:latin typeface="Arial"/>
                <a:cs typeface="Arial"/>
              </a:rPr>
              <a:t> </a:t>
            </a:r>
            <a:r>
              <a:rPr dirty="0" sz="1350" spc="-45">
                <a:solidFill>
                  <a:srgbClr val="9FAFC7"/>
                </a:solidFill>
                <a:latin typeface="Arial"/>
                <a:cs typeface="Arial"/>
              </a:rPr>
              <a:t>display</a:t>
            </a:r>
            <a:r>
              <a:rPr dirty="0" sz="1350" spc="-50">
                <a:solidFill>
                  <a:srgbClr val="9FAFC7"/>
                </a:solidFill>
                <a:latin typeface="Arial"/>
                <a:cs typeface="Arial"/>
              </a:rPr>
              <a:t> </a:t>
            </a:r>
            <a:r>
              <a:rPr dirty="0" sz="1350" spc="40">
                <a:solidFill>
                  <a:srgbClr val="9FAFC7"/>
                </a:solidFill>
                <a:latin typeface="Arial"/>
                <a:cs typeface="Arial"/>
              </a:rPr>
              <a:t>it</a:t>
            </a:r>
            <a:endParaRPr sz="135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800480" y="4191267"/>
            <a:ext cx="5101590" cy="53848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 marR="5080">
              <a:lnSpc>
                <a:spcPct val="124600"/>
              </a:lnSpc>
              <a:spcBef>
                <a:spcPts val="95"/>
              </a:spcBef>
            </a:pPr>
            <a:r>
              <a:rPr dirty="0" sz="1350" spc="55">
                <a:solidFill>
                  <a:srgbClr val="3C495C"/>
                </a:solidFill>
                <a:latin typeface="Arial"/>
                <a:cs typeface="Arial"/>
              </a:rPr>
              <a:t>matplotlib</a:t>
            </a:r>
            <a:r>
              <a:rPr dirty="0" sz="1350" spc="35">
                <a:solidFill>
                  <a:srgbClr val="3C495C"/>
                </a:solidFill>
                <a:latin typeface="Arial"/>
                <a:cs typeface="Arial"/>
              </a:rPr>
              <a:t> </a:t>
            </a:r>
            <a:r>
              <a:rPr dirty="0" sz="1350">
                <a:solidFill>
                  <a:srgbClr val="3C495C"/>
                </a:solidFill>
                <a:latin typeface="Arial"/>
                <a:cs typeface="Arial"/>
              </a:rPr>
              <a:t>is</a:t>
            </a:r>
            <a:r>
              <a:rPr dirty="0" sz="1350" spc="15">
                <a:solidFill>
                  <a:srgbClr val="3C495C"/>
                </a:solidFill>
                <a:latin typeface="Arial"/>
                <a:cs typeface="Arial"/>
              </a:rPr>
              <a:t> </a:t>
            </a:r>
            <a:r>
              <a:rPr dirty="0" sz="1350" spc="55">
                <a:solidFill>
                  <a:srgbClr val="3C495C"/>
                </a:solidFill>
                <a:latin typeface="Arial"/>
                <a:cs typeface="Arial"/>
              </a:rPr>
              <a:t>not</a:t>
            </a:r>
            <a:r>
              <a:rPr dirty="0" sz="1350" spc="-15">
                <a:solidFill>
                  <a:srgbClr val="3C495C"/>
                </a:solidFill>
                <a:latin typeface="Arial"/>
                <a:cs typeface="Arial"/>
              </a:rPr>
              <a:t> </a:t>
            </a:r>
            <a:r>
              <a:rPr dirty="0" sz="1350" spc="55">
                <a:solidFill>
                  <a:srgbClr val="3C495C"/>
                </a:solidFill>
                <a:latin typeface="Arial"/>
                <a:cs typeface="Arial"/>
              </a:rPr>
              <a:t>part</a:t>
            </a:r>
            <a:r>
              <a:rPr dirty="0" sz="1350" spc="70">
                <a:solidFill>
                  <a:srgbClr val="3C495C"/>
                </a:solidFill>
                <a:latin typeface="Arial"/>
                <a:cs typeface="Arial"/>
              </a:rPr>
              <a:t> </a:t>
            </a:r>
            <a:r>
              <a:rPr dirty="0" sz="1350" spc="50">
                <a:solidFill>
                  <a:srgbClr val="3C495C"/>
                </a:solidFill>
                <a:latin typeface="Arial"/>
                <a:cs typeface="Arial"/>
              </a:rPr>
              <a:t>of</a:t>
            </a:r>
            <a:r>
              <a:rPr dirty="0" sz="1350" spc="-55">
                <a:solidFill>
                  <a:srgbClr val="3C495C"/>
                </a:solidFill>
                <a:latin typeface="Arial"/>
                <a:cs typeface="Arial"/>
              </a:rPr>
              <a:t> </a:t>
            </a:r>
            <a:r>
              <a:rPr dirty="0" sz="1350">
                <a:solidFill>
                  <a:srgbClr val="3C495C"/>
                </a:solidFill>
                <a:latin typeface="Arial"/>
                <a:cs typeface="Arial"/>
              </a:rPr>
              <a:t>standard</a:t>
            </a:r>
            <a:r>
              <a:rPr dirty="0" sz="1350" spc="40">
                <a:solidFill>
                  <a:srgbClr val="3C495C"/>
                </a:solidFill>
                <a:latin typeface="Arial"/>
                <a:cs typeface="Arial"/>
              </a:rPr>
              <a:t> </a:t>
            </a:r>
            <a:r>
              <a:rPr dirty="0" sz="1350">
                <a:solidFill>
                  <a:srgbClr val="3C495C"/>
                </a:solidFill>
                <a:latin typeface="Arial"/>
                <a:cs typeface="Arial"/>
              </a:rPr>
              <a:t>Python.</a:t>
            </a:r>
            <a:r>
              <a:rPr dirty="0" sz="1350" spc="30">
                <a:solidFill>
                  <a:srgbClr val="3C495C"/>
                </a:solidFill>
                <a:latin typeface="Arial"/>
                <a:cs typeface="Arial"/>
              </a:rPr>
              <a:t> </a:t>
            </a:r>
            <a:r>
              <a:rPr dirty="0" sz="1350" spc="65">
                <a:solidFill>
                  <a:srgbClr val="3C495C"/>
                </a:solidFill>
                <a:latin typeface="Arial"/>
                <a:cs typeface="Arial"/>
              </a:rPr>
              <a:t>Install</a:t>
            </a:r>
            <a:r>
              <a:rPr dirty="0" sz="1350" spc="-50">
                <a:solidFill>
                  <a:srgbClr val="3C495C"/>
                </a:solidFill>
                <a:latin typeface="Arial"/>
                <a:cs typeface="Arial"/>
              </a:rPr>
              <a:t> </a:t>
            </a:r>
            <a:r>
              <a:rPr dirty="0" sz="1350" spc="80">
                <a:solidFill>
                  <a:srgbClr val="3C495C"/>
                </a:solidFill>
                <a:latin typeface="Arial"/>
                <a:cs typeface="Arial"/>
              </a:rPr>
              <a:t>it</a:t>
            </a:r>
            <a:r>
              <a:rPr dirty="0" sz="1350" spc="70">
                <a:solidFill>
                  <a:srgbClr val="3C495C"/>
                </a:solidFill>
                <a:latin typeface="Arial"/>
                <a:cs typeface="Arial"/>
              </a:rPr>
              <a:t> </a:t>
            </a:r>
            <a:r>
              <a:rPr dirty="0" sz="1350">
                <a:solidFill>
                  <a:srgbClr val="3C495C"/>
                </a:solidFill>
                <a:latin typeface="Arial"/>
                <a:cs typeface="Arial"/>
              </a:rPr>
              <a:t>once</a:t>
            </a:r>
            <a:r>
              <a:rPr dirty="0" sz="1350" spc="5">
                <a:solidFill>
                  <a:srgbClr val="3C495C"/>
                </a:solidFill>
                <a:latin typeface="Arial"/>
                <a:cs typeface="Arial"/>
              </a:rPr>
              <a:t> </a:t>
            </a:r>
            <a:r>
              <a:rPr dirty="0" sz="1350" spc="70">
                <a:solidFill>
                  <a:srgbClr val="3C495C"/>
                </a:solidFill>
                <a:latin typeface="Arial"/>
                <a:cs typeface="Arial"/>
              </a:rPr>
              <a:t>with</a:t>
            </a:r>
            <a:r>
              <a:rPr dirty="0" sz="1350" spc="120">
                <a:solidFill>
                  <a:srgbClr val="3C495C"/>
                </a:solidFill>
                <a:latin typeface="Arial"/>
                <a:cs typeface="Arial"/>
              </a:rPr>
              <a:t> </a:t>
            </a:r>
            <a:r>
              <a:rPr dirty="0" sz="1350" spc="-25">
                <a:solidFill>
                  <a:srgbClr val="B45209"/>
                </a:solidFill>
                <a:latin typeface="Arial"/>
                <a:cs typeface="Arial"/>
              </a:rPr>
              <a:t>pip </a:t>
            </a:r>
            <a:r>
              <a:rPr dirty="0" sz="1350" spc="45">
                <a:solidFill>
                  <a:srgbClr val="B45209"/>
                </a:solidFill>
                <a:latin typeface="Arial"/>
                <a:cs typeface="Arial"/>
              </a:rPr>
              <a:t>install</a:t>
            </a:r>
            <a:r>
              <a:rPr dirty="0" sz="1350" spc="15">
                <a:solidFill>
                  <a:srgbClr val="B45209"/>
                </a:solidFill>
                <a:latin typeface="Arial"/>
                <a:cs typeface="Arial"/>
              </a:rPr>
              <a:t> </a:t>
            </a:r>
            <a:r>
              <a:rPr dirty="0" sz="1350" spc="55">
                <a:solidFill>
                  <a:srgbClr val="B45209"/>
                </a:solidFill>
                <a:latin typeface="Arial"/>
                <a:cs typeface="Arial"/>
              </a:rPr>
              <a:t>matplotlib</a:t>
            </a:r>
            <a:r>
              <a:rPr dirty="0" sz="1350" spc="55">
                <a:solidFill>
                  <a:srgbClr val="3C495C"/>
                </a:solidFill>
                <a:latin typeface="Arial"/>
                <a:cs typeface="Arial"/>
              </a:rPr>
              <a:t>,</a:t>
            </a:r>
            <a:r>
              <a:rPr dirty="0" sz="1350" spc="20">
                <a:solidFill>
                  <a:srgbClr val="3C495C"/>
                </a:solidFill>
                <a:latin typeface="Arial"/>
                <a:cs typeface="Arial"/>
              </a:rPr>
              <a:t> </a:t>
            </a:r>
            <a:r>
              <a:rPr dirty="0" sz="1350">
                <a:solidFill>
                  <a:srgbClr val="3C495C"/>
                </a:solidFill>
                <a:latin typeface="Arial"/>
                <a:cs typeface="Arial"/>
              </a:rPr>
              <a:t>or</a:t>
            </a:r>
            <a:r>
              <a:rPr dirty="0" sz="1350" spc="-20">
                <a:solidFill>
                  <a:srgbClr val="3C495C"/>
                </a:solidFill>
                <a:latin typeface="Arial"/>
                <a:cs typeface="Arial"/>
              </a:rPr>
              <a:t> </a:t>
            </a:r>
            <a:r>
              <a:rPr dirty="0" sz="1350">
                <a:solidFill>
                  <a:srgbClr val="B45209"/>
                </a:solidFill>
                <a:latin typeface="Arial"/>
                <a:cs typeface="Arial"/>
              </a:rPr>
              <a:t>!pip</a:t>
            </a:r>
            <a:r>
              <a:rPr dirty="0" sz="1350" spc="-45">
                <a:solidFill>
                  <a:srgbClr val="B45209"/>
                </a:solidFill>
                <a:latin typeface="Arial"/>
                <a:cs typeface="Arial"/>
              </a:rPr>
              <a:t> </a:t>
            </a:r>
            <a:r>
              <a:rPr dirty="0" sz="1350" spc="45">
                <a:solidFill>
                  <a:srgbClr val="B45209"/>
                </a:solidFill>
                <a:latin typeface="Arial"/>
                <a:cs typeface="Arial"/>
              </a:rPr>
              <a:t>install</a:t>
            </a:r>
            <a:r>
              <a:rPr dirty="0" sz="1350" spc="20">
                <a:solidFill>
                  <a:srgbClr val="B45209"/>
                </a:solidFill>
                <a:latin typeface="Arial"/>
                <a:cs typeface="Arial"/>
              </a:rPr>
              <a:t> </a:t>
            </a:r>
            <a:r>
              <a:rPr dirty="0" sz="1350" spc="65">
                <a:solidFill>
                  <a:srgbClr val="B45209"/>
                </a:solidFill>
                <a:latin typeface="Arial"/>
                <a:cs typeface="Arial"/>
              </a:rPr>
              <a:t>matplotlib</a:t>
            </a:r>
            <a:r>
              <a:rPr dirty="0" sz="1350" spc="5">
                <a:solidFill>
                  <a:srgbClr val="B45209"/>
                </a:solidFill>
                <a:latin typeface="Arial"/>
                <a:cs typeface="Arial"/>
              </a:rPr>
              <a:t> </a:t>
            </a:r>
            <a:r>
              <a:rPr dirty="0" sz="1350">
                <a:solidFill>
                  <a:srgbClr val="3C495C"/>
                </a:solidFill>
                <a:latin typeface="Arial"/>
                <a:cs typeface="Arial"/>
              </a:rPr>
              <a:t>in</a:t>
            </a:r>
            <a:r>
              <a:rPr dirty="0" sz="1350" spc="-30">
                <a:solidFill>
                  <a:srgbClr val="3C495C"/>
                </a:solidFill>
                <a:latin typeface="Arial"/>
                <a:cs typeface="Arial"/>
              </a:rPr>
              <a:t> </a:t>
            </a:r>
            <a:r>
              <a:rPr dirty="0" sz="1350">
                <a:solidFill>
                  <a:srgbClr val="3C495C"/>
                </a:solidFill>
                <a:latin typeface="Arial"/>
                <a:cs typeface="Arial"/>
              </a:rPr>
              <a:t>a</a:t>
            </a:r>
            <a:r>
              <a:rPr dirty="0" sz="1350" spc="20">
                <a:solidFill>
                  <a:srgbClr val="3C495C"/>
                </a:solidFill>
                <a:latin typeface="Arial"/>
                <a:cs typeface="Arial"/>
              </a:rPr>
              <a:t> </a:t>
            </a:r>
            <a:r>
              <a:rPr dirty="0" sz="1350" spc="45">
                <a:solidFill>
                  <a:srgbClr val="3C495C"/>
                </a:solidFill>
                <a:latin typeface="Arial"/>
                <a:cs typeface="Arial"/>
              </a:rPr>
              <a:t>notebook</a:t>
            </a:r>
            <a:r>
              <a:rPr dirty="0" sz="1350" spc="30">
                <a:solidFill>
                  <a:srgbClr val="3C495C"/>
                </a:solidFill>
                <a:latin typeface="Arial"/>
                <a:cs typeface="Arial"/>
              </a:rPr>
              <a:t> </a:t>
            </a:r>
            <a:r>
              <a:rPr dirty="0" sz="1350" spc="-10">
                <a:solidFill>
                  <a:srgbClr val="3C495C"/>
                </a:solidFill>
                <a:latin typeface="Arial"/>
                <a:cs typeface="Arial"/>
              </a:rPr>
              <a:t>cell.</a:t>
            </a:r>
            <a:endParaRPr sz="1350">
              <a:latin typeface="Arial"/>
              <a:cs typeface="Arial"/>
            </a:endParaRPr>
          </a:p>
        </p:txBody>
      </p:sp>
      <p:grpSp>
        <p:nvGrpSpPr>
          <p:cNvPr id="9" name="object 9"/>
          <p:cNvGrpSpPr/>
          <p:nvPr/>
        </p:nvGrpSpPr>
        <p:grpSpPr>
          <a:xfrm>
            <a:off x="6329045" y="1913001"/>
            <a:ext cx="5053965" cy="3281045"/>
            <a:chOff x="6329045" y="1913001"/>
            <a:chExt cx="5053965" cy="3281045"/>
          </a:xfrm>
        </p:grpSpPr>
        <p:sp>
          <p:nvSpPr>
            <p:cNvPr id="10" name="object 10"/>
            <p:cNvSpPr/>
            <p:nvPr/>
          </p:nvSpPr>
          <p:spPr>
            <a:xfrm>
              <a:off x="6332220" y="1916176"/>
              <a:ext cx="5047615" cy="3274695"/>
            </a:xfrm>
            <a:custGeom>
              <a:avLst/>
              <a:gdLst/>
              <a:ahLst/>
              <a:cxnLst/>
              <a:rect l="l" t="t" r="r" b="b"/>
              <a:pathLst>
                <a:path w="5047615" h="3274695">
                  <a:moveTo>
                    <a:pt x="4948935" y="0"/>
                  </a:moveTo>
                  <a:lnTo>
                    <a:pt x="98551" y="0"/>
                  </a:lnTo>
                  <a:lnTo>
                    <a:pt x="60168" y="7737"/>
                  </a:lnTo>
                  <a:lnTo>
                    <a:pt x="28844" y="28844"/>
                  </a:lnTo>
                  <a:lnTo>
                    <a:pt x="7737" y="60168"/>
                  </a:lnTo>
                  <a:lnTo>
                    <a:pt x="0" y="98551"/>
                  </a:lnTo>
                  <a:lnTo>
                    <a:pt x="0" y="3175762"/>
                  </a:lnTo>
                  <a:lnTo>
                    <a:pt x="7737" y="3214145"/>
                  </a:lnTo>
                  <a:lnTo>
                    <a:pt x="28844" y="3245469"/>
                  </a:lnTo>
                  <a:lnTo>
                    <a:pt x="60168" y="3266576"/>
                  </a:lnTo>
                  <a:lnTo>
                    <a:pt x="98551" y="3274314"/>
                  </a:lnTo>
                  <a:lnTo>
                    <a:pt x="4948935" y="3274314"/>
                  </a:lnTo>
                  <a:lnTo>
                    <a:pt x="4987319" y="3266576"/>
                  </a:lnTo>
                  <a:lnTo>
                    <a:pt x="5018643" y="3245469"/>
                  </a:lnTo>
                  <a:lnTo>
                    <a:pt x="5039750" y="3214145"/>
                  </a:lnTo>
                  <a:lnTo>
                    <a:pt x="5047487" y="3175762"/>
                  </a:lnTo>
                  <a:lnTo>
                    <a:pt x="5047487" y="98551"/>
                  </a:lnTo>
                  <a:lnTo>
                    <a:pt x="5039750" y="60168"/>
                  </a:lnTo>
                  <a:lnTo>
                    <a:pt x="5018643" y="28844"/>
                  </a:lnTo>
                  <a:lnTo>
                    <a:pt x="4987319" y="7737"/>
                  </a:lnTo>
                  <a:lnTo>
                    <a:pt x="4948935" y="0"/>
                  </a:lnTo>
                  <a:close/>
                </a:path>
              </a:pathLst>
            </a:custGeom>
            <a:solidFill>
              <a:srgbClr val="FAFAF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" name="object 11"/>
            <p:cNvSpPr/>
            <p:nvPr/>
          </p:nvSpPr>
          <p:spPr>
            <a:xfrm>
              <a:off x="6332220" y="1916176"/>
              <a:ext cx="5047615" cy="3274695"/>
            </a:xfrm>
            <a:custGeom>
              <a:avLst/>
              <a:gdLst/>
              <a:ahLst/>
              <a:cxnLst/>
              <a:rect l="l" t="t" r="r" b="b"/>
              <a:pathLst>
                <a:path w="5047615" h="3274695">
                  <a:moveTo>
                    <a:pt x="0" y="98551"/>
                  </a:moveTo>
                  <a:lnTo>
                    <a:pt x="7737" y="60168"/>
                  </a:lnTo>
                  <a:lnTo>
                    <a:pt x="28844" y="28844"/>
                  </a:lnTo>
                  <a:lnTo>
                    <a:pt x="60168" y="7737"/>
                  </a:lnTo>
                  <a:lnTo>
                    <a:pt x="98551" y="0"/>
                  </a:lnTo>
                  <a:lnTo>
                    <a:pt x="4948935" y="0"/>
                  </a:lnTo>
                  <a:lnTo>
                    <a:pt x="4987319" y="7737"/>
                  </a:lnTo>
                  <a:lnTo>
                    <a:pt x="5018643" y="28844"/>
                  </a:lnTo>
                  <a:lnTo>
                    <a:pt x="5039750" y="60168"/>
                  </a:lnTo>
                  <a:lnTo>
                    <a:pt x="5047487" y="98551"/>
                  </a:lnTo>
                  <a:lnTo>
                    <a:pt x="5047487" y="3175762"/>
                  </a:lnTo>
                  <a:lnTo>
                    <a:pt x="5039750" y="3214145"/>
                  </a:lnTo>
                  <a:lnTo>
                    <a:pt x="5018643" y="3245469"/>
                  </a:lnTo>
                  <a:lnTo>
                    <a:pt x="4987319" y="3266576"/>
                  </a:lnTo>
                  <a:lnTo>
                    <a:pt x="4948935" y="3274314"/>
                  </a:lnTo>
                  <a:lnTo>
                    <a:pt x="98551" y="3274314"/>
                  </a:lnTo>
                  <a:lnTo>
                    <a:pt x="60168" y="3266576"/>
                  </a:lnTo>
                  <a:lnTo>
                    <a:pt x="28844" y="3245469"/>
                  </a:lnTo>
                  <a:lnTo>
                    <a:pt x="7737" y="3214145"/>
                  </a:lnTo>
                  <a:lnTo>
                    <a:pt x="0" y="3175762"/>
                  </a:lnTo>
                  <a:lnTo>
                    <a:pt x="0" y="98551"/>
                  </a:lnTo>
                  <a:close/>
                </a:path>
              </a:pathLst>
            </a:custGeom>
            <a:ln w="6350">
              <a:solidFill>
                <a:srgbClr val="D9DEE6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2" name="object 12"/>
          <p:cNvSpPr txBox="1"/>
          <p:nvPr/>
        </p:nvSpPr>
        <p:spPr>
          <a:xfrm>
            <a:off x="6574408" y="2150935"/>
            <a:ext cx="2753995" cy="26733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550" b="1">
                <a:solidFill>
                  <a:srgbClr val="13203C"/>
                </a:solidFill>
                <a:latin typeface="Arial"/>
                <a:cs typeface="Arial"/>
              </a:rPr>
              <a:t>Same</a:t>
            </a:r>
            <a:r>
              <a:rPr dirty="0" sz="1550" spc="35" b="1">
                <a:solidFill>
                  <a:srgbClr val="13203C"/>
                </a:solidFill>
                <a:latin typeface="Arial"/>
                <a:cs typeface="Arial"/>
              </a:rPr>
              <a:t> </a:t>
            </a:r>
            <a:r>
              <a:rPr dirty="0" sz="1550" b="1">
                <a:solidFill>
                  <a:srgbClr val="13203C"/>
                </a:solidFill>
                <a:latin typeface="Arial"/>
                <a:cs typeface="Arial"/>
              </a:rPr>
              <a:t>chart,</a:t>
            </a:r>
            <a:r>
              <a:rPr dirty="0" sz="1550" spc="5" b="1">
                <a:solidFill>
                  <a:srgbClr val="13203C"/>
                </a:solidFill>
                <a:latin typeface="Arial"/>
                <a:cs typeface="Arial"/>
              </a:rPr>
              <a:t> </a:t>
            </a:r>
            <a:r>
              <a:rPr dirty="0" sz="1550" spc="50" b="1">
                <a:solidFill>
                  <a:srgbClr val="13203C"/>
                </a:solidFill>
                <a:latin typeface="Arial"/>
                <a:cs typeface="Arial"/>
              </a:rPr>
              <a:t>two</a:t>
            </a:r>
            <a:r>
              <a:rPr dirty="0" sz="1550" spc="30" b="1">
                <a:solidFill>
                  <a:srgbClr val="13203C"/>
                </a:solidFill>
                <a:latin typeface="Arial"/>
                <a:cs typeface="Arial"/>
              </a:rPr>
              <a:t> </a:t>
            </a:r>
            <a:r>
              <a:rPr dirty="0" sz="1550" b="1">
                <a:solidFill>
                  <a:srgbClr val="13203C"/>
                </a:solidFill>
                <a:latin typeface="Arial"/>
                <a:cs typeface="Arial"/>
              </a:rPr>
              <a:t>ways</a:t>
            </a:r>
            <a:r>
              <a:rPr dirty="0" sz="1550" spc="60" b="1">
                <a:solidFill>
                  <a:srgbClr val="13203C"/>
                </a:solidFill>
                <a:latin typeface="Arial"/>
                <a:cs typeface="Arial"/>
              </a:rPr>
              <a:t> </a:t>
            </a:r>
            <a:r>
              <a:rPr dirty="0" sz="1550" b="1">
                <a:solidFill>
                  <a:srgbClr val="13203C"/>
                </a:solidFill>
                <a:latin typeface="Arial"/>
                <a:cs typeface="Arial"/>
              </a:rPr>
              <a:t>to</a:t>
            </a:r>
            <a:r>
              <a:rPr dirty="0" sz="1550" spc="35" b="1">
                <a:solidFill>
                  <a:srgbClr val="13203C"/>
                </a:solidFill>
                <a:latin typeface="Arial"/>
                <a:cs typeface="Arial"/>
              </a:rPr>
              <a:t> </a:t>
            </a:r>
            <a:r>
              <a:rPr dirty="0" sz="1550" spc="-25" b="1">
                <a:solidFill>
                  <a:srgbClr val="13203C"/>
                </a:solidFill>
                <a:latin typeface="Arial"/>
                <a:cs typeface="Arial"/>
              </a:rPr>
              <a:t>ask</a:t>
            </a:r>
            <a:endParaRPr sz="1550">
              <a:latin typeface="Arial"/>
              <a:cs typeface="Arial"/>
            </a:endParaRPr>
          </a:p>
        </p:txBody>
      </p:sp>
      <p:graphicFrame>
        <p:nvGraphicFramePr>
          <p:cNvPr id="13" name="object 13"/>
          <p:cNvGraphicFramePr>
            <a:graphicFrameLocks noGrp="1"/>
          </p:cNvGraphicFramePr>
          <p:nvPr/>
        </p:nvGraphicFramePr>
        <p:xfrm>
          <a:off x="6586346" y="2544317"/>
          <a:ext cx="4613910" cy="178435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085850"/>
                <a:gridCol w="1356995"/>
                <a:gridCol w="2080895"/>
              </a:tblGrid>
              <a:tr h="356870">
                <a:tc>
                  <a:txBody>
                    <a:bodyPr/>
                    <a:lstStyle/>
                    <a:p>
                      <a:pPr marL="62230">
                        <a:lnSpc>
                          <a:spcPct val="100000"/>
                        </a:lnSpc>
                        <a:spcBef>
                          <a:spcPts val="555"/>
                        </a:spcBef>
                      </a:pPr>
                      <a:r>
                        <a:rPr dirty="0" sz="1300" spc="-10" b="1">
                          <a:solidFill>
                            <a:srgbClr val="13203C"/>
                          </a:solidFill>
                          <a:latin typeface="Arial"/>
                          <a:cs typeface="Arial"/>
                        </a:rPr>
                        <a:t>Chart</a:t>
                      </a:r>
                      <a:endParaRPr sz="1300">
                        <a:latin typeface="Arial"/>
                        <a:cs typeface="Arial"/>
                      </a:endParaRPr>
                    </a:p>
                  </a:txBody>
                  <a:tcPr marL="0" marR="0" marB="0" marT="70485">
                    <a:lnL w="12700">
                      <a:solidFill>
                        <a:srgbClr val="C7C7C5"/>
                      </a:solidFill>
                      <a:prstDash val="solid"/>
                    </a:lnL>
                    <a:lnR w="12700">
                      <a:solidFill>
                        <a:srgbClr val="BDC0C3"/>
                      </a:solidFill>
                      <a:prstDash val="solid"/>
                    </a:lnR>
                    <a:lnT w="12700">
                      <a:solidFill>
                        <a:srgbClr val="C7C7C5"/>
                      </a:solidFill>
                      <a:prstDash val="solid"/>
                    </a:lnT>
                    <a:lnB w="12700">
                      <a:solidFill>
                        <a:srgbClr val="BDC0C3"/>
                      </a:solidFill>
                      <a:prstDash val="solid"/>
                    </a:lnB>
                    <a:solidFill>
                      <a:srgbClr val="EDF0F5"/>
                    </a:solidFill>
                  </a:tcPr>
                </a:tc>
                <a:tc>
                  <a:txBody>
                    <a:bodyPr/>
                    <a:lstStyle/>
                    <a:p>
                      <a:pPr marL="63500">
                        <a:lnSpc>
                          <a:spcPct val="100000"/>
                        </a:lnSpc>
                        <a:spcBef>
                          <a:spcPts val="555"/>
                        </a:spcBef>
                      </a:pPr>
                      <a:r>
                        <a:rPr dirty="0" sz="1300" spc="-10" b="1">
                          <a:solidFill>
                            <a:srgbClr val="13203C"/>
                          </a:solidFill>
                          <a:latin typeface="Arial"/>
                          <a:cs typeface="Arial"/>
                        </a:rPr>
                        <a:t>pyplot</a:t>
                      </a:r>
                      <a:endParaRPr sz="1300">
                        <a:latin typeface="Arial"/>
                        <a:cs typeface="Arial"/>
                      </a:endParaRPr>
                    </a:p>
                  </a:txBody>
                  <a:tcPr marL="0" marR="0" marB="0" marT="70485">
                    <a:lnL w="12700">
                      <a:solidFill>
                        <a:srgbClr val="BDC0C3"/>
                      </a:solidFill>
                      <a:prstDash val="solid"/>
                    </a:lnL>
                    <a:lnR w="12700">
                      <a:solidFill>
                        <a:srgbClr val="BDC0C3"/>
                      </a:solidFill>
                      <a:prstDash val="solid"/>
                    </a:lnR>
                    <a:lnT w="12700">
                      <a:solidFill>
                        <a:srgbClr val="C7C7C5"/>
                      </a:solidFill>
                      <a:prstDash val="solid"/>
                    </a:lnT>
                    <a:lnB w="12700">
                      <a:solidFill>
                        <a:srgbClr val="BDC0C3"/>
                      </a:solidFill>
                      <a:prstDash val="solid"/>
                    </a:lnB>
                    <a:solidFill>
                      <a:srgbClr val="EDF0F5"/>
                    </a:solidFill>
                  </a:tcPr>
                </a:tc>
                <a:tc>
                  <a:txBody>
                    <a:bodyPr/>
                    <a:lstStyle/>
                    <a:p>
                      <a:pPr marL="64135">
                        <a:lnSpc>
                          <a:spcPct val="100000"/>
                        </a:lnSpc>
                        <a:spcBef>
                          <a:spcPts val="555"/>
                        </a:spcBef>
                      </a:pPr>
                      <a:r>
                        <a:rPr dirty="0" sz="1300" spc="-10" b="1">
                          <a:solidFill>
                            <a:srgbClr val="13203C"/>
                          </a:solidFill>
                          <a:latin typeface="Arial"/>
                          <a:cs typeface="Arial"/>
                        </a:rPr>
                        <a:t>pandas</a:t>
                      </a:r>
                      <a:endParaRPr sz="1300">
                        <a:latin typeface="Arial"/>
                        <a:cs typeface="Arial"/>
                      </a:endParaRPr>
                    </a:p>
                  </a:txBody>
                  <a:tcPr marL="0" marR="0" marB="0" marT="70485">
                    <a:lnL w="12700">
                      <a:solidFill>
                        <a:srgbClr val="BDC0C3"/>
                      </a:solidFill>
                      <a:prstDash val="solid"/>
                    </a:lnL>
                    <a:lnR w="12700">
                      <a:solidFill>
                        <a:srgbClr val="BDC0C3"/>
                      </a:solidFill>
                      <a:prstDash val="solid"/>
                    </a:lnR>
                    <a:lnT w="12700">
                      <a:solidFill>
                        <a:srgbClr val="C7C7C5"/>
                      </a:solidFill>
                      <a:prstDash val="solid"/>
                    </a:lnT>
                    <a:lnB w="12700">
                      <a:solidFill>
                        <a:srgbClr val="BDC0C3"/>
                      </a:solidFill>
                      <a:prstDash val="solid"/>
                    </a:lnB>
                    <a:solidFill>
                      <a:srgbClr val="EDF0F5"/>
                    </a:solidFill>
                  </a:tcPr>
                </a:tc>
              </a:tr>
              <a:tr h="356870">
                <a:tc>
                  <a:txBody>
                    <a:bodyPr/>
                    <a:lstStyle/>
                    <a:p>
                      <a:pPr marL="62230">
                        <a:lnSpc>
                          <a:spcPct val="100000"/>
                        </a:lnSpc>
                        <a:spcBef>
                          <a:spcPts val="560"/>
                        </a:spcBef>
                      </a:pPr>
                      <a:r>
                        <a:rPr dirty="0" sz="1300" spc="-20">
                          <a:solidFill>
                            <a:srgbClr val="13203C"/>
                          </a:solidFill>
                          <a:latin typeface="Arial"/>
                          <a:cs typeface="Arial"/>
                        </a:rPr>
                        <a:t>Line</a:t>
                      </a:r>
                      <a:endParaRPr sz="1300">
                        <a:latin typeface="Arial"/>
                        <a:cs typeface="Arial"/>
                      </a:endParaRPr>
                    </a:p>
                  </a:txBody>
                  <a:tcPr marL="0" marR="0" marB="0" marT="71120">
                    <a:lnL w="12700">
                      <a:solidFill>
                        <a:srgbClr val="C7C7C5"/>
                      </a:solidFill>
                      <a:prstDash val="solid"/>
                    </a:lnL>
                    <a:lnR w="12700">
                      <a:solidFill>
                        <a:srgbClr val="C7C7C5"/>
                      </a:solidFill>
                      <a:prstDash val="solid"/>
                    </a:lnR>
                    <a:lnT w="12700">
                      <a:solidFill>
                        <a:srgbClr val="BDC0C3"/>
                      </a:solidFill>
                      <a:prstDash val="solid"/>
                    </a:lnT>
                    <a:lnB w="12700">
                      <a:solidFill>
                        <a:srgbClr val="C7C7C5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00">
                        <a:lnSpc>
                          <a:spcPct val="100000"/>
                        </a:lnSpc>
                        <a:spcBef>
                          <a:spcPts val="560"/>
                        </a:spcBef>
                      </a:pPr>
                      <a:r>
                        <a:rPr dirty="0" sz="1300" spc="-10">
                          <a:solidFill>
                            <a:srgbClr val="13203C"/>
                          </a:solidFill>
                          <a:latin typeface="Arial"/>
                          <a:cs typeface="Arial"/>
                        </a:rPr>
                        <a:t>plt.plot</a:t>
                      </a:r>
                      <a:endParaRPr sz="1300">
                        <a:latin typeface="Arial"/>
                        <a:cs typeface="Arial"/>
                      </a:endParaRPr>
                    </a:p>
                  </a:txBody>
                  <a:tcPr marL="0" marR="0" marB="0" marT="71120">
                    <a:lnL w="12700">
                      <a:solidFill>
                        <a:srgbClr val="C7C7C5"/>
                      </a:solidFill>
                      <a:prstDash val="solid"/>
                    </a:lnL>
                    <a:lnR w="12700">
                      <a:solidFill>
                        <a:srgbClr val="C7C7C5"/>
                      </a:solidFill>
                      <a:prstDash val="solid"/>
                    </a:lnR>
                    <a:lnT w="12700">
                      <a:solidFill>
                        <a:srgbClr val="BDC0C3"/>
                      </a:solidFill>
                      <a:prstDash val="solid"/>
                    </a:lnT>
                    <a:lnB w="12700">
                      <a:solidFill>
                        <a:srgbClr val="C7C7C5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4135">
                        <a:lnSpc>
                          <a:spcPct val="100000"/>
                        </a:lnSpc>
                        <a:spcBef>
                          <a:spcPts val="560"/>
                        </a:spcBef>
                      </a:pPr>
                      <a:r>
                        <a:rPr dirty="0" sz="1300" spc="-10">
                          <a:solidFill>
                            <a:srgbClr val="13203C"/>
                          </a:solidFill>
                          <a:latin typeface="Arial"/>
                          <a:cs typeface="Arial"/>
                        </a:rPr>
                        <a:t>kind='line'</a:t>
                      </a:r>
                      <a:endParaRPr sz="1300">
                        <a:latin typeface="Arial"/>
                        <a:cs typeface="Arial"/>
                      </a:endParaRPr>
                    </a:p>
                  </a:txBody>
                  <a:tcPr marL="0" marR="0" marB="0" marT="71120">
                    <a:lnL w="12700">
                      <a:solidFill>
                        <a:srgbClr val="C7C7C5"/>
                      </a:solidFill>
                      <a:prstDash val="solid"/>
                    </a:lnL>
                    <a:lnR w="12700">
                      <a:solidFill>
                        <a:srgbClr val="C7C7C5"/>
                      </a:solidFill>
                      <a:prstDash val="solid"/>
                    </a:lnR>
                    <a:lnT w="12700">
                      <a:solidFill>
                        <a:srgbClr val="BDC0C3"/>
                      </a:solidFill>
                      <a:prstDash val="solid"/>
                    </a:lnT>
                    <a:lnB w="12700">
                      <a:solidFill>
                        <a:srgbClr val="C7C7C5"/>
                      </a:solidFill>
                      <a:prstDash val="solid"/>
                    </a:lnB>
                  </a:tcPr>
                </a:tc>
              </a:tr>
              <a:tr h="356870">
                <a:tc>
                  <a:txBody>
                    <a:bodyPr/>
                    <a:lstStyle/>
                    <a:p>
                      <a:pPr marL="62230">
                        <a:lnSpc>
                          <a:spcPct val="100000"/>
                        </a:lnSpc>
                        <a:spcBef>
                          <a:spcPts val="565"/>
                        </a:spcBef>
                      </a:pPr>
                      <a:r>
                        <a:rPr dirty="0" sz="1300" spc="-25">
                          <a:solidFill>
                            <a:srgbClr val="13203C"/>
                          </a:solidFill>
                          <a:latin typeface="Arial"/>
                          <a:cs typeface="Arial"/>
                        </a:rPr>
                        <a:t>Bar</a:t>
                      </a:r>
                      <a:endParaRPr sz="1300">
                        <a:latin typeface="Arial"/>
                        <a:cs typeface="Arial"/>
                      </a:endParaRPr>
                    </a:p>
                  </a:txBody>
                  <a:tcPr marL="0" marR="0" marB="0" marT="71755">
                    <a:lnL w="12700">
                      <a:solidFill>
                        <a:srgbClr val="C7C7C5"/>
                      </a:solidFill>
                      <a:prstDash val="solid"/>
                    </a:lnL>
                    <a:lnR w="12700">
                      <a:solidFill>
                        <a:srgbClr val="C7C7C5"/>
                      </a:solidFill>
                      <a:prstDash val="solid"/>
                    </a:lnR>
                    <a:lnT w="12700">
                      <a:solidFill>
                        <a:srgbClr val="C7C7C5"/>
                      </a:solidFill>
                      <a:prstDash val="solid"/>
                    </a:lnT>
                    <a:lnB w="12700">
                      <a:solidFill>
                        <a:srgbClr val="C7C7C5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00">
                        <a:lnSpc>
                          <a:spcPct val="100000"/>
                        </a:lnSpc>
                        <a:spcBef>
                          <a:spcPts val="565"/>
                        </a:spcBef>
                      </a:pPr>
                      <a:r>
                        <a:rPr dirty="0" sz="1300" spc="-10">
                          <a:solidFill>
                            <a:srgbClr val="13203C"/>
                          </a:solidFill>
                          <a:latin typeface="Arial"/>
                          <a:cs typeface="Arial"/>
                        </a:rPr>
                        <a:t>plt.bar</a:t>
                      </a:r>
                      <a:endParaRPr sz="1300">
                        <a:latin typeface="Arial"/>
                        <a:cs typeface="Arial"/>
                      </a:endParaRPr>
                    </a:p>
                  </a:txBody>
                  <a:tcPr marL="0" marR="0" marB="0" marT="71755">
                    <a:lnL w="12700">
                      <a:solidFill>
                        <a:srgbClr val="C7C7C5"/>
                      </a:solidFill>
                      <a:prstDash val="solid"/>
                    </a:lnL>
                    <a:lnR w="12700">
                      <a:solidFill>
                        <a:srgbClr val="C7C7C5"/>
                      </a:solidFill>
                      <a:prstDash val="solid"/>
                    </a:lnR>
                    <a:lnT w="12700">
                      <a:solidFill>
                        <a:srgbClr val="C7C7C5"/>
                      </a:solidFill>
                      <a:prstDash val="solid"/>
                    </a:lnT>
                    <a:lnB w="12700">
                      <a:solidFill>
                        <a:srgbClr val="C7C7C5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4135">
                        <a:lnSpc>
                          <a:spcPct val="100000"/>
                        </a:lnSpc>
                        <a:spcBef>
                          <a:spcPts val="565"/>
                        </a:spcBef>
                      </a:pPr>
                      <a:r>
                        <a:rPr dirty="0" sz="1300" spc="-10">
                          <a:solidFill>
                            <a:srgbClr val="13203C"/>
                          </a:solidFill>
                          <a:latin typeface="Arial"/>
                          <a:cs typeface="Arial"/>
                        </a:rPr>
                        <a:t>kind='bar'</a:t>
                      </a:r>
                      <a:endParaRPr sz="1300">
                        <a:latin typeface="Arial"/>
                        <a:cs typeface="Arial"/>
                      </a:endParaRPr>
                    </a:p>
                  </a:txBody>
                  <a:tcPr marL="0" marR="0" marB="0" marT="71755">
                    <a:lnL w="12700">
                      <a:solidFill>
                        <a:srgbClr val="C7C7C5"/>
                      </a:solidFill>
                      <a:prstDash val="solid"/>
                    </a:lnL>
                    <a:lnR w="12700">
                      <a:solidFill>
                        <a:srgbClr val="C7C7C5"/>
                      </a:solidFill>
                      <a:prstDash val="solid"/>
                    </a:lnR>
                    <a:lnT w="12700">
                      <a:solidFill>
                        <a:srgbClr val="C7C7C5"/>
                      </a:solidFill>
                      <a:prstDash val="solid"/>
                    </a:lnT>
                    <a:lnB w="12700">
                      <a:solidFill>
                        <a:srgbClr val="C7C7C5"/>
                      </a:solidFill>
                      <a:prstDash val="solid"/>
                    </a:lnB>
                  </a:tcPr>
                </a:tc>
              </a:tr>
              <a:tr h="356870">
                <a:tc>
                  <a:txBody>
                    <a:bodyPr/>
                    <a:lstStyle/>
                    <a:p>
                      <a:pPr marL="62230">
                        <a:lnSpc>
                          <a:spcPct val="100000"/>
                        </a:lnSpc>
                        <a:spcBef>
                          <a:spcPts val="570"/>
                        </a:spcBef>
                      </a:pPr>
                      <a:r>
                        <a:rPr dirty="0" sz="1300" spc="-25">
                          <a:solidFill>
                            <a:srgbClr val="13203C"/>
                          </a:solidFill>
                          <a:latin typeface="Arial"/>
                          <a:cs typeface="Arial"/>
                        </a:rPr>
                        <a:t>Pie</a:t>
                      </a:r>
                      <a:endParaRPr sz="1300">
                        <a:latin typeface="Arial"/>
                        <a:cs typeface="Arial"/>
                      </a:endParaRPr>
                    </a:p>
                  </a:txBody>
                  <a:tcPr marL="0" marR="0" marB="0" marT="72390">
                    <a:lnL w="12700">
                      <a:solidFill>
                        <a:srgbClr val="C7C7C5"/>
                      </a:solidFill>
                      <a:prstDash val="solid"/>
                    </a:lnL>
                    <a:lnR w="12700">
                      <a:solidFill>
                        <a:srgbClr val="C7C7C5"/>
                      </a:solidFill>
                      <a:prstDash val="solid"/>
                    </a:lnR>
                    <a:lnT w="12700">
                      <a:solidFill>
                        <a:srgbClr val="C7C7C5"/>
                      </a:solidFill>
                      <a:prstDash val="solid"/>
                    </a:lnT>
                    <a:lnB w="12700">
                      <a:solidFill>
                        <a:srgbClr val="C7C7C5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00">
                        <a:lnSpc>
                          <a:spcPct val="100000"/>
                        </a:lnSpc>
                        <a:spcBef>
                          <a:spcPts val="570"/>
                        </a:spcBef>
                      </a:pPr>
                      <a:r>
                        <a:rPr dirty="0" sz="1300" spc="-10">
                          <a:solidFill>
                            <a:srgbClr val="13203C"/>
                          </a:solidFill>
                          <a:latin typeface="Arial"/>
                          <a:cs typeface="Arial"/>
                        </a:rPr>
                        <a:t>plt.pie</a:t>
                      </a:r>
                      <a:endParaRPr sz="1300">
                        <a:latin typeface="Arial"/>
                        <a:cs typeface="Arial"/>
                      </a:endParaRPr>
                    </a:p>
                  </a:txBody>
                  <a:tcPr marL="0" marR="0" marB="0" marT="72390">
                    <a:lnL w="12700">
                      <a:solidFill>
                        <a:srgbClr val="C7C7C5"/>
                      </a:solidFill>
                      <a:prstDash val="solid"/>
                    </a:lnL>
                    <a:lnR w="12700">
                      <a:solidFill>
                        <a:srgbClr val="C7C7C5"/>
                      </a:solidFill>
                      <a:prstDash val="solid"/>
                    </a:lnR>
                    <a:lnT w="12700">
                      <a:solidFill>
                        <a:srgbClr val="C7C7C5"/>
                      </a:solidFill>
                      <a:prstDash val="solid"/>
                    </a:lnT>
                    <a:lnB w="12700">
                      <a:solidFill>
                        <a:srgbClr val="C7C7C5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4135">
                        <a:lnSpc>
                          <a:spcPct val="100000"/>
                        </a:lnSpc>
                        <a:spcBef>
                          <a:spcPts val="570"/>
                        </a:spcBef>
                      </a:pPr>
                      <a:r>
                        <a:rPr dirty="0" sz="1300" spc="-10">
                          <a:solidFill>
                            <a:srgbClr val="13203C"/>
                          </a:solidFill>
                          <a:latin typeface="Arial"/>
                          <a:cs typeface="Arial"/>
                        </a:rPr>
                        <a:t>kind='pie'</a:t>
                      </a:r>
                      <a:endParaRPr sz="1300">
                        <a:latin typeface="Arial"/>
                        <a:cs typeface="Arial"/>
                      </a:endParaRPr>
                    </a:p>
                  </a:txBody>
                  <a:tcPr marL="0" marR="0" marB="0" marT="72390">
                    <a:lnL w="12700">
                      <a:solidFill>
                        <a:srgbClr val="C7C7C5"/>
                      </a:solidFill>
                      <a:prstDash val="solid"/>
                    </a:lnL>
                    <a:lnR w="12700">
                      <a:solidFill>
                        <a:srgbClr val="C7C7C5"/>
                      </a:solidFill>
                      <a:prstDash val="solid"/>
                    </a:lnR>
                    <a:lnT w="12700">
                      <a:solidFill>
                        <a:srgbClr val="C7C7C5"/>
                      </a:solidFill>
                      <a:prstDash val="solid"/>
                    </a:lnT>
                    <a:lnB w="12700">
                      <a:solidFill>
                        <a:srgbClr val="C7C7C5"/>
                      </a:solidFill>
                      <a:prstDash val="solid"/>
                    </a:lnB>
                  </a:tcPr>
                </a:tc>
              </a:tr>
              <a:tr h="356870">
                <a:tc>
                  <a:txBody>
                    <a:bodyPr/>
                    <a:lstStyle/>
                    <a:p>
                      <a:pPr marL="62230">
                        <a:lnSpc>
                          <a:spcPct val="100000"/>
                        </a:lnSpc>
                        <a:spcBef>
                          <a:spcPts val="570"/>
                        </a:spcBef>
                      </a:pPr>
                      <a:r>
                        <a:rPr dirty="0" sz="1300" spc="-25">
                          <a:solidFill>
                            <a:srgbClr val="13203C"/>
                          </a:solidFill>
                          <a:latin typeface="Arial"/>
                          <a:cs typeface="Arial"/>
                        </a:rPr>
                        <a:t>Box</a:t>
                      </a:r>
                      <a:endParaRPr sz="1300">
                        <a:latin typeface="Arial"/>
                        <a:cs typeface="Arial"/>
                      </a:endParaRPr>
                    </a:p>
                  </a:txBody>
                  <a:tcPr marL="0" marR="0" marB="0" marT="72390">
                    <a:lnL w="12700">
                      <a:solidFill>
                        <a:srgbClr val="C7C7C5"/>
                      </a:solidFill>
                      <a:prstDash val="solid"/>
                    </a:lnL>
                    <a:lnR w="12700">
                      <a:solidFill>
                        <a:srgbClr val="C7C7C5"/>
                      </a:solidFill>
                      <a:prstDash val="solid"/>
                    </a:lnR>
                    <a:lnT w="12700">
                      <a:solidFill>
                        <a:srgbClr val="C7C7C5"/>
                      </a:solidFill>
                      <a:prstDash val="solid"/>
                    </a:lnT>
                    <a:lnB w="12700">
                      <a:solidFill>
                        <a:srgbClr val="C7C7C5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00">
                        <a:lnSpc>
                          <a:spcPct val="100000"/>
                        </a:lnSpc>
                        <a:spcBef>
                          <a:spcPts val="570"/>
                        </a:spcBef>
                      </a:pPr>
                      <a:r>
                        <a:rPr dirty="0" sz="1300" spc="-10">
                          <a:solidFill>
                            <a:srgbClr val="13203C"/>
                          </a:solidFill>
                          <a:latin typeface="Arial"/>
                          <a:cs typeface="Arial"/>
                        </a:rPr>
                        <a:t>plt.boxplot</a:t>
                      </a:r>
                      <a:endParaRPr sz="1300">
                        <a:latin typeface="Arial"/>
                        <a:cs typeface="Arial"/>
                      </a:endParaRPr>
                    </a:p>
                  </a:txBody>
                  <a:tcPr marL="0" marR="0" marB="0" marT="72390">
                    <a:lnL w="12700">
                      <a:solidFill>
                        <a:srgbClr val="C7C7C5"/>
                      </a:solidFill>
                      <a:prstDash val="solid"/>
                    </a:lnL>
                    <a:lnR w="12700">
                      <a:solidFill>
                        <a:srgbClr val="C7C7C5"/>
                      </a:solidFill>
                      <a:prstDash val="solid"/>
                    </a:lnR>
                    <a:lnT w="12700">
                      <a:solidFill>
                        <a:srgbClr val="C7C7C5"/>
                      </a:solidFill>
                      <a:prstDash val="solid"/>
                    </a:lnT>
                    <a:lnB w="12700">
                      <a:solidFill>
                        <a:srgbClr val="C7C7C5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4135">
                        <a:lnSpc>
                          <a:spcPct val="100000"/>
                        </a:lnSpc>
                        <a:spcBef>
                          <a:spcPts val="570"/>
                        </a:spcBef>
                      </a:pPr>
                      <a:r>
                        <a:rPr dirty="0" sz="1300" spc="-10">
                          <a:solidFill>
                            <a:srgbClr val="13203C"/>
                          </a:solidFill>
                          <a:latin typeface="Arial"/>
                          <a:cs typeface="Arial"/>
                        </a:rPr>
                        <a:t>kind='box'</a:t>
                      </a:r>
                      <a:endParaRPr sz="1300">
                        <a:latin typeface="Arial"/>
                        <a:cs typeface="Arial"/>
                      </a:endParaRPr>
                    </a:p>
                  </a:txBody>
                  <a:tcPr marL="0" marR="0" marB="0" marT="72390">
                    <a:lnL w="12700">
                      <a:solidFill>
                        <a:srgbClr val="C7C7C5"/>
                      </a:solidFill>
                      <a:prstDash val="solid"/>
                    </a:lnL>
                    <a:lnR w="12700">
                      <a:solidFill>
                        <a:srgbClr val="C7C7C5"/>
                      </a:solidFill>
                      <a:prstDash val="solid"/>
                    </a:lnR>
                    <a:lnT w="12700">
                      <a:solidFill>
                        <a:srgbClr val="C7C7C5"/>
                      </a:solidFill>
                      <a:prstDash val="solid"/>
                    </a:lnT>
                    <a:lnB w="12700">
                      <a:solidFill>
                        <a:srgbClr val="C7C7C5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4" name="object 14"/>
          <p:cNvSpPr txBox="1"/>
          <p:nvPr/>
        </p:nvSpPr>
        <p:spPr>
          <a:xfrm>
            <a:off x="6574408" y="4436326"/>
            <a:ext cx="3985260" cy="483234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15500"/>
              </a:lnSpc>
              <a:spcBef>
                <a:spcPts val="100"/>
              </a:spcBef>
            </a:pPr>
            <a:r>
              <a:rPr dirty="0" sz="1300">
                <a:solidFill>
                  <a:srgbClr val="3C495C"/>
                </a:solidFill>
                <a:latin typeface="Arial"/>
                <a:cs typeface="Arial"/>
              </a:rPr>
              <a:t>pandas</a:t>
            </a:r>
            <a:r>
              <a:rPr dirty="0" sz="1300" spc="20">
                <a:solidFill>
                  <a:srgbClr val="3C495C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3C495C"/>
                </a:solidFill>
                <a:latin typeface="Arial"/>
                <a:cs typeface="Arial"/>
              </a:rPr>
              <a:t>calls</a:t>
            </a:r>
            <a:r>
              <a:rPr dirty="0" sz="1300" spc="25">
                <a:solidFill>
                  <a:srgbClr val="3C495C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3C495C"/>
                </a:solidFill>
                <a:latin typeface="Arial"/>
                <a:cs typeface="Arial"/>
              </a:rPr>
              <a:t>pyplot</a:t>
            </a:r>
            <a:r>
              <a:rPr dirty="0" sz="1300" spc="60">
                <a:solidFill>
                  <a:srgbClr val="3C495C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3C495C"/>
                </a:solidFill>
                <a:latin typeface="Arial"/>
                <a:cs typeface="Arial"/>
              </a:rPr>
              <a:t>for</a:t>
            </a:r>
            <a:r>
              <a:rPr dirty="0" sz="1300" spc="35">
                <a:solidFill>
                  <a:srgbClr val="3C495C"/>
                </a:solidFill>
                <a:latin typeface="Arial"/>
                <a:cs typeface="Arial"/>
              </a:rPr>
              <a:t> </a:t>
            </a:r>
            <a:r>
              <a:rPr dirty="0" sz="1300" spc="-10">
                <a:solidFill>
                  <a:srgbClr val="3C495C"/>
                </a:solidFill>
                <a:latin typeface="Arial"/>
                <a:cs typeface="Arial"/>
              </a:rPr>
              <a:t>you,</a:t>
            </a:r>
            <a:r>
              <a:rPr dirty="0" sz="1300" spc="10">
                <a:solidFill>
                  <a:srgbClr val="3C495C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3C495C"/>
                </a:solidFill>
                <a:latin typeface="Arial"/>
                <a:cs typeface="Arial"/>
              </a:rPr>
              <a:t>so</a:t>
            </a:r>
            <a:r>
              <a:rPr dirty="0" sz="1300" spc="80">
                <a:solidFill>
                  <a:srgbClr val="3C495C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3C495C"/>
                </a:solidFill>
                <a:latin typeface="Arial"/>
                <a:cs typeface="Arial"/>
              </a:rPr>
              <a:t>plt.title()</a:t>
            </a:r>
            <a:r>
              <a:rPr dirty="0" sz="1300" spc="90">
                <a:solidFill>
                  <a:srgbClr val="3C495C"/>
                </a:solidFill>
                <a:latin typeface="Arial"/>
                <a:cs typeface="Arial"/>
              </a:rPr>
              <a:t> </a:t>
            </a:r>
            <a:r>
              <a:rPr dirty="0" sz="1300" spc="-10">
                <a:solidFill>
                  <a:srgbClr val="3C495C"/>
                </a:solidFill>
                <a:latin typeface="Arial"/>
                <a:cs typeface="Arial"/>
              </a:rPr>
              <a:t>and</a:t>
            </a:r>
            <a:r>
              <a:rPr dirty="0" sz="1300" spc="-40">
                <a:solidFill>
                  <a:srgbClr val="3C495C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3C495C"/>
                </a:solidFill>
                <a:latin typeface="Arial"/>
                <a:cs typeface="Arial"/>
              </a:rPr>
              <a:t>the</a:t>
            </a:r>
            <a:r>
              <a:rPr dirty="0" sz="1300" spc="10">
                <a:solidFill>
                  <a:srgbClr val="3C495C"/>
                </a:solidFill>
                <a:latin typeface="Arial"/>
                <a:cs typeface="Arial"/>
              </a:rPr>
              <a:t> </a:t>
            </a:r>
            <a:r>
              <a:rPr dirty="0" sz="1300" spc="-10">
                <a:solidFill>
                  <a:srgbClr val="3C495C"/>
                </a:solidFill>
                <a:latin typeface="Arial"/>
                <a:cs typeface="Arial"/>
              </a:rPr>
              <a:t>other </a:t>
            </a:r>
            <a:r>
              <a:rPr dirty="0" sz="1300">
                <a:solidFill>
                  <a:srgbClr val="3C495C"/>
                </a:solidFill>
                <a:latin typeface="Arial"/>
                <a:cs typeface="Arial"/>
              </a:rPr>
              <a:t>functions</a:t>
            </a:r>
            <a:r>
              <a:rPr dirty="0" sz="1300" spc="20">
                <a:solidFill>
                  <a:srgbClr val="3C495C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3C495C"/>
                </a:solidFill>
                <a:latin typeface="Arial"/>
                <a:cs typeface="Arial"/>
              </a:rPr>
              <a:t>coming</a:t>
            </a:r>
            <a:r>
              <a:rPr dirty="0" sz="1300" spc="35">
                <a:solidFill>
                  <a:srgbClr val="3C495C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3C495C"/>
                </a:solidFill>
                <a:latin typeface="Arial"/>
                <a:cs typeface="Arial"/>
              </a:rPr>
              <a:t>up</a:t>
            </a:r>
            <a:r>
              <a:rPr dirty="0" sz="1300" spc="-40">
                <a:solidFill>
                  <a:srgbClr val="3C495C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3C495C"/>
                </a:solidFill>
                <a:latin typeface="Arial"/>
                <a:cs typeface="Arial"/>
              </a:rPr>
              <a:t>work</a:t>
            </a:r>
            <a:r>
              <a:rPr dirty="0" sz="1300" spc="45">
                <a:solidFill>
                  <a:srgbClr val="3C495C"/>
                </a:solidFill>
                <a:latin typeface="Arial"/>
                <a:cs typeface="Arial"/>
              </a:rPr>
              <a:t> </a:t>
            </a:r>
            <a:r>
              <a:rPr dirty="0" sz="1300" spc="-10">
                <a:solidFill>
                  <a:srgbClr val="3C495C"/>
                </a:solidFill>
                <a:latin typeface="Arial"/>
                <a:cs typeface="Arial"/>
              </a:rPr>
              <a:t>on</a:t>
            </a:r>
            <a:r>
              <a:rPr dirty="0" sz="1300" spc="-25">
                <a:solidFill>
                  <a:srgbClr val="3C495C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3C495C"/>
                </a:solidFill>
                <a:latin typeface="Arial"/>
                <a:cs typeface="Arial"/>
              </a:rPr>
              <a:t>pandas</a:t>
            </a:r>
            <a:r>
              <a:rPr dirty="0" sz="1300" spc="20">
                <a:solidFill>
                  <a:srgbClr val="3C495C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3C495C"/>
                </a:solidFill>
                <a:latin typeface="Arial"/>
                <a:cs typeface="Arial"/>
              </a:rPr>
              <a:t>plots</a:t>
            </a:r>
            <a:r>
              <a:rPr dirty="0" sz="1300" spc="20">
                <a:solidFill>
                  <a:srgbClr val="3C495C"/>
                </a:solidFill>
                <a:latin typeface="Arial"/>
                <a:cs typeface="Arial"/>
              </a:rPr>
              <a:t> </a:t>
            </a:r>
            <a:r>
              <a:rPr dirty="0" sz="1300" spc="-20">
                <a:solidFill>
                  <a:srgbClr val="3C495C"/>
                </a:solidFill>
                <a:latin typeface="Arial"/>
                <a:cs typeface="Arial"/>
              </a:rPr>
              <a:t>too.</a:t>
            </a:r>
            <a:endParaRPr sz="13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800480" y="819721"/>
            <a:ext cx="2087880" cy="234315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1350" spc="65" b="1">
                <a:solidFill>
                  <a:srgbClr val="B45209"/>
                </a:solidFill>
                <a:latin typeface="Arial"/>
                <a:cs typeface="Arial"/>
              </a:rPr>
              <a:t>0</a:t>
            </a:r>
            <a:r>
              <a:rPr dirty="0" sz="1350" spc="-185" b="1">
                <a:solidFill>
                  <a:srgbClr val="B45209"/>
                </a:solidFill>
                <a:latin typeface="Arial"/>
                <a:cs typeface="Arial"/>
              </a:rPr>
              <a:t> </a:t>
            </a:r>
            <a:r>
              <a:rPr dirty="0" sz="1350" spc="65" b="1">
                <a:solidFill>
                  <a:srgbClr val="B45209"/>
                </a:solidFill>
                <a:latin typeface="Arial"/>
                <a:cs typeface="Arial"/>
              </a:rPr>
              <a:t>5</a:t>
            </a:r>
            <a:r>
              <a:rPr dirty="0" sz="1350" spc="270" b="1">
                <a:solidFill>
                  <a:srgbClr val="B45209"/>
                </a:solidFill>
                <a:latin typeface="Arial"/>
                <a:cs typeface="Arial"/>
              </a:rPr>
              <a:t> </a:t>
            </a:r>
            <a:r>
              <a:rPr dirty="0" sz="1350" b="1">
                <a:solidFill>
                  <a:srgbClr val="B45209"/>
                </a:solidFill>
                <a:latin typeface="Arial"/>
                <a:cs typeface="Arial"/>
              </a:rPr>
              <a:t>·</a:t>
            </a:r>
            <a:r>
              <a:rPr dirty="0" sz="1350" spc="320" b="1">
                <a:solidFill>
                  <a:srgbClr val="B45209"/>
                </a:solidFill>
                <a:latin typeface="Arial"/>
                <a:cs typeface="Arial"/>
              </a:rPr>
              <a:t> </a:t>
            </a:r>
            <a:r>
              <a:rPr dirty="0" sz="1350" spc="145" b="1">
                <a:solidFill>
                  <a:srgbClr val="B45209"/>
                </a:solidFill>
                <a:latin typeface="Arial"/>
                <a:cs typeface="Arial"/>
              </a:rPr>
              <a:t>VISU</a:t>
            </a:r>
            <a:r>
              <a:rPr dirty="0" sz="1350" spc="-165" b="1">
                <a:solidFill>
                  <a:srgbClr val="B45209"/>
                </a:solidFill>
                <a:latin typeface="Arial"/>
                <a:cs typeface="Arial"/>
              </a:rPr>
              <a:t> </a:t>
            </a:r>
            <a:r>
              <a:rPr dirty="0" sz="1350" spc="135" b="1">
                <a:solidFill>
                  <a:srgbClr val="B45209"/>
                </a:solidFill>
                <a:latin typeface="Arial"/>
                <a:cs typeface="Arial"/>
              </a:rPr>
              <a:t>ALIZ</a:t>
            </a:r>
            <a:r>
              <a:rPr dirty="0" sz="1350" spc="-190" b="1">
                <a:solidFill>
                  <a:srgbClr val="B45209"/>
                </a:solidFill>
                <a:latin typeface="Arial"/>
                <a:cs typeface="Arial"/>
              </a:rPr>
              <a:t> </a:t>
            </a:r>
            <a:r>
              <a:rPr dirty="0" sz="1350" b="1">
                <a:solidFill>
                  <a:srgbClr val="B45209"/>
                </a:solidFill>
                <a:latin typeface="Arial"/>
                <a:cs typeface="Arial"/>
              </a:rPr>
              <a:t>AT</a:t>
            </a:r>
            <a:r>
              <a:rPr dirty="0" sz="1350" spc="-160" b="1">
                <a:solidFill>
                  <a:srgbClr val="B45209"/>
                </a:solidFill>
                <a:latin typeface="Arial"/>
                <a:cs typeface="Arial"/>
              </a:rPr>
              <a:t> </a:t>
            </a:r>
            <a:r>
              <a:rPr dirty="0" sz="1350" spc="130" b="1">
                <a:solidFill>
                  <a:srgbClr val="B45209"/>
                </a:solidFill>
                <a:latin typeface="Arial"/>
                <a:cs typeface="Arial"/>
              </a:rPr>
              <a:t>IO</a:t>
            </a:r>
            <a:r>
              <a:rPr dirty="0" sz="1350" spc="-195" b="1">
                <a:solidFill>
                  <a:srgbClr val="B45209"/>
                </a:solidFill>
                <a:latin typeface="Arial"/>
                <a:cs typeface="Arial"/>
              </a:rPr>
              <a:t> </a:t>
            </a:r>
            <a:r>
              <a:rPr dirty="0" sz="1350" spc="-50" b="1">
                <a:solidFill>
                  <a:srgbClr val="B45209"/>
                </a:solidFill>
                <a:latin typeface="Arial"/>
                <a:cs typeface="Arial"/>
              </a:rPr>
              <a:t>N</a:t>
            </a:r>
            <a:endParaRPr sz="1350">
              <a:latin typeface="Arial"/>
              <a:cs typeface="Arial"/>
            </a:endParaRPr>
          </a:p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/>
              <a:t>A</a:t>
            </a:r>
            <a:r>
              <a:rPr dirty="0" spc="-145"/>
              <a:t> </a:t>
            </a:r>
            <a:r>
              <a:rPr dirty="0"/>
              <a:t>line</a:t>
            </a:r>
            <a:r>
              <a:rPr dirty="0" spc="-165"/>
              <a:t> </a:t>
            </a:r>
            <a:r>
              <a:rPr dirty="0"/>
              <a:t>graph</a:t>
            </a:r>
            <a:r>
              <a:rPr dirty="0" spc="-135"/>
              <a:t> </a:t>
            </a:r>
            <a:r>
              <a:rPr dirty="0" spc="-50"/>
              <a:t>connects</a:t>
            </a:r>
            <a:r>
              <a:rPr dirty="0" spc="-165"/>
              <a:t> </a:t>
            </a:r>
            <a:r>
              <a:rPr dirty="0"/>
              <a:t>points</a:t>
            </a:r>
            <a:r>
              <a:rPr dirty="0" spc="-125"/>
              <a:t> </a:t>
            </a:r>
            <a:r>
              <a:rPr dirty="0"/>
              <a:t>in</a:t>
            </a:r>
            <a:r>
              <a:rPr dirty="0" spc="-135"/>
              <a:t> </a:t>
            </a:r>
            <a:r>
              <a:rPr dirty="0" spc="-10"/>
              <a:t>order</a:t>
            </a:r>
          </a:p>
        </p:txBody>
      </p:sp>
      <p:sp>
        <p:nvSpPr>
          <p:cNvPr id="4" name="object 4"/>
          <p:cNvSpPr/>
          <p:nvPr/>
        </p:nvSpPr>
        <p:spPr>
          <a:xfrm>
            <a:off x="813816" y="1911604"/>
            <a:ext cx="5431790" cy="2451735"/>
          </a:xfrm>
          <a:custGeom>
            <a:avLst/>
            <a:gdLst/>
            <a:ahLst/>
            <a:cxnLst/>
            <a:rect l="l" t="t" r="r" b="b"/>
            <a:pathLst>
              <a:path w="5431790" h="2451735">
                <a:moveTo>
                  <a:pt x="5329809" y="0"/>
                </a:moveTo>
                <a:lnTo>
                  <a:pt x="101701" y="0"/>
                </a:lnTo>
                <a:lnTo>
                  <a:pt x="62113" y="7983"/>
                </a:lnTo>
                <a:lnTo>
                  <a:pt x="29786" y="29765"/>
                </a:lnTo>
                <a:lnTo>
                  <a:pt x="7991" y="62097"/>
                </a:lnTo>
                <a:lnTo>
                  <a:pt x="0" y="101726"/>
                </a:lnTo>
                <a:lnTo>
                  <a:pt x="0" y="2349500"/>
                </a:lnTo>
                <a:lnTo>
                  <a:pt x="7991" y="2389076"/>
                </a:lnTo>
                <a:lnTo>
                  <a:pt x="29786" y="2421413"/>
                </a:lnTo>
                <a:lnTo>
                  <a:pt x="62113" y="2443226"/>
                </a:lnTo>
                <a:lnTo>
                  <a:pt x="101701" y="2451227"/>
                </a:lnTo>
                <a:lnTo>
                  <a:pt x="5329809" y="2451227"/>
                </a:lnTo>
                <a:lnTo>
                  <a:pt x="5369385" y="2443226"/>
                </a:lnTo>
                <a:lnTo>
                  <a:pt x="5401722" y="2421413"/>
                </a:lnTo>
                <a:lnTo>
                  <a:pt x="5423535" y="2389076"/>
                </a:lnTo>
                <a:lnTo>
                  <a:pt x="5431536" y="2349500"/>
                </a:lnTo>
                <a:lnTo>
                  <a:pt x="5431536" y="101726"/>
                </a:lnTo>
                <a:lnTo>
                  <a:pt x="5423534" y="62097"/>
                </a:lnTo>
                <a:lnTo>
                  <a:pt x="5401722" y="29765"/>
                </a:lnTo>
                <a:lnTo>
                  <a:pt x="5369385" y="7983"/>
                </a:lnTo>
                <a:lnTo>
                  <a:pt x="5329809" y="0"/>
                </a:lnTo>
                <a:close/>
              </a:path>
            </a:pathLst>
          </a:custGeom>
          <a:solidFill>
            <a:srgbClr val="13203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/>
          <p:nvPr/>
        </p:nvSpPr>
        <p:spPr>
          <a:xfrm>
            <a:off x="800480" y="2165794"/>
            <a:ext cx="5448300" cy="2896235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266700">
              <a:lnSpc>
                <a:spcPct val="100000"/>
              </a:lnSpc>
              <a:spcBef>
                <a:spcPts val="120"/>
              </a:spcBef>
            </a:pPr>
            <a:r>
              <a:rPr dirty="0" sz="1350">
                <a:solidFill>
                  <a:srgbClr val="F4F0EA"/>
                </a:solidFill>
                <a:latin typeface="Arial"/>
                <a:cs typeface="Arial"/>
              </a:rPr>
              <a:t>import matplotlib.pyplot </a:t>
            </a:r>
            <a:r>
              <a:rPr dirty="0" sz="1350" spc="-130">
                <a:solidFill>
                  <a:srgbClr val="F4F0EA"/>
                </a:solidFill>
                <a:latin typeface="Arial"/>
                <a:cs typeface="Arial"/>
              </a:rPr>
              <a:t>as</a:t>
            </a:r>
            <a:r>
              <a:rPr dirty="0" sz="1350">
                <a:solidFill>
                  <a:srgbClr val="F4F0EA"/>
                </a:solidFill>
                <a:latin typeface="Arial"/>
                <a:cs typeface="Arial"/>
              </a:rPr>
              <a:t> </a:t>
            </a:r>
            <a:r>
              <a:rPr dirty="0" sz="1350" spc="-25">
                <a:solidFill>
                  <a:srgbClr val="F4F0EA"/>
                </a:solidFill>
                <a:latin typeface="Arial"/>
                <a:cs typeface="Arial"/>
              </a:rPr>
              <a:t>plt</a:t>
            </a:r>
            <a:endParaRPr sz="13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225"/>
              </a:spcBef>
            </a:pPr>
            <a:endParaRPr sz="1350">
              <a:latin typeface="Arial"/>
              <a:cs typeface="Arial"/>
            </a:endParaRPr>
          </a:p>
          <a:p>
            <a:pPr marL="266700">
              <a:lnSpc>
                <a:spcPct val="100000"/>
              </a:lnSpc>
            </a:pPr>
            <a:r>
              <a:rPr dirty="0" sz="1350" spc="-60">
                <a:solidFill>
                  <a:srgbClr val="F4F0EA"/>
                </a:solidFill>
                <a:latin typeface="Arial"/>
                <a:cs typeface="Arial"/>
              </a:rPr>
              <a:t>x_coords</a:t>
            </a:r>
            <a:r>
              <a:rPr dirty="0" sz="1350" spc="-50">
                <a:solidFill>
                  <a:srgbClr val="F4F0EA"/>
                </a:solidFill>
                <a:latin typeface="Arial"/>
                <a:cs typeface="Arial"/>
              </a:rPr>
              <a:t> </a:t>
            </a:r>
            <a:r>
              <a:rPr dirty="0" sz="1350" spc="-120">
                <a:solidFill>
                  <a:srgbClr val="F4F0EA"/>
                </a:solidFill>
                <a:latin typeface="Arial"/>
                <a:cs typeface="Arial"/>
              </a:rPr>
              <a:t>=</a:t>
            </a:r>
            <a:r>
              <a:rPr dirty="0" sz="1350" spc="-55">
                <a:solidFill>
                  <a:srgbClr val="F4F0EA"/>
                </a:solidFill>
                <a:latin typeface="Arial"/>
                <a:cs typeface="Arial"/>
              </a:rPr>
              <a:t> </a:t>
            </a:r>
            <a:r>
              <a:rPr dirty="0" sz="1350">
                <a:solidFill>
                  <a:srgbClr val="F4F0EA"/>
                </a:solidFill>
                <a:latin typeface="Arial"/>
                <a:cs typeface="Arial"/>
              </a:rPr>
              <a:t>[0,</a:t>
            </a:r>
            <a:r>
              <a:rPr dirty="0" sz="1350" spc="-95">
                <a:solidFill>
                  <a:srgbClr val="F4F0EA"/>
                </a:solidFill>
                <a:latin typeface="Arial"/>
                <a:cs typeface="Arial"/>
              </a:rPr>
              <a:t> </a:t>
            </a:r>
            <a:r>
              <a:rPr dirty="0" sz="1350">
                <a:solidFill>
                  <a:srgbClr val="F4F0EA"/>
                </a:solidFill>
                <a:latin typeface="Arial"/>
                <a:cs typeface="Arial"/>
              </a:rPr>
              <a:t>1,</a:t>
            </a:r>
            <a:r>
              <a:rPr dirty="0" sz="1350" spc="-35">
                <a:solidFill>
                  <a:srgbClr val="F4F0EA"/>
                </a:solidFill>
                <a:latin typeface="Arial"/>
                <a:cs typeface="Arial"/>
              </a:rPr>
              <a:t> </a:t>
            </a:r>
            <a:r>
              <a:rPr dirty="0" sz="1350" spc="-55">
                <a:solidFill>
                  <a:srgbClr val="F4F0EA"/>
                </a:solidFill>
                <a:latin typeface="Arial"/>
                <a:cs typeface="Arial"/>
              </a:rPr>
              <a:t>2,</a:t>
            </a:r>
            <a:r>
              <a:rPr dirty="0" sz="1350" spc="-15">
                <a:solidFill>
                  <a:srgbClr val="F4F0EA"/>
                </a:solidFill>
                <a:latin typeface="Arial"/>
                <a:cs typeface="Arial"/>
              </a:rPr>
              <a:t> </a:t>
            </a:r>
            <a:r>
              <a:rPr dirty="0" sz="1350" spc="-45">
                <a:solidFill>
                  <a:srgbClr val="F4F0EA"/>
                </a:solidFill>
                <a:latin typeface="Arial"/>
                <a:cs typeface="Arial"/>
              </a:rPr>
              <a:t>3,</a:t>
            </a:r>
            <a:r>
              <a:rPr dirty="0" sz="1350" spc="-75">
                <a:solidFill>
                  <a:srgbClr val="F4F0EA"/>
                </a:solidFill>
                <a:latin typeface="Arial"/>
                <a:cs typeface="Arial"/>
              </a:rPr>
              <a:t> </a:t>
            </a:r>
            <a:r>
              <a:rPr dirty="0" sz="1350" spc="-25">
                <a:solidFill>
                  <a:srgbClr val="F4F0EA"/>
                </a:solidFill>
                <a:latin typeface="Arial"/>
                <a:cs typeface="Arial"/>
              </a:rPr>
              <a:t>4]</a:t>
            </a:r>
            <a:endParaRPr sz="1350">
              <a:latin typeface="Arial"/>
              <a:cs typeface="Arial"/>
            </a:endParaRPr>
          </a:p>
          <a:p>
            <a:pPr marL="266700">
              <a:lnSpc>
                <a:spcPct val="100000"/>
              </a:lnSpc>
              <a:spcBef>
                <a:spcPts val="615"/>
              </a:spcBef>
            </a:pPr>
            <a:r>
              <a:rPr dirty="0" sz="1350" spc="-50">
                <a:solidFill>
                  <a:srgbClr val="F4F0EA"/>
                </a:solidFill>
                <a:latin typeface="Arial"/>
                <a:cs typeface="Arial"/>
              </a:rPr>
              <a:t>y_coords</a:t>
            </a:r>
            <a:r>
              <a:rPr dirty="0" sz="1350" spc="-40">
                <a:solidFill>
                  <a:srgbClr val="F4F0EA"/>
                </a:solidFill>
                <a:latin typeface="Arial"/>
                <a:cs typeface="Arial"/>
              </a:rPr>
              <a:t> </a:t>
            </a:r>
            <a:r>
              <a:rPr dirty="0" sz="1350" spc="-120">
                <a:solidFill>
                  <a:srgbClr val="F4F0EA"/>
                </a:solidFill>
                <a:latin typeface="Arial"/>
                <a:cs typeface="Arial"/>
              </a:rPr>
              <a:t>=</a:t>
            </a:r>
            <a:r>
              <a:rPr dirty="0" sz="1350" spc="-40">
                <a:solidFill>
                  <a:srgbClr val="F4F0EA"/>
                </a:solidFill>
                <a:latin typeface="Arial"/>
                <a:cs typeface="Arial"/>
              </a:rPr>
              <a:t> </a:t>
            </a:r>
            <a:r>
              <a:rPr dirty="0" sz="1350">
                <a:solidFill>
                  <a:srgbClr val="F4F0EA"/>
                </a:solidFill>
                <a:latin typeface="Arial"/>
                <a:cs typeface="Arial"/>
              </a:rPr>
              <a:t>[0,</a:t>
            </a:r>
            <a:r>
              <a:rPr dirty="0" sz="1350" spc="-65">
                <a:solidFill>
                  <a:srgbClr val="F4F0EA"/>
                </a:solidFill>
                <a:latin typeface="Arial"/>
                <a:cs typeface="Arial"/>
              </a:rPr>
              <a:t> </a:t>
            </a:r>
            <a:r>
              <a:rPr dirty="0" sz="1350" spc="-45">
                <a:solidFill>
                  <a:srgbClr val="F4F0EA"/>
                </a:solidFill>
                <a:latin typeface="Arial"/>
                <a:cs typeface="Arial"/>
              </a:rPr>
              <a:t>3,</a:t>
            </a:r>
            <a:r>
              <a:rPr dirty="0" sz="1350" spc="-65">
                <a:solidFill>
                  <a:srgbClr val="F4F0EA"/>
                </a:solidFill>
                <a:latin typeface="Arial"/>
                <a:cs typeface="Arial"/>
              </a:rPr>
              <a:t> </a:t>
            </a:r>
            <a:r>
              <a:rPr dirty="0" sz="1350" spc="-45">
                <a:solidFill>
                  <a:srgbClr val="F4F0EA"/>
                </a:solidFill>
                <a:latin typeface="Arial"/>
                <a:cs typeface="Arial"/>
              </a:rPr>
              <a:t>1,</a:t>
            </a:r>
            <a:r>
              <a:rPr dirty="0" sz="1350" spc="-60">
                <a:solidFill>
                  <a:srgbClr val="F4F0EA"/>
                </a:solidFill>
                <a:latin typeface="Arial"/>
                <a:cs typeface="Arial"/>
              </a:rPr>
              <a:t> </a:t>
            </a:r>
            <a:r>
              <a:rPr dirty="0" sz="1350" spc="-45">
                <a:solidFill>
                  <a:srgbClr val="F4F0EA"/>
                </a:solidFill>
                <a:latin typeface="Arial"/>
                <a:cs typeface="Arial"/>
              </a:rPr>
              <a:t>5,</a:t>
            </a:r>
            <a:r>
              <a:rPr dirty="0" sz="1350" spc="-65">
                <a:solidFill>
                  <a:srgbClr val="F4F0EA"/>
                </a:solidFill>
                <a:latin typeface="Arial"/>
                <a:cs typeface="Arial"/>
              </a:rPr>
              <a:t> </a:t>
            </a:r>
            <a:r>
              <a:rPr dirty="0" sz="1350" spc="-25">
                <a:solidFill>
                  <a:srgbClr val="F4F0EA"/>
                </a:solidFill>
                <a:latin typeface="Arial"/>
                <a:cs typeface="Arial"/>
              </a:rPr>
              <a:t>2]</a:t>
            </a:r>
            <a:endParaRPr sz="13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225"/>
              </a:spcBef>
            </a:pPr>
            <a:endParaRPr sz="1350">
              <a:latin typeface="Arial"/>
              <a:cs typeface="Arial"/>
            </a:endParaRPr>
          </a:p>
          <a:p>
            <a:pPr marL="266700">
              <a:lnSpc>
                <a:spcPct val="100000"/>
              </a:lnSpc>
            </a:pPr>
            <a:r>
              <a:rPr dirty="0" sz="1350" spc="-25">
                <a:solidFill>
                  <a:srgbClr val="F4F0EA"/>
                </a:solidFill>
                <a:latin typeface="Arial"/>
                <a:cs typeface="Arial"/>
              </a:rPr>
              <a:t>plt.plot(x_coords,</a:t>
            </a:r>
            <a:r>
              <a:rPr dirty="0" sz="1350" spc="75">
                <a:solidFill>
                  <a:srgbClr val="F4F0EA"/>
                </a:solidFill>
                <a:latin typeface="Arial"/>
                <a:cs typeface="Arial"/>
              </a:rPr>
              <a:t> </a:t>
            </a:r>
            <a:r>
              <a:rPr dirty="0" sz="1350" spc="-10">
                <a:solidFill>
                  <a:srgbClr val="F4F0EA"/>
                </a:solidFill>
                <a:latin typeface="Arial"/>
                <a:cs typeface="Arial"/>
              </a:rPr>
              <a:t>y_coords)</a:t>
            </a:r>
            <a:endParaRPr sz="1350">
              <a:latin typeface="Arial"/>
              <a:cs typeface="Arial"/>
            </a:endParaRPr>
          </a:p>
          <a:p>
            <a:pPr marL="266700">
              <a:lnSpc>
                <a:spcPct val="100000"/>
              </a:lnSpc>
              <a:spcBef>
                <a:spcPts val="545"/>
              </a:spcBef>
            </a:pPr>
            <a:r>
              <a:rPr dirty="0" sz="1350" spc="-10">
                <a:solidFill>
                  <a:srgbClr val="F4F0EA"/>
                </a:solidFill>
                <a:latin typeface="Arial"/>
                <a:cs typeface="Arial"/>
              </a:rPr>
              <a:t>plt.show()</a:t>
            </a:r>
            <a:endParaRPr sz="135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13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765"/>
              </a:spcBef>
            </a:pPr>
            <a:endParaRPr sz="13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dirty="0" sz="1500">
                <a:solidFill>
                  <a:srgbClr val="3C495C"/>
                </a:solidFill>
                <a:latin typeface="Arial"/>
                <a:cs typeface="Arial"/>
              </a:rPr>
              <a:t>Two</a:t>
            </a:r>
            <a:r>
              <a:rPr dirty="0" sz="1500" spc="-70">
                <a:solidFill>
                  <a:srgbClr val="3C495C"/>
                </a:solidFill>
                <a:latin typeface="Arial"/>
                <a:cs typeface="Arial"/>
              </a:rPr>
              <a:t> </a:t>
            </a:r>
            <a:r>
              <a:rPr dirty="0" sz="1500">
                <a:solidFill>
                  <a:srgbClr val="3C495C"/>
                </a:solidFill>
                <a:latin typeface="Arial"/>
                <a:cs typeface="Arial"/>
              </a:rPr>
              <a:t>lists</a:t>
            </a:r>
            <a:r>
              <a:rPr dirty="0" sz="1500" spc="-15">
                <a:solidFill>
                  <a:srgbClr val="3C495C"/>
                </a:solidFill>
                <a:latin typeface="Arial"/>
                <a:cs typeface="Arial"/>
              </a:rPr>
              <a:t> </a:t>
            </a:r>
            <a:r>
              <a:rPr dirty="0" sz="1500">
                <a:solidFill>
                  <a:srgbClr val="3C495C"/>
                </a:solidFill>
                <a:latin typeface="Arial"/>
                <a:cs typeface="Arial"/>
              </a:rPr>
              <a:t>of</a:t>
            </a:r>
            <a:r>
              <a:rPr dirty="0" sz="1500" spc="20">
                <a:solidFill>
                  <a:srgbClr val="3C495C"/>
                </a:solidFill>
                <a:latin typeface="Arial"/>
                <a:cs typeface="Arial"/>
              </a:rPr>
              <a:t> </a:t>
            </a:r>
            <a:r>
              <a:rPr dirty="0" sz="1500">
                <a:solidFill>
                  <a:srgbClr val="3C495C"/>
                </a:solidFill>
                <a:latin typeface="Arial"/>
                <a:cs typeface="Arial"/>
              </a:rPr>
              <a:t>the</a:t>
            </a:r>
            <a:r>
              <a:rPr dirty="0" sz="1500" spc="-45">
                <a:solidFill>
                  <a:srgbClr val="3C495C"/>
                </a:solidFill>
                <a:latin typeface="Arial"/>
                <a:cs typeface="Arial"/>
              </a:rPr>
              <a:t> </a:t>
            </a:r>
            <a:r>
              <a:rPr dirty="0" sz="1500">
                <a:solidFill>
                  <a:srgbClr val="3C495C"/>
                </a:solidFill>
                <a:latin typeface="Arial"/>
                <a:cs typeface="Arial"/>
              </a:rPr>
              <a:t>same</a:t>
            </a:r>
            <a:r>
              <a:rPr dirty="0" sz="1500" spc="-40">
                <a:solidFill>
                  <a:srgbClr val="3C495C"/>
                </a:solidFill>
                <a:latin typeface="Arial"/>
                <a:cs typeface="Arial"/>
              </a:rPr>
              <a:t> </a:t>
            </a:r>
            <a:r>
              <a:rPr dirty="0" sz="1500">
                <a:solidFill>
                  <a:srgbClr val="3C495C"/>
                </a:solidFill>
                <a:latin typeface="Arial"/>
                <a:cs typeface="Arial"/>
              </a:rPr>
              <a:t>length:</a:t>
            </a:r>
            <a:r>
              <a:rPr dirty="0" sz="1500" spc="-5">
                <a:solidFill>
                  <a:srgbClr val="3C495C"/>
                </a:solidFill>
                <a:latin typeface="Arial"/>
                <a:cs typeface="Arial"/>
              </a:rPr>
              <a:t> </a:t>
            </a:r>
            <a:r>
              <a:rPr dirty="0" sz="1500">
                <a:solidFill>
                  <a:srgbClr val="3C495C"/>
                </a:solidFill>
                <a:latin typeface="Arial"/>
                <a:cs typeface="Arial"/>
              </a:rPr>
              <a:t>the</a:t>
            </a:r>
            <a:r>
              <a:rPr dirty="0" sz="1500" spc="35">
                <a:solidFill>
                  <a:srgbClr val="3C495C"/>
                </a:solidFill>
                <a:latin typeface="Arial"/>
                <a:cs typeface="Arial"/>
              </a:rPr>
              <a:t> </a:t>
            </a:r>
            <a:r>
              <a:rPr dirty="0" sz="1500" b="1">
                <a:solidFill>
                  <a:srgbClr val="3C495C"/>
                </a:solidFill>
                <a:latin typeface="Arial"/>
                <a:cs typeface="Arial"/>
              </a:rPr>
              <a:t>first</a:t>
            </a:r>
            <a:r>
              <a:rPr dirty="0" sz="1500" spc="5" b="1">
                <a:solidFill>
                  <a:srgbClr val="3C495C"/>
                </a:solidFill>
                <a:latin typeface="Arial"/>
                <a:cs typeface="Arial"/>
              </a:rPr>
              <a:t> </a:t>
            </a:r>
            <a:r>
              <a:rPr dirty="0" sz="1500">
                <a:solidFill>
                  <a:srgbClr val="3C495C"/>
                </a:solidFill>
                <a:latin typeface="Arial"/>
                <a:cs typeface="Arial"/>
              </a:rPr>
              <a:t>holds</a:t>
            </a:r>
            <a:r>
              <a:rPr dirty="0" sz="1500" spc="-15">
                <a:solidFill>
                  <a:srgbClr val="3C495C"/>
                </a:solidFill>
                <a:latin typeface="Arial"/>
                <a:cs typeface="Arial"/>
              </a:rPr>
              <a:t> </a:t>
            </a:r>
            <a:r>
              <a:rPr dirty="0" sz="1500">
                <a:solidFill>
                  <a:srgbClr val="3C495C"/>
                </a:solidFill>
                <a:latin typeface="Arial"/>
                <a:cs typeface="Arial"/>
              </a:rPr>
              <a:t>the</a:t>
            </a:r>
            <a:r>
              <a:rPr dirty="0" sz="1500" spc="40">
                <a:solidFill>
                  <a:srgbClr val="3C495C"/>
                </a:solidFill>
                <a:latin typeface="Arial"/>
                <a:cs typeface="Arial"/>
              </a:rPr>
              <a:t> </a:t>
            </a:r>
            <a:r>
              <a:rPr dirty="0" sz="1500">
                <a:solidFill>
                  <a:srgbClr val="3C495C"/>
                </a:solidFill>
                <a:latin typeface="Arial"/>
                <a:cs typeface="Arial"/>
              </a:rPr>
              <a:t>x</a:t>
            </a:r>
            <a:r>
              <a:rPr dirty="0" sz="1500" spc="-45">
                <a:solidFill>
                  <a:srgbClr val="3C495C"/>
                </a:solidFill>
                <a:latin typeface="Arial"/>
                <a:cs typeface="Arial"/>
              </a:rPr>
              <a:t> </a:t>
            </a:r>
            <a:r>
              <a:rPr dirty="0" sz="1500" spc="-10">
                <a:solidFill>
                  <a:srgbClr val="3C495C"/>
                </a:solidFill>
                <a:latin typeface="Arial"/>
                <a:cs typeface="Arial"/>
              </a:rPr>
              <a:t>values,</a:t>
            </a:r>
            <a:r>
              <a:rPr dirty="0" sz="1500" spc="20">
                <a:solidFill>
                  <a:srgbClr val="3C495C"/>
                </a:solidFill>
                <a:latin typeface="Arial"/>
                <a:cs typeface="Arial"/>
              </a:rPr>
              <a:t> </a:t>
            </a:r>
            <a:r>
              <a:rPr dirty="0" sz="1500" spc="-25">
                <a:solidFill>
                  <a:srgbClr val="3C495C"/>
                </a:solidFill>
                <a:latin typeface="Arial"/>
                <a:cs typeface="Arial"/>
              </a:rPr>
              <a:t>the</a:t>
            </a:r>
            <a:endParaRPr sz="15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290"/>
              </a:spcBef>
            </a:pPr>
            <a:r>
              <a:rPr dirty="0" sz="1500" spc="-55" b="1">
                <a:solidFill>
                  <a:srgbClr val="3C495C"/>
                </a:solidFill>
                <a:latin typeface="Arial"/>
                <a:cs typeface="Arial"/>
              </a:rPr>
              <a:t>second</a:t>
            </a:r>
            <a:r>
              <a:rPr dirty="0" sz="1500" spc="-25" b="1">
                <a:solidFill>
                  <a:srgbClr val="3C495C"/>
                </a:solidFill>
                <a:latin typeface="Arial"/>
                <a:cs typeface="Arial"/>
              </a:rPr>
              <a:t> </a:t>
            </a:r>
            <a:r>
              <a:rPr dirty="0" sz="1500">
                <a:solidFill>
                  <a:srgbClr val="3C495C"/>
                </a:solidFill>
                <a:latin typeface="Arial"/>
                <a:cs typeface="Arial"/>
              </a:rPr>
              <a:t>the</a:t>
            </a:r>
            <a:r>
              <a:rPr dirty="0" sz="1500" spc="-65">
                <a:solidFill>
                  <a:srgbClr val="3C495C"/>
                </a:solidFill>
                <a:latin typeface="Arial"/>
                <a:cs typeface="Arial"/>
              </a:rPr>
              <a:t> </a:t>
            </a:r>
            <a:r>
              <a:rPr dirty="0" sz="1500">
                <a:solidFill>
                  <a:srgbClr val="3C495C"/>
                </a:solidFill>
                <a:latin typeface="Arial"/>
                <a:cs typeface="Arial"/>
              </a:rPr>
              <a:t>y</a:t>
            </a:r>
            <a:r>
              <a:rPr dirty="0" sz="1500" spc="15">
                <a:solidFill>
                  <a:srgbClr val="3C495C"/>
                </a:solidFill>
                <a:latin typeface="Arial"/>
                <a:cs typeface="Arial"/>
              </a:rPr>
              <a:t> </a:t>
            </a:r>
            <a:r>
              <a:rPr dirty="0" sz="1500" spc="-10">
                <a:solidFill>
                  <a:srgbClr val="3C495C"/>
                </a:solidFill>
                <a:latin typeface="Arial"/>
                <a:cs typeface="Arial"/>
              </a:rPr>
              <a:t>values.</a:t>
            </a:r>
            <a:r>
              <a:rPr dirty="0" sz="1500" spc="-5">
                <a:solidFill>
                  <a:srgbClr val="3C495C"/>
                </a:solidFill>
                <a:latin typeface="Arial"/>
                <a:cs typeface="Arial"/>
              </a:rPr>
              <a:t> </a:t>
            </a:r>
            <a:r>
              <a:rPr dirty="0" sz="1500">
                <a:solidFill>
                  <a:srgbClr val="3C495C"/>
                </a:solidFill>
                <a:latin typeface="Arial"/>
                <a:cs typeface="Arial"/>
              </a:rPr>
              <a:t>Point</a:t>
            </a:r>
            <a:r>
              <a:rPr dirty="0" sz="1500" spc="-50">
                <a:solidFill>
                  <a:srgbClr val="3C495C"/>
                </a:solidFill>
                <a:latin typeface="Arial"/>
                <a:cs typeface="Arial"/>
              </a:rPr>
              <a:t> </a:t>
            </a:r>
            <a:r>
              <a:rPr dirty="0" sz="1500" spc="65">
                <a:solidFill>
                  <a:srgbClr val="3C495C"/>
                </a:solidFill>
                <a:latin typeface="Arial"/>
                <a:cs typeface="Arial"/>
              </a:rPr>
              <a:t>1</a:t>
            </a:r>
            <a:r>
              <a:rPr dirty="0" sz="1500" spc="-75">
                <a:solidFill>
                  <a:srgbClr val="3C495C"/>
                </a:solidFill>
                <a:latin typeface="Arial"/>
                <a:cs typeface="Arial"/>
              </a:rPr>
              <a:t> </a:t>
            </a:r>
            <a:r>
              <a:rPr dirty="0" sz="1500">
                <a:solidFill>
                  <a:srgbClr val="3C495C"/>
                </a:solidFill>
                <a:latin typeface="Arial"/>
                <a:cs typeface="Arial"/>
              </a:rPr>
              <a:t>is</a:t>
            </a:r>
            <a:r>
              <a:rPr dirty="0" sz="1500" spc="-45">
                <a:solidFill>
                  <a:srgbClr val="3C495C"/>
                </a:solidFill>
                <a:latin typeface="Arial"/>
                <a:cs typeface="Arial"/>
              </a:rPr>
              <a:t> </a:t>
            </a:r>
            <a:r>
              <a:rPr dirty="0" sz="1500">
                <a:solidFill>
                  <a:srgbClr val="3C495C"/>
                </a:solidFill>
                <a:latin typeface="Arial"/>
                <a:cs typeface="Arial"/>
              </a:rPr>
              <a:t>(0,</a:t>
            </a:r>
            <a:r>
              <a:rPr dirty="0" sz="1500" spc="-10">
                <a:solidFill>
                  <a:srgbClr val="3C495C"/>
                </a:solidFill>
                <a:latin typeface="Arial"/>
                <a:cs typeface="Arial"/>
              </a:rPr>
              <a:t> </a:t>
            </a:r>
            <a:r>
              <a:rPr dirty="0" sz="1500">
                <a:solidFill>
                  <a:srgbClr val="3C495C"/>
                </a:solidFill>
                <a:latin typeface="Arial"/>
                <a:cs typeface="Arial"/>
              </a:rPr>
              <a:t>0),</a:t>
            </a:r>
            <a:r>
              <a:rPr dirty="0" sz="1500" spc="-5">
                <a:solidFill>
                  <a:srgbClr val="3C495C"/>
                </a:solidFill>
                <a:latin typeface="Arial"/>
                <a:cs typeface="Arial"/>
              </a:rPr>
              <a:t> </a:t>
            </a:r>
            <a:r>
              <a:rPr dirty="0" sz="1500">
                <a:solidFill>
                  <a:srgbClr val="3C495C"/>
                </a:solidFill>
                <a:latin typeface="Arial"/>
                <a:cs typeface="Arial"/>
              </a:rPr>
              <a:t>point</a:t>
            </a:r>
            <a:r>
              <a:rPr dirty="0" sz="1500" spc="20">
                <a:solidFill>
                  <a:srgbClr val="3C495C"/>
                </a:solidFill>
                <a:latin typeface="Arial"/>
                <a:cs typeface="Arial"/>
              </a:rPr>
              <a:t> </a:t>
            </a:r>
            <a:r>
              <a:rPr dirty="0" sz="1500" spc="65">
                <a:solidFill>
                  <a:srgbClr val="3C495C"/>
                </a:solidFill>
                <a:latin typeface="Arial"/>
                <a:cs typeface="Arial"/>
              </a:rPr>
              <a:t>2</a:t>
            </a:r>
            <a:r>
              <a:rPr dirty="0" sz="1500" spc="-75">
                <a:solidFill>
                  <a:srgbClr val="3C495C"/>
                </a:solidFill>
                <a:latin typeface="Arial"/>
                <a:cs typeface="Arial"/>
              </a:rPr>
              <a:t> </a:t>
            </a:r>
            <a:r>
              <a:rPr dirty="0" sz="1500">
                <a:solidFill>
                  <a:srgbClr val="3C495C"/>
                </a:solidFill>
                <a:latin typeface="Arial"/>
                <a:cs typeface="Arial"/>
              </a:rPr>
              <a:t>is</a:t>
            </a:r>
            <a:r>
              <a:rPr dirty="0" sz="1500" spc="-45">
                <a:solidFill>
                  <a:srgbClr val="3C495C"/>
                </a:solidFill>
                <a:latin typeface="Arial"/>
                <a:cs typeface="Arial"/>
              </a:rPr>
              <a:t> </a:t>
            </a:r>
            <a:r>
              <a:rPr dirty="0" sz="1500">
                <a:solidFill>
                  <a:srgbClr val="3C495C"/>
                </a:solidFill>
                <a:latin typeface="Arial"/>
                <a:cs typeface="Arial"/>
              </a:rPr>
              <a:t>(1,</a:t>
            </a:r>
            <a:r>
              <a:rPr dirty="0" sz="1500" spc="-85">
                <a:solidFill>
                  <a:srgbClr val="3C495C"/>
                </a:solidFill>
                <a:latin typeface="Arial"/>
                <a:cs typeface="Arial"/>
              </a:rPr>
              <a:t> </a:t>
            </a:r>
            <a:r>
              <a:rPr dirty="0" sz="1500">
                <a:solidFill>
                  <a:srgbClr val="3C495C"/>
                </a:solidFill>
                <a:latin typeface="Arial"/>
                <a:cs typeface="Arial"/>
              </a:rPr>
              <a:t>3),</a:t>
            </a:r>
            <a:r>
              <a:rPr dirty="0" sz="1500" spc="-90">
                <a:solidFill>
                  <a:srgbClr val="3C495C"/>
                </a:solidFill>
                <a:latin typeface="Arial"/>
                <a:cs typeface="Arial"/>
              </a:rPr>
              <a:t> </a:t>
            </a:r>
            <a:r>
              <a:rPr dirty="0" sz="1500">
                <a:solidFill>
                  <a:srgbClr val="3C495C"/>
                </a:solidFill>
                <a:latin typeface="Arial"/>
                <a:cs typeface="Arial"/>
              </a:rPr>
              <a:t>and</a:t>
            </a:r>
            <a:r>
              <a:rPr dirty="0" sz="1500" spc="-30">
                <a:solidFill>
                  <a:srgbClr val="3C495C"/>
                </a:solidFill>
                <a:latin typeface="Arial"/>
                <a:cs typeface="Arial"/>
              </a:rPr>
              <a:t> </a:t>
            </a:r>
            <a:r>
              <a:rPr dirty="0" sz="1500">
                <a:solidFill>
                  <a:srgbClr val="3C495C"/>
                </a:solidFill>
                <a:latin typeface="Arial"/>
                <a:cs typeface="Arial"/>
              </a:rPr>
              <a:t>so</a:t>
            </a:r>
            <a:r>
              <a:rPr dirty="0" sz="1500" spc="-15">
                <a:solidFill>
                  <a:srgbClr val="3C495C"/>
                </a:solidFill>
                <a:latin typeface="Arial"/>
                <a:cs typeface="Arial"/>
              </a:rPr>
              <a:t> </a:t>
            </a:r>
            <a:r>
              <a:rPr dirty="0" sz="1500" spc="-25">
                <a:solidFill>
                  <a:srgbClr val="3C495C"/>
                </a:solidFill>
                <a:latin typeface="Arial"/>
                <a:cs typeface="Arial"/>
              </a:rPr>
              <a:t>on.</a:t>
            </a:r>
            <a:endParaRPr sz="1500">
              <a:latin typeface="Arial"/>
              <a:cs typeface="Arial"/>
            </a:endParaRPr>
          </a:p>
        </p:txBody>
      </p:sp>
      <p:grpSp>
        <p:nvGrpSpPr>
          <p:cNvPr id="6" name="object 6" descr="Line graph of the five points (0,0), (1,3), (2,1), (3,5) and (4,2) joined by straight blue lines"/>
          <p:cNvGrpSpPr/>
          <p:nvPr/>
        </p:nvGrpSpPr>
        <p:grpSpPr>
          <a:xfrm>
            <a:off x="6557644" y="1913001"/>
            <a:ext cx="4825365" cy="3619500"/>
            <a:chOff x="6557644" y="1913001"/>
            <a:chExt cx="4825365" cy="3619500"/>
          </a:xfrm>
        </p:grpSpPr>
        <p:pic>
          <p:nvPicPr>
            <p:cNvPr id="7" name="object 7" descr="Line graph of the five points (0,0), (1,3), (2,1), (3,5) and (4,2) joined by straight blue lines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558406" y="1920748"/>
              <a:ext cx="4805553" cy="3603625"/>
            </a:xfrm>
            <a:prstGeom prst="rect">
              <a:avLst/>
            </a:prstGeom>
          </p:spPr>
        </p:pic>
        <p:sp>
          <p:nvSpPr>
            <p:cNvPr id="8" name="object 8"/>
            <p:cNvSpPr/>
            <p:nvPr/>
          </p:nvSpPr>
          <p:spPr>
            <a:xfrm>
              <a:off x="6560819" y="1916176"/>
              <a:ext cx="4819015" cy="3613150"/>
            </a:xfrm>
            <a:custGeom>
              <a:avLst/>
              <a:gdLst/>
              <a:ahLst/>
              <a:cxnLst/>
              <a:rect l="l" t="t" r="r" b="b"/>
              <a:pathLst>
                <a:path w="4819015" h="3613150">
                  <a:moveTo>
                    <a:pt x="0" y="73025"/>
                  </a:moveTo>
                  <a:lnTo>
                    <a:pt x="5730" y="44576"/>
                  </a:lnTo>
                  <a:lnTo>
                    <a:pt x="21367" y="21367"/>
                  </a:lnTo>
                  <a:lnTo>
                    <a:pt x="44576" y="5730"/>
                  </a:lnTo>
                  <a:lnTo>
                    <a:pt x="73025" y="0"/>
                  </a:lnTo>
                  <a:lnTo>
                    <a:pt x="4745862" y="0"/>
                  </a:lnTo>
                  <a:lnTo>
                    <a:pt x="4774310" y="5730"/>
                  </a:lnTo>
                  <a:lnTo>
                    <a:pt x="4797520" y="21367"/>
                  </a:lnTo>
                  <a:lnTo>
                    <a:pt x="4813157" y="44576"/>
                  </a:lnTo>
                  <a:lnTo>
                    <a:pt x="4818887" y="73025"/>
                  </a:lnTo>
                  <a:lnTo>
                    <a:pt x="4818887" y="3539744"/>
                  </a:lnTo>
                  <a:lnTo>
                    <a:pt x="4813157" y="3568138"/>
                  </a:lnTo>
                  <a:lnTo>
                    <a:pt x="4797520" y="3591353"/>
                  </a:lnTo>
                  <a:lnTo>
                    <a:pt x="4774311" y="3607020"/>
                  </a:lnTo>
                  <a:lnTo>
                    <a:pt x="4745862" y="3612769"/>
                  </a:lnTo>
                  <a:lnTo>
                    <a:pt x="73025" y="3612769"/>
                  </a:lnTo>
                  <a:lnTo>
                    <a:pt x="44576" y="3607020"/>
                  </a:lnTo>
                  <a:lnTo>
                    <a:pt x="21367" y="3591353"/>
                  </a:lnTo>
                  <a:lnTo>
                    <a:pt x="5730" y="3568138"/>
                  </a:lnTo>
                  <a:lnTo>
                    <a:pt x="0" y="3539744"/>
                  </a:lnTo>
                  <a:lnTo>
                    <a:pt x="0" y="73025"/>
                  </a:lnTo>
                  <a:close/>
                </a:path>
              </a:pathLst>
            </a:custGeom>
            <a:ln w="6350">
              <a:solidFill>
                <a:srgbClr val="D9DEE6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800480" y="819721"/>
            <a:ext cx="2087880" cy="234315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1350" spc="65" b="1">
                <a:solidFill>
                  <a:srgbClr val="B45209"/>
                </a:solidFill>
                <a:latin typeface="Arial"/>
                <a:cs typeface="Arial"/>
              </a:rPr>
              <a:t>0</a:t>
            </a:r>
            <a:r>
              <a:rPr dirty="0" sz="1350" spc="-185" b="1">
                <a:solidFill>
                  <a:srgbClr val="B45209"/>
                </a:solidFill>
                <a:latin typeface="Arial"/>
                <a:cs typeface="Arial"/>
              </a:rPr>
              <a:t> </a:t>
            </a:r>
            <a:r>
              <a:rPr dirty="0" sz="1350" spc="65" b="1">
                <a:solidFill>
                  <a:srgbClr val="B45209"/>
                </a:solidFill>
                <a:latin typeface="Arial"/>
                <a:cs typeface="Arial"/>
              </a:rPr>
              <a:t>5</a:t>
            </a:r>
            <a:r>
              <a:rPr dirty="0" sz="1350" spc="270" b="1">
                <a:solidFill>
                  <a:srgbClr val="B45209"/>
                </a:solidFill>
                <a:latin typeface="Arial"/>
                <a:cs typeface="Arial"/>
              </a:rPr>
              <a:t> </a:t>
            </a:r>
            <a:r>
              <a:rPr dirty="0" sz="1350" b="1">
                <a:solidFill>
                  <a:srgbClr val="B45209"/>
                </a:solidFill>
                <a:latin typeface="Arial"/>
                <a:cs typeface="Arial"/>
              </a:rPr>
              <a:t>·</a:t>
            </a:r>
            <a:r>
              <a:rPr dirty="0" sz="1350" spc="320" b="1">
                <a:solidFill>
                  <a:srgbClr val="B45209"/>
                </a:solidFill>
                <a:latin typeface="Arial"/>
                <a:cs typeface="Arial"/>
              </a:rPr>
              <a:t> </a:t>
            </a:r>
            <a:r>
              <a:rPr dirty="0" sz="1350" spc="145" b="1">
                <a:solidFill>
                  <a:srgbClr val="B45209"/>
                </a:solidFill>
                <a:latin typeface="Arial"/>
                <a:cs typeface="Arial"/>
              </a:rPr>
              <a:t>VISU</a:t>
            </a:r>
            <a:r>
              <a:rPr dirty="0" sz="1350" spc="-165" b="1">
                <a:solidFill>
                  <a:srgbClr val="B45209"/>
                </a:solidFill>
                <a:latin typeface="Arial"/>
                <a:cs typeface="Arial"/>
              </a:rPr>
              <a:t> </a:t>
            </a:r>
            <a:r>
              <a:rPr dirty="0" sz="1350" spc="135" b="1">
                <a:solidFill>
                  <a:srgbClr val="B45209"/>
                </a:solidFill>
                <a:latin typeface="Arial"/>
                <a:cs typeface="Arial"/>
              </a:rPr>
              <a:t>ALIZ</a:t>
            </a:r>
            <a:r>
              <a:rPr dirty="0" sz="1350" spc="-190" b="1">
                <a:solidFill>
                  <a:srgbClr val="B45209"/>
                </a:solidFill>
                <a:latin typeface="Arial"/>
                <a:cs typeface="Arial"/>
              </a:rPr>
              <a:t> </a:t>
            </a:r>
            <a:r>
              <a:rPr dirty="0" sz="1350" b="1">
                <a:solidFill>
                  <a:srgbClr val="B45209"/>
                </a:solidFill>
                <a:latin typeface="Arial"/>
                <a:cs typeface="Arial"/>
              </a:rPr>
              <a:t>AT</a:t>
            </a:r>
            <a:r>
              <a:rPr dirty="0" sz="1350" spc="-160" b="1">
                <a:solidFill>
                  <a:srgbClr val="B45209"/>
                </a:solidFill>
                <a:latin typeface="Arial"/>
                <a:cs typeface="Arial"/>
              </a:rPr>
              <a:t> </a:t>
            </a:r>
            <a:r>
              <a:rPr dirty="0" sz="1350" spc="130" b="1">
                <a:solidFill>
                  <a:srgbClr val="B45209"/>
                </a:solidFill>
                <a:latin typeface="Arial"/>
                <a:cs typeface="Arial"/>
              </a:rPr>
              <a:t>IO</a:t>
            </a:r>
            <a:r>
              <a:rPr dirty="0" sz="1350" spc="-195" b="1">
                <a:solidFill>
                  <a:srgbClr val="B45209"/>
                </a:solidFill>
                <a:latin typeface="Arial"/>
                <a:cs typeface="Arial"/>
              </a:rPr>
              <a:t> </a:t>
            </a:r>
            <a:r>
              <a:rPr dirty="0" sz="1350" spc="-50" b="1">
                <a:solidFill>
                  <a:srgbClr val="B45209"/>
                </a:solidFill>
                <a:latin typeface="Arial"/>
                <a:cs typeface="Arial"/>
              </a:rPr>
              <a:t>N</a:t>
            </a:r>
            <a:endParaRPr sz="1350">
              <a:latin typeface="Arial"/>
              <a:cs typeface="Arial"/>
            </a:endParaRPr>
          </a:p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/>
              <a:t>Label</a:t>
            </a:r>
            <a:r>
              <a:rPr dirty="0" spc="-90"/>
              <a:t> </a:t>
            </a:r>
            <a:r>
              <a:rPr dirty="0" spc="105"/>
              <a:t>what</a:t>
            </a:r>
            <a:r>
              <a:rPr dirty="0" spc="-60"/>
              <a:t> </a:t>
            </a:r>
            <a:r>
              <a:rPr dirty="0"/>
              <a:t>the</a:t>
            </a:r>
            <a:r>
              <a:rPr dirty="0" spc="-55"/>
              <a:t> </a:t>
            </a:r>
            <a:r>
              <a:rPr dirty="0"/>
              <a:t>reader</a:t>
            </a:r>
            <a:r>
              <a:rPr dirty="0" spc="-125"/>
              <a:t> </a:t>
            </a:r>
            <a:r>
              <a:rPr dirty="0"/>
              <a:t>is</a:t>
            </a:r>
            <a:r>
              <a:rPr dirty="0" spc="-75"/>
              <a:t> </a:t>
            </a:r>
            <a:r>
              <a:rPr dirty="0" spc="-40"/>
              <a:t>looking</a:t>
            </a:r>
            <a:r>
              <a:rPr dirty="0" spc="-80"/>
              <a:t> </a:t>
            </a:r>
            <a:r>
              <a:rPr dirty="0" spc="70"/>
              <a:t>at</a:t>
            </a:r>
          </a:p>
        </p:txBody>
      </p:sp>
      <p:grpSp>
        <p:nvGrpSpPr>
          <p:cNvPr id="4" name="object 4" descr="The same line graph titled Sales by Year, with x-axis label Year and ticks 2016 to 2020, y-axis label Sales and ticks $0m to $5m, and a dotted grid"/>
          <p:cNvGrpSpPr/>
          <p:nvPr/>
        </p:nvGrpSpPr>
        <p:grpSpPr>
          <a:xfrm>
            <a:off x="815213" y="1913001"/>
            <a:ext cx="4569460" cy="3427095"/>
            <a:chOff x="815213" y="1913001"/>
            <a:chExt cx="4569460" cy="3427095"/>
          </a:xfrm>
        </p:grpSpPr>
        <p:pic>
          <p:nvPicPr>
            <p:cNvPr id="5" name="object 5" descr="The same line graph titled Sales by Year, with x-axis label Year and ticks 2016 to 2020, y-axis label Sales and ticks $0m to $5m, and a dotted grid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25055" y="1920748"/>
              <a:ext cx="4549521" cy="3411474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818388" y="1916176"/>
              <a:ext cx="4563110" cy="3420745"/>
            </a:xfrm>
            <a:custGeom>
              <a:avLst/>
              <a:gdLst/>
              <a:ahLst/>
              <a:cxnLst/>
              <a:rect l="l" t="t" r="r" b="b"/>
              <a:pathLst>
                <a:path w="4563110" h="3420745">
                  <a:moveTo>
                    <a:pt x="0" y="73025"/>
                  </a:moveTo>
                  <a:lnTo>
                    <a:pt x="5735" y="44576"/>
                  </a:lnTo>
                  <a:lnTo>
                    <a:pt x="21375" y="21367"/>
                  </a:lnTo>
                  <a:lnTo>
                    <a:pt x="44571" y="5730"/>
                  </a:lnTo>
                  <a:lnTo>
                    <a:pt x="72974" y="0"/>
                  </a:lnTo>
                  <a:lnTo>
                    <a:pt x="4489831" y="0"/>
                  </a:lnTo>
                  <a:lnTo>
                    <a:pt x="4518279" y="5730"/>
                  </a:lnTo>
                  <a:lnTo>
                    <a:pt x="4541488" y="21367"/>
                  </a:lnTo>
                  <a:lnTo>
                    <a:pt x="4557125" y="44576"/>
                  </a:lnTo>
                  <a:lnTo>
                    <a:pt x="4562856" y="73025"/>
                  </a:lnTo>
                  <a:lnTo>
                    <a:pt x="4562856" y="3347720"/>
                  </a:lnTo>
                  <a:lnTo>
                    <a:pt x="4557125" y="3376114"/>
                  </a:lnTo>
                  <a:lnTo>
                    <a:pt x="4541488" y="3399329"/>
                  </a:lnTo>
                  <a:lnTo>
                    <a:pt x="4518279" y="3414996"/>
                  </a:lnTo>
                  <a:lnTo>
                    <a:pt x="4489831" y="3420745"/>
                  </a:lnTo>
                  <a:lnTo>
                    <a:pt x="72974" y="3420745"/>
                  </a:lnTo>
                  <a:lnTo>
                    <a:pt x="44571" y="3414996"/>
                  </a:lnTo>
                  <a:lnTo>
                    <a:pt x="21375" y="3399329"/>
                  </a:lnTo>
                  <a:lnTo>
                    <a:pt x="5735" y="3376114"/>
                  </a:lnTo>
                  <a:lnTo>
                    <a:pt x="0" y="3347720"/>
                  </a:lnTo>
                  <a:lnTo>
                    <a:pt x="0" y="73025"/>
                  </a:lnTo>
                  <a:close/>
                </a:path>
              </a:pathLst>
            </a:custGeom>
            <a:ln w="6350">
              <a:solidFill>
                <a:srgbClr val="D9DEE6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aphicFrame>
        <p:nvGraphicFramePr>
          <p:cNvPr id="7" name="object 7"/>
          <p:cNvGraphicFramePr>
            <a:graphicFrameLocks noGrp="1"/>
          </p:cNvGraphicFramePr>
          <p:nvPr/>
        </p:nvGraphicFramePr>
        <p:xfrm>
          <a:off x="5692394" y="1914144"/>
          <a:ext cx="5766434" cy="331724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293110"/>
                <a:gridCol w="2384425"/>
              </a:tblGrid>
              <a:tr h="356870">
                <a:tc>
                  <a:txBody>
                    <a:bodyPr/>
                    <a:lstStyle/>
                    <a:p>
                      <a:pPr marL="61594">
                        <a:lnSpc>
                          <a:spcPct val="100000"/>
                        </a:lnSpc>
                        <a:spcBef>
                          <a:spcPts val="550"/>
                        </a:spcBef>
                      </a:pPr>
                      <a:r>
                        <a:rPr dirty="0" sz="1300" spc="-20" b="1">
                          <a:solidFill>
                            <a:srgbClr val="13203C"/>
                          </a:solidFill>
                          <a:latin typeface="Arial"/>
                          <a:cs typeface="Arial"/>
                        </a:rPr>
                        <a:t>Add</a:t>
                      </a:r>
                      <a:r>
                        <a:rPr dirty="0" sz="1300" spc="-65" b="1">
                          <a:solidFill>
                            <a:srgbClr val="13203C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300" spc="-10" b="1">
                          <a:solidFill>
                            <a:srgbClr val="13203C"/>
                          </a:solidFill>
                          <a:latin typeface="Arial"/>
                          <a:cs typeface="Arial"/>
                        </a:rPr>
                        <a:t>this</a:t>
                      </a:r>
                      <a:r>
                        <a:rPr dirty="0" sz="1300" spc="-65" b="1">
                          <a:solidFill>
                            <a:srgbClr val="13203C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300" spc="-20" b="1">
                          <a:solidFill>
                            <a:srgbClr val="13203C"/>
                          </a:solidFill>
                          <a:latin typeface="Arial"/>
                          <a:cs typeface="Arial"/>
                        </a:rPr>
                        <a:t>line</a:t>
                      </a:r>
                      <a:endParaRPr sz="1300">
                        <a:latin typeface="Arial"/>
                        <a:cs typeface="Arial"/>
                      </a:endParaRPr>
                    </a:p>
                  </a:txBody>
                  <a:tcPr marL="0" marR="0" marB="0" marT="69850">
                    <a:lnL w="12700">
                      <a:solidFill>
                        <a:srgbClr val="C7C7C5"/>
                      </a:solidFill>
                      <a:prstDash val="solid"/>
                    </a:lnL>
                    <a:lnR w="12700">
                      <a:solidFill>
                        <a:srgbClr val="BDC0C3"/>
                      </a:solidFill>
                      <a:prstDash val="solid"/>
                    </a:lnR>
                    <a:lnT w="12700">
                      <a:solidFill>
                        <a:srgbClr val="C7C7C5"/>
                      </a:solidFill>
                      <a:prstDash val="solid"/>
                    </a:lnT>
                    <a:lnB w="12700">
                      <a:solidFill>
                        <a:srgbClr val="BDC0C3"/>
                      </a:solidFill>
                      <a:prstDash val="solid"/>
                    </a:lnB>
                    <a:solidFill>
                      <a:srgbClr val="EDF0F5"/>
                    </a:solidFill>
                  </a:tcPr>
                </a:tc>
                <a:tc>
                  <a:txBody>
                    <a:bodyPr/>
                    <a:lstStyle/>
                    <a:p>
                      <a:pPr marL="64135">
                        <a:lnSpc>
                          <a:spcPct val="100000"/>
                        </a:lnSpc>
                        <a:spcBef>
                          <a:spcPts val="550"/>
                        </a:spcBef>
                      </a:pPr>
                      <a:r>
                        <a:rPr dirty="0" sz="1300" spc="-50" b="1">
                          <a:solidFill>
                            <a:srgbClr val="13203C"/>
                          </a:solidFill>
                          <a:latin typeface="Arial"/>
                          <a:cs typeface="Arial"/>
                        </a:rPr>
                        <a:t>To</a:t>
                      </a:r>
                      <a:r>
                        <a:rPr dirty="0" sz="1300" spc="-80" b="1">
                          <a:solidFill>
                            <a:srgbClr val="13203C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300" spc="-25" b="1">
                          <a:solidFill>
                            <a:srgbClr val="13203C"/>
                          </a:solidFill>
                          <a:latin typeface="Arial"/>
                          <a:cs typeface="Arial"/>
                        </a:rPr>
                        <a:t>get</a:t>
                      </a:r>
                      <a:endParaRPr sz="1300">
                        <a:latin typeface="Arial"/>
                        <a:cs typeface="Arial"/>
                      </a:endParaRPr>
                    </a:p>
                  </a:txBody>
                  <a:tcPr marL="0" marR="0" marB="0" marT="69850">
                    <a:lnL w="12700">
                      <a:solidFill>
                        <a:srgbClr val="BDC0C3"/>
                      </a:solidFill>
                      <a:prstDash val="solid"/>
                    </a:lnL>
                    <a:lnR w="12700">
                      <a:solidFill>
                        <a:srgbClr val="BDC0C3"/>
                      </a:solidFill>
                      <a:prstDash val="solid"/>
                    </a:lnR>
                    <a:lnT w="12700">
                      <a:solidFill>
                        <a:srgbClr val="C7C7C5"/>
                      </a:solidFill>
                      <a:prstDash val="solid"/>
                    </a:lnT>
                    <a:lnB w="12700">
                      <a:solidFill>
                        <a:srgbClr val="BDC0C3"/>
                      </a:solidFill>
                      <a:prstDash val="solid"/>
                    </a:lnB>
                    <a:solidFill>
                      <a:srgbClr val="EDF0F5"/>
                    </a:solidFill>
                  </a:tcPr>
                </a:tc>
              </a:tr>
              <a:tr h="356870">
                <a:tc>
                  <a:txBody>
                    <a:bodyPr/>
                    <a:lstStyle/>
                    <a:p>
                      <a:pPr marL="61594">
                        <a:lnSpc>
                          <a:spcPct val="100000"/>
                        </a:lnSpc>
                        <a:spcBef>
                          <a:spcPts val="555"/>
                        </a:spcBef>
                      </a:pPr>
                      <a:r>
                        <a:rPr dirty="0" sz="1300" spc="10">
                          <a:solidFill>
                            <a:srgbClr val="13203C"/>
                          </a:solidFill>
                          <a:latin typeface="Arial"/>
                          <a:cs typeface="Arial"/>
                        </a:rPr>
                        <a:t>plt.title('Sales</a:t>
                      </a:r>
                      <a:r>
                        <a:rPr dirty="0" sz="1300" spc="50">
                          <a:solidFill>
                            <a:srgbClr val="13203C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300" spc="10">
                          <a:solidFill>
                            <a:srgbClr val="13203C"/>
                          </a:solidFill>
                          <a:latin typeface="Arial"/>
                          <a:cs typeface="Arial"/>
                        </a:rPr>
                        <a:t>by</a:t>
                      </a:r>
                      <a:r>
                        <a:rPr dirty="0" sz="1300" spc="35">
                          <a:solidFill>
                            <a:srgbClr val="13203C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300" spc="-10">
                          <a:solidFill>
                            <a:srgbClr val="13203C"/>
                          </a:solidFill>
                          <a:latin typeface="Arial"/>
                          <a:cs typeface="Arial"/>
                        </a:rPr>
                        <a:t>Year')</a:t>
                      </a:r>
                      <a:endParaRPr sz="1300">
                        <a:latin typeface="Arial"/>
                        <a:cs typeface="Arial"/>
                      </a:endParaRPr>
                    </a:p>
                  </a:txBody>
                  <a:tcPr marL="0" marR="0" marB="0" marT="70485">
                    <a:lnL w="12700">
                      <a:solidFill>
                        <a:srgbClr val="C7C7C5"/>
                      </a:solidFill>
                      <a:prstDash val="solid"/>
                    </a:lnL>
                    <a:lnR w="12700">
                      <a:solidFill>
                        <a:srgbClr val="C7C7C5"/>
                      </a:solidFill>
                      <a:prstDash val="solid"/>
                    </a:lnR>
                    <a:lnT w="12700">
                      <a:solidFill>
                        <a:srgbClr val="BDC0C3"/>
                      </a:solidFill>
                      <a:prstDash val="solid"/>
                    </a:lnT>
                    <a:lnB w="12700">
                      <a:solidFill>
                        <a:srgbClr val="C7C7C5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4135">
                        <a:lnSpc>
                          <a:spcPct val="100000"/>
                        </a:lnSpc>
                        <a:spcBef>
                          <a:spcPts val="555"/>
                        </a:spcBef>
                      </a:pPr>
                      <a:r>
                        <a:rPr dirty="0" sz="1300">
                          <a:solidFill>
                            <a:srgbClr val="13203C"/>
                          </a:solidFill>
                          <a:latin typeface="Arial"/>
                          <a:cs typeface="Arial"/>
                        </a:rPr>
                        <a:t>the</a:t>
                      </a:r>
                      <a:r>
                        <a:rPr dirty="0" sz="1300" spc="40">
                          <a:solidFill>
                            <a:srgbClr val="13203C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300">
                          <a:solidFill>
                            <a:srgbClr val="13203C"/>
                          </a:solidFill>
                          <a:latin typeface="Arial"/>
                          <a:cs typeface="Arial"/>
                        </a:rPr>
                        <a:t>title</a:t>
                      </a:r>
                      <a:r>
                        <a:rPr dirty="0" sz="1300" spc="40">
                          <a:solidFill>
                            <a:srgbClr val="13203C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300">
                          <a:solidFill>
                            <a:srgbClr val="13203C"/>
                          </a:solidFill>
                          <a:latin typeface="Arial"/>
                          <a:cs typeface="Arial"/>
                        </a:rPr>
                        <a:t>on</a:t>
                      </a:r>
                      <a:r>
                        <a:rPr dirty="0" sz="1300" spc="114">
                          <a:solidFill>
                            <a:srgbClr val="13203C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300" spc="-25">
                          <a:solidFill>
                            <a:srgbClr val="13203C"/>
                          </a:solidFill>
                          <a:latin typeface="Arial"/>
                          <a:cs typeface="Arial"/>
                        </a:rPr>
                        <a:t>top</a:t>
                      </a:r>
                      <a:endParaRPr sz="1300">
                        <a:latin typeface="Arial"/>
                        <a:cs typeface="Arial"/>
                      </a:endParaRPr>
                    </a:p>
                  </a:txBody>
                  <a:tcPr marL="0" marR="0" marB="0" marT="70485">
                    <a:lnL w="12700">
                      <a:solidFill>
                        <a:srgbClr val="C7C7C5"/>
                      </a:solidFill>
                      <a:prstDash val="solid"/>
                    </a:lnL>
                    <a:lnR w="12700">
                      <a:solidFill>
                        <a:srgbClr val="C7C7C5"/>
                      </a:solidFill>
                      <a:prstDash val="solid"/>
                    </a:lnR>
                    <a:lnT w="12700">
                      <a:solidFill>
                        <a:srgbClr val="BDC0C3"/>
                      </a:solidFill>
                      <a:prstDash val="solid"/>
                    </a:lnT>
                    <a:lnB w="12700">
                      <a:solidFill>
                        <a:srgbClr val="C7C7C5"/>
                      </a:solidFill>
                      <a:prstDash val="solid"/>
                    </a:lnB>
                  </a:tcPr>
                </a:tc>
              </a:tr>
              <a:tr h="356870">
                <a:tc>
                  <a:txBody>
                    <a:bodyPr/>
                    <a:lstStyle/>
                    <a:p>
                      <a:pPr marL="61594">
                        <a:lnSpc>
                          <a:spcPct val="100000"/>
                        </a:lnSpc>
                        <a:spcBef>
                          <a:spcPts val="555"/>
                        </a:spcBef>
                      </a:pPr>
                      <a:r>
                        <a:rPr dirty="0" sz="1300" spc="-10">
                          <a:solidFill>
                            <a:srgbClr val="13203C"/>
                          </a:solidFill>
                          <a:latin typeface="Arial"/>
                          <a:cs typeface="Arial"/>
                        </a:rPr>
                        <a:t>plt.xlabel('Year')</a:t>
                      </a:r>
                      <a:endParaRPr sz="1300">
                        <a:latin typeface="Arial"/>
                        <a:cs typeface="Arial"/>
                      </a:endParaRPr>
                    </a:p>
                  </a:txBody>
                  <a:tcPr marL="0" marR="0" marB="0" marT="70485">
                    <a:lnL w="12700">
                      <a:solidFill>
                        <a:srgbClr val="C7C7C5"/>
                      </a:solidFill>
                      <a:prstDash val="solid"/>
                    </a:lnL>
                    <a:lnR w="12700">
                      <a:solidFill>
                        <a:srgbClr val="C7C7C5"/>
                      </a:solidFill>
                      <a:prstDash val="solid"/>
                    </a:lnR>
                    <a:lnT w="12700">
                      <a:solidFill>
                        <a:srgbClr val="C7C7C5"/>
                      </a:solidFill>
                      <a:prstDash val="solid"/>
                    </a:lnT>
                    <a:lnB w="12700">
                      <a:solidFill>
                        <a:srgbClr val="C7C7C5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4135">
                        <a:lnSpc>
                          <a:spcPct val="100000"/>
                        </a:lnSpc>
                        <a:spcBef>
                          <a:spcPts val="555"/>
                        </a:spcBef>
                      </a:pPr>
                      <a:r>
                        <a:rPr dirty="0" sz="1300">
                          <a:solidFill>
                            <a:srgbClr val="13203C"/>
                          </a:solidFill>
                          <a:latin typeface="Arial"/>
                          <a:cs typeface="Arial"/>
                        </a:rPr>
                        <a:t>the</a:t>
                      </a:r>
                      <a:r>
                        <a:rPr dirty="0" sz="1300" spc="-15">
                          <a:solidFill>
                            <a:srgbClr val="13203C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300">
                          <a:solidFill>
                            <a:srgbClr val="13203C"/>
                          </a:solidFill>
                          <a:latin typeface="Arial"/>
                          <a:cs typeface="Arial"/>
                        </a:rPr>
                        <a:t>x-axis</a:t>
                      </a:r>
                      <a:r>
                        <a:rPr dirty="0" sz="1300" spc="85">
                          <a:solidFill>
                            <a:srgbClr val="13203C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300" spc="-20">
                          <a:solidFill>
                            <a:srgbClr val="13203C"/>
                          </a:solidFill>
                          <a:latin typeface="Arial"/>
                          <a:cs typeface="Arial"/>
                        </a:rPr>
                        <a:t>name</a:t>
                      </a:r>
                      <a:endParaRPr sz="1300">
                        <a:latin typeface="Arial"/>
                        <a:cs typeface="Arial"/>
                      </a:endParaRPr>
                    </a:p>
                  </a:txBody>
                  <a:tcPr marL="0" marR="0" marB="0" marT="70485">
                    <a:lnL w="12700">
                      <a:solidFill>
                        <a:srgbClr val="C7C7C5"/>
                      </a:solidFill>
                      <a:prstDash val="solid"/>
                    </a:lnL>
                    <a:lnR w="12700">
                      <a:solidFill>
                        <a:srgbClr val="C7C7C5"/>
                      </a:solidFill>
                      <a:prstDash val="solid"/>
                    </a:lnR>
                    <a:lnT w="12700">
                      <a:solidFill>
                        <a:srgbClr val="C7C7C5"/>
                      </a:solidFill>
                      <a:prstDash val="solid"/>
                    </a:lnT>
                    <a:lnB w="12700">
                      <a:solidFill>
                        <a:srgbClr val="C7C7C5"/>
                      </a:solidFill>
                      <a:prstDash val="solid"/>
                    </a:lnB>
                  </a:tcPr>
                </a:tc>
              </a:tr>
              <a:tr h="356870">
                <a:tc>
                  <a:txBody>
                    <a:bodyPr/>
                    <a:lstStyle/>
                    <a:p>
                      <a:pPr marL="61594">
                        <a:lnSpc>
                          <a:spcPct val="100000"/>
                        </a:lnSpc>
                        <a:spcBef>
                          <a:spcPts val="560"/>
                        </a:spcBef>
                      </a:pPr>
                      <a:r>
                        <a:rPr dirty="0" sz="1300" spc="-10">
                          <a:solidFill>
                            <a:srgbClr val="13203C"/>
                          </a:solidFill>
                          <a:latin typeface="Arial"/>
                          <a:cs typeface="Arial"/>
                        </a:rPr>
                        <a:t>plt.ylabel('Sales')</a:t>
                      </a:r>
                      <a:endParaRPr sz="1300">
                        <a:latin typeface="Arial"/>
                        <a:cs typeface="Arial"/>
                      </a:endParaRPr>
                    </a:p>
                  </a:txBody>
                  <a:tcPr marL="0" marR="0" marB="0" marT="71120">
                    <a:lnL w="12700">
                      <a:solidFill>
                        <a:srgbClr val="C7C7C5"/>
                      </a:solidFill>
                      <a:prstDash val="solid"/>
                    </a:lnL>
                    <a:lnR w="12700">
                      <a:solidFill>
                        <a:srgbClr val="C7C7C5"/>
                      </a:solidFill>
                      <a:prstDash val="solid"/>
                    </a:lnR>
                    <a:lnT w="12700">
                      <a:solidFill>
                        <a:srgbClr val="C7C7C5"/>
                      </a:solidFill>
                      <a:prstDash val="solid"/>
                    </a:lnT>
                    <a:lnB w="12700">
                      <a:solidFill>
                        <a:srgbClr val="C7C7C5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4135">
                        <a:lnSpc>
                          <a:spcPct val="100000"/>
                        </a:lnSpc>
                        <a:spcBef>
                          <a:spcPts val="560"/>
                        </a:spcBef>
                      </a:pPr>
                      <a:r>
                        <a:rPr dirty="0" sz="1300">
                          <a:solidFill>
                            <a:srgbClr val="13203C"/>
                          </a:solidFill>
                          <a:latin typeface="Arial"/>
                          <a:cs typeface="Arial"/>
                        </a:rPr>
                        <a:t>the</a:t>
                      </a:r>
                      <a:r>
                        <a:rPr dirty="0" sz="1300" spc="-20">
                          <a:solidFill>
                            <a:srgbClr val="13203C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300">
                          <a:solidFill>
                            <a:srgbClr val="13203C"/>
                          </a:solidFill>
                          <a:latin typeface="Arial"/>
                          <a:cs typeface="Arial"/>
                        </a:rPr>
                        <a:t>y-axis</a:t>
                      </a:r>
                      <a:r>
                        <a:rPr dirty="0" sz="1300" spc="80">
                          <a:solidFill>
                            <a:srgbClr val="13203C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300" spc="-20">
                          <a:solidFill>
                            <a:srgbClr val="13203C"/>
                          </a:solidFill>
                          <a:latin typeface="Arial"/>
                          <a:cs typeface="Arial"/>
                        </a:rPr>
                        <a:t>name</a:t>
                      </a:r>
                      <a:endParaRPr sz="1300">
                        <a:latin typeface="Arial"/>
                        <a:cs typeface="Arial"/>
                      </a:endParaRPr>
                    </a:p>
                  </a:txBody>
                  <a:tcPr marL="0" marR="0" marB="0" marT="71120">
                    <a:lnL w="12700">
                      <a:solidFill>
                        <a:srgbClr val="C7C7C5"/>
                      </a:solidFill>
                      <a:prstDash val="solid"/>
                    </a:lnL>
                    <a:lnR w="12700">
                      <a:solidFill>
                        <a:srgbClr val="C7C7C5"/>
                      </a:solidFill>
                      <a:prstDash val="solid"/>
                    </a:lnR>
                    <a:lnT w="12700">
                      <a:solidFill>
                        <a:srgbClr val="C7C7C5"/>
                      </a:solidFill>
                      <a:prstDash val="solid"/>
                    </a:lnT>
                    <a:lnB w="12700">
                      <a:solidFill>
                        <a:srgbClr val="C7C7C5"/>
                      </a:solidFill>
                      <a:prstDash val="solid"/>
                    </a:lnB>
                  </a:tcPr>
                </a:tc>
              </a:tr>
              <a:tr h="588010">
                <a:tc>
                  <a:txBody>
                    <a:bodyPr/>
                    <a:lstStyle/>
                    <a:p>
                      <a:pPr marL="61594">
                        <a:lnSpc>
                          <a:spcPct val="100000"/>
                        </a:lnSpc>
                        <a:spcBef>
                          <a:spcPts val="565"/>
                        </a:spcBef>
                      </a:pPr>
                      <a:r>
                        <a:rPr dirty="0" sz="1300">
                          <a:solidFill>
                            <a:srgbClr val="13203C"/>
                          </a:solidFill>
                          <a:latin typeface="Arial"/>
                          <a:cs typeface="Arial"/>
                        </a:rPr>
                        <a:t>plt.xticks([0,</a:t>
                      </a:r>
                      <a:r>
                        <a:rPr dirty="0" sz="1300" spc="65">
                          <a:solidFill>
                            <a:srgbClr val="13203C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300">
                          <a:solidFill>
                            <a:srgbClr val="13203C"/>
                          </a:solidFill>
                          <a:latin typeface="Arial"/>
                          <a:cs typeface="Arial"/>
                        </a:rPr>
                        <a:t>1,</a:t>
                      </a:r>
                      <a:r>
                        <a:rPr dirty="0" sz="1300" spc="70">
                          <a:solidFill>
                            <a:srgbClr val="13203C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300">
                          <a:solidFill>
                            <a:srgbClr val="13203C"/>
                          </a:solidFill>
                          <a:latin typeface="Arial"/>
                          <a:cs typeface="Arial"/>
                        </a:rPr>
                        <a:t>2,</a:t>
                      </a:r>
                      <a:r>
                        <a:rPr dirty="0" sz="1300" spc="65">
                          <a:solidFill>
                            <a:srgbClr val="13203C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300">
                          <a:solidFill>
                            <a:srgbClr val="13203C"/>
                          </a:solidFill>
                          <a:latin typeface="Arial"/>
                          <a:cs typeface="Arial"/>
                        </a:rPr>
                        <a:t>3,</a:t>
                      </a:r>
                      <a:r>
                        <a:rPr dirty="0" sz="1300" spc="70">
                          <a:solidFill>
                            <a:srgbClr val="13203C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300">
                          <a:solidFill>
                            <a:srgbClr val="13203C"/>
                          </a:solidFill>
                          <a:latin typeface="Arial"/>
                          <a:cs typeface="Arial"/>
                        </a:rPr>
                        <a:t>4],</a:t>
                      </a:r>
                      <a:r>
                        <a:rPr dirty="0" sz="1300" spc="65">
                          <a:solidFill>
                            <a:srgbClr val="13203C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300">
                          <a:solidFill>
                            <a:srgbClr val="13203C"/>
                          </a:solidFill>
                          <a:latin typeface="Arial"/>
                          <a:cs typeface="Arial"/>
                        </a:rPr>
                        <a:t>['2016',</a:t>
                      </a:r>
                      <a:r>
                        <a:rPr dirty="0" sz="1300" spc="70">
                          <a:solidFill>
                            <a:srgbClr val="13203C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300" spc="-125">
                          <a:solidFill>
                            <a:srgbClr val="13203C"/>
                          </a:solidFill>
                          <a:latin typeface="Arial"/>
                          <a:cs typeface="Arial"/>
                        </a:rPr>
                        <a:t>…,</a:t>
                      </a:r>
                      <a:r>
                        <a:rPr dirty="0" sz="1300" spc="65">
                          <a:solidFill>
                            <a:srgbClr val="13203C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300" spc="-10">
                          <a:solidFill>
                            <a:srgbClr val="13203C"/>
                          </a:solidFill>
                          <a:latin typeface="Arial"/>
                          <a:cs typeface="Arial"/>
                        </a:rPr>
                        <a:t>'2020'])</a:t>
                      </a:r>
                      <a:endParaRPr sz="1300">
                        <a:latin typeface="Arial"/>
                        <a:cs typeface="Arial"/>
                      </a:endParaRPr>
                    </a:p>
                  </a:txBody>
                  <a:tcPr marL="0" marR="0" marB="0" marT="71755">
                    <a:lnL w="12700">
                      <a:solidFill>
                        <a:srgbClr val="C7C7C5"/>
                      </a:solidFill>
                      <a:prstDash val="solid"/>
                    </a:lnL>
                    <a:lnR w="12700">
                      <a:solidFill>
                        <a:srgbClr val="C7C7C5"/>
                      </a:solidFill>
                      <a:prstDash val="solid"/>
                    </a:lnR>
                    <a:lnT w="12700">
                      <a:solidFill>
                        <a:srgbClr val="C7C7C5"/>
                      </a:solidFill>
                      <a:prstDash val="solid"/>
                    </a:lnT>
                    <a:lnB w="12700">
                      <a:solidFill>
                        <a:srgbClr val="C7C7C5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4135">
                        <a:lnSpc>
                          <a:spcPct val="100000"/>
                        </a:lnSpc>
                        <a:spcBef>
                          <a:spcPts val="565"/>
                        </a:spcBef>
                      </a:pPr>
                      <a:r>
                        <a:rPr dirty="0" sz="1300" spc="-10">
                          <a:solidFill>
                            <a:srgbClr val="13203C"/>
                          </a:solidFill>
                          <a:latin typeface="Arial"/>
                          <a:cs typeface="Arial"/>
                        </a:rPr>
                        <a:t>years</a:t>
                      </a:r>
                      <a:r>
                        <a:rPr dirty="0" sz="1300" spc="-15">
                          <a:solidFill>
                            <a:srgbClr val="13203C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300">
                          <a:solidFill>
                            <a:srgbClr val="13203C"/>
                          </a:solidFill>
                          <a:latin typeface="Arial"/>
                          <a:cs typeface="Arial"/>
                        </a:rPr>
                        <a:t>instead</a:t>
                      </a:r>
                      <a:r>
                        <a:rPr dirty="0" sz="1300" spc="10">
                          <a:solidFill>
                            <a:srgbClr val="13203C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300">
                          <a:solidFill>
                            <a:srgbClr val="13203C"/>
                          </a:solidFill>
                          <a:latin typeface="Arial"/>
                          <a:cs typeface="Arial"/>
                        </a:rPr>
                        <a:t>of</a:t>
                      </a:r>
                      <a:r>
                        <a:rPr dirty="0" sz="1300" spc="-20">
                          <a:solidFill>
                            <a:srgbClr val="13203C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300" spc="50">
                          <a:solidFill>
                            <a:srgbClr val="13203C"/>
                          </a:solidFill>
                          <a:latin typeface="Arial"/>
                          <a:cs typeface="Arial"/>
                        </a:rPr>
                        <a:t>0–</a:t>
                      </a:r>
                      <a:r>
                        <a:rPr dirty="0" sz="1300">
                          <a:solidFill>
                            <a:srgbClr val="13203C"/>
                          </a:solidFill>
                          <a:latin typeface="Arial"/>
                          <a:cs typeface="Arial"/>
                        </a:rPr>
                        <a:t>4</a:t>
                      </a:r>
                      <a:endParaRPr sz="1300">
                        <a:latin typeface="Arial"/>
                        <a:cs typeface="Arial"/>
                      </a:endParaRPr>
                    </a:p>
                  </a:txBody>
                  <a:tcPr marL="0" marR="0" marB="0" marT="71755">
                    <a:lnL w="12700">
                      <a:solidFill>
                        <a:srgbClr val="C7C7C5"/>
                      </a:solidFill>
                      <a:prstDash val="solid"/>
                    </a:lnL>
                    <a:lnR w="12700">
                      <a:solidFill>
                        <a:srgbClr val="C7C7C5"/>
                      </a:solidFill>
                      <a:prstDash val="solid"/>
                    </a:lnR>
                    <a:lnT w="12700">
                      <a:solidFill>
                        <a:srgbClr val="C7C7C5"/>
                      </a:solidFill>
                      <a:prstDash val="solid"/>
                    </a:lnT>
                    <a:lnB w="12700">
                      <a:solidFill>
                        <a:srgbClr val="C7C7C5"/>
                      </a:solidFill>
                      <a:prstDash val="solid"/>
                    </a:lnB>
                  </a:tcPr>
                </a:tc>
              </a:tr>
              <a:tr h="356870">
                <a:tc>
                  <a:txBody>
                    <a:bodyPr/>
                    <a:lstStyle/>
                    <a:p>
                      <a:pPr marL="61594">
                        <a:lnSpc>
                          <a:spcPct val="100000"/>
                        </a:lnSpc>
                        <a:spcBef>
                          <a:spcPts val="575"/>
                        </a:spcBef>
                      </a:pPr>
                      <a:r>
                        <a:rPr dirty="0" sz="1300">
                          <a:solidFill>
                            <a:srgbClr val="13203C"/>
                          </a:solidFill>
                          <a:latin typeface="Arial"/>
                          <a:cs typeface="Arial"/>
                        </a:rPr>
                        <a:t>plt.yticks([0,</a:t>
                      </a:r>
                      <a:r>
                        <a:rPr dirty="0" sz="1300" spc="45">
                          <a:solidFill>
                            <a:srgbClr val="13203C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300">
                          <a:solidFill>
                            <a:srgbClr val="13203C"/>
                          </a:solidFill>
                          <a:latin typeface="Arial"/>
                          <a:cs typeface="Arial"/>
                        </a:rPr>
                        <a:t>1,</a:t>
                      </a:r>
                      <a:r>
                        <a:rPr dirty="0" sz="1300" spc="145">
                          <a:solidFill>
                            <a:srgbClr val="13203C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300" spc="-260">
                          <a:solidFill>
                            <a:srgbClr val="13203C"/>
                          </a:solidFill>
                          <a:latin typeface="Arial"/>
                          <a:cs typeface="Arial"/>
                        </a:rPr>
                        <a:t>…</a:t>
                      </a:r>
                      <a:r>
                        <a:rPr dirty="0" sz="1300" spc="85">
                          <a:solidFill>
                            <a:srgbClr val="13203C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300">
                          <a:solidFill>
                            <a:srgbClr val="13203C"/>
                          </a:solidFill>
                          <a:latin typeface="Arial"/>
                          <a:cs typeface="Arial"/>
                        </a:rPr>
                        <a:t>5],</a:t>
                      </a:r>
                      <a:r>
                        <a:rPr dirty="0" sz="1300" spc="50">
                          <a:solidFill>
                            <a:srgbClr val="13203C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300">
                          <a:solidFill>
                            <a:srgbClr val="13203C"/>
                          </a:solidFill>
                          <a:latin typeface="Arial"/>
                          <a:cs typeface="Arial"/>
                        </a:rPr>
                        <a:t>['$0m',</a:t>
                      </a:r>
                      <a:r>
                        <a:rPr dirty="0" sz="1300" spc="45">
                          <a:solidFill>
                            <a:srgbClr val="13203C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300" spc="-125">
                          <a:solidFill>
                            <a:srgbClr val="13203C"/>
                          </a:solidFill>
                          <a:latin typeface="Arial"/>
                          <a:cs typeface="Arial"/>
                        </a:rPr>
                        <a:t>…,</a:t>
                      </a:r>
                      <a:r>
                        <a:rPr dirty="0" sz="1300" spc="45">
                          <a:solidFill>
                            <a:srgbClr val="13203C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300" spc="-10">
                          <a:solidFill>
                            <a:srgbClr val="13203C"/>
                          </a:solidFill>
                          <a:latin typeface="Arial"/>
                          <a:cs typeface="Arial"/>
                        </a:rPr>
                        <a:t>'$5m'])</a:t>
                      </a:r>
                      <a:endParaRPr sz="1300">
                        <a:latin typeface="Arial"/>
                        <a:cs typeface="Arial"/>
                      </a:endParaRPr>
                    </a:p>
                  </a:txBody>
                  <a:tcPr marL="0" marR="0" marB="0" marT="73025">
                    <a:lnL w="12700">
                      <a:solidFill>
                        <a:srgbClr val="C7C7C5"/>
                      </a:solidFill>
                      <a:prstDash val="solid"/>
                    </a:lnL>
                    <a:lnR w="12700">
                      <a:solidFill>
                        <a:srgbClr val="C7C7C5"/>
                      </a:solidFill>
                      <a:prstDash val="solid"/>
                    </a:lnR>
                    <a:lnT w="12700">
                      <a:solidFill>
                        <a:srgbClr val="C7C7C5"/>
                      </a:solidFill>
                      <a:prstDash val="solid"/>
                    </a:lnT>
                    <a:lnB w="12700">
                      <a:solidFill>
                        <a:srgbClr val="C7C7C5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4135">
                        <a:lnSpc>
                          <a:spcPct val="100000"/>
                        </a:lnSpc>
                        <a:spcBef>
                          <a:spcPts val="575"/>
                        </a:spcBef>
                      </a:pPr>
                      <a:r>
                        <a:rPr dirty="0" sz="1300">
                          <a:solidFill>
                            <a:srgbClr val="13203C"/>
                          </a:solidFill>
                          <a:latin typeface="Arial"/>
                          <a:cs typeface="Arial"/>
                        </a:rPr>
                        <a:t>dollar</a:t>
                      </a:r>
                      <a:r>
                        <a:rPr dirty="0" sz="1300" spc="80">
                          <a:solidFill>
                            <a:srgbClr val="13203C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300" spc="-10">
                          <a:solidFill>
                            <a:srgbClr val="13203C"/>
                          </a:solidFill>
                          <a:latin typeface="Arial"/>
                          <a:cs typeface="Arial"/>
                        </a:rPr>
                        <a:t>labels</a:t>
                      </a:r>
                      <a:endParaRPr sz="1300">
                        <a:latin typeface="Arial"/>
                        <a:cs typeface="Arial"/>
                      </a:endParaRPr>
                    </a:p>
                  </a:txBody>
                  <a:tcPr marL="0" marR="0" marB="0" marT="73025">
                    <a:lnL w="12700">
                      <a:solidFill>
                        <a:srgbClr val="C7C7C5"/>
                      </a:solidFill>
                      <a:prstDash val="solid"/>
                    </a:lnL>
                    <a:lnR w="12700">
                      <a:solidFill>
                        <a:srgbClr val="C7C7C5"/>
                      </a:solidFill>
                      <a:prstDash val="solid"/>
                    </a:lnR>
                    <a:lnT w="12700">
                      <a:solidFill>
                        <a:srgbClr val="C7C7C5"/>
                      </a:solidFill>
                      <a:prstDash val="solid"/>
                    </a:lnT>
                    <a:lnB w="12700">
                      <a:solidFill>
                        <a:srgbClr val="C7C7C5"/>
                      </a:solidFill>
                      <a:prstDash val="solid"/>
                    </a:lnB>
                  </a:tcPr>
                </a:tc>
              </a:tr>
              <a:tr h="356870">
                <a:tc>
                  <a:txBody>
                    <a:bodyPr/>
                    <a:lstStyle/>
                    <a:p>
                      <a:pPr marL="61594">
                        <a:lnSpc>
                          <a:spcPct val="100000"/>
                        </a:lnSpc>
                        <a:spcBef>
                          <a:spcPts val="580"/>
                        </a:spcBef>
                      </a:pPr>
                      <a:r>
                        <a:rPr dirty="0" sz="1300" spc="-10">
                          <a:solidFill>
                            <a:srgbClr val="13203C"/>
                          </a:solidFill>
                          <a:latin typeface="Arial"/>
                          <a:cs typeface="Arial"/>
                        </a:rPr>
                        <a:t>plt.grid(True)</a:t>
                      </a:r>
                      <a:endParaRPr sz="1300">
                        <a:latin typeface="Arial"/>
                        <a:cs typeface="Arial"/>
                      </a:endParaRPr>
                    </a:p>
                  </a:txBody>
                  <a:tcPr marL="0" marR="0" marB="0" marT="73660">
                    <a:lnL w="12700">
                      <a:solidFill>
                        <a:srgbClr val="C7C7C5"/>
                      </a:solidFill>
                      <a:prstDash val="solid"/>
                    </a:lnL>
                    <a:lnR w="12700">
                      <a:solidFill>
                        <a:srgbClr val="C7C7C5"/>
                      </a:solidFill>
                      <a:prstDash val="solid"/>
                    </a:lnR>
                    <a:lnT w="12700">
                      <a:solidFill>
                        <a:srgbClr val="C7C7C5"/>
                      </a:solidFill>
                      <a:prstDash val="solid"/>
                    </a:lnT>
                    <a:lnB w="12700">
                      <a:solidFill>
                        <a:srgbClr val="C7C7C5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4135">
                        <a:lnSpc>
                          <a:spcPct val="100000"/>
                        </a:lnSpc>
                        <a:spcBef>
                          <a:spcPts val="580"/>
                        </a:spcBef>
                      </a:pPr>
                      <a:r>
                        <a:rPr dirty="0" sz="1300">
                          <a:solidFill>
                            <a:srgbClr val="13203C"/>
                          </a:solidFill>
                          <a:latin typeface="Arial"/>
                          <a:cs typeface="Arial"/>
                        </a:rPr>
                        <a:t>the</a:t>
                      </a:r>
                      <a:r>
                        <a:rPr dirty="0" sz="1300" spc="70">
                          <a:solidFill>
                            <a:srgbClr val="13203C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300">
                          <a:solidFill>
                            <a:srgbClr val="13203C"/>
                          </a:solidFill>
                          <a:latin typeface="Arial"/>
                          <a:cs typeface="Arial"/>
                        </a:rPr>
                        <a:t>dotted</a:t>
                      </a:r>
                      <a:r>
                        <a:rPr dirty="0" sz="1300" spc="120">
                          <a:solidFill>
                            <a:srgbClr val="13203C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300" spc="-20">
                          <a:solidFill>
                            <a:srgbClr val="13203C"/>
                          </a:solidFill>
                          <a:latin typeface="Arial"/>
                          <a:cs typeface="Arial"/>
                        </a:rPr>
                        <a:t>grid</a:t>
                      </a:r>
                      <a:endParaRPr sz="1300">
                        <a:latin typeface="Arial"/>
                        <a:cs typeface="Arial"/>
                      </a:endParaRPr>
                    </a:p>
                  </a:txBody>
                  <a:tcPr marL="0" marR="0" marB="0" marT="73660">
                    <a:lnL w="12700">
                      <a:solidFill>
                        <a:srgbClr val="C7C7C5"/>
                      </a:solidFill>
                      <a:prstDash val="solid"/>
                    </a:lnL>
                    <a:lnR w="12700">
                      <a:solidFill>
                        <a:srgbClr val="C7C7C5"/>
                      </a:solidFill>
                      <a:prstDash val="solid"/>
                    </a:lnR>
                    <a:lnT w="12700">
                      <a:solidFill>
                        <a:srgbClr val="C7C7C5"/>
                      </a:solidFill>
                      <a:prstDash val="solid"/>
                    </a:lnT>
                    <a:lnB w="12700">
                      <a:solidFill>
                        <a:srgbClr val="C7C7C5"/>
                      </a:solidFill>
                      <a:prstDash val="solid"/>
                    </a:lnB>
                  </a:tcPr>
                </a:tc>
              </a:tr>
              <a:tr h="588010">
                <a:tc>
                  <a:txBody>
                    <a:bodyPr/>
                    <a:lstStyle/>
                    <a:p>
                      <a:pPr marL="61594">
                        <a:lnSpc>
                          <a:spcPct val="100000"/>
                        </a:lnSpc>
                        <a:spcBef>
                          <a:spcPts val="580"/>
                        </a:spcBef>
                      </a:pPr>
                      <a:r>
                        <a:rPr dirty="0" sz="1300" spc="10">
                          <a:solidFill>
                            <a:srgbClr val="13203C"/>
                          </a:solidFill>
                          <a:latin typeface="Arial"/>
                          <a:cs typeface="Arial"/>
                        </a:rPr>
                        <a:t>plt.xlim(1,</a:t>
                      </a:r>
                      <a:r>
                        <a:rPr dirty="0" sz="1300" spc="45">
                          <a:solidFill>
                            <a:srgbClr val="13203C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300" spc="10">
                          <a:solidFill>
                            <a:srgbClr val="13203C"/>
                          </a:solidFill>
                          <a:latin typeface="Arial"/>
                          <a:cs typeface="Arial"/>
                        </a:rPr>
                        <a:t>100)</a:t>
                      </a:r>
                      <a:r>
                        <a:rPr dirty="0" sz="1300" spc="135">
                          <a:solidFill>
                            <a:srgbClr val="13203C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300">
                          <a:solidFill>
                            <a:srgbClr val="13203C"/>
                          </a:solidFill>
                          <a:latin typeface="Arial"/>
                          <a:cs typeface="Arial"/>
                        </a:rPr>
                        <a:t>·</a:t>
                      </a:r>
                      <a:r>
                        <a:rPr dirty="0" sz="1300" spc="50">
                          <a:solidFill>
                            <a:srgbClr val="13203C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300" spc="10">
                          <a:solidFill>
                            <a:srgbClr val="13203C"/>
                          </a:solidFill>
                          <a:latin typeface="Arial"/>
                          <a:cs typeface="Arial"/>
                        </a:rPr>
                        <a:t>plt.ylim(10,</a:t>
                      </a:r>
                      <a:r>
                        <a:rPr dirty="0" sz="1300" spc="50">
                          <a:solidFill>
                            <a:srgbClr val="13203C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300" spc="-25">
                          <a:solidFill>
                            <a:srgbClr val="13203C"/>
                          </a:solidFill>
                          <a:latin typeface="Arial"/>
                          <a:cs typeface="Arial"/>
                        </a:rPr>
                        <a:t>50)</a:t>
                      </a:r>
                      <a:endParaRPr sz="1300">
                        <a:latin typeface="Arial"/>
                        <a:cs typeface="Arial"/>
                      </a:endParaRPr>
                    </a:p>
                  </a:txBody>
                  <a:tcPr marL="0" marR="0" marB="0" marT="73660">
                    <a:lnL w="12700">
                      <a:solidFill>
                        <a:srgbClr val="C7C7C5"/>
                      </a:solidFill>
                      <a:prstDash val="solid"/>
                    </a:lnL>
                    <a:lnR w="12700">
                      <a:solidFill>
                        <a:srgbClr val="C7C7C5"/>
                      </a:solidFill>
                      <a:prstDash val="solid"/>
                    </a:lnR>
                    <a:lnT w="12700">
                      <a:solidFill>
                        <a:srgbClr val="C7C7C5"/>
                      </a:solidFill>
                      <a:prstDash val="solid"/>
                    </a:lnT>
                    <a:lnB w="12700">
                      <a:solidFill>
                        <a:srgbClr val="C7C7C5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4135" marR="436880">
                        <a:lnSpc>
                          <a:spcPct val="115599"/>
                        </a:lnSpc>
                        <a:spcBef>
                          <a:spcPts val="340"/>
                        </a:spcBef>
                      </a:pPr>
                      <a:r>
                        <a:rPr dirty="0" sz="1300">
                          <a:solidFill>
                            <a:srgbClr val="13203C"/>
                          </a:solidFill>
                          <a:latin typeface="Arial"/>
                          <a:cs typeface="Arial"/>
                        </a:rPr>
                        <a:t>set</a:t>
                      </a:r>
                      <a:r>
                        <a:rPr dirty="0" sz="1300" spc="-20">
                          <a:solidFill>
                            <a:srgbClr val="13203C"/>
                          </a:solidFill>
                          <a:latin typeface="Arial"/>
                          <a:cs typeface="Arial"/>
                        </a:rPr>
                        <a:t> each</a:t>
                      </a:r>
                      <a:r>
                        <a:rPr dirty="0" sz="1300" spc="-10">
                          <a:solidFill>
                            <a:srgbClr val="13203C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300">
                          <a:solidFill>
                            <a:srgbClr val="13203C"/>
                          </a:solidFill>
                          <a:latin typeface="Arial"/>
                          <a:cs typeface="Arial"/>
                        </a:rPr>
                        <a:t>axis's</a:t>
                      </a:r>
                      <a:r>
                        <a:rPr dirty="0" sz="1300" spc="30">
                          <a:solidFill>
                            <a:srgbClr val="13203C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300" spc="-20">
                          <a:solidFill>
                            <a:srgbClr val="13203C"/>
                          </a:solidFill>
                          <a:latin typeface="Arial"/>
                          <a:cs typeface="Arial"/>
                        </a:rPr>
                        <a:t>range</a:t>
                      </a:r>
                      <a:r>
                        <a:rPr dirty="0" sz="1300" spc="-60">
                          <a:solidFill>
                            <a:srgbClr val="13203C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300" spc="-20">
                          <a:solidFill>
                            <a:srgbClr val="13203C"/>
                          </a:solidFill>
                          <a:latin typeface="Arial"/>
                          <a:cs typeface="Arial"/>
                        </a:rPr>
                        <a:t>(not </a:t>
                      </a:r>
                      <a:r>
                        <a:rPr dirty="0" sz="1300">
                          <a:solidFill>
                            <a:srgbClr val="13203C"/>
                          </a:solidFill>
                          <a:latin typeface="Arial"/>
                          <a:cs typeface="Arial"/>
                        </a:rPr>
                        <a:t>used</a:t>
                      </a:r>
                      <a:r>
                        <a:rPr dirty="0" sz="1300" spc="-50">
                          <a:solidFill>
                            <a:srgbClr val="13203C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300" spc="-10">
                          <a:solidFill>
                            <a:srgbClr val="13203C"/>
                          </a:solidFill>
                          <a:latin typeface="Arial"/>
                          <a:cs typeface="Arial"/>
                        </a:rPr>
                        <a:t>here)</a:t>
                      </a:r>
                      <a:endParaRPr sz="1300">
                        <a:latin typeface="Arial"/>
                        <a:cs typeface="Arial"/>
                      </a:endParaRPr>
                    </a:p>
                  </a:txBody>
                  <a:tcPr marL="0" marR="0" marB="0" marT="43180">
                    <a:lnL w="12700">
                      <a:solidFill>
                        <a:srgbClr val="C7C7C5"/>
                      </a:solidFill>
                      <a:prstDash val="solid"/>
                    </a:lnL>
                    <a:lnR w="12700">
                      <a:solidFill>
                        <a:srgbClr val="C7C7C5"/>
                      </a:solidFill>
                      <a:prstDash val="solid"/>
                    </a:lnR>
                    <a:lnT w="12700">
                      <a:solidFill>
                        <a:srgbClr val="C7C7C5"/>
                      </a:solidFill>
                      <a:prstDash val="solid"/>
                    </a:lnT>
                    <a:lnB w="12700">
                      <a:solidFill>
                        <a:srgbClr val="C7C7C5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800480" y="793067"/>
            <a:ext cx="5877560" cy="806450"/>
          </a:xfrm>
          <a:prstGeom prst="rect"/>
        </p:spPr>
        <p:txBody>
          <a:bodyPr wrap="square" lIns="0" tIns="419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330"/>
              </a:spcBef>
            </a:pPr>
            <a:r>
              <a:rPr dirty="0" sz="1350" spc="65">
                <a:solidFill>
                  <a:srgbClr val="B45209"/>
                </a:solidFill>
              </a:rPr>
              <a:t>0</a:t>
            </a:r>
            <a:r>
              <a:rPr dirty="0" sz="1350" spc="-185">
                <a:solidFill>
                  <a:srgbClr val="B45209"/>
                </a:solidFill>
              </a:rPr>
              <a:t> </a:t>
            </a:r>
            <a:r>
              <a:rPr dirty="0" sz="1350" spc="65">
                <a:solidFill>
                  <a:srgbClr val="B45209"/>
                </a:solidFill>
              </a:rPr>
              <a:t>5</a:t>
            </a:r>
            <a:r>
              <a:rPr dirty="0" sz="1350" spc="270">
                <a:solidFill>
                  <a:srgbClr val="B45209"/>
                </a:solidFill>
              </a:rPr>
              <a:t> </a:t>
            </a:r>
            <a:r>
              <a:rPr dirty="0" sz="1350">
                <a:solidFill>
                  <a:srgbClr val="B45209"/>
                </a:solidFill>
              </a:rPr>
              <a:t>·</a:t>
            </a:r>
            <a:r>
              <a:rPr dirty="0" sz="1350" spc="320">
                <a:solidFill>
                  <a:srgbClr val="B45209"/>
                </a:solidFill>
              </a:rPr>
              <a:t> </a:t>
            </a:r>
            <a:r>
              <a:rPr dirty="0" sz="1350" spc="145">
                <a:solidFill>
                  <a:srgbClr val="B45209"/>
                </a:solidFill>
              </a:rPr>
              <a:t>VISU</a:t>
            </a:r>
            <a:r>
              <a:rPr dirty="0" sz="1350" spc="-165">
                <a:solidFill>
                  <a:srgbClr val="B45209"/>
                </a:solidFill>
              </a:rPr>
              <a:t> </a:t>
            </a:r>
            <a:r>
              <a:rPr dirty="0" sz="1350" spc="135">
                <a:solidFill>
                  <a:srgbClr val="B45209"/>
                </a:solidFill>
              </a:rPr>
              <a:t>ALIZ</a:t>
            </a:r>
            <a:r>
              <a:rPr dirty="0" sz="1350" spc="-190">
                <a:solidFill>
                  <a:srgbClr val="B45209"/>
                </a:solidFill>
              </a:rPr>
              <a:t> </a:t>
            </a:r>
            <a:r>
              <a:rPr dirty="0" sz="1350">
                <a:solidFill>
                  <a:srgbClr val="B45209"/>
                </a:solidFill>
              </a:rPr>
              <a:t>AT</a:t>
            </a:r>
            <a:r>
              <a:rPr dirty="0" sz="1350" spc="-160">
                <a:solidFill>
                  <a:srgbClr val="B45209"/>
                </a:solidFill>
              </a:rPr>
              <a:t> </a:t>
            </a:r>
            <a:r>
              <a:rPr dirty="0" sz="1350" spc="130">
                <a:solidFill>
                  <a:srgbClr val="B45209"/>
                </a:solidFill>
              </a:rPr>
              <a:t>IO</a:t>
            </a:r>
            <a:r>
              <a:rPr dirty="0" sz="1350" spc="-195">
                <a:solidFill>
                  <a:srgbClr val="B45209"/>
                </a:solidFill>
              </a:rPr>
              <a:t> </a:t>
            </a:r>
            <a:r>
              <a:rPr dirty="0" sz="1350" spc="-50">
                <a:solidFill>
                  <a:srgbClr val="B45209"/>
                </a:solidFill>
              </a:rPr>
              <a:t>N</a:t>
            </a:r>
            <a:endParaRPr sz="1350"/>
          </a:p>
          <a:p>
            <a:pPr marL="12700">
              <a:lnSpc>
                <a:spcPct val="100000"/>
              </a:lnSpc>
              <a:spcBef>
                <a:spcPts val="509"/>
              </a:spcBef>
            </a:pPr>
            <a:r>
              <a:rPr dirty="0"/>
              <a:t>A</a:t>
            </a:r>
            <a:r>
              <a:rPr dirty="0" spc="-60"/>
              <a:t> </a:t>
            </a:r>
            <a:r>
              <a:rPr dirty="0"/>
              <a:t>bar</a:t>
            </a:r>
            <a:r>
              <a:rPr dirty="0" spc="-120"/>
              <a:t> </a:t>
            </a:r>
            <a:r>
              <a:rPr dirty="0"/>
              <a:t>chart</a:t>
            </a:r>
            <a:r>
              <a:rPr dirty="0" spc="-40"/>
              <a:t> </a:t>
            </a:r>
            <a:r>
              <a:rPr dirty="0" spc="-25"/>
              <a:t>compares</a:t>
            </a:r>
            <a:r>
              <a:rPr dirty="0" spc="-140"/>
              <a:t> </a:t>
            </a:r>
            <a:r>
              <a:rPr dirty="0" spc="-10"/>
              <a:t>amounts</a:t>
            </a:r>
          </a:p>
        </p:txBody>
      </p:sp>
      <p:sp>
        <p:nvSpPr>
          <p:cNvPr id="3" name="object 3"/>
          <p:cNvSpPr/>
          <p:nvPr/>
        </p:nvSpPr>
        <p:spPr>
          <a:xfrm>
            <a:off x="813816" y="1911604"/>
            <a:ext cx="5943600" cy="1591945"/>
          </a:xfrm>
          <a:custGeom>
            <a:avLst/>
            <a:gdLst/>
            <a:ahLst/>
            <a:cxnLst/>
            <a:rect l="l" t="t" r="r" b="b"/>
            <a:pathLst>
              <a:path w="5943600" h="1591945">
                <a:moveTo>
                  <a:pt x="5842254" y="0"/>
                </a:moveTo>
                <a:lnTo>
                  <a:pt x="101346" y="0"/>
                </a:lnTo>
                <a:lnTo>
                  <a:pt x="61898" y="7959"/>
                </a:lnTo>
                <a:lnTo>
                  <a:pt x="29684" y="29670"/>
                </a:lnTo>
                <a:lnTo>
                  <a:pt x="7964" y="61882"/>
                </a:lnTo>
                <a:lnTo>
                  <a:pt x="0" y="101346"/>
                </a:lnTo>
                <a:lnTo>
                  <a:pt x="0" y="1490091"/>
                </a:lnTo>
                <a:lnTo>
                  <a:pt x="7964" y="1529554"/>
                </a:lnTo>
                <a:lnTo>
                  <a:pt x="29684" y="1561766"/>
                </a:lnTo>
                <a:lnTo>
                  <a:pt x="61898" y="1583477"/>
                </a:lnTo>
                <a:lnTo>
                  <a:pt x="101346" y="1591437"/>
                </a:lnTo>
                <a:lnTo>
                  <a:pt x="5842254" y="1591437"/>
                </a:lnTo>
                <a:lnTo>
                  <a:pt x="5881717" y="1583477"/>
                </a:lnTo>
                <a:lnTo>
                  <a:pt x="5913929" y="1561766"/>
                </a:lnTo>
                <a:lnTo>
                  <a:pt x="5935640" y="1529554"/>
                </a:lnTo>
                <a:lnTo>
                  <a:pt x="5943600" y="1490091"/>
                </a:lnTo>
                <a:lnTo>
                  <a:pt x="5943600" y="101346"/>
                </a:lnTo>
                <a:lnTo>
                  <a:pt x="5935640" y="61882"/>
                </a:lnTo>
                <a:lnTo>
                  <a:pt x="5913929" y="29670"/>
                </a:lnTo>
                <a:lnTo>
                  <a:pt x="5881717" y="7959"/>
                </a:lnTo>
                <a:lnTo>
                  <a:pt x="5842254" y="0"/>
                </a:lnTo>
                <a:close/>
              </a:path>
            </a:pathLst>
          </a:custGeom>
          <a:solidFill>
            <a:srgbClr val="13203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/>
          <p:nvPr/>
        </p:nvSpPr>
        <p:spPr>
          <a:xfrm>
            <a:off x="800480" y="2099264"/>
            <a:ext cx="6055360" cy="2455545"/>
          </a:xfrm>
          <a:prstGeom prst="rect">
            <a:avLst/>
          </a:prstGeom>
        </p:spPr>
        <p:txBody>
          <a:bodyPr wrap="square" lIns="0" tIns="81915" rIns="0" bIns="0" rtlCol="0" vert="horz">
            <a:spAutoFit/>
          </a:bodyPr>
          <a:lstStyle/>
          <a:p>
            <a:pPr marL="266700">
              <a:lnSpc>
                <a:spcPct val="100000"/>
              </a:lnSpc>
              <a:spcBef>
                <a:spcPts val="645"/>
              </a:spcBef>
            </a:pPr>
            <a:r>
              <a:rPr dirty="0" sz="1350" spc="-40">
                <a:solidFill>
                  <a:srgbClr val="F4F0EA"/>
                </a:solidFill>
                <a:latin typeface="Arial"/>
                <a:cs typeface="Arial"/>
              </a:rPr>
              <a:t>left_edges</a:t>
            </a:r>
            <a:r>
              <a:rPr dirty="0" sz="1350" spc="-45">
                <a:solidFill>
                  <a:srgbClr val="F4F0EA"/>
                </a:solidFill>
                <a:latin typeface="Arial"/>
                <a:cs typeface="Arial"/>
              </a:rPr>
              <a:t> </a:t>
            </a:r>
            <a:r>
              <a:rPr dirty="0" sz="1350" spc="-120">
                <a:solidFill>
                  <a:srgbClr val="F4F0EA"/>
                </a:solidFill>
                <a:latin typeface="Arial"/>
                <a:cs typeface="Arial"/>
              </a:rPr>
              <a:t>=</a:t>
            </a:r>
            <a:r>
              <a:rPr dirty="0" sz="1350" spc="-45">
                <a:solidFill>
                  <a:srgbClr val="F4F0EA"/>
                </a:solidFill>
                <a:latin typeface="Arial"/>
                <a:cs typeface="Arial"/>
              </a:rPr>
              <a:t> </a:t>
            </a:r>
            <a:r>
              <a:rPr dirty="0" sz="1350">
                <a:solidFill>
                  <a:srgbClr val="F4F0EA"/>
                </a:solidFill>
                <a:latin typeface="Arial"/>
                <a:cs typeface="Arial"/>
              </a:rPr>
              <a:t>[0,</a:t>
            </a:r>
            <a:r>
              <a:rPr dirty="0" sz="1350" spc="-65">
                <a:solidFill>
                  <a:srgbClr val="F4F0EA"/>
                </a:solidFill>
                <a:latin typeface="Arial"/>
                <a:cs typeface="Arial"/>
              </a:rPr>
              <a:t> </a:t>
            </a:r>
            <a:r>
              <a:rPr dirty="0" sz="1350" spc="-40">
                <a:solidFill>
                  <a:srgbClr val="F4F0EA"/>
                </a:solidFill>
                <a:latin typeface="Arial"/>
                <a:cs typeface="Arial"/>
              </a:rPr>
              <a:t>10,</a:t>
            </a:r>
            <a:r>
              <a:rPr dirty="0" sz="1350" spc="-65">
                <a:solidFill>
                  <a:srgbClr val="F4F0EA"/>
                </a:solidFill>
                <a:latin typeface="Arial"/>
                <a:cs typeface="Arial"/>
              </a:rPr>
              <a:t> </a:t>
            </a:r>
            <a:r>
              <a:rPr dirty="0" sz="1350" spc="-40">
                <a:solidFill>
                  <a:srgbClr val="F4F0EA"/>
                </a:solidFill>
                <a:latin typeface="Arial"/>
                <a:cs typeface="Arial"/>
              </a:rPr>
              <a:t>20,</a:t>
            </a:r>
            <a:r>
              <a:rPr dirty="0" sz="1350" spc="-65">
                <a:solidFill>
                  <a:srgbClr val="F4F0EA"/>
                </a:solidFill>
                <a:latin typeface="Arial"/>
                <a:cs typeface="Arial"/>
              </a:rPr>
              <a:t> </a:t>
            </a:r>
            <a:r>
              <a:rPr dirty="0" sz="1350" spc="-40">
                <a:solidFill>
                  <a:srgbClr val="F4F0EA"/>
                </a:solidFill>
                <a:latin typeface="Arial"/>
                <a:cs typeface="Arial"/>
              </a:rPr>
              <a:t>30,</a:t>
            </a:r>
            <a:r>
              <a:rPr dirty="0" sz="1350" spc="-65">
                <a:solidFill>
                  <a:srgbClr val="F4F0EA"/>
                </a:solidFill>
                <a:latin typeface="Arial"/>
                <a:cs typeface="Arial"/>
              </a:rPr>
              <a:t> </a:t>
            </a:r>
            <a:r>
              <a:rPr dirty="0" sz="1350" spc="-25">
                <a:solidFill>
                  <a:srgbClr val="F4F0EA"/>
                </a:solidFill>
                <a:latin typeface="Arial"/>
                <a:cs typeface="Arial"/>
              </a:rPr>
              <a:t>40]</a:t>
            </a:r>
            <a:endParaRPr sz="1350">
              <a:latin typeface="Arial"/>
              <a:cs typeface="Arial"/>
            </a:endParaRPr>
          </a:p>
          <a:p>
            <a:pPr marL="266700">
              <a:lnSpc>
                <a:spcPct val="100000"/>
              </a:lnSpc>
              <a:spcBef>
                <a:spcPts val="545"/>
              </a:spcBef>
            </a:pPr>
            <a:r>
              <a:rPr dirty="0" sz="1350" spc="-35">
                <a:solidFill>
                  <a:srgbClr val="F4F0EA"/>
                </a:solidFill>
                <a:latin typeface="Arial"/>
                <a:cs typeface="Arial"/>
              </a:rPr>
              <a:t>heights</a:t>
            </a:r>
            <a:r>
              <a:rPr dirty="0" sz="1350" spc="-45">
                <a:solidFill>
                  <a:srgbClr val="F4F0EA"/>
                </a:solidFill>
                <a:latin typeface="Arial"/>
                <a:cs typeface="Arial"/>
              </a:rPr>
              <a:t> </a:t>
            </a:r>
            <a:r>
              <a:rPr dirty="0" sz="1350" spc="-120">
                <a:solidFill>
                  <a:srgbClr val="F4F0EA"/>
                </a:solidFill>
                <a:latin typeface="Arial"/>
                <a:cs typeface="Arial"/>
              </a:rPr>
              <a:t>=</a:t>
            </a:r>
            <a:r>
              <a:rPr dirty="0" sz="1350" spc="-40">
                <a:solidFill>
                  <a:srgbClr val="F4F0EA"/>
                </a:solidFill>
                <a:latin typeface="Arial"/>
                <a:cs typeface="Arial"/>
              </a:rPr>
              <a:t> </a:t>
            </a:r>
            <a:r>
              <a:rPr dirty="0" sz="1350" spc="-25">
                <a:solidFill>
                  <a:srgbClr val="F4F0EA"/>
                </a:solidFill>
                <a:latin typeface="Arial"/>
                <a:cs typeface="Arial"/>
              </a:rPr>
              <a:t>[100,</a:t>
            </a:r>
            <a:r>
              <a:rPr dirty="0" sz="1350" spc="-65">
                <a:solidFill>
                  <a:srgbClr val="F4F0EA"/>
                </a:solidFill>
                <a:latin typeface="Arial"/>
                <a:cs typeface="Arial"/>
              </a:rPr>
              <a:t> </a:t>
            </a:r>
            <a:r>
              <a:rPr dirty="0" sz="1350" spc="-40">
                <a:solidFill>
                  <a:srgbClr val="F4F0EA"/>
                </a:solidFill>
                <a:latin typeface="Arial"/>
                <a:cs typeface="Arial"/>
              </a:rPr>
              <a:t>200,</a:t>
            </a:r>
            <a:r>
              <a:rPr dirty="0" sz="1350" spc="-60">
                <a:solidFill>
                  <a:srgbClr val="F4F0EA"/>
                </a:solidFill>
                <a:latin typeface="Arial"/>
                <a:cs typeface="Arial"/>
              </a:rPr>
              <a:t> </a:t>
            </a:r>
            <a:r>
              <a:rPr dirty="0" sz="1350" spc="-40">
                <a:solidFill>
                  <a:srgbClr val="F4F0EA"/>
                </a:solidFill>
                <a:latin typeface="Arial"/>
                <a:cs typeface="Arial"/>
              </a:rPr>
              <a:t>300,</a:t>
            </a:r>
            <a:r>
              <a:rPr dirty="0" sz="1350" spc="-60">
                <a:solidFill>
                  <a:srgbClr val="F4F0EA"/>
                </a:solidFill>
                <a:latin typeface="Arial"/>
                <a:cs typeface="Arial"/>
              </a:rPr>
              <a:t> </a:t>
            </a:r>
            <a:r>
              <a:rPr dirty="0" sz="1350" spc="-40">
                <a:solidFill>
                  <a:srgbClr val="F4F0EA"/>
                </a:solidFill>
                <a:latin typeface="Arial"/>
                <a:cs typeface="Arial"/>
              </a:rPr>
              <a:t>400,</a:t>
            </a:r>
            <a:r>
              <a:rPr dirty="0" sz="1350" spc="-65">
                <a:solidFill>
                  <a:srgbClr val="F4F0EA"/>
                </a:solidFill>
                <a:latin typeface="Arial"/>
                <a:cs typeface="Arial"/>
              </a:rPr>
              <a:t> </a:t>
            </a:r>
            <a:r>
              <a:rPr dirty="0" sz="1350" spc="-20">
                <a:solidFill>
                  <a:srgbClr val="F4F0EA"/>
                </a:solidFill>
                <a:latin typeface="Arial"/>
                <a:cs typeface="Arial"/>
              </a:rPr>
              <a:t>500]</a:t>
            </a:r>
            <a:endParaRPr sz="1350">
              <a:latin typeface="Arial"/>
              <a:cs typeface="Arial"/>
            </a:endParaRPr>
          </a:p>
          <a:p>
            <a:pPr marL="266700" marR="2694305">
              <a:lnSpc>
                <a:spcPts val="2230"/>
              </a:lnSpc>
              <a:spcBef>
                <a:spcPts val="180"/>
              </a:spcBef>
            </a:pPr>
            <a:r>
              <a:rPr dirty="0" sz="1350" spc="-30">
                <a:solidFill>
                  <a:srgbClr val="F4F0EA"/>
                </a:solidFill>
                <a:latin typeface="Arial"/>
                <a:cs typeface="Arial"/>
              </a:rPr>
              <a:t>plt.bar(left_edges,</a:t>
            </a:r>
            <a:r>
              <a:rPr dirty="0" sz="1350" spc="-40">
                <a:solidFill>
                  <a:srgbClr val="F4F0EA"/>
                </a:solidFill>
                <a:latin typeface="Arial"/>
                <a:cs typeface="Arial"/>
              </a:rPr>
              <a:t> </a:t>
            </a:r>
            <a:r>
              <a:rPr dirty="0" sz="1350" spc="-35">
                <a:solidFill>
                  <a:srgbClr val="F4F0EA"/>
                </a:solidFill>
                <a:latin typeface="Arial"/>
                <a:cs typeface="Arial"/>
              </a:rPr>
              <a:t>heights, </a:t>
            </a:r>
            <a:r>
              <a:rPr dirty="0" sz="1350">
                <a:solidFill>
                  <a:srgbClr val="F4F0EA"/>
                </a:solidFill>
                <a:latin typeface="Arial"/>
                <a:cs typeface="Arial"/>
              </a:rPr>
              <a:t>5,</a:t>
            </a:r>
            <a:r>
              <a:rPr dirty="0" sz="1350" spc="50">
                <a:solidFill>
                  <a:srgbClr val="F4F0EA"/>
                </a:solidFill>
                <a:latin typeface="Arial"/>
                <a:cs typeface="Arial"/>
              </a:rPr>
              <a:t> </a:t>
            </a:r>
            <a:r>
              <a:rPr dirty="0" sz="1350" spc="-25">
                <a:solidFill>
                  <a:srgbClr val="F4F0EA"/>
                </a:solidFill>
                <a:latin typeface="Arial"/>
                <a:cs typeface="Arial"/>
              </a:rPr>
              <a:t>align='edge') </a:t>
            </a:r>
            <a:r>
              <a:rPr dirty="0" sz="1350" spc="-10">
                <a:solidFill>
                  <a:srgbClr val="F4F0EA"/>
                </a:solidFill>
                <a:latin typeface="Arial"/>
                <a:cs typeface="Arial"/>
              </a:rPr>
              <a:t>plt.show()</a:t>
            </a:r>
            <a:endParaRPr sz="135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13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300"/>
              </a:spcBef>
            </a:pPr>
            <a:endParaRPr sz="13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dirty="0" sz="1350" spc="10">
                <a:solidFill>
                  <a:srgbClr val="3C495C"/>
                </a:solidFill>
                <a:latin typeface="Arial"/>
                <a:cs typeface="Arial"/>
              </a:rPr>
              <a:t>The</a:t>
            </a:r>
            <a:r>
              <a:rPr dirty="0" sz="1350" spc="30">
                <a:solidFill>
                  <a:srgbClr val="3C495C"/>
                </a:solidFill>
                <a:latin typeface="Arial"/>
                <a:cs typeface="Arial"/>
              </a:rPr>
              <a:t> </a:t>
            </a:r>
            <a:r>
              <a:rPr dirty="0" sz="1350" spc="55">
                <a:solidFill>
                  <a:srgbClr val="3C495C"/>
                </a:solidFill>
                <a:latin typeface="Arial"/>
                <a:cs typeface="Arial"/>
              </a:rPr>
              <a:t>third</a:t>
            </a:r>
            <a:r>
              <a:rPr dirty="0" sz="1350" spc="70">
                <a:solidFill>
                  <a:srgbClr val="3C495C"/>
                </a:solidFill>
                <a:latin typeface="Arial"/>
                <a:cs typeface="Arial"/>
              </a:rPr>
              <a:t> </a:t>
            </a:r>
            <a:r>
              <a:rPr dirty="0" sz="1350" spc="10">
                <a:solidFill>
                  <a:srgbClr val="3C495C"/>
                </a:solidFill>
                <a:latin typeface="Arial"/>
                <a:cs typeface="Arial"/>
              </a:rPr>
              <a:t>argument</a:t>
            </a:r>
            <a:r>
              <a:rPr dirty="0" sz="1350" spc="15">
                <a:solidFill>
                  <a:srgbClr val="3C495C"/>
                </a:solidFill>
                <a:latin typeface="Arial"/>
                <a:cs typeface="Arial"/>
              </a:rPr>
              <a:t> </a:t>
            </a:r>
            <a:r>
              <a:rPr dirty="0" sz="1350" spc="10">
                <a:solidFill>
                  <a:srgbClr val="3C495C"/>
                </a:solidFill>
                <a:latin typeface="Arial"/>
                <a:cs typeface="Arial"/>
              </a:rPr>
              <a:t>is</a:t>
            </a:r>
            <a:r>
              <a:rPr dirty="0" sz="1350" spc="55">
                <a:solidFill>
                  <a:srgbClr val="3C495C"/>
                </a:solidFill>
                <a:latin typeface="Arial"/>
                <a:cs typeface="Arial"/>
              </a:rPr>
              <a:t> </a:t>
            </a:r>
            <a:r>
              <a:rPr dirty="0" sz="1350" spc="50">
                <a:solidFill>
                  <a:srgbClr val="3C495C"/>
                </a:solidFill>
                <a:latin typeface="Arial"/>
                <a:cs typeface="Arial"/>
              </a:rPr>
              <a:t>the</a:t>
            </a:r>
            <a:r>
              <a:rPr dirty="0" sz="1350" spc="30">
                <a:solidFill>
                  <a:srgbClr val="3C495C"/>
                </a:solidFill>
                <a:latin typeface="Arial"/>
                <a:cs typeface="Arial"/>
              </a:rPr>
              <a:t> </a:t>
            </a:r>
            <a:r>
              <a:rPr dirty="0" sz="1350" spc="10">
                <a:solidFill>
                  <a:srgbClr val="3C495C"/>
                </a:solidFill>
                <a:latin typeface="Arial"/>
                <a:cs typeface="Arial"/>
              </a:rPr>
              <a:t>bar</a:t>
            </a:r>
            <a:r>
              <a:rPr dirty="0" sz="1350" spc="130">
                <a:solidFill>
                  <a:srgbClr val="3C495C"/>
                </a:solidFill>
                <a:latin typeface="Arial"/>
                <a:cs typeface="Arial"/>
              </a:rPr>
              <a:t> </a:t>
            </a:r>
            <a:r>
              <a:rPr dirty="0" sz="1350" spc="10" b="1">
                <a:solidFill>
                  <a:srgbClr val="3C495C"/>
                </a:solidFill>
                <a:latin typeface="Arial"/>
                <a:cs typeface="Arial"/>
              </a:rPr>
              <a:t>width</a:t>
            </a:r>
            <a:r>
              <a:rPr dirty="0" sz="1350" spc="70" b="1">
                <a:solidFill>
                  <a:srgbClr val="3C495C"/>
                </a:solidFill>
                <a:latin typeface="Arial"/>
                <a:cs typeface="Arial"/>
              </a:rPr>
              <a:t> </a:t>
            </a:r>
            <a:r>
              <a:rPr dirty="0" sz="1350" spc="10">
                <a:solidFill>
                  <a:srgbClr val="3C495C"/>
                </a:solidFill>
                <a:latin typeface="Arial"/>
                <a:cs typeface="Arial"/>
              </a:rPr>
              <a:t>(default</a:t>
            </a:r>
            <a:r>
              <a:rPr dirty="0" sz="1350" spc="110">
                <a:solidFill>
                  <a:srgbClr val="3C495C"/>
                </a:solidFill>
                <a:latin typeface="Arial"/>
                <a:cs typeface="Arial"/>
              </a:rPr>
              <a:t> </a:t>
            </a:r>
            <a:r>
              <a:rPr dirty="0" sz="1350" spc="10">
                <a:solidFill>
                  <a:srgbClr val="3C495C"/>
                </a:solidFill>
                <a:latin typeface="Arial"/>
                <a:cs typeface="Arial"/>
              </a:rPr>
              <a:t>0.8).</a:t>
            </a:r>
            <a:r>
              <a:rPr dirty="0" sz="1350" spc="65">
                <a:solidFill>
                  <a:srgbClr val="3C495C"/>
                </a:solidFill>
                <a:latin typeface="Arial"/>
                <a:cs typeface="Arial"/>
              </a:rPr>
              <a:t> </a:t>
            </a:r>
            <a:r>
              <a:rPr dirty="0" sz="1350" spc="10">
                <a:solidFill>
                  <a:srgbClr val="3C495C"/>
                </a:solidFill>
                <a:latin typeface="Arial"/>
                <a:cs typeface="Arial"/>
              </a:rPr>
              <a:t>Bars</a:t>
            </a:r>
            <a:r>
              <a:rPr dirty="0" sz="1350" spc="50">
                <a:solidFill>
                  <a:srgbClr val="3C495C"/>
                </a:solidFill>
                <a:latin typeface="Arial"/>
                <a:cs typeface="Arial"/>
              </a:rPr>
              <a:t> </a:t>
            </a:r>
            <a:r>
              <a:rPr dirty="0" sz="1350" spc="10">
                <a:solidFill>
                  <a:srgbClr val="3C495C"/>
                </a:solidFill>
                <a:latin typeface="Arial"/>
                <a:cs typeface="Arial"/>
              </a:rPr>
              <a:t>are</a:t>
            </a:r>
            <a:r>
              <a:rPr dirty="0" sz="1350" spc="40">
                <a:solidFill>
                  <a:srgbClr val="3C495C"/>
                </a:solidFill>
                <a:latin typeface="Arial"/>
                <a:cs typeface="Arial"/>
              </a:rPr>
              <a:t> </a:t>
            </a:r>
            <a:r>
              <a:rPr dirty="0" sz="1350" spc="10">
                <a:solidFill>
                  <a:srgbClr val="3C495C"/>
                </a:solidFill>
                <a:latin typeface="Arial"/>
                <a:cs typeface="Arial"/>
              </a:rPr>
              <a:t>centered</a:t>
            </a:r>
            <a:r>
              <a:rPr dirty="0" sz="1350" spc="75">
                <a:solidFill>
                  <a:srgbClr val="3C495C"/>
                </a:solidFill>
                <a:latin typeface="Arial"/>
                <a:cs typeface="Arial"/>
              </a:rPr>
              <a:t> </a:t>
            </a:r>
            <a:r>
              <a:rPr dirty="0" sz="1350" spc="10">
                <a:solidFill>
                  <a:srgbClr val="3C495C"/>
                </a:solidFill>
                <a:latin typeface="Arial"/>
                <a:cs typeface="Arial"/>
              </a:rPr>
              <a:t>on </a:t>
            </a:r>
            <a:r>
              <a:rPr dirty="0" sz="1350" spc="50">
                <a:solidFill>
                  <a:srgbClr val="3C495C"/>
                </a:solidFill>
                <a:latin typeface="Arial"/>
                <a:cs typeface="Arial"/>
              </a:rPr>
              <a:t>their</a:t>
            </a:r>
            <a:endParaRPr sz="13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395"/>
              </a:spcBef>
            </a:pPr>
            <a:r>
              <a:rPr dirty="0" sz="1350" spc="10">
                <a:solidFill>
                  <a:srgbClr val="3C495C"/>
                </a:solidFill>
                <a:latin typeface="Arial"/>
                <a:cs typeface="Arial"/>
              </a:rPr>
              <a:t>x</a:t>
            </a:r>
            <a:r>
              <a:rPr dirty="0" sz="1350" spc="-15">
                <a:solidFill>
                  <a:srgbClr val="3C495C"/>
                </a:solidFill>
                <a:latin typeface="Arial"/>
                <a:cs typeface="Arial"/>
              </a:rPr>
              <a:t> </a:t>
            </a:r>
            <a:r>
              <a:rPr dirty="0" sz="1350" spc="10">
                <a:solidFill>
                  <a:srgbClr val="3C495C"/>
                </a:solidFill>
                <a:latin typeface="Arial"/>
                <a:cs typeface="Arial"/>
              </a:rPr>
              <a:t>values</a:t>
            </a:r>
            <a:r>
              <a:rPr dirty="0" sz="1350" spc="20">
                <a:solidFill>
                  <a:srgbClr val="3C495C"/>
                </a:solidFill>
                <a:latin typeface="Arial"/>
                <a:cs typeface="Arial"/>
              </a:rPr>
              <a:t> </a:t>
            </a:r>
            <a:r>
              <a:rPr dirty="0" sz="1350" spc="10">
                <a:solidFill>
                  <a:srgbClr val="3C495C"/>
                </a:solidFill>
                <a:latin typeface="Arial"/>
                <a:cs typeface="Arial"/>
              </a:rPr>
              <a:t>unless</a:t>
            </a:r>
            <a:r>
              <a:rPr dirty="0" sz="1350" spc="15">
                <a:solidFill>
                  <a:srgbClr val="3C495C"/>
                </a:solidFill>
                <a:latin typeface="Arial"/>
                <a:cs typeface="Arial"/>
              </a:rPr>
              <a:t> </a:t>
            </a:r>
            <a:r>
              <a:rPr dirty="0" sz="1350" spc="10">
                <a:solidFill>
                  <a:srgbClr val="3C495C"/>
                </a:solidFill>
                <a:latin typeface="Arial"/>
                <a:cs typeface="Arial"/>
              </a:rPr>
              <a:t>you</a:t>
            </a:r>
            <a:r>
              <a:rPr dirty="0" sz="1350" spc="-20">
                <a:solidFill>
                  <a:srgbClr val="3C495C"/>
                </a:solidFill>
                <a:latin typeface="Arial"/>
                <a:cs typeface="Arial"/>
              </a:rPr>
              <a:t> </a:t>
            </a:r>
            <a:r>
              <a:rPr dirty="0" sz="1350" spc="10">
                <a:solidFill>
                  <a:srgbClr val="3C495C"/>
                </a:solidFill>
                <a:latin typeface="Arial"/>
                <a:cs typeface="Arial"/>
              </a:rPr>
              <a:t>pass</a:t>
            </a:r>
            <a:r>
              <a:rPr dirty="0" sz="1350" spc="105">
                <a:solidFill>
                  <a:srgbClr val="3C495C"/>
                </a:solidFill>
                <a:latin typeface="Arial"/>
                <a:cs typeface="Arial"/>
              </a:rPr>
              <a:t> </a:t>
            </a:r>
            <a:r>
              <a:rPr dirty="0" sz="1350" spc="10">
                <a:solidFill>
                  <a:srgbClr val="B45209"/>
                </a:solidFill>
                <a:latin typeface="Arial"/>
                <a:cs typeface="Arial"/>
              </a:rPr>
              <a:t>align='edge'</a:t>
            </a:r>
            <a:r>
              <a:rPr dirty="0" sz="1350" spc="10">
                <a:solidFill>
                  <a:srgbClr val="3C495C"/>
                </a:solidFill>
                <a:latin typeface="Arial"/>
                <a:cs typeface="Arial"/>
              </a:rPr>
              <a:t>,</a:t>
            </a:r>
            <a:r>
              <a:rPr dirty="0" sz="1350" spc="30">
                <a:solidFill>
                  <a:srgbClr val="3C495C"/>
                </a:solidFill>
                <a:latin typeface="Arial"/>
                <a:cs typeface="Arial"/>
              </a:rPr>
              <a:t> </a:t>
            </a:r>
            <a:r>
              <a:rPr dirty="0" sz="1350">
                <a:solidFill>
                  <a:srgbClr val="3C495C"/>
                </a:solidFill>
                <a:latin typeface="Arial"/>
                <a:cs typeface="Arial"/>
              </a:rPr>
              <a:t>as</a:t>
            </a:r>
            <a:r>
              <a:rPr dirty="0" sz="1350" spc="15">
                <a:solidFill>
                  <a:srgbClr val="3C495C"/>
                </a:solidFill>
                <a:latin typeface="Arial"/>
                <a:cs typeface="Arial"/>
              </a:rPr>
              <a:t> </a:t>
            </a:r>
            <a:r>
              <a:rPr dirty="0" sz="1350" spc="-10">
                <a:solidFill>
                  <a:srgbClr val="3C495C"/>
                </a:solidFill>
                <a:latin typeface="Arial"/>
                <a:cs typeface="Arial"/>
              </a:rPr>
              <a:t>here.</a:t>
            </a:r>
            <a:endParaRPr sz="13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490"/>
              </a:spcBef>
            </a:pPr>
            <a:r>
              <a:rPr dirty="0" sz="1350" spc="-10" b="1">
                <a:solidFill>
                  <a:srgbClr val="13203C"/>
                </a:solidFill>
                <a:latin typeface="Arial"/>
                <a:cs typeface="Arial"/>
              </a:rPr>
              <a:t>Color</a:t>
            </a:r>
            <a:r>
              <a:rPr dirty="0" sz="1350" spc="40" b="1">
                <a:solidFill>
                  <a:srgbClr val="13203C"/>
                </a:solidFill>
                <a:latin typeface="Arial"/>
                <a:cs typeface="Arial"/>
              </a:rPr>
              <a:t> </a:t>
            </a:r>
            <a:r>
              <a:rPr dirty="0" sz="1350" spc="-20" b="1">
                <a:solidFill>
                  <a:srgbClr val="13203C"/>
                </a:solidFill>
                <a:latin typeface="Arial"/>
                <a:cs typeface="Arial"/>
              </a:rPr>
              <a:t>codes</a:t>
            </a:r>
            <a:r>
              <a:rPr dirty="0" sz="1350" spc="-25" b="1">
                <a:solidFill>
                  <a:srgbClr val="13203C"/>
                </a:solidFill>
                <a:latin typeface="Arial"/>
                <a:cs typeface="Arial"/>
              </a:rPr>
              <a:t> </a:t>
            </a:r>
            <a:r>
              <a:rPr dirty="0" sz="1350" b="1">
                <a:solidFill>
                  <a:srgbClr val="13203C"/>
                </a:solidFill>
                <a:latin typeface="Arial"/>
                <a:cs typeface="Arial"/>
              </a:rPr>
              <a:t>for</a:t>
            </a:r>
            <a:r>
              <a:rPr dirty="0" sz="1350" spc="-10" b="1">
                <a:solidFill>
                  <a:srgbClr val="13203C"/>
                </a:solidFill>
                <a:latin typeface="Arial"/>
                <a:cs typeface="Arial"/>
              </a:rPr>
              <a:t> </a:t>
            </a:r>
            <a:r>
              <a:rPr dirty="0" sz="1350" b="1">
                <a:solidFill>
                  <a:srgbClr val="B45209"/>
                </a:solidFill>
                <a:latin typeface="Arial"/>
                <a:cs typeface="Arial"/>
              </a:rPr>
              <a:t>color=('r',</a:t>
            </a:r>
            <a:r>
              <a:rPr dirty="0" sz="1350" spc="25" b="1">
                <a:solidFill>
                  <a:srgbClr val="B45209"/>
                </a:solidFill>
                <a:latin typeface="Arial"/>
                <a:cs typeface="Arial"/>
              </a:rPr>
              <a:t> </a:t>
            </a:r>
            <a:r>
              <a:rPr dirty="0" sz="1350" b="1">
                <a:solidFill>
                  <a:srgbClr val="B45209"/>
                </a:solidFill>
                <a:latin typeface="Arial"/>
                <a:cs typeface="Arial"/>
              </a:rPr>
              <a:t>'g',</a:t>
            </a:r>
            <a:r>
              <a:rPr dirty="0" sz="1350" spc="-50" b="1">
                <a:solidFill>
                  <a:srgbClr val="B45209"/>
                </a:solidFill>
                <a:latin typeface="Arial"/>
                <a:cs typeface="Arial"/>
              </a:rPr>
              <a:t> </a:t>
            </a:r>
            <a:r>
              <a:rPr dirty="0" sz="1350" spc="55" b="1">
                <a:solidFill>
                  <a:srgbClr val="B45209"/>
                </a:solidFill>
                <a:latin typeface="Arial"/>
                <a:cs typeface="Arial"/>
              </a:rPr>
              <a:t>'b',</a:t>
            </a:r>
            <a:r>
              <a:rPr dirty="0" sz="1350" spc="-50" b="1">
                <a:solidFill>
                  <a:srgbClr val="B45209"/>
                </a:solidFill>
                <a:latin typeface="Arial"/>
                <a:cs typeface="Arial"/>
              </a:rPr>
              <a:t> </a:t>
            </a:r>
            <a:r>
              <a:rPr dirty="0" sz="1350" spc="65" b="1">
                <a:solidFill>
                  <a:srgbClr val="B45209"/>
                </a:solidFill>
                <a:latin typeface="Arial"/>
                <a:cs typeface="Arial"/>
              </a:rPr>
              <a:t>'w',</a:t>
            </a:r>
            <a:r>
              <a:rPr dirty="0" sz="1350" spc="25" b="1">
                <a:solidFill>
                  <a:srgbClr val="B45209"/>
                </a:solidFill>
                <a:latin typeface="Arial"/>
                <a:cs typeface="Arial"/>
              </a:rPr>
              <a:t> </a:t>
            </a:r>
            <a:r>
              <a:rPr dirty="0" sz="1350" spc="-20" b="1">
                <a:solidFill>
                  <a:srgbClr val="B45209"/>
                </a:solidFill>
                <a:latin typeface="Arial"/>
                <a:cs typeface="Arial"/>
              </a:rPr>
              <a:t>'k')</a:t>
            </a:r>
            <a:endParaRPr sz="1350">
              <a:latin typeface="Arial"/>
              <a:cs typeface="Arial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1007236" y="4711700"/>
            <a:ext cx="299085" cy="308610"/>
            <a:chOff x="1007236" y="4711700"/>
            <a:chExt cx="299085" cy="308610"/>
          </a:xfrm>
        </p:grpSpPr>
        <p:sp>
          <p:nvSpPr>
            <p:cNvPr id="6" name="object 6"/>
            <p:cNvSpPr/>
            <p:nvPr/>
          </p:nvSpPr>
          <p:spPr>
            <a:xfrm>
              <a:off x="1010411" y="4714875"/>
              <a:ext cx="292735" cy="302260"/>
            </a:xfrm>
            <a:custGeom>
              <a:avLst/>
              <a:gdLst/>
              <a:ahLst/>
              <a:cxnLst/>
              <a:rect l="l" t="t" r="r" b="b"/>
              <a:pathLst>
                <a:path w="292734" h="302260">
                  <a:moveTo>
                    <a:pt x="245910" y="0"/>
                  </a:moveTo>
                  <a:lnTo>
                    <a:pt x="46697" y="0"/>
                  </a:lnTo>
                  <a:lnTo>
                    <a:pt x="28519" y="3677"/>
                  </a:lnTo>
                  <a:lnTo>
                    <a:pt x="13676" y="13700"/>
                  </a:lnTo>
                  <a:lnTo>
                    <a:pt x="3669" y="28557"/>
                  </a:lnTo>
                  <a:lnTo>
                    <a:pt x="0" y="46736"/>
                  </a:lnTo>
                  <a:lnTo>
                    <a:pt x="0" y="255143"/>
                  </a:lnTo>
                  <a:lnTo>
                    <a:pt x="3669" y="273321"/>
                  </a:lnTo>
                  <a:lnTo>
                    <a:pt x="13676" y="288178"/>
                  </a:lnTo>
                  <a:lnTo>
                    <a:pt x="28519" y="298201"/>
                  </a:lnTo>
                  <a:lnTo>
                    <a:pt x="46697" y="301879"/>
                  </a:lnTo>
                  <a:lnTo>
                    <a:pt x="245910" y="301879"/>
                  </a:lnTo>
                  <a:lnTo>
                    <a:pt x="264066" y="298201"/>
                  </a:lnTo>
                  <a:lnTo>
                    <a:pt x="278912" y="288178"/>
                  </a:lnTo>
                  <a:lnTo>
                    <a:pt x="288931" y="273321"/>
                  </a:lnTo>
                  <a:lnTo>
                    <a:pt x="292607" y="255143"/>
                  </a:lnTo>
                  <a:lnTo>
                    <a:pt x="292607" y="46736"/>
                  </a:lnTo>
                  <a:lnTo>
                    <a:pt x="288931" y="28557"/>
                  </a:lnTo>
                  <a:lnTo>
                    <a:pt x="278912" y="13700"/>
                  </a:lnTo>
                  <a:lnTo>
                    <a:pt x="264066" y="3677"/>
                  </a:lnTo>
                  <a:lnTo>
                    <a:pt x="245910" y="0"/>
                  </a:lnTo>
                  <a:close/>
                </a:path>
              </a:pathLst>
            </a:custGeom>
            <a:solidFill>
              <a:srgbClr val="0000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/>
            <p:cNvSpPr/>
            <p:nvPr/>
          </p:nvSpPr>
          <p:spPr>
            <a:xfrm>
              <a:off x="1010411" y="4714875"/>
              <a:ext cx="292735" cy="302260"/>
            </a:xfrm>
            <a:custGeom>
              <a:avLst/>
              <a:gdLst/>
              <a:ahLst/>
              <a:cxnLst/>
              <a:rect l="l" t="t" r="r" b="b"/>
              <a:pathLst>
                <a:path w="292734" h="302260">
                  <a:moveTo>
                    <a:pt x="0" y="46736"/>
                  </a:moveTo>
                  <a:lnTo>
                    <a:pt x="3669" y="28557"/>
                  </a:lnTo>
                  <a:lnTo>
                    <a:pt x="13676" y="13700"/>
                  </a:lnTo>
                  <a:lnTo>
                    <a:pt x="28519" y="3677"/>
                  </a:lnTo>
                  <a:lnTo>
                    <a:pt x="46697" y="0"/>
                  </a:lnTo>
                  <a:lnTo>
                    <a:pt x="245910" y="0"/>
                  </a:lnTo>
                  <a:lnTo>
                    <a:pt x="264066" y="3677"/>
                  </a:lnTo>
                  <a:lnTo>
                    <a:pt x="278912" y="13700"/>
                  </a:lnTo>
                  <a:lnTo>
                    <a:pt x="288931" y="28557"/>
                  </a:lnTo>
                  <a:lnTo>
                    <a:pt x="292607" y="46736"/>
                  </a:lnTo>
                  <a:lnTo>
                    <a:pt x="292607" y="255143"/>
                  </a:lnTo>
                  <a:lnTo>
                    <a:pt x="288931" y="273321"/>
                  </a:lnTo>
                  <a:lnTo>
                    <a:pt x="278912" y="288178"/>
                  </a:lnTo>
                  <a:lnTo>
                    <a:pt x="264066" y="298201"/>
                  </a:lnTo>
                  <a:lnTo>
                    <a:pt x="245910" y="301879"/>
                  </a:lnTo>
                  <a:lnTo>
                    <a:pt x="46697" y="301879"/>
                  </a:lnTo>
                  <a:lnTo>
                    <a:pt x="28519" y="298201"/>
                  </a:lnTo>
                  <a:lnTo>
                    <a:pt x="13676" y="288178"/>
                  </a:lnTo>
                  <a:lnTo>
                    <a:pt x="3669" y="273321"/>
                  </a:lnTo>
                  <a:lnTo>
                    <a:pt x="0" y="255143"/>
                  </a:lnTo>
                  <a:lnTo>
                    <a:pt x="0" y="46736"/>
                  </a:lnTo>
                  <a:close/>
                </a:path>
              </a:pathLst>
            </a:custGeom>
            <a:ln w="6350">
              <a:solidFill>
                <a:srgbClr val="9AA4B4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aphicFrame>
        <p:nvGraphicFramePr>
          <p:cNvPr id="8" name="object 8"/>
          <p:cNvGraphicFramePr>
            <a:graphicFrameLocks noGrp="1"/>
          </p:cNvGraphicFramePr>
          <p:nvPr/>
        </p:nvGraphicFramePr>
        <p:xfrm>
          <a:off x="968730" y="5108066"/>
          <a:ext cx="5749290" cy="410209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38480"/>
                <a:gridCol w="814705"/>
                <a:gridCol w="688975"/>
                <a:gridCol w="709294"/>
                <a:gridCol w="861059"/>
                <a:gridCol w="734060"/>
                <a:gridCol w="727710"/>
                <a:gridCol w="601345"/>
              </a:tblGrid>
              <a:tr h="181610">
                <a:tc>
                  <a:txBody>
                    <a:bodyPr/>
                    <a:lstStyle/>
                    <a:p>
                      <a:pPr marL="109220">
                        <a:lnSpc>
                          <a:spcPts val="1160"/>
                        </a:lnSpc>
                      </a:pPr>
                      <a:r>
                        <a:rPr dirty="0" sz="1200" spc="-25">
                          <a:solidFill>
                            <a:srgbClr val="13203C"/>
                          </a:solidFill>
                          <a:latin typeface="Arial"/>
                          <a:cs typeface="Arial"/>
                        </a:rPr>
                        <a:t>'b'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 marR="14604">
                        <a:lnSpc>
                          <a:spcPts val="1160"/>
                        </a:lnSpc>
                      </a:pPr>
                      <a:r>
                        <a:rPr dirty="0" sz="1200" spc="-25">
                          <a:solidFill>
                            <a:srgbClr val="13203C"/>
                          </a:solidFill>
                          <a:latin typeface="Arial"/>
                          <a:cs typeface="Arial"/>
                        </a:rPr>
                        <a:t>'g'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 marR="12065">
                        <a:lnSpc>
                          <a:spcPts val="1160"/>
                        </a:lnSpc>
                      </a:pPr>
                      <a:r>
                        <a:rPr dirty="0" sz="1200" spc="-25">
                          <a:solidFill>
                            <a:srgbClr val="13203C"/>
                          </a:solidFill>
                          <a:latin typeface="Arial"/>
                          <a:cs typeface="Arial"/>
                        </a:rPr>
                        <a:t>'r'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 marL="93980">
                        <a:lnSpc>
                          <a:spcPts val="1160"/>
                        </a:lnSpc>
                      </a:pPr>
                      <a:r>
                        <a:rPr dirty="0" sz="1200" spc="-25">
                          <a:solidFill>
                            <a:srgbClr val="13203C"/>
                          </a:solidFill>
                          <a:latin typeface="Arial"/>
                          <a:cs typeface="Arial"/>
                        </a:rPr>
                        <a:t>'c'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 marL="27940">
                        <a:lnSpc>
                          <a:spcPts val="1160"/>
                        </a:lnSpc>
                      </a:pPr>
                      <a:r>
                        <a:rPr dirty="0" sz="1200" spc="-25">
                          <a:solidFill>
                            <a:srgbClr val="13203C"/>
                          </a:solidFill>
                          <a:latin typeface="Arial"/>
                          <a:cs typeface="Arial"/>
                        </a:rPr>
                        <a:t>'m'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 marR="53340">
                        <a:lnSpc>
                          <a:spcPts val="1160"/>
                        </a:lnSpc>
                      </a:pPr>
                      <a:r>
                        <a:rPr dirty="0" sz="1200" spc="-25">
                          <a:solidFill>
                            <a:srgbClr val="13203C"/>
                          </a:solidFill>
                          <a:latin typeface="Arial"/>
                          <a:cs typeface="Arial"/>
                        </a:rPr>
                        <a:t>'y'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 marR="9525">
                        <a:lnSpc>
                          <a:spcPts val="1160"/>
                        </a:lnSpc>
                      </a:pPr>
                      <a:r>
                        <a:rPr dirty="0" sz="1200" spc="-25">
                          <a:solidFill>
                            <a:srgbClr val="13203C"/>
                          </a:solidFill>
                          <a:latin typeface="Arial"/>
                          <a:cs typeface="Arial"/>
                        </a:rPr>
                        <a:t>'k'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 marL="165100">
                        <a:lnSpc>
                          <a:spcPts val="1160"/>
                        </a:lnSpc>
                      </a:pPr>
                      <a:r>
                        <a:rPr dirty="0" sz="1200" spc="-25">
                          <a:solidFill>
                            <a:srgbClr val="13203C"/>
                          </a:solidFill>
                          <a:latin typeface="Arial"/>
                          <a:cs typeface="Arial"/>
                        </a:rPr>
                        <a:t>'w'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B="0" marT="0"/>
                </a:tc>
              </a:tr>
              <a:tr h="228600">
                <a:tc>
                  <a:txBody>
                    <a:bodyPr/>
                    <a:lstStyle/>
                    <a:p>
                      <a:pPr marL="31750">
                        <a:lnSpc>
                          <a:spcPts val="1435"/>
                        </a:lnSpc>
                        <a:spcBef>
                          <a:spcPts val="265"/>
                        </a:spcBef>
                      </a:pPr>
                      <a:r>
                        <a:rPr dirty="0" sz="1200" spc="-20">
                          <a:solidFill>
                            <a:srgbClr val="3C495C"/>
                          </a:solidFill>
                          <a:latin typeface="Arial"/>
                          <a:cs typeface="Arial"/>
                        </a:rPr>
                        <a:t>blue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B="0" marT="33655"/>
                </a:tc>
                <a:tc>
                  <a:txBody>
                    <a:bodyPr/>
                    <a:lstStyle/>
                    <a:p>
                      <a:pPr algn="ctr" marR="12700">
                        <a:lnSpc>
                          <a:spcPts val="1435"/>
                        </a:lnSpc>
                        <a:spcBef>
                          <a:spcPts val="265"/>
                        </a:spcBef>
                      </a:pPr>
                      <a:r>
                        <a:rPr dirty="0" sz="1200" spc="-10">
                          <a:solidFill>
                            <a:srgbClr val="3C495C"/>
                          </a:solidFill>
                          <a:latin typeface="Arial"/>
                          <a:cs typeface="Arial"/>
                        </a:rPr>
                        <a:t>green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B="0" marT="33655"/>
                </a:tc>
                <a:tc>
                  <a:txBody>
                    <a:bodyPr/>
                    <a:lstStyle/>
                    <a:p>
                      <a:pPr algn="ctr" marR="10160">
                        <a:lnSpc>
                          <a:spcPts val="1435"/>
                        </a:lnSpc>
                        <a:spcBef>
                          <a:spcPts val="265"/>
                        </a:spcBef>
                      </a:pPr>
                      <a:r>
                        <a:rPr dirty="0" sz="1200" spc="-25">
                          <a:solidFill>
                            <a:srgbClr val="3C495C"/>
                          </a:solidFill>
                          <a:latin typeface="Arial"/>
                          <a:cs typeface="Arial"/>
                        </a:rPr>
                        <a:t>red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B="0" marT="33655"/>
                </a:tc>
                <a:tc>
                  <a:txBody>
                    <a:bodyPr/>
                    <a:lstStyle/>
                    <a:p>
                      <a:pPr algn="ctr" marL="95885">
                        <a:lnSpc>
                          <a:spcPts val="1435"/>
                        </a:lnSpc>
                        <a:spcBef>
                          <a:spcPts val="265"/>
                        </a:spcBef>
                      </a:pPr>
                      <a:r>
                        <a:rPr dirty="0" sz="1200" spc="-20">
                          <a:solidFill>
                            <a:srgbClr val="3C495C"/>
                          </a:solidFill>
                          <a:latin typeface="Arial"/>
                          <a:cs typeface="Arial"/>
                        </a:rPr>
                        <a:t>cyan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B="0" marT="33655"/>
                </a:tc>
                <a:tc>
                  <a:txBody>
                    <a:bodyPr/>
                    <a:lstStyle/>
                    <a:p>
                      <a:pPr algn="ctr" marL="29209">
                        <a:lnSpc>
                          <a:spcPts val="1435"/>
                        </a:lnSpc>
                        <a:spcBef>
                          <a:spcPts val="265"/>
                        </a:spcBef>
                      </a:pPr>
                      <a:r>
                        <a:rPr dirty="0" sz="1200" spc="-10">
                          <a:solidFill>
                            <a:srgbClr val="3C495C"/>
                          </a:solidFill>
                          <a:latin typeface="Arial"/>
                          <a:cs typeface="Arial"/>
                        </a:rPr>
                        <a:t>magenta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B="0" marT="33655"/>
                </a:tc>
                <a:tc>
                  <a:txBody>
                    <a:bodyPr/>
                    <a:lstStyle/>
                    <a:p>
                      <a:pPr algn="ctr" marR="50165">
                        <a:lnSpc>
                          <a:spcPts val="1435"/>
                        </a:lnSpc>
                        <a:spcBef>
                          <a:spcPts val="265"/>
                        </a:spcBef>
                      </a:pPr>
                      <a:r>
                        <a:rPr dirty="0" sz="1200" spc="-10">
                          <a:solidFill>
                            <a:srgbClr val="3C495C"/>
                          </a:solidFill>
                          <a:latin typeface="Arial"/>
                          <a:cs typeface="Arial"/>
                        </a:rPr>
                        <a:t>yellow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B="0" marT="33655"/>
                </a:tc>
                <a:tc>
                  <a:txBody>
                    <a:bodyPr/>
                    <a:lstStyle/>
                    <a:p>
                      <a:pPr algn="ctr" marR="10795">
                        <a:lnSpc>
                          <a:spcPts val="1435"/>
                        </a:lnSpc>
                        <a:spcBef>
                          <a:spcPts val="265"/>
                        </a:spcBef>
                      </a:pPr>
                      <a:r>
                        <a:rPr dirty="0" sz="1200" spc="-10">
                          <a:solidFill>
                            <a:srgbClr val="3C495C"/>
                          </a:solidFill>
                          <a:latin typeface="Arial"/>
                          <a:cs typeface="Arial"/>
                        </a:rPr>
                        <a:t>black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B="0" marT="33655"/>
                </a:tc>
                <a:tc>
                  <a:txBody>
                    <a:bodyPr/>
                    <a:lstStyle/>
                    <a:p>
                      <a:pPr algn="ctr" marL="158115">
                        <a:lnSpc>
                          <a:spcPts val="1435"/>
                        </a:lnSpc>
                        <a:spcBef>
                          <a:spcPts val="265"/>
                        </a:spcBef>
                      </a:pPr>
                      <a:r>
                        <a:rPr dirty="0" sz="1200" spc="-10">
                          <a:solidFill>
                            <a:srgbClr val="3C495C"/>
                          </a:solidFill>
                          <a:latin typeface="Arial"/>
                          <a:cs typeface="Arial"/>
                        </a:rPr>
                        <a:t>white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B="0" marT="33655"/>
                </a:tc>
              </a:tr>
            </a:tbl>
          </a:graphicData>
        </a:graphic>
      </p:graphicFrame>
      <p:grpSp>
        <p:nvGrpSpPr>
          <p:cNvPr id="9" name="object 9"/>
          <p:cNvGrpSpPr/>
          <p:nvPr/>
        </p:nvGrpSpPr>
        <p:grpSpPr>
          <a:xfrm>
            <a:off x="1757045" y="4711700"/>
            <a:ext cx="299085" cy="308610"/>
            <a:chOff x="1757045" y="4711700"/>
            <a:chExt cx="299085" cy="308610"/>
          </a:xfrm>
        </p:grpSpPr>
        <p:sp>
          <p:nvSpPr>
            <p:cNvPr id="10" name="object 10"/>
            <p:cNvSpPr/>
            <p:nvPr/>
          </p:nvSpPr>
          <p:spPr>
            <a:xfrm>
              <a:off x="1760220" y="4714875"/>
              <a:ext cx="292735" cy="302260"/>
            </a:xfrm>
            <a:custGeom>
              <a:avLst/>
              <a:gdLst/>
              <a:ahLst/>
              <a:cxnLst/>
              <a:rect l="l" t="t" r="r" b="b"/>
              <a:pathLst>
                <a:path w="292735" h="302260">
                  <a:moveTo>
                    <a:pt x="245872" y="0"/>
                  </a:moveTo>
                  <a:lnTo>
                    <a:pt x="46736" y="0"/>
                  </a:lnTo>
                  <a:lnTo>
                    <a:pt x="28557" y="3677"/>
                  </a:lnTo>
                  <a:lnTo>
                    <a:pt x="13700" y="13700"/>
                  </a:lnTo>
                  <a:lnTo>
                    <a:pt x="3677" y="28557"/>
                  </a:lnTo>
                  <a:lnTo>
                    <a:pt x="0" y="46736"/>
                  </a:lnTo>
                  <a:lnTo>
                    <a:pt x="0" y="255143"/>
                  </a:lnTo>
                  <a:lnTo>
                    <a:pt x="3677" y="273321"/>
                  </a:lnTo>
                  <a:lnTo>
                    <a:pt x="13700" y="288178"/>
                  </a:lnTo>
                  <a:lnTo>
                    <a:pt x="28557" y="298201"/>
                  </a:lnTo>
                  <a:lnTo>
                    <a:pt x="46736" y="301879"/>
                  </a:lnTo>
                  <a:lnTo>
                    <a:pt x="245872" y="301879"/>
                  </a:lnTo>
                  <a:lnTo>
                    <a:pt x="264050" y="298201"/>
                  </a:lnTo>
                  <a:lnTo>
                    <a:pt x="278907" y="288178"/>
                  </a:lnTo>
                  <a:lnTo>
                    <a:pt x="288930" y="273321"/>
                  </a:lnTo>
                  <a:lnTo>
                    <a:pt x="292607" y="255143"/>
                  </a:lnTo>
                  <a:lnTo>
                    <a:pt x="292607" y="46736"/>
                  </a:lnTo>
                  <a:lnTo>
                    <a:pt x="288930" y="28557"/>
                  </a:lnTo>
                  <a:lnTo>
                    <a:pt x="278907" y="13700"/>
                  </a:lnTo>
                  <a:lnTo>
                    <a:pt x="264050" y="3677"/>
                  </a:lnTo>
                  <a:lnTo>
                    <a:pt x="245872" y="0"/>
                  </a:lnTo>
                  <a:close/>
                </a:path>
              </a:pathLst>
            </a:custGeom>
            <a:solidFill>
              <a:srgbClr val="008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" name="object 11"/>
            <p:cNvSpPr/>
            <p:nvPr/>
          </p:nvSpPr>
          <p:spPr>
            <a:xfrm>
              <a:off x="1760220" y="4714875"/>
              <a:ext cx="292735" cy="302260"/>
            </a:xfrm>
            <a:custGeom>
              <a:avLst/>
              <a:gdLst/>
              <a:ahLst/>
              <a:cxnLst/>
              <a:rect l="l" t="t" r="r" b="b"/>
              <a:pathLst>
                <a:path w="292735" h="302260">
                  <a:moveTo>
                    <a:pt x="0" y="46736"/>
                  </a:moveTo>
                  <a:lnTo>
                    <a:pt x="3677" y="28557"/>
                  </a:lnTo>
                  <a:lnTo>
                    <a:pt x="13700" y="13700"/>
                  </a:lnTo>
                  <a:lnTo>
                    <a:pt x="28557" y="3677"/>
                  </a:lnTo>
                  <a:lnTo>
                    <a:pt x="46736" y="0"/>
                  </a:lnTo>
                  <a:lnTo>
                    <a:pt x="245872" y="0"/>
                  </a:lnTo>
                  <a:lnTo>
                    <a:pt x="264050" y="3677"/>
                  </a:lnTo>
                  <a:lnTo>
                    <a:pt x="278907" y="13700"/>
                  </a:lnTo>
                  <a:lnTo>
                    <a:pt x="288930" y="28557"/>
                  </a:lnTo>
                  <a:lnTo>
                    <a:pt x="292607" y="46736"/>
                  </a:lnTo>
                  <a:lnTo>
                    <a:pt x="292607" y="255143"/>
                  </a:lnTo>
                  <a:lnTo>
                    <a:pt x="288930" y="273321"/>
                  </a:lnTo>
                  <a:lnTo>
                    <a:pt x="278907" y="288178"/>
                  </a:lnTo>
                  <a:lnTo>
                    <a:pt x="264050" y="298201"/>
                  </a:lnTo>
                  <a:lnTo>
                    <a:pt x="245872" y="301879"/>
                  </a:lnTo>
                  <a:lnTo>
                    <a:pt x="46736" y="301879"/>
                  </a:lnTo>
                  <a:lnTo>
                    <a:pt x="28557" y="298201"/>
                  </a:lnTo>
                  <a:lnTo>
                    <a:pt x="13700" y="288178"/>
                  </a:lnTo>
                  <a:lnTo>
                    <a:pt x="3677" y="273321"/>
                  </a:lnTo>
                  <a:lnTo>
                    <a:pt x="0" y="255143"/>
                  </a:lnTo>
                  <a:lnTo>
                    <a:pt x="0" y="46736"/>
                  </a:lnTo>
                  <a:close/>
                </a:path>
              </a:pathLst>
            </a:custGeom>
            <a:ln w="6350">
              <a:solidFill>
                <a:srgbClr val="9AA4B4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12" name="object 12"/>
          <p:cNvGrpSpPr/>
          <p:nvPr/>
        </p:nvGrpSpPr>
        <p:grpSpPr>
          <a:xfrm>
            <a:off x="2506852" y="4711700"/>
            <a:ext cx="308610" cy="308610"/>
            <a:chOff x="2506852" y="4711700"/>
            <a:chExt cx="308610" cy="308610"/>
          </a:xfrm>
        </p:grpSpPr>
        <p:sp>
          <p:nvSpPr>
            <p:cNvPr id="13" name="object 13"/>
            <p:cNvSpPr/>
            <p:nvPr/>
          </p:nvSpPr>
          <p:spPr>
            <a:xfrm>
              <a:off x="2510027" y="4714875"/>
              <a:ext cx="302260" cy="302260"/>
            </a:xfrm>
            <a:custGeom>
              <a:avLst/>
              <a:gdLst/>
              <a:ahLst/>
              <a:cxnLst/>
              <a:rect l="l" t="t" r="r" b="b"/>
              <a:pathLst>
                <a:path w="302260" h="302260">
                  <a:moveTo>
                    <a:pt x="253619" y="0"/>
                  </a:moveTo>
                  <a:lnTo>
                    <a:pt x="48133" y="0"/>
                  </a:lnTo>
                  <a:lnTo>
                    <a:pt x="29414" y="3790"/>
                  </a:lnTo>
                  <a:lnTo>
                    <a:pt x="14112" y="14128"/>
                  </a:lnTo>
                  <a:lnTo>
                    <a:pt x="3788" y="29467"/>
                  </a:lnTo>
                  <a:lnTo>
                    <a:pt x="0" y="48260"/>
                  </a:lnTo>
                  <a:lnTo>
                    <a:pt x="0" y="253745"/>
                  </a:lnTo>
                  <a:lnTo>
                    <a:pt x="3788" y="272464"/>
                  </a:lnTo>
                  <a:lnTo>
                    <a:pt x="14112" y="287766"/>
                  </a:lnTo>
                  <a:lnTo>
                    <a:pt x="29414" y="298090"/>
                  </a:lnTo>
                  <a:lnTo>
                    <a:pt x="48133" y="301879"/>
                  </a:lnTo>
                  <a:lnTo>
                    <a:pt x="253619" y="301879"/>
                  </a:lnTo>
                  <a:lnTo>
                    <a:pt x="272337" y="298090"/>
                  </a:lnTo>
                  <a:lnTo>
                    <a:pt x="287639" y="287766"/>
                  </a:lnTo>
                  <a:lnTo>
                    <a:pt x="297963" y="272464"/>
                  </a:lnTo>
                  <a:lnTo>
                    <a:pt x="301752" y="253745"/>
                  </a:lnTo>
                  <a:lnTo>
                    <a:pt x="301752" y="48260"/>
                  </a:lnTo>
                  <a:lnTo>
                    <a:pt x="297963" y="29467"/>
                  </a:lnTo>
                  <a:lnTo>
                    <a:pt x="287639" y="14128"/>
                  </a:lnTo>
                  <a:lnTo>
                    <a:pt x="272337" y="3790"/>
                  </a:lnTo>
                  <a:lnTo>
                    <a:pt x="253619" y="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4" name="object 14"/>
            <p:cNvSpPr/>
            <p:nvPr/>
          </p:nvSpPr>
          <p:spPr>
            <a:xfrm>
              <a:off x="2510027" y="4714875"/>
              <a:ext cx="302260" cy="302260"/>
            </a:xfrm>
            <a:custGeom>
              <a:avLst/>
              <a:gdLst/>
              <a:ahLst/>
              <a:cxnLst/>
              <a:rect l="l" t="t" r="r" b="b"/>
              <a:pathLst>
                <a:path w="302260" h="302260">
                  <a:moveTo>
                    <a:pt x="0" y="48260"/>
                  </a:moveTo>
                  <a:lnTo>
                    <a:pt x="3788" y="29467"/>
                  </a:lnTo>
                  <a:lnTo>
                    <a:pt x="14112" y="14128"/>
                  </a:lnTo>
                  <a:lnTo>
                    <a:pt x="29414" y="3790"/>
                  </a:lnTo>
                  <a:lnTo>
                    <a:pt x="48133" y="0"/>
                  </a:lnTo>
                  <a:lnTo>
                    <a:pt x="253619" y="0"/>
                  </a:lnTo>
                  <a:lnTo>
                    <a:pt x="272337" y="3790"/>
                  </a:lnTo>
                  <a:lnTo>
                    <a:pt x="287639" y="14128"/>
                  </a:lnTo>
                  <a:lnTo>
                    <a:pt x="297963" y="29467"/>
                  </a:lnTo>
                  <a:lnTo>
                    <a:pt x="301752" y="48260"/>
                  </a:lnTo>
                  <a:lnTo>
                    <a:pt x="301752" y="253745"/>
                  </a:lnTo>
                  <a:lnTo>
                    <a:pt x="297963" y="272464"/>
                  </a:lnTo>
                  <a:lnTo>
                    <a:pt x="287639" y="287766"/>
                  </a:lnTo>
                  <a:lnTo>
                    <a:pt x="272337" y="298090"/>
                  </a:lnTo>
                  <a:lnTo>
                    <a:pt x="253619" y="301879"/>
                  </a:lnTo>
                  <a:lnTo>
                    <a:pt x="48133" y="301879"/>
                  </a:lnTo>
                  <a:lnTo>
                    <a:pt x="29414" y="298090"/>
                  </a:lnTo>
                  <a:lnTo>
                    <a:pt x="14112" y="287766"/>
                  </a:lnTo>
                  <a:lnTo>
                    <a:pt x="3788" y="272464"/>
                  </a:lnTo>
                  <a:lnTo>
                    <a:pt x="0" y="253745"/>
                  </a:lnTo>
                  <a:lnTo>
                    <a:pt x="0" y="48260"/>
                  </a:lnTo>
                  <a:close/>
                </a:path>
              </a:pathLst>
            </a:custGeom>
            <a:ln w="6350">
              <a:solidFill>
                <a:srgbClr val="9AA4B4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15" name="object 15"/>
          <p:cNvGrpSpPr/>
          <p:nvPr/>
        </p:nvGrpSpPr>
        <p:grpSpPr>
          <a:xfrm>
            <a:off x="3256660" y="4711700"/>
            <a:ext cx="308610" cy="308610"/>
            <a:chOff x="3256660" y="4711700"/>
            <a:chExt cx="308610" cy="308610"/>
          </a:xfrm>
        </p:grpSpPr>
        <p:sp>
          <p:nvSpPr>
            <p:cNvPr id="16" name="object 16"/>
            <p:cNvSpPr/>
            <p:nvPr/>
          </p:nvSpPr>
          <p:spPr>
            <a:xfrm>
              <a:off x="3259835" y="4714875"/>
              <a:ext cx="302260" cy="302260"/>
            </a:xfrm>
            <a:custGeom>
              <a:avLst/>
              <a:gdLst/>
              <a:ahLst/>
              <a:cxnLst/>
              <a:rect l="l" t="t" r="r" b="b"/>
              <a:pathLst>
                <a:path w="302260" h="302260">
                  <a:moveTo>
                    <a:pt x="253618" y="0"/>
                  </a:moveTo>
                  <a:lnTo>
                    <a:pt x="48133" y="0"/>
                  </a:lnTo>
                  <a:lnTo>
                    <a:pt x="29414" y="3790"/>
                  </a:lnTo>
                  <a:lnTo>
                    <a:pt x="14112" y="14128"/>
                  </a:lnTo>
                  <a:lnTo>
                    <a:pt x="3788" y="29467"/>
                  </a:lnTo>
                  <a:lnTo>
                    <a:pt x="0" y="48260"/>
                  </a:lnTo>
                  <a:lnTo>
                    <a:pt x="0" y="253745"/>
                  </a:lnTo>
                  <a:lnTo>
                    <a:pt x="3788" y="272464"/>
                  </a:lnTo>
                  <a:lnTo>
                    <a:pt x="14112" y="287766"/>
                  </a:lnTo>
                  <a:lnTo>
                    <a:pt x="29414" y="298090"/>
                  </a:lnTo>
                  <a:lnTo>
                    <a:pt x="48133" y="301879"/>
                  </a:lnTo>
                  <a:lnTo>
                    <a:pt x="253618" y="301879"/>
                  </a:lnTo>
                  <a:lnTo>
                    <a:pt x="272337" y="298090"/>
                  </a:lnTo>
                  <a:lnTo>
                    <a:pt x="287639" y="287766"/>
                  </a:lnTo>
                  <a:lnTo>
                    <a:pt x="297963" y="272464"/>
                  </a:lnTo>
                  <a:lnTo>
                    <a:pt x="301751" y="253745"/>
                  </a:lnTo>
                  <a:lnTo>
                    <a:pt x="301751" y="48260"/>
                  </a:lnTo>
                  <a:lnTo>
                    <a:pt x="297963" y="29467"/>
                  </a:lnTo>
                  <a:lnTo>
                    <a:pt x="287639" y="14128"/>
                  </a:lnTo>
                  <a:lnTo>
                    <a:pt x="272337" y="3790"/>
                  </a:lnTo>
                  <a:lnTo>
                    <a:pt x="253618" y="0"/>
                  </a:lnTo>
                  <a:close/>
                </a:path>
              </a:pathLst>
            </a:custGeom>
            <a:solidFill>
              <a:srgbClr val="00BEBE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7" name="object 17"/>
            <p:cNvSpPr/>
            <p:nvPr/>
          </p:nvSpPr>
          <p:spPr>
            <a:xfrm>
              <a:off x="3259835" y="4714875"/>
              <a:ext cx="302260" cy="302260"/>
            </a:xfrm>
            <a:custGeom>
              <a:avLst/>
              <a:gdLst/>
              <a:ahLst/>
              <a:cxnLst/>
              <a:rect l="l" t="t" r="r" b="b"/>
              <a:pathLst>
                <a:path w="302260" h="302260">
                  <a:moveTo>
                    <a:pt x="0" y="48260"/>
                  </a:moveTo>
                  <a:lnTo>
                    <a:pt x="3788" y="29467"/>
                  </a:lnTo>
                  <a:lnTo>
                    <a:pt x="14112" y="14128"/>
                  </a:lnTo>
                  <a:lnTo>
                    <a:pt x="29414" y="3790"/>
                  </a:lnTo>
                  <a:lnTo>
                    <a:pt x="48133" y="0"/>
                  </a:lnTo>
                  <a:lnTo>
                    <a:pt x="253618" y="0"/>
                  </a:lnTo>
                  <a:lnTo>
                    <a:pt x="272337" y="3790"/>
                  </a:lnTo>
                  <a:lnTo>
                    <a:pt x="287639" y="14128"/>
                  </a:lnTo>
                  <a:lnTo>
                    <a:pt x="297963" y="29467"/>
                  </a:lnTo>
                  <a:lnTo>
                    <a:pt x="301751" y="48260"/>
                  </a:lnTo>
                  <a:lnTo>
                    <a:pt x="301751" y="253745"/>
                  </a:lnTo>
                  <a:lnTo>
                    <a:pt x="297963" y="272464"/>
                  </a:lnTo>
                  <a:lnTo>
                    <a:pt x="287639" y="287766"/>
                  </a:lnTo>
                  <a:lnTo>
                    <a:pt x="272337" y="298090"/>
                  </a:lnTo>
                  <a:lnTo>
                    <a:pt x="253618" y="301879"/>
                  </a:lnTo>
                  <a:lnTo>
                    <a:pt x="48133" y="301879"/>
                  </a:lnTo>
                  <a:lnTo>
                    <a:pt x="29414" y="298090"/>
                  </a:lnTo>
                  <a:lnTo>
                    <a:pt x="14112" y="287766"/>
                  </a:lnTo>
                  <a:lnTo>
                    <a:pt x="3788" y="272464"/>
                  </a:lnTo>
                  <a:lnTo>
                    <a:pt x="0" y="253745"/>
                  </a:lnTo>
                  <a:lnTo>
                    <a:pt x="0" y="48260"/>
                  </a:lnTo>
                  <a:close/>
                </a:path>
              </a:pathLst>
            </a:custGeom>
            <a:ln w="6350">
              <a:solidFill>
                <a:srgbClr val="9AA4B4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18" name="object 18"/>
          <p:cNvGrpSpPr/>
          <p:nvPr/>
        </p:nvGrpSpPr>
        <p:grpSpPr>
          <a:xfrm>
            <a:off x="4015613" y="4711700"/>
            <a:ext cx="299085" cy="308610"/>
            <a:chOff x="4015613" y="4711700"/>
            <a:chExt cx="299085" cy="308610"/>
          </a:xfrm>
        </p:grpSpPr>
        <p:sp>
          <p:nvSpPr>
            <p:cNvPr id="19" name="object 19"/>
            <p:cNvSpPr/>
            <p:nvPr/>
          </p:nvSpPr>
          <p:spPr>
            <a:xfrm>
              <a:off x="4018788" y="4714875"/>
              <a:ext cx="292735" cy="302260"/>
            </a:xfrm>
            <a:custGeom>
              <a:avLst/>
              <a:gdLst/>
              <a:ahLst/>
              <a:cxnLst/>
              <a:rect l="l" t="t" r="r" b="b"/>
              <a:pathLst>
                <a:path w="292735" h="302260">
                  <a:moveTo>
                    <a:pt x="245872" y="0"/>
                  </a:moveTo>
                  <a:lnTo>
                    <a:pt x="46736" y="0"/>
                  </a:lnTo>
                  <a:lnTo>
                    <a:pt x="28557" y="3677"/>
                  </a:lnTo>
                  <a:lnTo>
                    <a:pt x="13700" y="13700"/>
                  </a:lnTo>
                  <a:lnTo>
                    <a:pt x="3677" y="28557"/>
                  </a:lnTo>
                  <a:lnTo>
                    <a:pt x="0" y="46736"/>
                  </a:lnTo>
                  <a:lnTo>
                    <a:pt x="0" y="255143"/>
                  </a:lnTo>
                  <a:lnTo>
                    <a:pt x="3677" y="273321"/>
                  </a:lnTo>
                  <a:lnTo>
                    <a:pt x="13700" y="288178"/>
                  </a:lnTo>
                  <a:lnTo>
                    <a:pt x="28557" y="298201"/>
                  </a:lnTo>
                  <a:lnTo>
                    <a:pt x="46736" y="301879"/>
                  </a:lnTo>
                  <a:lnTo>
                    <a:pt x="245872" y="301879"/>
                  </a:lnTo>
                  <a:lnTo>
                    <a:pt x="264050" y="298201"/>
                  </a:lnTo>
                  <a:lnTo>
                    <a:pt x="278907" y="288178"/>
                  </a:lnTo>
                  <a:lnTo>
                    <a:pt x="288930" y="273321"/>
                  </a:lnTo>
                  <a:lnTo>
                    <a:pt x="292608" y="255143"/>
                  </a:lnTo>
                  <a:lnTo>
                    <a:pt x="292608" y="46736"/>
                  </a:lnTo>
                  <a:lnTo>
                    <a:pt x="288930" y="28557"/>
                  </a:lnTo>
                  <a:lnTo>
                    <a:pt x="278907" y="13700"/>
                  </a:lnTo>
                  <a:lnTo>
                    <a:pt x="264050" y="3677"/>
                  </a:lnTo>
                  <a:lnTo>
                    <a:pt x="245872" y="0"/>
                  </a:lnTo>
                  <a:close/>
                </a:path>
              </a:pathLst>
            </a:custGeom>
            <a:solidFill>
              <a:srgbClr val="BE00BE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0" name="object 20"/>
            <p:cNvSpPr/>
            <p:nvPr/>
          </p:nvSpPr>
          <p:spPr>
            <a:xfrm>
              <a:off x="4018788" y="4714875"/>
              <a:ext cx="292735" cy="302260"/>
            </a:xfrm>
            <a:custGeom>
              <a:avLst/>
              <a:gdLst/>
              <a:ahLst/>
              <a:cxnLst/>
              <a:rect l="l" t="t" r="r" b="b"/>
              <a:pathLst>
                <a:path w="292735" h="302260">
                  <a:moveTo>
                    <a:pt x="0" y="46736"/>
                  </a:moveTo>
                  <a:lnTo>
                    <a:pt x="3677" y="28557"/>
                  </a:lnTo>
                  <a:lnTo>
                    <a:pt x="13700" y="13700"/>
                  </a:lnTo>
                  <a:lnTo>
                    <a:pt x="28557" y="3677"/>
                  </a:lnTo>
                  <a:lnTo>
                    <a:pt x="46736" y="0"/>
                  </a:lnTo>
                  <a:lnTo>
                    <a:pt x="245872" y="0"/>
                  </a:lnTo>
                  <a:lnTo>
                    <a:pt x="264050" y="3677"/>
                  </a:lnTo>
                  <a:lnTo>
                    <a:pt x="278907" y="13700"/>
                  </a:lnTo>
                  <a:lnTo>
                    <a:pt x="288930" y="28557"/>
                  </a:lnTo>
                  <a:lnTo>
                    <a:pt x="292608" y="46736"/>
                  </a:lnTo>
                  <a:lnTo>
                    <a:pt x="292608" y="255143"/>
                  </a:lnTo>
                  <a:lnTo>
                    <a:pt x="288930" y="273321"/>
                  </a:lnTo>
                  <a:lnTo>
                    <a:pt x="278907" y="288178"/>
                  </a:lnTo>
                  <a:lnTo>
                    <a:pt x="264050" y="298201"/>
                  </a:lnTo>
                  <a:lnTo>
                    <a:pt x="245872" y="301879"/>
                  </a:lnTo>
                  <a:lnTo>
                    <a:pt x="46736" y="301879"/>
                  </a:lnTo>
                  <a:lnTo>
                    <a:pt x="28557" y="298201"/>
                  </a:lnTo>
                  <a:lnTo>
                    <a:pt x="13700" y="288178"/>
                  </a:lnTo>
                  <a:lnTo>
                    <a:pt x="3677" y="273321"/>
                  </a:lnTo>
                  <a:lnTo>
                    <a:pt x="0" y="255143"/>
                  </a:lnTo>
                  <a:lnTo>
                    <a:pt x="0" y="46736"/>
                  </a:lnTo>
                  <a:close/>
                </a:path>
              </a:pathLst>
            </a:custGeom>
            <a:ln w="6350">
              <a:solidFill>
                <a:srgbClr val="9AA4B4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21" name="object 21"/>
          <p:cNvGrpSpPr/>
          <p:nvPr/>
        </p:nvGrpSpPr>
        <p:grpSpPr>
          <a:xfrm>
            <a:off x="4765421" y="4711700"/>
            <a:ext cx="308610" cy="308610"/>
            <a:chOff x="4765421" y="4711700"/>
            <a:chExt cx="308610" cy="308610"/>
          </a:xfrm>
        </p:grpSpPr>
        <p:sp>
          <p:nvSpPr>
            <p:cNvPr id="22" name="object 22"/>
            <p:cNvSpPr/>
            <p:nvPr/>
          </p:nvSpPr>
          <p:spPr>
            <a:xfrm>
              <a:off x="4768596" y="4714875"/>
              <a:ext cx="302260" cy="302260"/>
            </a:xfrm>
            <a:custGeom>
              <a:avLst/>
              <a:gdLst/>
              <a:ahLst/>
              <a:cxnLst/>
              <a:rect l="l" t="t" r="r" b="b"/>
              <a:pathLst>
                <a:path w="302260" h="302260">
                  <a:moveTo>
                    <a:pt x="253618" y="0"/>
                  </a:moveTo>
                  <a:lnTo>
                    <a:pt x="48132" y="0"/>
                  </a:lnTo>
                  <a:lnTo>
                    <a:pt x="29414" y="3790"/>
                  </a:lnTo>
                  <a:lnTo>
                    <a:pt x="14112" y="14128"/>
                  </a:lnTo>
                  <a:lnTo>
                    <a:pt x="3788" y="29467"/>
                  </a:lnTo>
                  <a:lnTo>
                    <a:pt x="0" y="48260"/>
                  </a:lnTo>
                  <a:lnTo>
                    <a:pt x="0" y="253745"/>
                  </a:lnTo>
                  <a:lnTo>
                    <a:pt x="3788" y="272464"/>
                  </a:lnTo>
                  <a:lnTo>
                    <a:pt x="14112" y="287766"/>
                  </a:lnTo>
                  <a:lnTo>
                    <a:pt x="29414" y="298090"/>
                  </a:lnTo>
                  <a:lnTo>
                    <a:pt x="48132" y="301879"/>
                  </a:lnTo>
                  <a:lnTo>
                    <a:pt x="253618" y="301879"/>
                  </a:lnTo>
                  <a:lnTo>
                    <a:pt x="272337" y="298090"/>
                  </a:lnTo>
                  <a:lnTo>
                    <a:pt x="287639" y="287766"/>
                  </a:lnTo>
                  <a:lnTo>
                    <a:pt x="297963" y="272464"/>
                  </a:lnTo>
                  <a:lnTo>
                    <a:pt x="301751" y="253745"/>
                  </a:lnTo>
                  <a:lnTo>
                    <a:pt x="301751" y="48260"/>
                  </a:lnTo>
                  <a:lnTo>
                    <a:pt x="297963" y="29467"/>
                  </a:lnTo>
                  <a:lnTo>
                    <a:pt x="287639" y="14128"/>
                  </a:lnTo>
                  <a:lnTo>
                    <a:pt x="272337" y="3790"/>
                  </a:lnTo>
                  <a:lnTo>
                    <a:pt x="253618" y="0"/>
                  </a:lnTo>
                  <a:close/>
                </a:path>
              </a:pathLst>
            </a:custGeom>
            <a:solidFill>
              <a:srgbClr val="BEBE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3" name="object 23"/>
            <p:cNvSpPr/>
            <p:nvPr/>
          </p:nvSpPr>
          <p:spPr>
            <a:xfrm>
              <a:off x="4768596" y="4714875"/>
              <a:ext cx="302260" cy="302260"/>
            </a:xfrm>
            <a:custGeom>
              <a:avLst/>
              <a:gdLst/>
              <a:ahLst/>
              <a:cxnLst/>
              <a:rect l="l" t="t" r="r" b="b"/>
              <a:pathLst>
                <a:path w="302260" h="302260">
                  <a:moveTo>
                    <a:pt x="0" y="48260"/>
                  </a:moveTo>
                  <a:lnTo>
                    <a:pt x="3788" y="29467"/>
                  </a:lnTo>
                  <a:lnTo>
                    <a:pt x="14112" y="14128"/>
                  </a:lnTo>
                  <a:lnTo>
                    <a:pt x="29414" y="3790"/>
                  </a:lnTo>
                  <a:lnTo>
                    <a:pt x="48132" y="0"/>
                  </a:lnTo>
                  <a:lnTo>
                    <a:pt x="253618" y="0"/>
                  </a:lnTo>
                  <a:lnTo>
                    <a:pt x="272337" y="3790"/>
                  </a:lnTo>
                  <a:lnTo>
                    <a:pt x="287639" y="14128"/>
                  </a:lnTo>
                  <a:lnTo>
                    <a:pt x="297963" y="29467"/>
                  </a:lnTo>
                  <a:lnTo>
                    <a:pt x="301751" y="48260"/>
                  </a:lnTo>
                  <a:lnTo>
                    <a:pt x="301751" y="253745"/>
                  </a:lnTo>
                  <a:lnTo>
                    <a:pt x="297963" y="272464"/>
                  </a:lnTo>
                  <a:lnTo>
                    <a:pt x="287639" y="287766"/>
                  </a:lnTo>
                  <a:lnTo>
                    <a:pt x="272337" y="298090"/>
                  </a:lnTo>
                  <a:lnTo>
                    <a:pt x="253618" y="301879"/>
                  </a:lnTo>
                  <a:lnTo>
                    <a:pt x="48132" y="301879"/>
                  </a:lnTo>
                  <a:lnTo>
                    <a:pt x="29414" y="298090"/>
                  </a:lnTo>
                  <a:lnTo>
                    <a:pt x="14112" y="287766"/>
                  </a:lnTo>
                  <a:lnTo>
                    <a:pt x="3788" y="272464"/>
                  </a:lnTo>
                  <a:lnTo>
                    <a:pt x="0" y="253745"/>
                  </a:lnTo>
                  <a:lnTo>
                    <a:pt x="0" y="48260"/>
                  </a:lnTo>
                  <a:close/>
                </a:path>
              </a:pathLst>
            </a:custGeom>
            <a:ln w="6350">
              <a:solidFill>
                <a:srgbClr val="9AA4B4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24" name="object 24"/>
          <p:cNvGrpSpPr/>
          <p:nvPr/>
        </p:nvGrpSpPr>
        <p:grpSpPr>
          <a:xfrm>
            <a:off x="5515228" y="4711700"/>
            <a:ext cx="308610" cy="308610"/>
            <a:chOff x="5515228" y="4711700"/>
            <a:chExt cx="308610" cy="308610"/>
          </a:xfrm>
        </p:grpSpPr>
        <p:sp>
          <p:nvSpPr>
            <p:cNvPr id="25" name="object 25"/>
            <p:cNvSpPr/>
            <p:nvPr/>
          </p:nvSpPr>
          <p:spPr>
            <a:xfrm>
              <a:off x="5518403" y="4714875"/>
              <a:ext cx="302260" cy="302260"/>
            </a:xfrm>
            <a:custGeom>
              <a:avLst/>
              <a:gdLst/>
              <a:ahLst/>
              <a:cxnLst/>
              <a:rect l="l" t="t" r="r" b="b"/>
              <a:pathLst>
                <a:path w="302260" h="302260">
                  <a:moveTo>
                    <a:pt x="253619" y="0"/>
                  </a:moveTo>
                  <a:lnTo>
                    <a:pt x="48133" y="0"/>
                  </a:lnTo>
                  <a:lnTo>
                    <a:pt x="29414" y="3790"/>
                  </a:lnTo>
                  <a:lnTo>
                    <a:pt x="14112" y="14128"/>
                  </a:lnTo>
                  <a:lnTo>
                    <a:pt x="3788" y="29467"/>
                  </a:lnTo>
                  <a:lnTo>
                    <a:pt x="0" y="48260"/>
                  </a:lnTo>
                  <a:lnTo>
                    <a:pt x="0" y="253745"/>
                  </a:lnTo>
                  <a:lnTo>
                    <a:pt x="3788" y="272464"/>
                  </a:lnTo>
                  <a:lnTo>
                    <a:pt x="14112" y="287766"/>
                  </a:lnTo>
                  <a:lnTo>
                    <a:pt x="29414" y="298090"/>
                  </a:lnTo>
                  <a:lnTo>
                    <a:pt x="48133" y="301879"/>
                  </a:lnTo>
                  <a:lnTo>
                    <a:pt x="253619" y="301879"/>
                  </a:lnTo>
                  <a:lnTo>
                    <a:pt x="272337" y="298090"/>
                  </a:lnTo>
                  <a:lnTo>
                    <a:pt x="287639" y="287766"/>
                  </a:lnTo>
                  <a:lnTo>
                    <a:pt x="297963" y="272464"/>
                  </a:lnTo>
                  <a:lnTo>
                    <a:pt x="301751" y="253745"/>
                  </a:lnTo>
                  <a:lnTo>
                    <a:pt x="301751" y="48260"/>
                  </a:lnTo>
                  <a:lnTo>
                    <a:pt x="297963" y="29467"/>
                  </a:lnTo>
                  <a:lnTo>
                    <a:pt x="287639" y="14128"/>
                  </a:lnTo>
                  <a:lnTo>
                    <a:pt x="272337" y="3790"/>
                  </a:lnTo>
                  <a:lnTo>
                    <a:pt x="253619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6" name="object 26"/>
            <p:cNvSpPr/>
            <p:nvPr/>
          </p:nvSpPr>
          <p:spPr>
            <a:xfrm>
              <a:off x="5518403" y="4714875"/>
              <a:ext cx="302260" cy="302260"/>
            </a:xfrm>
            <a:custGeom>
              <a:avLst/>
              <a:gdLst/>
              <a:ahLst/>
              <a:cxnLst/>
              <a:rect l="l" t="t" r="r" b="b"/>
              <a:pathLst>
                <a:path w="302260" h="302260">
                  <a:moveTo>
                    <a:pt x="0" y="48260"/>
                  </a:moveTo>
                  <a:lnTo>
                    <a:pt x="3788" y="29467"/>
                  </a:lnTo>
                  <a:lnTo>
                    <a:pt x="14112" y="14128"/>
                  </a:lnTo>
                  <a:lnTo>
                    <a:pt x="29414" y="3790"/>
                  </a:lnTo>
                  <a:lnTo>
                    <a:pt x="48133" y="0"/>
                  </a:lnTo>
                  <a:lnTo>
                    <a:pt x="253619" y="0"/>
                  </a:lnTo>
                  <a:lnTo>
                    <a:pt x="272337" y="3790"/>
                  </a:lnTo>
                  <a:lnTo>
                    <a:pt x="287639" y="14128"/>
                  </a:lnTo>
                  <a:lnTo>
                    <a:pt x="297963" y="29467"/>
                  </a:lnTo>
                  <a:lnTo>
                    <a:pt x="301751" y="48260"/>
                  </a:lnTo>
                  <a:lnTo>
                    <a:pt x="301751" y="253745"/>
                  </a:lnTo>
                  <a:lnTo>
                    <a:pt x="297963" y="272464"/>
                  </a:lnTo>
                  <a:lnTo>
                    <a:pt x="287639" y="287766"/>
                  </a:lnTo>
                  <a:lnTo>
                    <a:pt x="272337" y="298090"/>
                  </a:lnTo>
                  <a:lnTo>
                    <a:pt x="253619" y="301879"/>
                  </a:lnTo>
                  <a:lnTo>
                    <a:pt x="48133" y="301879"/>
                  </a:lnTo>
                  <a:lnTo>
                    <a:pt x="29414" y="298090"/>
                  </a:lnTo>
                  <a:lnTo>
                    <a:pt x="14112" y="287766"/>
                  </a:lnTo>
                  <a:lnTo>
                    <a:pt x="3788" y="272464"/>
                  </a:lnTo>
                  <a:lnTo>
                    <a:pt x="0" y="253745"/>
                  </a:lnTo>
                  <a:lnTo>
                    <a:pt x="0" y="48260"/>
                  </a:lnTo>
                  <a:close/>
                </a:path>
              </a:pathLst>
            </a:custGeom>
            <a:ln w="6350">
              <a:solidFill>
                <a:srgbClr val="9AA4B4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27" name="object 27"/>
          <p:cNvGrpSpPr/>
          <p:nvPr/>
        </p:nvGrpSpPr>
        <p:grpSpPr>
          <a:xfrm>
            <a:off x="6265036" y="4711700"/>
            <a:ext cx="308610" cy="308610"/>
            <a:chOff x="6265036" y="4711700"/>
            <a:chExt cx="308610" cy="308610"/>
          </a:xfrm>
        </p:grpSpPr>
        <p:sp>
          <p:nvSpPr>
            <p:cNvPr id="28" name="object 28"/>
            <p:cNvSpPr/>
            <p:nvPr/>
          </p:nvSpPr>
          <p:spPr>
            <a:xfrm>
              <a:off x="6268211" y="4714875"/>
              <a:ext cx="302260" cy="302260"/>
            </a:xfrm>
            <a:custGeom>
              <a:avLst/>
              <a:gdLst/>
              <a:ahLst/>
              <a:cxnLst/>
              <a:rect l="l" t="t" r="r" b="b"/>
              <a:pathLst>
                <a:path w="302259" h="302260">
                  <a:moveTo>
                    <a:pt x="253618" y="0"/>
                  </a:moveTo>
                  <a:lnTo>
                    <a:pt x="48133" y="0"/>
                  </a:lnTo>
                  <a:lnTo>
                    <a:pt x="29414" y="3790"/>
                  </a:lnTo>
                  <a:lnTo>
                    <a:pt x="14112" y="14128"/>
                  </a:lnTo>
                  <a:lnTo>
                    <a:pt x="3788" y="29467"/>
                  </a:lnTo>
                  <a:lnTo>
                    <a:pt x="0" y="48260"/>
                  </a:lnTo>
                  <a:lnTo>
                    <a:pt x="0" y="253745"/>
                  </a:lnTo>
                  <a:lnTo>
                    <a:pt x="3788" y="272464"/>
                  </a:lnTo>
                  <a:lnTo>
                    <a:pt x="14112" y="287766"/>
                  </a:lnTo>
                  <a:lnTo>
                    <a:pt x="29414" y="298090"/>
                  </a:lnTo>
                  <a:lnTo>
                    <a:pt x="48133" y="301879"/>
                  </a:lnTo>
                  <a:lnTo>
                    <a:pt x="253618" y="301879"/>
                  </a:lnTo>
                  <a:lnTo>
                    <a:pt x="272337" y="298090"/>
                  </a:lnTo>
                  <a:lnTo>
                    <a:pt x="287639" y="287766"/>
                  </a:lnTo>
                  <a:lnTo>
                    <a:pt x="297963" y="272464"/>
                  </a:lnTo>
                  <a:lnTo>
                    <a:pt x="301752" y="253745"/>
                  </a:lnTo>
                  <a:lnTo>
                    <a:pt x="301752" y="48260"/>
                  </a:lnTo>
                  <a:lnTo>
                    <a:pt x="297963" y="29467"/>
                  </a:lnTo>
                  <a:lnTo>
                    <a:pt x="287639" y="14128"/>
                  </a:lnTo>
                  <a:lnTo>
                    <a:pt x="272337" y="3790"/>
                  </a:lnTo>
                  <a:lnTo>
                    <a:pt x="253618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9" name="object 29"/>
            <p:cNvSpPr/>
            <p:nvPr/>
          </p:nvSpPr>
          <p:spPr>
            <a:xfrm>
              <a:off x="6268211" y="4714875"/>
              <a:ext cx="302260" cy="302260"/>
            </a:xfrm>
            <a:custGeom>
              <a:avLst/>
              <a:gdLst/>
              <a:ahLst/>
              <a:cxnLst/>
              <a:rect l="l" t="t" r="r" b="b"/>
              <a:pathLst>
                <a:path w="302259" h="302260">
                  <a:moveTo>
                    <a:pt x="0" y="48260"/>
                  </a:moveTo>
                  <a:lnTo>
                    <a:pt x="3788" y="29467"/>
                  </a:lnTo>
                  <a:lnTo>
                    <a:pt x="14112" y="14128"/>
                  </a:lnTo>
                  <a:lnTo>
                    <a:pt x="29414" y="3790"/>
                  </a:lnTo>
                  <a:lnTo>
                    <a:pt x="48133" y="0"/>
                  </a:lnTo>
                  <a:lnTo>
                    <a:pt x="253618" y="0"/>
                  </a:lnTo>
                  <a:lnTo>
                    <a:pt x="272337" y="3790"/>
                  </a:lnTo>
                  <a:lnTo>
                    <a:pt x="287639" y="14128"/>
                  </a:lnTo>
                  <a:lnTo>
                    <a:pt x="297963" y="29467"/>
                  </a:lnTo>
                  <a:lnTo>
                    <a:pt x="301752" y="48260"/>
                  </a:lnTo>
                  <a:lnTo>
                    <a:pt x="301752" y="253745"/>
                  </a:lnTo>
                  <a:lnTo>
                    <a:pt x="297963" y="272464"/>
                  </a:lnTo>
                  <a:lnTo>
                    <a:pt x="287639" y="287766"/>
                  </a:lnTo>
                  <a:lnTo>
                    <a:pt x="272337" y="298090"/>
                  </a:lnTo>
                  <a:lnTo>
                    <a:pt x="253618" y="301879"/>
                  </a:lnTo>
                  <a:lnTo>
                    <a:pt x="48133" y="301879"/>
                  </a:lnTo>
                  <a:lnTo>
                    <a:pt x="29414" y="298090"/>
                  </a:lnTo>
                  <a:lnTo>
                    <a:pt x="14112" y="287766"/>
                  </a:lnTo>
                  <a:lnTo>
                    <a:pt x="3788" y="272464"/>
                  </a:lnTo>
                  <a:lnTo>
                    <a:pt x="0" y="253745"/>
                  </a:lnTo>
                  <a:lnTo>
                    <a:pt x="0" y="48260"/>
                  </a:lnTo>
                  <a:close/>
                </a:path>
              </a:pathLst>
            </a:custGeom>
            <a:ln w="6350">
              <a:solidFill>
                <a:srgbClr val="9AA4B4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30" name="object 30" descr="Bar chart of five blue bars, each 5 wide, starting at x = 0, 10, 20, 30 and 40, with heights 100, 200, 300, 400 and 500"/>
          <p:cNvGrpSpPr/>
          <p:nvPr/>
        </p:nvGrpSpPr>
        <p:grpSpPr>
          <a:xfrm>
            <a:off x="7060565" y="1913001"/>
            <a:ext cx="4322445" cy="3244215"/>
            <a:chOff x="7060565" y="1913001"/>
            <a:chExt cx="4322445" cy="3244215"/>
          </a:xfrm>
        </p:grpSpPr>
        <p:pic>
          <p:nvPicPr>
            <p:cNvPr id="31" name="object 31" descr="Bar chart of five blue bars, each 5 wide, starting at x = 0, 10, 20, 30 and 40, with heights 100, 200, 300, 400 and 500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070471" y="1920748"/>
              <a:ext cx="4293488" cy="3219450"/>
            </a:xfrm>
            <a:prstGeom prst="rect">
              <a:avLst/>
            </a:prstGeom>
          </p:spPr>
        </p:pic>
        <p:sp>
          <p:nvSpPr>
            <p:cNvPr id="32" name="object 32"/>
            <p:cNvSpPr/>
            <p:nvPr/>
          </p:nvSpPr>
          <p:spPr>
            <a:xfrm>
              <a:off x="7063740" y="1916176"/>
              <a:ext cx="4316095" cy="3237865"/>
            </a:xfrm>
            <a:custGeom>
              <a:avLst/>
              <a:gdLst/>
              <a:ahLst/>
              <a:cxnLst/>
              <a:rect l="l" t="t" r="r" b="b"/>
              <a:pathLst>
                <a:path w="4316095" h="3237865">
                  <a:moveTo>
                    <a:pt x="0" y="73151"/>
                  </a:moveTo>
                  <a:lnTo>
                    <a:pt x="5750" y="44684"/>
                  </a:lnTo>
                  <a:lnTo>
                    <a:pt x="21431" y="21431"/>
                  </a:lnTo>
                  <a:lnTo>
                    <a:pt x="44684" y="5750"/>
                  </a:lnTo>
                  <a:lnTo>
                    <a:pt x="73151" y="0"/>
                  </a:lnTo>
                  <a:lnTo>
                    <a:pt x="4242815" y="0"/>
                  </a:lnTo>
                  <a:lnTo>
                    <a:pt x="4271283" y="5750"/>
                  </a:lnTo>
                  <a:lnTo>
                    <a:pt x="4294536" y="21431"/>
                  </a:lnTo>
                  <a:lnTo>
                    <a:pt x="4310217" y="44684"/>
                  </a:lnTo>
                  <a:lnTo>
                    <a:pt x="4315967" y="73151"/>
                  </a:lnTo>
                  <a:lnTo>
                    <a:pt x="4315967" y="3164586"/>
                  </a:lnTo>
                  <a:lnTo>
                    <a:pt x="4310217" y="3193053"/>
                  </a:lnTo>
                  <a:lnTo>
                    <a:pt x="4294536" y="3216306"/>
                  </a:lnTo>
                  <a:lnTo>
                    <a:pt x="4271283" y="3231987"/>
                  </a:lnTo>
                  <a:lnTo>
                    <a:pt x="4242815" y="3237738"/>
                  </a:lnTo>
                  <a:lnTo>
                    <a:pt x="73151" y="3237738"/>
                  </a:lnTo>
                  <a:lnTo>
                    <a:pt x="44684" y="3231987"/>
                  </a:lnTo>
                  <a:lnTo>
                    <a:pt x="21431" y="3216306"/>
                  </a:lnTo>
                  <a:lnTo>
                    <a:pt x="5750" y="3193053"/>
                  </a:lnTo>
                  <a:lnTo>
                    <a:pt x="0" y="3164586"/>
                  </a:lnTo>
                  <a:lnTo>
                    <a:pt x="0" y="73151"/>
                  </a:lnTo>
                  <a:close/>
                </a:path>
              </a:pathLst>
            </a:custGeom>
            <a:ln w="6350">
              <a:solidFill>
                <a:srgbClr val="D9DEE6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800480" y="793067"/>
            <a:ext cx="6560820" cy="806450"/>
          </a:xfrm>
          <a:prstGeom prst="rect"/>
        </p:spPr>
        <p:txBody>
          <a:bodyPr wrap="square" lIns="0" tIns="419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330"/>
              </a:spcBef>
            </a:pPr>
            <a:r>
              <a:rPr dirty="0" sz="1350" spc="65">
                <a:solidFill>
                  <a:srgbClr val="B45209"/>
                </a:solidFill>
              </a:rPr>
              <a:t>0</a:t>
            </a:r>
            <a:r>
              <a:rPr dirty="0" sz="1350" spc="-185">
                <a:solidFill>
                  <a:srgbClr val="B45209"/>
                </a:solidFill>
              </a:rPr>
              <a:t> </a:t>
            </a:r>
            <a:r>
              <a:rPr dirty="0" sz="1350" spc="65">
                <a:solidFill>
                  <a:srgbClr val="B45209"/>
                </a:solidFill>
              </a:rPr>
              <a:t>5</a:t>
            </a:r>
            <a:r>
              <a:rPr dirty="0" sz="1350" spc="270">
                <a:solidFill>
                  <a:srgbClr val="B45209"/>
                </a:solidFill>
              </a:rPr>
              <a:t> </a:t>
            </a:r>
            <a:r>
              <a:rPr dirty="0" sz="1350">
                <a:solidFill>
                  <a:srgbClr val="B45209"/>
                </a:solidFill>
              </a:rPr>
              <a:t>·</a:t>
            </a:r>
            <a:r>
              <a:rPr dirty="0" sz="1350" spc="320">
                <a:solidFill>
                  <a:srgbClr val="B45209"/>
                </a:solidFill>
              </a:rPr>
              <a:t> </a:t>
            </a:r>
            <a:r>
              <a:rPr dirty="0" sz="1350" spc="145">
                <a:solidFill>
                  <a:srgbClr val="B45209"/>
                </a:solidFill>
              </a:rPr>
              <a:t>VISU</a:t>
            </a:r>
            <a:r>
              <a:rPr dirty="0" sz="1350" spc="-165">
                <a:solidFill>
                  <a:srgbClr val="B45209"/>
                </a:solidFill>
              </a:rPr>
              <a:t> </a:t>
            </a:r>
            <a:r>
              <a:rPr dirty="0" sz="1350" spc="135">
                <a:solidFill>
                  <a:srgbClr val="B45209"/>
                </a:solidFill>
              </a:rPr>
              <a:t>ALIZ</a:t>
            </a:r>
            <a:r>
              <a:rPr dirty="0" sz="1350" spc="-190">
                <a:solidFill>
                  <a:srgbClr val="B45209"/>
                </a:solidFill>
              </a:rPr>
              <a:t> </a:t>
            </a:r>
            <a:r>
              <a:rPr dirty="0" sz="1350">
                <a:solidFill>
                  <a:srgbClr val="B45209"/>
                </a:solidFill>
              </a:rPr>
              <a:t>AT</a:t>
            </a:r>
            <a:r>
              <a:rPr dirty="0" sz="1350" spc="-160">
                <a:solidFill>
                  <a:srgbClr val="B45209"/>
                </a:solidFill>
              </a:rPr>
              <a:t> </a:t>
            </a:r>
            <a:r>
              <a:rPr dirty="0" sz="1350" spc="130">
                <a:solidFill>
                  <a:srgbClr val="B45209"/>
                </a:solidFill>
              </a:rPr>
              <a:t>IO</a:t>
            </a:r>
            <a:r>
              <a:rPr dirty="0" sz="1350" spc="-195">
                <a:solidFill>
                  <a:srgbClr val="B45209"/>
                </a:solidFill>
              </a:rPr>
              <a:t> </a:t>
            </a:r>
            <a:r>
              <a:rPr dirty="0" sz="1350" spc="-50">
                <a:solidFill>
                  <a:srgbClr val="B45209"/>
                </a:solidFill>
              </a:rPr>
              <a:t>N</a:t>
            </a:r>
            <a:endParaRPr sz="1350"/>
          </a:p>
          <a:p>
            <a:pPr marL="12700">
              <a:lnSpc>
                <a:spcPct val="100000"/>
              </a:lnSpc>
              <a:spcBef>
                <a:spcPts val="509"/>
              </a:spcBef>
            </a:pPr>
            <a:r>
              <a:rPr dirty="0"/>
              <a:t>A</a:t>
            </a:r>
            <a:r>
              <a:rPr dirty="0" spc="-80"/>
              <a:t> </a:t>
            </a:r>
            <a:r>
              <a:rPr dirty="0"/>
              <a:t>pie</a:t>
            </a:r>
            <a:r>
              <a:rPr dirty="0" spc="-120"/>
              <a:t> </a:t>
            </a:r>
            <a:r>
              <a:rPr dirty="0"/>
              <a:t>chart</a:t>
            </a:r>
            <a:r>
              <a:rPr dirty="0" spc="-135"/>
              <a:t> </a:t>
            </a:r>
            <a:r>
              <a:rPr dirty="0" spc="-40"/>
              <a:t>shows</a:t>
            </a:r>
            <a:r>
              <a:rPr dirty="0" spc="-85"/>
              <a:t> </a:t>
            </a:r>
            <a:r>
              <a:rPr dirty="0"/>
              <a:t>parts</a:t>
            </a:r>
            <a:r>
              <a:rPr dirty="0" spc="-80"/>
              <a:t> </a:t>
            </a:r>
            <a:r>
              <a:rPr dirty="0"/>
              <a:t>of</a:t>
            </a:r>
            <a:r>
              <a:rPr dirty="0" spc="-60"/>
              <a:t> </a:t>
            </a:r>
            <a:r>
              <a:rPr dirty="0" spc="50"/>
              <a:t>a</a:t>
            </a:r>
            <a:r>
              <a:rPr dirty="0" spc="-145"/>
              <a:t> </a:t>
            </a:r>
            <a:r>
              <a:rPr dirty="0" spc="-10"/>
              <a:t>whole</a:t>
            </a:r>
          </a:p>
        </p:txBody>
      </p:sp>
      <p:sp>
        <p:nvSpPr>
          <p:cNvPr id="3" name="object 3"/>
          <p:cNvSpPr/>
          <p:nvPr/>
        </p:nvSpPr>
        <p:spPr>
          <a:xfrm>
            <a:off x="813816" y="1856739"/>
            <a:ext cx="5943600" cy="2167890"/>
          </a:xfrm>
          <a:custGeom>
            <a:avLst/>
            <a:gdLst/>
            <a:ahLst/>
            <a:cxnLst/>
            <a:rect l="l" t="t" r="r" b="b"/>
            <a:pathLst>
              <a:path w="5943600" h="2167890">
                <a:moveTo>
                  <a:pt x="5841873" y="0"/>
                </a:moveTo>
                <a:lnTo>
                  <a:pt x="101739" y="0"/>
                </a:lnTo>
                <a:lnTo>
                  <a:pt x="62139" y="7983"/>
                </a:lnTo>
                <a:lnTo>
                  <a:pt x="29800" y="29765"/>
                </a:lnTo>
                <a:lnTo>
                  <a:pt x="7995" y="62097"/>
                </a:lnTo>
                <a:lnTo>
                  <a:pt x="0" y="101726"/>
                </a:lnTo>
                <a:lnTo>
                  <a:pt x="0" y="2065909"/>
                </a:lnTo>
                <a:lnTo>
                  <a:pt x="7995" y="2105485"/>
                </a:lnTo>
                <a:lnTo>
                  <a:pt x="29800" y="2137822"/>
                </a:lnTo>
                <a:lnTo>
                  <a:pt x="62139" y="2159635"/>
                </a:lnTo>
                <a:lnTo>
                  <a:pt x="101739" y="2167636"/>
                </a:lnTo>
                <a:lnTo>
                  <a:pt x="5841873" y="2167636"/>
                </a:lnTo>
                <a:lnTo>
                  <a:pt x="5881449" y="2159635"/>
                </a:lnTo>
                <a:lnTo>
                  <a:pt x="5913786" y="2137822"/>
                </a:lnTo>
                <a:lnTo>
                  <a:pt x="5935599" y="2105485"/>
                </a:lnTo>
                <a:lnTo>
                  <a:pt x="5943600" y="2065909"/>
                </a:lnTo>
                <a:lnTo>
                  <a:pt x="5943600" y="101726"/>
                </a:lnTo>
                <a:lnTo>
                  <a:pt x="5935599" y="62097"/>
                </a:lnTo>
                <a:lnTo>
                  <a:pt x="5913786" y="29765"/>
                </a:lnTo>
                <a:lnTo>
                  <a:pt x="5881449" y="7983"/>
                </a:lnTo>
                <a:lnTo>
                  <a:pt x="5841873" y="0"/>
                </a:lnTo>
                <a:close/>
              </a:path>
            </a:pathLst>
          </a:custGeom>
          <a:solidFill>
            <a:srgbClr val="13203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/>
          <p:nvPr/>
        </p:nvSpPr>
        <p:spPr>
          <a:xfrm>
            <a:off x="800480" y="2049157"/>
            <a:ext cx="5511800" cy="3280410"/>
          </a:xfrm>
          <a:prstGeom prst="rect">
            <a:avLst/>
          </a:prstGeom>
        </p:spPr>
        <p:txBody>
          <a:bodyPr wrap="square" lIns="0" tIns="80645" rIns="0" bIns="0" rtlCol="0" vert="horz">
            <a:spAutoFit/>
          </a:bodyPr>
          <a:lstStyle/>
          <a:p>
            <a:pPr marL="266700">
              <a:lnSpc>
                <a:spcPct val="100000"/>
              </a:lnSpc>
              <a:spcBef>
                <a:spcPts val="635"/>
              </a:spcBef>
            </a:pPr>
            <a:r>
              <a:rPr dirty="0" sz="1350" spc="-90">
                <a:solidFill>
                  <a:srgbClr val="F4F0EA"/>
                </a:solidFill>
                <a:latin typeface="Arial"/>
                <a:cs typeface="Arial"/>
              </a:rPr>
              <a:t>sales</a:t>
            </a:r>
            <a:r>
              <a:rPr dirty="0" sz="1350" spc="-35">
                <a:solidFill>
                  <a:srgbClr val="F4F0EA"/>
                </a:solidFill>
                <a:latin typeface="Arial"/>
                <a:cs typeface="Arial"/>
              </a:rPr>
              <a:t> </a:t>
            </a:r>
            <a:r>
              <a:rPr dirty="0" sz="1350" spc="-120">
                <a:solidFill>
                  <a:srgbClr val="F4F0EA"/>
                </a:solidFill>
                <a:latin typeface="Arial"/>
                <a:cs typeface="Arial"/>
              </a:rPr>
              <a:t>=</a:t>
            </a:r>
            <a:r>
              <a:rPr dirty="0" sz="1350" spc="-35">
                <a:solidFill>
                  <a:srgbClr val="F4F0EA"/>
                </a:solidFill>
                <a:latin typeface="Arial"/>
                <a:cs typeface="Arial"/>
              </a:rPr>
              <a:t> </a:t>
            </a:r>
            <a:r>
              <a:rPr dirty="0" sz="1350" spc="-25">
                <a:solidFill>
                  <a:srgbClr val="F4F0EA"/>
                </a:solidFill>
                <a:latin typeface="Arial"/>
                <a:cs typeface="Arial"/>
              </a:rPr>
              <a:t>[100,</a:t>
            </a:r>
            <a:r>
              <a:rPr dirty="0" sz="1350" spc="-60">
                <a:solidFill>
                  <a:srgbClr val="F4F0EA"/>
                </a:solidFill>
                <a:latin typeface="Arial"/>
                <a:cs typeface="Arial"/>
              </a:rPr>
              <a:t> </a:t>
            </a:r>
            <a:r>
              <a:rPr dirty="0" sz="1350" spc="-40">
                <a:solidFill>
                  <a:srgbClr val="F4F0EA"/>
                </a:solidFill>
                <a:latin typeface="Arial"/>
                <a:cs typeface="Arial"/>
              </a:rPr>
              <a:t>400,</a:t>
            </a:r>
            <a:r>
              <a:rPr dirty="0" sz="1350" spc="-60">
                <a:solidFill>
                  <a:srgbClr val="F4F0EA"/>
                </a:solidFill>
                <a:latin typeface="Arial"/>
                <a:cs typeface="Arial"/>
              </a:rPr>
              <a:t> </a:t>
            </a:r>
            <a:r>
              <a:rPr dirty="0" sz="1350" spc="-40">
                <a:solidFill>
                  <a:srgbClr val="F4F0EA"/>
                </a:solidFill>
                <a:latin typeface="Arial"/>
                <a:cs typeface="Arial"/>
              </a:rPr>
              <a:t>300,</a:t>
            </a:r>
            <a:r>
              <a:rPr dirty="0" sz="1350" spc="-60">
                <a:solidFill>
                  <a:srgbClr val="F4F0EA"/>
                </a:solidFill>
                <a:latin typeface="Arial"/>
                <a:cs typeface="Arial"/>
              </a:rPr>
              <a:t> </a:t>
            </a:r>
            <a:r>
              <a:rPr dirty="0" sz="1350" spc="-20">
                <a:solidFill>
                  <a:srgbClr val="F4F0EA"/>
                </a:solidFill>
                <a:latin typeface="Arial"/>
                <a:cs typeface="Arial"/>
              </a:rPr>
              <a:t>600]</a:t>
            </a:r>
            <a:endParaRPr sz="1350">
              <a:latin typeface="Arial"/>
              <a:cs typeface="Arial"/>
            </a:endParaRPr>
          </a:p>
          <a:p>
            <a:pPr marL="266700" marR="2846070">
              <a:lnSpc>
                <a:spcPts val="2240"/>
              </a:lnSpc>
              <a:spcBef>
                <a:spcPts val="105"/>
              </a:spcBef>
            </a:pPr>
            <a:r>
              <a:rPr dirty="0" sz="1350" spc="-50">
                <a:solidFill>
                  <a:srgbClr val="F4F0EA"/>
                </a:solidFill>
                <a:latin typeface="Arial"/>
                <a:cs typeface="Arial"/>
              </a:rPr>
              <a:t>slice_labels</a:t>
            </a:r>
            <a:r>
              <a:rPr dirty="0" sz="1350" spc="-20">
                <a:solidFill>
                  <a:srgbClr val="F4F0EA"/>
                </a:solidFill>
                <a:latin typeface="Arial"/>
                <a:cs typeface="Arial"/>
              </a:rPr>
              <a:t> </a:t>
            </a:r>
            <a:r>
              <a:rPr dirty="0" sz="1350" spc="-120">
                <a:solidFill>
                  <a:srgbClr val="F4F0EA"/>
                </a:solidFill>
                <a:latin typeface="Arial"/>
                <a:cs typeface="Arial"/>
              </a:rPr>
              <a:t>=</a:t>
            </a:r>
            <a:r>
              <a:rPr dirty="0" sz="1350" spc="-25">
                <a:solidFill>
                  <a:srgbClr val="F4F0EA"/>
                </a:solidFill>
                <a:latin typeface="Arial"/>
                <a:cs typeface="Arial"/>
              </a:rPr>
              <a:t> </a:t>
            </a:r>
            <a:r>
              <a:rPr dirty="0" sz="1350" spc="-10">
                <a:solidFill>
                  <a:srgbClr val="F4F0EA"/>
                </a:solidFill>
                <a:latin typeface="Arial"/>
                <a:cs typeface="Arial"/>
              </a:rPr>
              <a:t>['1st</a:t>
            </a:r>
            <a:r>
              <a:rPr dirty="0" sz="1350" spc="-15">
                <a:solidFill>
                  <a:srgbClr val="F4F0EA"/>
                </a:solidFill>
                <a:latin typeface="Arial"/>
                <a:cs typeface="Arial"/>
              </a:rPr>
              <a:t> </a:t>
            </a:r>
            <a:r>
              <a:rPr dirty="0" sz="1350">
                <a:solidFill>
                  <a:srgbClr val="F4F0EA"/>
                </a:solidFill>
                <a:latin typeface="Arial"/>
                <a:cs typeface="Arial"/>
              </a:rPr>
              <a:t>Qtr',</a:t>
            </a:r>
            <a:r>
              <a:rPr dirty="0" sz="1350" spc="-50">
                <a:solidFill>
                  <a:srgbClr val="F4F0EA"/>
                </a:solidFill>
                <a:latin typeface="Arial"/>
                <a:cs typeface="Arial"/>
              </a:rPr>
              <a:t> </a:t>
            </a:r>
            <a:r>
              <a:rPr dirty="0" sz="1350" spc="-10">
                <a:solidFill>
                  <a:srgbClr val="F4F0EA"/>
                </a:solidFill>
                <a:latin typeface="Arial"/>
                <a:cs typeface="Arial"/>
              </a:rPr>
              <a:t>'2nd</a:t>
            </a:r>
            <a:r>
              <a:rPr dirty="0" sz="1350" spc="-60">
                <a:solidFill>
                  <a:srgbClr val="F4F0EA"/>
                </a:solidFill>
                <a:latin typeface="Arial"/>
                <a:cs typeface="Arial"/>
              </a:rPr>
              <a:t> </a:t>
            </a:r>
            <a:r>
              <a:rPr dirty="0" sz="1350" spc="-20">
                <a:solidFill>
                  <a:srgbClr val="F4F0EA"/>
                </a:solidFill>
                <a:latin typeface="Arial"/>
                <a:cs typeface="Arial"/>
              </a:rPr>
              <a:t>Qtr', </a:t>
            </a:r>
            <a:r>
              <a:rPr dirty="0" sz="1350">
                <a:solidFill>
                  <a:srgbClr val="F4F0EA"/>
                </a:solidFill>
                <a:latin typeface="Arial"/>
                <a:cs typeface="Arial"/>
              </a:rPr>
              <a:t>'3rd</a:t>
            </a:r>
            <a:r>
              <a:rPr dirty="0" sz="1350" spc="-55">
                <a:solidFill>
                  <a:srgbClr val="F4F0EA"/>
                </a:solidFill>
                <a:latin typeface="Arial"/>
                <a:cs typeface="Arial"/>
              </a:rPr>
              <a:t> </a:t>
            </a:r>
            <a:r>
              <a:rPr dirty="0" sz="1350">
                <a:solidFill>
                  <a:srgbClr val="F4F0EA"/>
                </a:solidFill>
                <a:latin typeface="Arial"/>
                <a:cs typeface="Arial"/>
              </a:rPr>
              <a:t>Qtr',</a:t>
            </a:r>
            <a:r>
              <a:rPr dirty="0" sz="1350" spc="-35">
                <a:solidFill>
                  <a:srgbClr val="F4F0EA"/>
                </a:solidFill>
                <a:latin typeface="Arial"/>
                <a:cs typeface="Arial"/>
              </a:rPr>
              <a:t> </a:t>
            </a:r>
            <a:r>
              <a:rPr dirty="0" sz="1350">
                <a:solidFill>
                  <a:srgbClr val="F4F0EA"/>
                </a:solidFill>
                <a:latin typeface="Arial"/>
                <a:cs typeface="Arial"/>
              </a:rPr>
              <a:t>'4th</a:t>
            </a:r>
            <a:r>
              <a:rPr dirty="0" sz="1350" spc="25">
                <a:solidFill>
                  <a:srgbClr val="F4F0EA"/>
                </a:solidFill>
                <a:latin typeface="Arial"/>
                <a:cs typeface="Arial"/>
              </a:rPr>
              <a:t> </a:t>
            </a:r>
            <a:r>
              <a:rPr dirty="0" sz="1350" spc="-20">
                <a:solidFill>
                  <a:srgbClr val="F4F0EA"/>
                </a:solidFill>
                <a:latin typeface="Arial"/>
                <a:cs typeface="Arial"/>
              </a:rPr>
              <a:t>Qtr']</a:t>
            </a:r>
            <a:endParaRPr sz="1350">
              <a:latin typeface="Arial"/>
              <a:cs typeface="Arial"/>
            </a:endParaRPr>
          </a:p>
          <a:p>
            <a:pPr marL="266700" marR="2891790">
              <a:lnSpc>
                <a:spcPts val="2160"/>
              </a:lnSpc>
              <a:spcBef>
                <a:spcPts val="55"/>
              </a:spcBef>
            </a:pPr>
            <a:r>
              <a:rPr dirty="0" sz="1350" spc="-35">
                <a:solidFill>
                  <a:srgbClr val="F4F0EA"/>
                </a:solidFill>
                <a:latin typeface="Arial"/>
                <a:cs typeface="Arial"/>
              </a:rPr>
              <a:t>plt.pie(sales,</a:t>
            </a:r>
            <a:r>
              <a:rPr dirty="0" sz="1350" spc="10">
                <a:solidFill>
                  <a:srgbClr val="F4F0EA"/>
                </a:solidFill>
                <a:latin typeface="Arial"/>
                <a:cs typeface="Arial"/>
              </a:rPr>
              <a:t> </a:t>
            </a:r>
            <a:r>
              <a:rPr dirty="0" sz="1350" spc="-45">
                <a:solidFill>
                  <a:srgbClr val="F4F0EA"/>
                </a:solidFill>
                <a:latin typeface="Arial"/>
                <a:cs typeface="Arial"/>
              </a:rPr>
              <a:t>labels=slice_labels) </a:t>
            </a:r>
            <a:r>
              <a:rPr dirty="0" sz="1350" spc="-25">
                <a:solidFill>
                  <a:srgbClr val="F4F0EA"/>
                </a:solidFill>
                <a:latin typeface="Arial"/>
                <a:cs typeface="Arial"/>
              </a:rPr>
              <a:t>plt.title('Sales</a:t>
            </a:r>
            <a:r>
              <a:rPr dirty="0" sz="1350" spc="-40">
                <a:solidFill>
                  <a:srgbClr val="F4F0EA"/>
                </a:solidFill>
                <a:latin typeface="Arial"/>
                <a:cs typeface="Arial"/>
              </a:rPr>
              <a:t> </a:t>
            </a:r>
            <a:r>
              <a:rPr dirty="0" sz="1350">
                <a:solidFill>
                  <a:srgbClr val="F4F0EA"/>
                </a:solidFill>
                <a:latin typeface="Arial"/>
                <a:cs typeface="Arial"/>
              </a:rPr>
              <a:t>by</a:t>
            </a:r>
            <a:r>
              <a:rPr dirty="0" sz="1350" spc="-50">
                <a:solidFill>
                  <a:srgbClr val="F4F0EA"/>
                </a:solidFill>
                <a:latin typeface="Arial"/>
                <a:cs typeface="Arial"/>
              </a:rPr>
              <a:t> </a:t>
            </a:r>
            <a:r>
              <a:rPr dirty="0" sz="1350" spc="-10">
                <a:solidFill>
                  <a:srgbClr val="F4F0EA"/>
                </a:solidFill>
                <a:latin typeface="Arial"/>
                <a:cs typeface="Arial"/>
              </a:rPr>
              <a:t>Quarter')</a:t>
            </a:r>
            <a:endParaRPr sz="1350">
              <a:latin typeface="Arial"/>
              <a:cs typeface="Arial"/>
            </a:endParaRPr>
          </a:p>
          <a:p>
            <a:pPr marL="266700">
              <a:lnSpc>
                <a:spcPct val="100000"/>
              </a:lnSpc>
              <a:spcBef>
                <a:spcPts val="455"/>
              </a:spcBef>
            </a:pPr>
            <a:r>
              <a:rPr dirty="0" sz="1350" spc="-10">
                <a:solidFill>
                  <a:srgbClr val="F4F0EA"/>
                </a:solidFill>
                <a:latin typeface="Arial"/>
                <a:cs typeface="Arial"/>
              </a:rPr>
              <a:t>plt.show()</a:t>
            </a:r>
            <a:endParaRPr sz="135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13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60"/>
              </a:spcBef>
            </a:pPr>
            <a:endParaRPr sz="1350">
              <a:latin typeface="Arial"/>
              <a:cs typeface="Arial"/>
            </a:endParaRPr>
          </a:p>
          <a:p>
            <a:pPr marL="12700" marR="59690">
              <a:lnSpc>
                <a:spcPct val="124800"/>
              </a:lnSpc>
            </a:pPr>
            <a:r>
              <a:rPr dirty="0" sz="1350" spc="-10">
                <a:solidFill>
                  <a:srgbClr val="3C495C"/>
                </a:solidFill>
                <a:latin typeface="Arial"/>
                <a:cs typeface="Arial"/>
              </a:rPr>
              <a:t>Each</a:t>
            </a:r>
            <a:r>
              <a:rPr dirty="0" sz="1350" spc="65">
                <a:solidFill>
                  <a:srgbClr val="3C495C"/>
                </a:solidFill>
                <a:latin typeface="Arial"/>
                <a:cs typeface="Arial"/>
              </a:rPr>
              <a:t> </a:t>
            </a:r>
            <a:r>
              <a:rPr dirty="0" sz="1350">
                <a:solidFill>
                  <a:srgbClr val="3C495C"/>
                </a:solidFill>
                <a:latin typeface="Arial"/>
                <a:cs typeface="Arial"/>
              </a:rPr>
              <a:t>value</a:t>
            </a:r>
            <a:r>
              <a:rPr dirty="0" sz="1350" spc="20">
                <a:solidFill>
                  <a:srgbClr val="3C495C"/>
                </a:solidFill>
                <a:latin typeface="Arial"/>
                <a:cs typeface="Arial"/>
              </a:rPr>
              <a:t> </a:t>
            </a:r>
            <a:r>
              <a:rPr dirty="0" sz="1350">
                <a:solidFill>
                  <a:srgbClr val="3C495C"/>
                </a:solidFill>
                <a:latin typeface="Arial"/>
                <a:cs typeface="Arial"/>
              </a:rPr>
              <a:t>becomes</a:t>
            </a:r>
            <a:r>
              <a:rPr dirty="0" sz="1350" spc="25">
                <a:solidFill>
                  <a:srgbClr val="3C495C"/>
                </a:solidFill>
                <a:latin typeface="Arial"/>
                <a:cs typeface="Arial"/>
              </a:rPr>
              <a:t> </a:t>
            </a:r>
            <a:r>
              <a:rPr dirty="0" sz="1350">
                <a:solidFill>
                  <a:srgbClr val="3C495C"/>
                </a:solidFill>
                <a:latin typeface="Arial"/>
                <a:cs typeface="Arial"/>
              </a:rPr>
              <a:t>one</a:t>
            </a:r>
            <a:r>
              <a:rPr dirty="0" sz="1350" spc="15">
                <a:solidFill>
                  <a:srgbClr val="3C495C"/>
                </a:solidFill>
                <a:latin typeface="Arial"/>
                <a:cs typeface="Arial"/>
              </a:rPr>
              <a:t> </a:t>
            </a:r>
            <a:r>
              <a:rPr dirty="0" sz="1350">
                <a:solidFill>
                  <a:srgbClr val="3C495C"/>
                </a:solidFill>
                <a:latin typeface="Arial"/>
                <a:cs typeface="Arial"/>
              </a:rPr>
              <a:t>slice,</a:t>
            </a:r>
            <a:r>
              <a:rPr dirty="0" sz="1350" spc="-45">
                <a:solidFill>
                  <a:srgbClr val="3C495C"/>
                </a:solidFill>
                <a:latin typeface="Arial"/>
                <a:cs typeface="Arial"/>
              </a:rPr>
              <a:t> </a:t>
            </a:r>
            <a:r>
              <a:rPr dirty="0" sz="1350">
                <a:solidFill>
                  <a:srgbClr val="3C495C"/>
                </a:solidFill>
                <a:latin typeface="Arial"/>
                <a:cs typeface="Arial"/>
              </a:rPr>
              <a:t>sized</a:t>
            </a:r>
            <a:r>
              <a:rPr dirty="0" sz="1350" spc="45">
                <a:solidFill>
                  <a:srgbClr val="3C495C"/>
                </a:solidFill>
                <a:latin typeface="Arial"/>
                <a:cs typeface="Arial"/>
              </a:rPr>
              <a:t> </a:t>
            </a:r>
            <a:r>
              <a:rPr dirty="0" sz="1350">
                <a:solidFill>
                  <a:srgbClr val="3C495C"/>
                </a:solidFill>
                <a:latin typeface="Arial"/>
                <a:cs typeface="Arial"/>
              </a:rPr>
              <a:t>by</a:t>
            </a:r>
            <a:r>
              <a:rPr dirty="0" sz="1350" spc="95">
                <a:solidFill>
                  <a:srgbClr val="3C495C"/>
                </a:solidFill>
                <a:latin typeface="Arial"/>
                <a:cs typeface="Arial"/>
              </a:rPr>
              <a:t> </a:t>
            </a:r>
            <a:r>
              <a:rPr dirty="0" sz="1350">
                <a:solidFill>
                  <a:srgbClr val="3C495C"/>
                </a:solidFill>
                <a:latin typeface="Arial"/>
                <a:cs typeface="Arial"/>
              </a:rPr>
              <a:t>its</a:t>
            </a:r>
            <a:r>
              <a:rPr dirty="0" sz="1350" spc="30">
                <a:solidFill>
                  <a:srgbClr val="3C495C"/>
                </a:solidFill>
                <a:latin typeface="Arial"/>
                <a:cs typeface="Arial"/>
              </a:rPr>
              <a:t> </a:t>
            </a:r>
            <a:r>
              <a:rPr dirty="0" sz="1350">
                <a:solidFill>
                  <a:srgbClr val="3C495C"/>
                </a:solidFill>
                <a:latin typeface="Arial"/>
                <a:cs typeface="Arial"/>
              </a:rPr>
              <a:t>share</a:t>
            </a:r>
            <a:r>
              <a:rPr dirty="0" sz="1350" spc="15">
                <a:solidFill>
                  <a:srgbClr val="3C495C"/>
                </a:solidFill>
                <a:latin typeface="Arial"/>
                <a:cs typeface="Arial"/>
              </a:rPr>
              <a:t> </a:t>
            </a:r>
            <a:r>
              <a:rPr dirty="0" sz="1350" spc="50">
                <a:solidFill>
                  <a:srgbClr val="3C495C"/>
                </a:solidFill>
                <a:latin typeface="Arial"/>
                <a:cs typeface="Arial"/>
              </a:rPr>
              <a:t>of</a:t>
            </a:r>
            <a:r>
              <a:rPr dirty="0" sz="1350" spc="-45">
                <a:solidFill>
                  <a:srgbClr val="3C495C"/>
                </a:solidFill>
                <a:latin typeface="Arial"/>
                <a:cs typeface="Arial"/>
              </a:rPr>
              <a:t> </a:t>
            </a:r>
            <a:r>
              <a:rPr dirty="0" sz="1350" spc="50">
                <a:solidFill>
                  <a:srgbClr val="3C495C"/>
                </a:solidFill>
                <a:latin typeface="Arial"/>
                <a:cs typeface="Arial"/>
              </a:rPr>
              <a:t>the</a:t>
            </a:r>
            <a:r>
              <a:rPr dirty="0" sz="1350" spc="15">
                <a:solidFill>
                  <a:srgbClr val="3C495C"/>
                </a:solidFill>
                <a:latin typeface="Arial"/>
                <a:cs typeface="Arial"/>
              </a:rPr>
              <a:t> </a:t>
            </a:r>
            <a:r>
              <a:rPr dirty="0" sz="1350" spc="50">
                <a:solidFill>
                  <a:srgbClr val="3C495C"/>
                </a:solidFill>
                <a:latin typeface="Arial"/>
                <a:cs typeface="Arial"/>
              </a:rPr>
              <a:t>total.</a:t>
            </a:r>
            <a:r>
              <a:rPr dirty="0" sz="1350" spc="40">
                <a:solidFill>
                  <a:srgbClr val="3C495C"/>
                </a:solidFill>
                <a:latin typeface="Arial"/>
                <a:cs typeface="Arial"/>
              </a:rPr>
              <a:t> </a:t>
            </a:r>
            <a:r>
              <a:rPr dirty="0" sz="1350">
                <a:solidFill>
                  <a:srgbClr val="3C495C"/>
                </a:solidFill>
                <a:latin typeface="Arial"/>
                <a:cs typeface="Arial"/>
              </a:rPr>
              <a:t>The</a:t>
            </a:r>
            <a:r>
              <a:rPr dirty="0" sz="1350" spc="15">
                <a:solidFill>
                  <a:srgbClr val="3C495C"/>
                </a:solidFill>
                <a:latin typeface="Arial"/>
                <a:cs typeface="Arial"/>
              </a:rPr>
              <a:t> </a:t>
            </a:r>
            <a:r>
              <a:rPr dirty="0" sz="1350" spc="55">
                <a:solidFill>
                  <a:srgbClr val="3C495C"/>
                </a:solidFill>
                <a:latin typeface="Arial"/>
                <a:cs typeface="Arial"/>
              </a:rPr>
              <a:t>4th </a:t>
            </a:r>
            <a:r>
              <a:rPr dirty="0" sz="1350" spc="10">
                <a:solidFill>
                  <a:srgbClr val="3C495C"/>
                </a:solidFill>
                <a:latin typeface="Arial"/>
                <a:cs typeface="Arial"/>
              </a:rPr>
              <a:t>quarter's </a:t>
            </a:r>
            <a:r>
              <a:rPr dirty="0" sz="1350" spc="65">
                <a:solidFill>
                  <a:srgbClr val="3C495C"/>
                </a:solidFill>
                <a:latin typeface="Arial"/>
                <a:cs typeface="Arial"/>
              </a:rPr>
              <a:t>600</a:t>
            </a:r>
            <a:r>
              <a:rPr dirty="0" sz="1350" spc="80">
                <a:solidFill>
                  <a:srgbClr val="3C495C"/>
                </a:solidFill>
                <a:latin typeface="Arial"/>
                <a:cs typeface="Arial"/>
              </a:rPr>
              <a:t> </a:t>
            </a:r>
            <a:r>
              <a:rPr dirty="0" sz="1350" spc="55">
                <a:solidFill>
                  <a:srgbClr val="3C495C"/>
                </a:solidFill>
                <a:latin typeface="Arial"/>
                <a:cs typeface="Arial"/>
              </a:rPr>
              <a:t>out</a:t>
            </a:r>
            <a:r>
              <a:rPr dirty="0" sz="1350" spc="-20">
                <a:solidFill>
                  <a:srgbClr val="3C495C"/>
                </a:solidFill>
                <a:latin typeface="Arial"/>
                <a:cs typeface="Arial"/>
              </a:rPr>
              <a:t> </a:t>
            </a:r>
            <a:r>
              <a:rPr dirty="0" sz="1350" spc="50">
                <a:solidFill>
                  <a:srgbClr val="3C495C"/>
                </a:solidFill>
                <a:latin typeface="Arial"/>
                <a:cs typeface="Arial"/>
              </a:rPr>
              <a:t>of</a:t>
            </a:r>
            <a:r>
              <a:rPr dirty="0" sz="1350" spc="25">
                <a:solidFill>
                  <a:srgbClr val="3C495C"/>
                </a:solidFill>
                <a:latin typeface="Arial"/>
                <a:cs typeface="Arial"/>
              </a:rPr>
              <a:t> </a:t>
            </a:r>
            <a:r>
              <a:rPr dirty="0" sz="1350" spc="55">
                <a:solidFill>
                  <a:srgbClr val="3C495C"/>
                </a:solidFill>
                <a:latin typeface="Arial"/>
                <a:cs typeface="Arial"/>
              </a:rPr>
              <a:t>1,400</a:t>
            </a:r>
            <a:r>
              <a:rPr dirty="0" sz="1350">
                <a:solidFill>
                  <a:srgbClr val="3C495C"/>
                </a:solidFill>
                <a:latin typeface="Arial"/>
                <a:cs typeface="Arial"/>
              </a:rPr>
              <a:t> </a:t>
            </a:r>
            <a:r>
              <a:rPr dirty="0" sz="1350" spc="10">
                <a:solidFill>
                  <a:srgbClr val="3C495C"/>
                </a:solidFill>
                <a:latin typeface="Arial"/>
                <a:cs typeface="Arial"/>
              </a:rPr>
              <a:t>fills</a:t>
            </a:r>
            <a:r>
              <a:rPr dirty="0" sz="1350" spc="95">
                <a:solidFill>
                  <a:srgbClr val="3C495C"/>
                </a:solidFill>
                <a:latin typeface="Arial"/>
                <a:cs typeface="Arial"/>
              </a:rPr>
              <a:t> </a:t>
            </a:r>
            <a:r>
              <a:rPr dirty="0" sz="1350" spc="85" b="1">
                <a:solidFill>
                  <a:srgbClr val="3C495C"/>
                </a:solidFill>
                <a:latin typeface="Arial"/>
                <a:cs typeface="Arial"/>
              </a:rPr>
              <a:t>43%</a:t>
            </a:r>
            <a:r>
              <a:rPr dirty="0" sz="1350" spc="50" b="1">
                <a:solidFill>
                  <a:srgbClr val="3C495C"/>
                </a:solidFill>
                <a:latin typeface="Arial"/>
                <a:cs typeface="Arial"/>
              </a:rPr>
              <a:t> </a:t>
            </a:r>
            <a:r>
              <a:rPr dirty="0" sz="1350" spc="50">
                <a:solidFill>
                  <a:srgbClr val="3C495C"/>
                </a:solidFill>
                <a:latin typeface="Arial"/>
                <a:cs typeface="Arial"/>
              </a:rPr>
              <a:t>of</a:t>
            </a:r>
            <a:r>
              <a:rPr dirty="0" sz="1350" spc="25">
                <a:solidFill>
                  <a:srgbClr val="3C495C"/>
                </a:solidFill>
                <a:latin typeface="Arial"/>
                <a:cs typeface="Arial"/>
              </a:rPr>
              <a:t> </a:t>
            </a:r>
            <a:r>
              <a:rPr dirty="0" sz="1350" spc="50">
                <a:solidFill>
                  <a:srgbClr val="3C495C"/>
                </a:solidFill>
                <a:latin typeface="Arial"/>
                <a:cs typeface="Arial"/>
              </a:rPr>
              <a:t>the</a:t>
            </a:r>
            <a:r>
              <a:rPr dirty="0" sz="1350">
                <a:solidFill>
                  <a:srgbClr val="3C495C"/>
                </a:solidFill>
                <a:latin typeface="Arial"/>
                <a:cs typeface="Arial"/>
              </a:rPr>
              <a:t> </a:t>
            </a:r>
            <a:r>
              <a:rPr dirty="0" sz="1350" spc="-20">
                <a:solidFill>
                  <a:srgbClr val="3C495C"/>
                </a:solidFill>
                <a:latin typeface="Arial"/>
                <a:cs typeface="Arial"/>
              </a:rPr>
              <a:t>pie.</a:t>
            </a:r>
            <a:endParaRPr sz="13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490"/>
              </a:spcBef>
            </a:pPr>
            <a:r>
              <a:rPr dirty="0" sz="1350" spc="10">
                <a:solidFill>
                  <a:srgbClr val="3C495C"/>
                </a:solidFill>
                <a:latin typeface="Arial"/>
                <a:cs typeface="Arial"/>
              </a:rPr>
              <a:t>Choose</a:t>
            </a:r>
            <a:r>
              <a:rPr dirty="0" sz="1350" spc="-5">
                <a:solidFill>
                  <a:srgbClr val="3C495C"/>
                </a:solidFill>
                <a:latin typeface="Arial"/>
                <a:cs typeface="Arial"/>
              </a:rPr>
              <a:t> </a:t>
            </a:r>
            <a:r>
              <a:rPr dirty="0" sz="1350" spc="20">
                <a:solidFill>
                  <a:srgbClr val="3C495C"/>
                </a:solidFill>
                <a:latin typeface="Arial"/>
                <a:cs typeface="Arial"/>
              </a:rPr>
              <a:t>slice</a:t>
            </a:r>
            <a:r>
              <a:rPr dirty="0" sz="1350">
                <a:solidFill>
                  <a:srgbClr val="3C495C"/>
                </a:solidFill>
                <a:latin typeface="Arial"/>
                <a:cs typeface="Arial"/>
              </a:rPr>
              <a:t> </a:t>
            </a:r>
            <a:r>
              <a:rPr dirty="0" sz="1350" spc="20">
                <a:solidFill>
                  <a:srgbClr val="3C495C"/>
                </a:solidFill>
                <a:latin typeface="Arial"/>
                <a:cs typeface="Arial"/>
              </a:rPr>
              <a:t>colors</a:t>
            </a:r>
            <a:r>
              <a:rPr dirty="0" sz="1350" spc="15">
                <a:solidFill>
                  <a:srgbClr val="3C495C"/>
                </a:solidFill>
                <a:latin typeface="Arial"/>
                <a:cs typeface="Arial"/>
              </a:rPr>
              <a:t> </a:t>
            </a:r>
            <a:r>
              <a:rPr dirty="0" sz="1350" spc="70">
                <a:solidFill>
                  <a:srgbClr val="3C495C"/>
                </a:solidFill>
                <a:latin typeface="Arial"/>
                <a:cs typeface="Arial"/>
              </a:rPr>
              <a:t>with</a:t>
            </a:r>
            <a:r>
              <a:rPr dirty="0" sz="1350" spc="40">
                <a:solidFill>
                  <a:srgbClr val="3C495C"/>
                </a:solidFill>
                <a:latin typeface="Arial"/>
                <a:cs typeface="Arial"/>
              </a:rPr>
              <a:t> </a:t>
            </a:r>
            <a:r>
              <a:rPr dirty="0" sz="1350" spc="20">
                <a:solidFill>
                  <a:srgbClr val="B45209"/>
                </a:solidFill>
                <a:latin typeface="Arial"/>
                <a:cs typeface="Arial"/>
              </a:rPr>
              <a:t>colors=('r', 'g',</a:t>
            </a:r>
            <a:r>
              <a:rPr dirty="0" sz="1350" spc="-55">
                <a:solidFill>
                  <a:srgbClr val="B45209"/>
                </a:solidFill>
                <a:latin typeface="Arial"/>
                <a:cs typeface="Arial"/>
              </a:rPr>
              <a:t> </a:t>
            </a:r>
            <a:r>
              <a:rPr dirty="0" sz="1350" spc="55">
                <a:solidFill>
                  <a:srgbClr val="B45209"/>
                </a:solidFill>
                <a:latin typeface="Arial"/>
                <a:cs typeface="Arial"/>
              </a:rPr>
              <a:t>'b',</a:t>
            </a:r>
            <a:r>
              <a:rPr dirty="0" sz="1350" spc="20">
                <a:solidFill>
                  <a:srgbClr val="B45209"/>
                </a:solidFill>
                <a:latin typeface="Arial"/>
                <a:cs typeface="Arial"/>
              </a:rPr>
              <a:t> </a:t>
            </a:r>
            <a:r>
              <a:rPr dirty="0" sz="1350" spc="50">
                <a:solidFill>
                  <a:srgbClr val="B45209"/>
                </a:solidFill>
                <a:latin typeface="Arial"/>
                <a:cs typeface="Arial"/>
              </a:rPr>
              <a:t>'w',</a:t>
            </a:r>
            <a:r>
              <a:rPr dirty="0" sz="1350" spc="25">
                <a:solidFill>
                  <a:srgbClr val="B45209"/>
                </a:solidFill>
                <a:latin typeface="Arial"/>
                <a:cs typeface="Arial"/>
              </a:rPr>
              <a:t> </a:t>
            </a:r>
            <a:r>
              <a:rPr dirty="0" sz="1350" spc="20">
                <a:solidFill>
                  <a:srgbClr val="B45209"/>
                </a:solidFill>
                <a:latin typeface="Arial"/>
                <a:cs typeface="Arial"/>
              </a:rPr>
              <a:t>'k')</a:t>
            </a:r>
            <a:r>
              <a:rPr dirty="0" sz="1350" spc="20">
                <a:solidFill>
                  <a:srgbClr val="3C495C"/>
                </a:solidFill>
                <a:latin typeface="Arial"/>
                <a:cs typeface="Arial"/>
              </a:rPr>
              <a:t>.</a:t>
            </a:r>
            <a:r>
              <a:rPr dirty="0" sz="1350" spc="25">
                <a:solidFill>
                  <a:srgbClr val="3C495C"/>
                </a:solidFill>
                <a:latin typeface="Arial"/>
                <a:cs typeface="Arial"/>
              </a:rPr>
              <a:t> </a:t>
            </a:r>
            <a:r>
              <a:rPr dirty="0" sz="1350" spc="45">
                <a:solidFill>
                  <a:srgbClr val="3C495C"/>
                </a:solidFill>
                <a:latin typeface="Arial"/>
                <a:cs typeface="Arial"/>
              </a:rPr>
              <a:t>Without</a:t>
            </a:r>
            <a:r>
              <a:rPr dirty="0" sz="1350" spc="-25">
                <a:solidFill>
                  <a:srgbClr val="3C495C"/>
                </a:solidFill>
                <a:latin typeface="Arial"/>
                <a:cs typeface="Arial"/>
              </a:rPr>
              <a:t> </a:t>
            </a:r>
            <a:r>
              <a:rPr dirty="0" sz="1350" spc="55">
                <a:solidFill>
                  <a:srgbClr val="3C495C"/>
                </a:solidFill>
                <a:latin typeface="Arial"/>
                <a:cs typeface="Arial"/>
              </a:rPr>
              <a:t>it,</a:t>
            </a:r>
            <a:r>
              <a:rPr dirty="0" sz="1350" spc="-60">
                <a:solidFill>
                  <a:srgbClr val="3C495C"/>
                </a:solidFill>
                <a:latin typeface="Arial"/>
                <a:cs typeface="Arial"/>
              </a:rPr>
              <a:t> </a:t>
            </a:r>
            <a:r>
              <a:rPr dirty="0" sz="1350" spc="35">
                <a:solidFill>
                  <a:srgbClr val="3C495C"/>
                </a:solidFill>
                <a:latin typeface="Arial"/>
                <a:cs typeface="Arial"/>
              </a:rPr>
              <a:t>current</a:t>
            </a:r>
            <a:endParaRPr sz="13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395"/>
              </a:spcBef>
            </a:pPr>
            <a:r>
              <a:rPr dirty="0" sz="1350" spc="55">
                <a:solidFill>
                  <a:srgbClr val="3C495C"/>
                </a:solidFill>
                <a:latin typeface="Arial"/>
                <a:cs typeface="Arial"/>
              </a:rPr>
              <a:t>matplotlib</a:t>
            </a:r>
            <a:r>
              <a:rPr dirty="0" sz="1350" spc="65">
                <a:solidFill>
                  <a:srgbClr val="3C495C"/>
                </a:solidFill>
                <a:latin typeface="Arial"/>
                <a:cs typeface="Arial"/>
              </a:rPr>
              <a:t> </a:t>
            </a:r>
            <a:r>
              <a:rPr dirty="0" sz="1350">
                <a:solidFill>
                  <a:srgbClr val="3C495C"/>
                </a:solidFill>
                <a:latin typeface="Arial"/>
                <a:cs typeface="Arial"/>
              </a:rPr>
              <a:t>uses</a:t>
            </a:r>
            <a:r>
              <a:rPr dirty="0" sz="1350" spc="140">
                <a:solidFill>
                  <a:srgbClr val="3C495C"/>
                </a:solidFill>
                <a:latin typeface="Arial"/>
                <a:cs typeface="Arial"/>
              </a:rPr>
              <a:t> </a:t>
            </a:r>
            <a:r>
              <a:rPr dirty="0" sz="1350">
                <a:solidFill>
                  <a:srgbClr val="3C495C"/>
                </a:solidFill>
                <a:latin typeface="Arial"/>
                <a:cs typeface="Arial"/>
              </a:rPr>
              <a:t>blue,</a:t>
            </a:r>
            <a:r>
              <a:rPr dirty="0" sz="1350" spc="-30">
                <a:solidFill>
                  <a:srgbClr val="3C495C"/>
                </a:solidFill>
                <a:latin typeface="Arial"/>
                <a:cs typeface="Arial"/>
              </a:rPr>
              <a:t> </a:t>
            </a:r>
            <a:r>
              <a:rPr dirty="0" sz="1350">
                <a:solidFill>
                  <a:srgbClr val="3C495C"/>
                </a:solidFill>
                <a:latin typeface="Arial"/>
                <a:cs typeface="Arial"/>
              </a:rPr>
              <a:t>orange,</a:t>
            </a:r>
            <a:r>
              <a:rPr dirty="0" sz="1350" spc="60">
                <a:solidFill>
                  <a:srgbClr val="3C495C"/>
                </a:solidFill>
                <a:latin typeface="Arial"/>
                <a:cs typeface="Arial"/>
              </a:rPr>
              <a:t> </a:t>
            </a:r>
            <a:r>
              <a:rPr dirty="0" sz="1350">
                <a:solidFill>
                  <a:srgbClr val="3C495C"/>
                </a:solidFill>
                <a:latin typeface="Arial"/>
                <a:cs typeface="Arial"/>
              </a:rPr>
              <a:t>green,</a:t>
            </a:r>
            <a:r>
              <a:rPr dirty="0" sz="1350" spc="65">
                <a:solidFill>
                  <a:srgbClr val="3C495C"/>
                </a:solidFill>
                <a:latin typeface="Arial"/>
                <a:cs typeface="Arial"/>
              </a:rPr>
              <a:t> </a:t>
            </a:r>
            <a:r>
              <a:rPr dirty="0" sz="1350">
                <a:solidFill>
                  <a:srgbClr val="3C495C"/>
                </a:solidFill>
                <a:latin typeface="Arial"/>
                <a:cs typeface="Arial"/>
              </a:rPr>
              <a:t>red</a:t>
            </a:r>
            <a:r>
              <a:rPr dirty="0" sz="1350" spc="-15">
                <a:solidFill>
                  <a:srgbClr val="3C495C"/>
                </a:solidFill>
                <a:latin typeface="Arial"/>
                <a:cs typeface="Arial"/>
              </a:rPr>
              <a:t> </a:t>
            </a:r>
            <a:r>
              <a:rPr dirty="0" sz="1350" spc="-310">
                <a:solidFill>
                  <a:srgbClr val="3C495C"/>
                </a:solidFill>
                <a:latin typeface="Arial"/>
                <a:cs typeface="Arial"/>
              </a:rPr>
              <a:t>…</a:t>
            </a:r>
            <a:endParaRPr sz="1350">
              <a:latin typeface="Arial"/>
              <a:cs typeface="Arial"/>
            </a:endParaRPr>
          </a:p>
        </p:txBody>
      </p:sp>
      <p:grpSp>
        <p:nvGrpSpPr>
          <p:cNvPr id="5" name="object 5" descr="Pie chart titled Sales by Quarter with four labeled slices: 1st Qtr small, 2nd Qtr and 3rd Qtr medium, 4th Qtr the largest"/>
          <p:cNvGrpSpPr/>
          <p:nvPr/>
        </p:nvGrpSpPr>
        <p:grpSpPr>
          <a:xfrm>
            <a:off x="7060565" y="1865883"/>
            <a:ext cx="4322445" cy="3236595"/>
            <a:chOff x="7060565" y="1865883"/>
            <a:chExt cx="4322445" cy="3236595"/>
          </a:xfrm>
        </p:grpSpPr>
        <p:pic>
          <p:nvPicPr>
            <p:cNvPr id="6" name="object 6" descr="Pie chart titled Sales by Quarter with four labeled slices: 1st Qtr small, 2nd Qtr and 3rd Qtr medium, 4th Qtr the largest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070471" y="1865883"/>
              <a:ext cx="4293488" cy="3228593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7063740" y="1870455"/>
              <a:ext cx="4316095" cy="3228975"/>
            </a:xfrm>
            <a:custGeom>
              <a:avLst/>
              <a:gdLst/>
              <a:ahLst/>
              <a:cxnLst/>
              <a:rect l="l" t="t" r="r" b="b"/>
              <a:pathLst>
                <a:path w="4316095" h="3228975">
                  <a:moveTo>
                    <a:pt x="0" y="72898"/>
                  </a:moveTo>
                  <a:lnTo>
                    <a:pt x="5728" y="44523"/>
                  </a:lnTo>
                  <a:lnTo>
                    <a:pt x="21351" y="21351"/>
                  </a:lnTo>
                  <a:lnTo>
                    <a:pt x="44523" y="5728"/>
                  </a:lnTo>
                  <a:lnTo>
                    <a:pt x="72898" y="0"/>
                  </a:lnTo>
                  <a:lnTo>
                    <a:pt x="4243069" y="0"/>
                  </a:lnTo>
                  <a:lnTo>
                    <a:pt x="4271444" y="5728"/>
                  </a:lnTo>
                  <a:lnTo>
                    <a:pt x="4294616" y="21351"/>
                  </a:lnTo>
                  <a:lnTo>
                    <a:pt x="4310239" y="44523"/>
                  </a:lnTo>
                  <a:lnTo>
                    <a:pt x="4315967" y="72898"/>
                  </a:lnTo>
                  <a:lnTo>
                    <a:pt x="4315967" y="3155696"/>
                  </a:lnTo>
                  <a:lnTo>
                    <a:pt x="4310239" y="3184070"/>
                  </a:lnTo>
                  <a:lnTo>
                    <a:pt x="4294616" y="3207242"/>
                  </a:lnTo>
                  <a:lnTo>
                    <a:pt x="4271444" y="3222865"/>
                  </a:lnTo>
                  <a:lnTo>
                    <a:pt x="4243069" y="3228594"/>
                  </a:lnTo>
                  <a:lnTo>
                    <a:pt x="72898" y="3228594"/>
                  </a:lnTo>
                  <a:lnTo>
                    <a:pt x="44523" y="3222865"/>
                  </a:lnTo>
                  <a:lnTo>
                    <a:pt x="21351" y="3207242"/>
                  </a:lnTo>
                  <a:lnTo>
                    <a:pt x="5728" y="3184070"/>
                  </a:lnTo>
                  <a:lnTo>
                    <a:pt x="0" y="3155696"/>
                  </a:lnTo>
                  <a:lnTo>
                    <a:pt x="0" y="72898"/>
                  </a:lnTo>
                  <a:close/>
                </a:path>
              </a:pathLst>
            </a:custGeom>
            <a:ln w="6350">
              <a:solidFill>
                <a:srgbClr val="D9DEE6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800480" y="793067"/>
            <a:ext cx="8917940" cy="806450"/>
          </a:xfrm>
          <a:prstGeom prst="rect"/>
        </p:spPr>
        <p:txBody>
          <a:bodyPr wrap="square" lIns="0" tIns="419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330"/>
              </a:spcBef>
            </a:pPr>
            <a:r>
              <a:rPr dirty="0" sz="1350" spc="65">
                <a:solidFill>
                  <a:srgbClr val="B45209"/>
                </a:solidFill>
              </a:rPr>
              <a:t>0</a:t>
            </a:r>
            <a:r>
              <a:rPr dirty="0" sz="1350" spc="-185">
                <a:solidFill>
                  <a:srgbClr val="B45209"/>
                </a:solidFill>
              </a:rPr>
              <a:t> </a:t>
            </a:r>
            <a:r>
              <a:rPr dirty="0" sz="1350" spc="65">
                <a:solidFill>
                  <a:srgbClr val="B45209"/>
                </a:solidFill>
              </a:rPr>
              <a:t>5</a:t>
            </a:r>
            <a:r>
              <a:rPr dirty="0" sz="1350" spc="270">
                <a:solidFill>
                  <a:srgbClr val="B45209"/>
                </a:solidFill>
              </a:rPr>
              <a:t> </a:t>
            </a:r>
            <a:r>
              <a:rPr dirty="0" sz="1350">
                <a:solidFill>
                  <a:srgbClr val="B45209"/>
                </a:solidFill>
              </a:rPr>
              <a:t>·</a:t>
            </a:r>
            <a:r>
              <a:rPr dirty="0" sz="1350" spc="320">
                <a:solidFill>
                  <a:srgbClr val="B45209"/>
                </a:solidFill>
              </a:rPr>
              <a:t> </a:t>
            </a:r>
            <a:r>
              <a:rPr dirty="0" sz="1350" spc="145">
                <a:solidFill>
                  <a:srgbClr val="B45209"/>
                </a:solidFill>
              </a:rPr>
              <a:t>VISU</a:t>
            </a:r>
            <a:r>
              <a:rPr dirty="0" sz="1350" spc="-165">
                <a:solidFill>
                  <a:srgbClr val="B45209"/>
                </a:solidFill>
              </a:rPr>
              <a:t> </a:t>
            </a:r>
            <a:r>
              <a:rPr dirty="0" sz="1350" spc="135">
                <a:solidFill>
                  <a:srgbClr val="B45209"/>
                </a:solidFill>
              </a:rPr>
              <a:t>ALIZ</a:t>
            </a:r>
            <a:r>
              <a:rPr dirty="0" sz="1350" spc="-190">
                <a:solidFill>
                  <a:srgbClr val="B45209"/>
                </a:solidFill>
              </a:rPr>
              <a:t> </a:t>
            </a:r>
            <a:r>
              <a:rPr dirty="0" sz="1350">
                <a:solidFill>
                  <a:srgbClr val="B45209"/>
                </a:solidFill>
              </a:rPr>
              <a:t>AT</a:t>
            </a:r>
            <a:r>
              <a:rPr dirty="0" sz="1350" spc="-160">
                <a:solidFill>
                  <a:srgbClr val="B45209"/>
                </a:solidFill>
              </a:rPr>
              <a:t> </a:t>
            </a:r>
            <a:r>
              <a:rPr dirty="0" sz="1350" spc="130">
                <a:solidFill>
                  <a:srgbClr val="B45209"/>
                </a:solidFill>
              </a:rPr>
              <a:t>IO</a:t>
            </a:r>
            <a:r>
              <a:rPr dirty="0" sz="1350" spc="-195">
                <a:solidFill>
                  <a:srgbClr val="B45209"/>
                </a:solidFill>
              </a:rPr>
              <a:t> </a:t>
            </a:r>
            <a:r>
              <a:rPr dirty="0" sz="1350" spc="-50">
                <a:solidFill>
                  <a:srgbClr val="B45209"/>
                </a:solidFill>
              </a:rPr>
              <a:t>N</a:t>
            </a:r>
            <a:endParaRPr sz="1350"/>
          </a:p>
          <a:p>
            <a:pPr marL="12700">
              <a:lnSpc>
                <a:spcPct val="100000"/>
              </a:lnSpc>
              <a:spcBef>
                <a:spcPts val="509"/>
              </a:spcBef>
            </a:pPr>
            <a:r>
              <a:rPr dirty="0"/>
              <a:t>A</a:t>
            </a:r>
            <a:r>
              <a:rPr dirty="0" spc="-110"/>
              <a:t> </a:t>
            </a:r>
            <a:r>
              <a:rPr dirty="0" spc="-20"/>
              <a:t>box</a:t>
            </a:r>
            <a:r>
              <a:rPr dirty="0" spc="-150"/>
              <a:t> </a:t>
            </a:r>
            <a:r>
              <a:rPr dirty="0"/>
              <a:t>plot</a:t>
            </a:r>
            <a:r>
              <a:rPr dirty="0" spc="-160"/>
              <a:t> </a:t>
            </a:r>
            <a:r>
              <a:rPr dirty="0"/>
              <a:t>summarizes</a:t>
            </a:r>
            <a:r>
              <a:rPr dirty="0" spc="-180"/>
              <a:t> </a:t>
            </a:r>
            <a:r>
              <a:rPr dirty="0" spc="50"/>
              <a:t>a</a:t>
            </a:r>
            <a:r>
              <a:rPr dirty="0" spc="-105"/>
              <a:t> </a:t>
            </a:r>
            <a:r>
              <a:rPr dirty="0" spc="-20"/>
              <a:t>column</a:t>
            </a:r>
            <a:r>
              <a:rPr dirty="0" spc="-120"/>
              <a:t> </a:t>
            </a:r>
            <a:r>
              <a:rPr dirty="0"/>
              <a:t>in</a:t>
            </a:r>
            <a:r>
              <a:rPr dirty="0" spc="-114"/>
              <a:t> </a:t>
            </a:r>
            <a:r>
              <a:rPr dirty="0" spc="-30"/>
              <a:t>one</a:t>
            </a:r>
            <a:r>
              <a:rPr dirty="0" spc="-155"/>
              <a:t> </a:t>
            </a:r>
            <a:r>
              <a:rPr dirty="0" spc="-10"/>
              <a:t>picture</a:t>
            </a:r>
          </a:p>
        </p:txBody>
      </p:sp>
      <p:sp>
        <p:nvSpPr>
          <p:cNvPr id="3" name="object 3"/>
          <p:cNvSpPr/>
          <p:nvPr/>
        </p:nvSpPr>
        <p:spPr>
          <a:xfrm>
            <a:off x="813816" y="1811020"/>
            <a:ext cx="10561320" cy="1152525"/>
          </a:xfrm>
          <a:custGeom>
            <a:avLst/>
            <a:gdLst/>
            <a:ahLst/>
            <a:cxnLst/>
            <a:rect l="l" t="t" r="r" b="b"/>
            <a:pathLst>
              <a:path w="10561320" h="1152525">
                <a:moveTo>
                  <a:pt x="10459974" y="0"/>
                </a:moveTo>
                <a:lnTo>
                  <a:pt x="101295" y="0"/>
                </a:lnTo>
                <a:lnTo>
                  <a:pt x="61866" y="7957"/>
                </a:lnTo>
                <a:lnTo>
                  <a:pt x="29668" y="29654"/>
                </a:lnTo>
                <a:lnTo>
                  <a:pt x="7960" y="61829"/>
                </a:lnTo>
                <a:lnTo>
                  <a:pt x="0" y="101218"/>
                </a:lnTo>
                <a:lnTo>
                  <a:pt x="0" y="1051052"/>
                </a:lnTo>
                <a:lnTo>
                  <a:pt x="7960" y="1090515"/>
                </a:lnTo>
                <a:lnTo>
                  <a:pt x="29668" y="1122727"/>
                </a:lnTo>
                <a:lnTo>
                  <a:pt x="61866" y="1144438"/>
                </a:lnTo>
                <a:lnTo>
                  <a:pt x="101295" y="1152397"/>
                </a:lnTo>
                <a:lnTo>
                  <a:pt x="10459974" y="1152397"/>
                </a:lnTo>
                <a:lnTo>
                  <a:pt x="10499437" y="1144438"/>
                </a:lnTo>
                <a:lnTo>
                  <a:pt x="10531649" y="1122727"/>
                </a:lnTo>
                <a:lnTo>
                  <a:pt x="10553360" y="1090515"/>
                </a:lnTo>
                <a:lnTo>
                  <a:pt x="10561319" y="1051052"/>
                </a:lnTo>
                <a:lnTo>
                  <a:pt x="10561319" y="101218"/>
                </a:lnTo>
                <a:lnTo>
                  <a:pt x="10553360" y="61829"/>
                </a:lnTo>
                <a:lnTo>
                  <a:pt x="10531649" y="29654"/>
                </a:lnTo>
                <a:lnTo>
                  <a:pt x="10499437" y="7957"/>
                </a:lnTo>
                <a:lnTo>
                  <a:pt x="10459974" y="0"/>
                </a:lnTo>
                <a:close/>
              </a:path>
            </a:pathLst>
          </a:custGeom>
          <a:solidFill>
            <a:srgbClr val="13203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/>
          <p:nvPr/>
        </p:nvSpPr>
        <p:spPr>
          <a:xfrm>
            <a:off x="1054620" y="1947303"/>
            <a:ext cx="4469765" cy="82232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 marR="5080">
              <a:lnSpc>
                <a:spcPct val="129099"/>
              </a:lnSpc>
              <a:spcBef>
                <a:spcPts val="95"/>
              </a:spcBef>
            </a:pPr>
            <a:r>
              <a:rPr dirty="0" sz="1350" spc="-20">
                <a:solidFill>
                  <a:srgbClr val="F4F0EA"/>
                </a:solidFill>
                <a:latin typeface="Arial"/>
                <a:cs typeface="Arial"/>
              </a:rPr>
              <a:t>df_mystery['vsize'].plot(kind='line')</a:t>
            </a:r>
            <a:r>
              <a:rPr dirty="0" sz="1350" spc="10">
                <a:solidFill>
                  <a:srgbClr val="F4F0EA"/>
                </a:solidFill>
                <a:latin typeface="Arial"/>
                <a:cs typeface="Arial"/>
              </a:rPr>
              <a:t> </a:t>
            </a:r>
            <a:r>
              <a:rPr dirty="0" sz="1350" spc="-70">
                <a:solidFill>
                  <a:srgbClr val="9FAFC7"/>
                </a:solidFill>
                <a:latin typeface="Arial"/>
                <a:cs typeface="Arial"/>
              </a:rPr>
              <a:t>#</a:t>
            </a:r>
            <a:r>
              <a:rPr dirty="0" sz="1350">
                <a:solidFill>
                  <a:srgbClr val="9FAFC7"/>
                </a:solidFill>
                <a:latin typeface="Arial"/>
                <a:cs typeface="Arial"/>
              </a:rPr>
              <a:t> </a:t>
            </a:r>
            <a:r>
              <a:rPr dirty="0" sz="1350" spc="-20">
                <a:solidFill>
                  <a:srgbClr val="9FAFC7"/>
                </a:solidFill>
                <a:latin typeface="Arial"/>
                <a:cs typeface="Arial"/>
              </a:rPr>
              <a:t>raw</a:t>
            </a:r>
            <a:r>
              <a:rPr dirty="0" sz="1350" spc="-15">
                <a:solidFill>
                  <a:srgbClr val="9FAFC7"/>
                </a:solidFill>
                <a:latin typeface="Arial"/>
                <a:cs typeface="Arial"/>
              </a:rPr>
              <a:t> </a:t>
            </a:r>
            <a:r>
              <a:rPr dirty="0" sz="1350" spc="-60">
                <a:solidFill>
                  <a:srgbClr val="9FAFC7"/>
                </a:solidFill>
                <a:latin typeface="Arial"/>
                <a:cs typeface="Arial"/>
              </a:rPr>
              <a:t>values,</a:t>
            </a:r>
            <a:r>
              <a:rPr dirty="0" sz="1350" spc="-35">
                <a:solidFill>
                  <a:srgbClr val="9FAFC7"/>
                </a:solidFill>
                <a:latin typeface="Arial"/>
                <a:cs typeface="Arial"/>
              </a:rPr>
              <a:t> </a:t>
            </a:r>
            <a:r>
              <a:rPr dirty="0" sz="1350">
                <a:solidFill>
                  <a:srgbClr val="9FAFC7"/>
                </a:solidFill>
                <a:latin typeface="Arial"/>
                <a:cs typeface="Arial"/>
              </a:rPr>
              <a:t>in</a:t>
            </a:r>
            <a:r>
              <a:rPr dirty="0" sz="1350" spc="-45">
                <a:solidFill>
                  <a:srgbClr val="9FAFC7"/>
                </a:solidFill>
                <a:latin typeface="Arial"/>
                <a:cs typeface="Arial"/>
              </a:rPr>
              <a:t> </a:t>
            </a:r>
            <a:r>
              <a:rPr dirty="0" sz="1350">
                <a:solidFill>
                  <a:srgbClr val="9FAFC7"/>
                </a:solidFill>
                <a:latin typeface="Arial"/>
                <a:cs typeface="Arial"/>
              </a:rPr>
              <a:t>row</a:t>
            </a:r>
            <a:r>
              <a:rPr dirty="0" sz="1350" spc="-15">
                <a:solidFill>
                  <a:srgbClr val="9FAFC7"/>
                </a:solidFill>
                <a:latin typeface="Arial"/>
                <a:cs typeface="Arial"/>
              </a:rPr>
              <a:t> </a:t>
            </a:r>
            <a:r>
              <a:rPr dirty="0" sz="1350" spc="-10">
                <a:solidFill>
                  <a:srgbClr val="9FAFC7"/>
                </a:solidFill>
                <a:latin typeface="Arial"/>
                <a:cs typeface="Arial"/>
              </a:rPr>
              <a:t>order </a:t>
            </a:r>
            <a:r>
              <a:rPr dirty="0" sz="1350" spc="-25">
                <a:solidFill>
                  <a:srgbClr val="F4F0EA"/>
                </a:solidFill>
                <a:latin typeface="Arial"/>
                <a:cs typeface="Arial"/>
              </a:rPr>
              <a:t>df_mystery['vsize'].plot(kind='box')</a:t>
            </a:r>
            <a:r>
              <a:rPr dirty="0" sz="1350" spc="80">
                <a:solidFill>
                  <a:srgbClr val="F4F0EA"/>
                </a:solidFill>
                <a:latin typeface="Arial"/>
                <a:cs typeface="Arial"/>
              </a:rPr>
              <a:t> </a:t>
            </a:r>
            <a:r>
              <a:rPr dirty="0" sz="1350" spc="-75">
                <a:solidFill>
                  <a:srgbClr val="9FAFC7"/>
                </a:solidFill>
                <a:latin typeface="Arial"/>
                <a:cs typeface="Arial"/>
              </a:rPr>
              <a:t>#</a:t>
            </a:r>
            <a:r>
              <a:rPr dirty="0" sz="1350" spc="5">
                <a:solidFill>
                  <a:srgbClr val="9FAFC7"/>
                </a:solidFill>
                <a:latin typeface="Arial"/>
                <a:cs typeface="Arial"/>
              </a:rPr>
              <a:t> </a:t>
            </a:r>
            <a:r>
              <a:rPr dirty="0" sz="1350">
                <a:solidFill>
                  <a:srgbClr val="9FAFC7"/>
                </a:solidFill>
                <a:latin typeface="Arial"/>
                <a:cs typeface="Arial"/>
              </a:rPr>
              <a:t>the</a:t>
            </a:r>
            <a:r>
              <a:rPr dirty="0" sz="1350" spc="15">
                <a:solidFill>
                  <a:srgbClr val="9FAFC7"/>
                </a:solidFill>
                <a:latin typeface="Arial"/>
                <a:cs typeface="Arial"/>
              </a:rPr>
              <a:t> </a:t>
            </a:r>
            <a:r>
              <a:rPr dirty="0" sz="1350" spc="-45">
                <a:solidFill>
                  <a:srgbClr val="9FAFC7"/>
                </a:solidFill>
                <a:latin typeface="Arial"/>
                <a:cs typeface="Arial"/>
              </a:rPr>
              <a:t>summary</a:t>
            </a:r>
            <a:r>
              <a:rPr dirty="0" sz="1350" spc="-5">
                <a:solidFill>
                  <a:srgbClr val="9FAFC7"/>
                </a:solidFill>
                <a:latin typeface="Arial"/>
                <a:cs typeface="Arial"/>
              </a:rPr>
              <a:t> </a:t>
            </a:r>
            <a:r>
              <a:rPr dirty="0" sz="1350" spc="-10">
                <a:solidFill>
                  <a:srgbClr val="9FAFC7"/>
                </a:solidFill>
                <a:latin typeface="Arial"/>
                <a:cs typeface="Arial"/>
              </a:rPr>
              <a:t>below </a:t>
            </a:r>
            <a:r>
              <a:rPr dirty="0" sz="1350" spc="-35">
                <a:solidFill>
                  <a:srgbClr val="F4F0EA"/>
                </a:solidFill>
                <a:latin typeface="Arial"/>
                <a:cs typeface="Arial"/>
              </a:rPr>
              <a:t>seaborn.boxplot(x=df_mystery['vsize'],</a:t>
            </a:r>
            <a:r>
              <a:rPr dirty="0" sz="1350" spc="204">
                <a:solidFill>
                  <a:srgbClr val="F4F0EA"/>
                </a:solidFill>
                <a:latin typeface="Arial"/>
                <a:cs typeface="Arial"/>
              </a:rPr>
              <a:t> </a:t>
            </a:r>
            <a:r>
              <a:rPr dirty="0" sz="1350" spc="-10">
                <a:solidFill>
                  <a:srgbClr val="F4F0EA"/>
                </a:solidFill>
                <a:latin typeface="Arial"/>
                <a:cs typeface="Arial"/>
              </a:rPr>
              <a:t>color='cyan')</a:t>
            </a:r>
            <a:endParaRPr sz="135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800480" y="3177603"/>
            <a:ext cx="4204335" cy="234315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1350" b="1">
                <a:solidFill>
                  <a:srgbClr val="13203C"/>
                </a:solidFill>
                <a:latin typeface="Arial"/>
                <a:cs typeface="Arial"/>
              </a:rPr>
              <a:t>vsize</a:t>
            </a:r>
            <a:r>
              <a:rPr dirty="0" sz="1350" spc="-25" b="1">
                <a:solidFill>
                  <a:srgbClr val="13203C"/>
                </a:solidFill>
                <a:latin typeface="Arial"/>
                <a:cs typeface="Arial"/>
              </a:rPr>
              <a:t> </a:t>
            </a:r>
            <a:r>
              <a:rPr dirty="0" sz="1350" b="1">
                <a:solidFill>
                  <a:srgbClr val="13203C"/>
                </a:solidFill>
                <a:latin typeface="Arial"/>
                <a:cs typeface="Arial"/>
              </a:rPr>
              <a:t>(virtual</a:t>
            </a:r>
            <a:r>
              <a:rPr dirty="0" sz="1350" spc="-25" b="1">
                <a:solidFill>
                  <a:srgbClr val="13203C"/>
                </a:solidFill>
                <a:latin typeface="Arial"/>
                <a:cs typeface="Arial"/>
              </a:rPr>
              <a:t> </a:t>
            </a:r>
            <a:r>
              <a:rPr dirty="0" sz="1350" b="1">
                <a:solidFill>
                  <a:srgbClr val="13203C"/>
                </a:solidFill>
                <a:latin typeface="Arial"/>
                <a:cs typeface="Arial"/>
              </a:rPr>
              <a:t>memory) of</a:t>
            </a:r>
            <a:r>
              <a:rPr dirty="0" sz="1350" spc="-35" b="1">
                <a:solidFill>
                  <a:srgbClr val="13203C"/>
                </a:solidFill>
                <a:latin typeface="Arial"/>
                <a:cs typeface="Arial"/>
              </a:rPr>
              <a:t> </a:t>
            </a:r>
            <a:r>
              <a:rPr dirty="0" sz="1350" spc="55" b="1">
                <a:solidFill>
                  <a:srgbClr val="13203C"/>
                </a:solidFill>
                <a:latin typeface="Arial"/>
                <a:cs typeface="Arial"/>
              </a:rPr>
              <a:t>the</a:t>
            </a:r>
            <a:r>
              <a:rPr dirty="0" sz="1350" spc="-20" b="1">
                <a:solidFill>
                  <a:srgbClr val="13203C"/>
                </a:solidFill>
                <a:latin typeface="Arial"/>
                <a:cs typeface="Arial"/>
              </a:rPr>
              <a:t> </a:t>
            </a:r>
            <a:r>
              <a:rPr dirty="0" sz="1350" spc="65" b="1">
                <a:solidFill>
                  <a:srgbClr val="13203C"/>
                </a:solidFill>
                <a:latin typeface="Arial"/>
                <a:cs typeface="Arial"/>
              </a:rPr>
              <a:t>200</a:t>
            </a:r>
            <a:r>
              <a:rPr dirty="0" sz="1350" b="1">
                <a:solidFill>
                  <a:srgbClr val="13203C"/>
                </a:solidFill>
                <a:latin typeface="Arial"/>
                <a:cs typeface="Arial"/>
              </a:rPr>
              <a:t> snapshots,</a:t>
            </a:r>
            <a:r>
              <a:rPr dirty="0" sz="1350" spc="45" b="1">
                <a:solidFill>
                  <a:srgbClr val="13203C"/>
                </a:solidFill>
                <a:latin typeface="Arial"/>
                <a:cs typeface="Arial"/>
              </a:rPr>
              <a:t> </a:t>
            </a:r>
            <a:r>
              <a:rPr dirty="0" sz="1350" b="1">
                <a:solidFill>
                  <a:srgbClr val="13203C"/>
                </a:solidFill>
                <a:latin typeface="Arial"/>
                <a:cs typeface="Arial"/>
              </a:rPr>
              <a:t>in</a:t>
            </a:r>
            <a:r>
              <a:rPr dirty="0" sz="1350" spc="5" b="1">
                <a:solidFill>
                  <a:srgbClr val="13203C"/>
                </a:solidFill>
                <a:latin typeface="Arial"/>
                <a:cs typeface="Arial"/>
              </a:rPr>
              <a:t> </a:t>
            </a:r>
            <a:r>
              <a:rPr dirty="0" sz="1350" spc="-25" b="1">
                <a:solidFill>
                  <a:srgbClr val="13203C"/>
                </a:solidFill>
                <a:latin typeface="Arial"/>
                <a:cs typeface="Arial"/>
              </a:rPr>
              <a:t>GB</a:t>
            </a:r>
            <a:endParaRPr sz="1350">
              <a:latin typeface="Arial"/>
              <a:cs typeface="Arial"/>
            </a:endParaRPr>
          </a:p>
        </p:txBody>
      </p:sp>
      <p:pic>
        <p:nvPicPr>
          <p:cNvPr id="6" name="object 6" descr="Horizontal box plot of vsize in gigabytes: whisker from 1.98 to 2.48, box from 2.10 to 2.25 with the median at 2.11, and 10 outlier points between 2.49 and 2.6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13816" y="3493896"/>
            <a:ext cx="6345936" cy="1271270"/>
          </a:xfrm>
          <a:prstGeom prst="rect">
            <a:avLst/>
          </a:prstGeom>
        </p:spPr>
      </p:pic>
      <p:sp>
        <p:nvSpPr>
          <p:cNvPr id="7" name="object 7"/>
          <p:cNvSpPr txBox="1"/>
          <p:nvPr/>
        </p:nvSpPr>
        <p:spPr>
          <a:xfrm>
            <a:off x="800480" y="4678863"/>
            <a:ext cx="6247130" cy="845185"/>
          </a:xfrm>
          <a:prstGeom prst="rect">
            <a:avLst/>
          </a:prstGeom>
        </p:spPr>
        <p:txBody>
          <a:bodyPr wrap="square" lIns="0" tIns="115570" rIns="0" bIns="0" rtlCol="0" vert="horz">
            <a:spAutoFit/>
          </a:bodyPr>
          <a:lstStyle/>
          <a:p>
            <a:pPr marL="350520">
              <a:lnSpc>
                <a:spcPct val="100000"/>
              </a:lnSpc>
              <a:spcBef>
                <a:spcPts val="910"/>
              </a:spcBef>
              <a:tabLst>
                <a:tab pos="2167890" algn="l"/>
                <a:tab pos="3984625" algn="l"/>
                <a:tab pos="5801995" algn="l"/>
              </a:tabLst>
            </a:pPr>
            <a:r>
              <a:rPr dirty="0" sz="1200" spc="-25">
                <a:solidFill>
                  <a:srgbClr val="3C495C"/>
                </a:solidFill>
                <a:latin typeface="Arial"/>
                <a:cs typeface="Arial"/>
              </a:rPr>
              <a:t>2.0</a:t>
            </a:r>
            <a:r>
              <a:rPr dirty="0" sz="1200">
                <a:solidFill>
                  <a:srgbClr val="3C495C"/>
                </a:solidFill>
                <a:latin typeface="Arial"/>
                <a:cs typeface="Arial"/>
              </a:rPr>
              <a:t>	</a:t>
            </a:r>
            <a:r>
              <a:rPr dirty="0" sz="1200" spc="-25">
                <a:solidFill>
                  <a:srgbClr val="3C495C"/>
                </a:solidFill>
                <a:latin typeface="Arial"/>
                <a:cs typeface="Arial"/>
              </a:rPr>
              <a:t>2.2</a:t>
            </a:r>
            <a:r>
              <a:rPr dirty="0" sz="1200">
                <a:solidFill>
                  <a:srgbClr val="3C495C"/>
                </a:solidFill>
                <a:latin typeface="Arial"/>
                <a:cs typeface="Arial"/>
              </a:rPr>
              <a:t>	</a:t>
            </a:r>
            <a:r>
              <a:rPr dirty="0" sz="1200" spc="-25">
                <a:solidFill>
                  <a:srgbClr val="3C495C"/>
                </a:solidFill>
                <a:latin typeface="Arial"/>
                <a:cs typeface="Arial"/>
              </a:rPr>
              <a:t>2.4</a:t>
            </a:r>
            <a:r>
              <a:rPr dirty="0" sz="1200">
                <a:solidFill>
                  <a:srgbClr val="3C495C"/>
                </a:solidFill>
                <a:latin typeface="Arial"/>
                <a:cs typeface="Arial"/>
              </a:rPr>
              <a:t>	</a:t>
            </a:r>
            <a:r>
              <a:rPr dirty="0" sz="1200" spc="-25">
                <a:solidFill>
                  <a:srgbClr val="3C495C"/>
                </a:solidFill>
                <a:latin typeface="Arial"/>
                <a:cs typeface="Arial"/>
              </a:rPr>
              <a:t>2.6</a:t>
            </a:r>
            <a:endParaRPr sz="1200">
              <a:latin typeface="Arial"/>
              <a:cs typeface="Arial"/>
            </a:endParaRPr>
          </a:p>
          <a:p>
            <a:pPr marL="12700" marR="5080">
              <a:lnSpc>
                <a:spcPct val="115599"/>
              </a:lnSpc>
              <a:spcBef>
                <a:spcPts val="595"/>
              </a:spcBef>
            </a:pPr>
            <a:r>
              <a:rPr dirty="0" sz="1300">
                <a:solidFill>
                  <a:srgbClr val="3C495C"/>
                </a:solidFill>
                <a:latin typeface="Arial"/>
                <a:cs typeface="Arial"/>
              </a:rPr>
              <a:t>Most</a:t>
            </a:r>
            <a:r>
              <a:rPr dirty="0" sz="1300" spc="25">
                <a:solidFill>
                  <a:srgbClr val="3C495C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3C495C"/>
                </a:solidFill>
                <a:latin typeface="Arial"/>
                <a:cs typeface="Arial"/>
              </a:rPr>
              <a:t>snapshots</a:t>
            </a:r>
            <a:r>
              <a:rPr dirty="0" sz="1300" spc="-5">
                <a:solidFill>
                  <a:srgbClr val="3C495C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3C495C"/>
                </a:solidFill>
                <a:latin typeface="Arial"/>
                <a:cs typeface="Arial"/>
              </a:rPr>
              <a:t>sit</a:t>
            </a:r>
            <a:r>
              <a:rPr dirty="0" sz="1300" spc="-50">
                <a:solidFill>
                  <a:srgbClr val="3C495C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3C495C"/>
                </a:solidFill>
                <a:latin typeface="Arial"/>
                <a:cs typeface="Arial"/>
              </a:rPr>
              <a:t>near</a:t>
            </a:r>
            <a:r>
              <a:rPr dirty="0" sz="1300" spc="5">
                <a:solidFill>
                  <a:srgbClr val="3C495C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3C495C"/>
                </a:solidFill>
                <a:latin typeface="Arial"/>
                <a:cs typeface="Arial"/>
              </a:rPr>
              <a:t>2.1</a:t>
            </a:r>
            <a:r>
              <a:rPr dirty="0" sz="1300" spc="-10">
                <a:solidFill>
                  <a:srgbClr val="3C495C"/>
                </a:solidFill>
                <a:latin typeface="Arial"/>
                <a:cs typeface="Arial"/>
              </a:rPr>
              <a:t> </a:t>
            </a:r>
            <a:r>
              <a:rPr dirty="0" sz="1300" spc="-65">
                <a:solidFill>
                  <a:srgbClr val="3C495C"/>
                </a:solidFill>
                <a:latin typeface="Arial"/>
                <a:cs typeface="Arial"/>
              </a:rPr>
              <a:t>GB.</a:t>
            </a:r>
            <a:r>
              <a:rPr dirty="0" sz="1300" spc="-20">
                <a:solidFill>
                  <a:srgbClr val="3C495C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3C495C"/>
                </a:solidFill>
                <a:latin typeface="Arial"/>
                <a:cs typeface="Arial"/>
              </a:rPr>
              <a:t>Circles</a:t>
            </a:r>
            <a:r>
              <a:rPr dirty="0" sz="1300" spc="-5">
                <a:solidFill>
                  <a:srgbClr val="3C495C"/>
                </a:solidFill>
                <a:latin typeface="Arial"/>
                <a:cs typeface="Arial"/>
              </a:rPr>
              <a:t> </a:t>
            </a:r>
            <a:r>
              <a:rPr dirty="0" sz="1300" spc="-20">
                <a:solidFill>
                  <a:srgbClr val="3C495C"/>
                </a:solidFill>
                <a:latin typeface="Arial"/>
                <a:cs typeface="Arial"/>
              </a:rPr>
              <a:t>are </a:t>
            </a:r>
            <a:r>
              <a:rPr dirty="0" sz="1300">
                <a:solidFill>
                  <a:srgbClr val="3C495C"/>
                </a:solidFill>
                <a:latin typeface="Arial"/>
                <a:cs typeface="Arial"/>
              </a:rPr>
              <a:t>outliers:</a:t>
            </a:r>
            <a:r>
              <a:rPr dirty="0" sz="1300" spc="-45">
                <a:solidFill>
                  <a:srgbClr val="3C495C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3C495C"/>
                </a:solidFill>
                <a:latin typeface="Arial"/>
                <a:cs typeface="Arial"/>
              </a:rPr>
              <a:t>values</a:t>
            </a:r>
            <a:r>
              <a:rPr dirty="0" sz="1300" spc="-5">
                <a:solidFill>
                  <a:srgbClr val="3C495C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3C495C"/>
                </a:solidFill>
                <a:latin typeface="Arial"/>
                <a:cs typeface="Arial"/>
              </a:rPr>
              <a:t>more</a:t>
            </a:r>
            <a:r>
              <a:rPr dirty="0" sz="1300" spc="-20">
                <a:solidFill>
                  <a:srgbClr val="3C495C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3C495C"/>
                </a:solidFill>
                <a:latin typeface="Arial"/>
                <a:cs typeface="Arial"/>
              </a:rPr>
              <a:t>than</a:t>
            </a:r>
            <a:r>
              <a:rPr dirty="0" sz="1300" spc="35">
                <a:solidFill>
                  <a:srgbClr val="3C495C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3C495C"/>
                </a:solidFill>
                <a:latin typeface="Arial"/>
                <a:cs typeface="Arial"/>
              </a:rPr>
              <a:t>1.5</a:t>
            </a:r>
            <a:r>
              <a:rPr dirty="0" sz="1300" spc="145">
                <a:solidFill>
                  <a:srgbClr val="3C495C"/>
                </a:solidFill>
                <a:latin typeface="Arial"/>
                <a:cs typeface="Arial"/>
              </a:rPr>
              <a:t> </a:t>
            </a:r>
            <a:r>
              <a:rPr dirty="0" sz="1300" spc="530">
                <a:solidFill>
                  <a:srgbClr val="3C495C"/>
                </a:solidFill>
                <a:latin typeface="Arial"/>
                <a:cs typeface="Arial"/>
              </a:rPr>
              <a:t>×</a:t>
            </a:r>
            <a:r>
              <a:rPr dirty="0" sz="1300" spc="5">
                <a:solidFill>
                  <a:srgbClr val="3C495C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3C495C"/>
                </a:solidFill>
                <a:latin typeface="Arial"/>
                <a:cs typeface="Arial"/>
              </a:rPr>
              <a:t>the</a:t>
            </a:r>
            <a:r>
              <a:rPr dirty="0" sz="1300" spc="-20">
                <a:solidFill>
                  <a:srgbClr val="3C495C"/>
                </a:solidFill>
                <a:latin typeface="Arial"/>
                <a:cs typeface="Arial"/>
              </a:rPr>
              <a:t> </a:t>
            </a:r>
            <a:r>
              <a:rPr dirty="0" sz="1300" spc="-25">
                <a:solidFill>
                  <a:srgbClr val="3C495C"/>
                </a:solidFill>
                <a:latin typeface="Arial"/>
                <a:cs typeface="Arial"/>
              </a:rPr>
              <a:t>box </a:t>
            </a:r>
            <a:r>
              <a:rPr dirty="0" sz="1300">
                <a:solidFill>
                  <a:srgbClr val="3C495C"/>
                </a:solidFill>
                <a:latin typeface="Arial"/>
                <a:cs typeface="Arial"/>
              </a:rPr>
              <a:t>width</a:t>
            </a:r>
            <a:r>
              <a:rPr dirty="0" sz="1300" spc="55">
                <a:solidFill>
                  <a:srgbClr val="3C495C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3C495C"/>
                </a:solidFill>
                <a:latin typeface="Arial"/>
                <a:cs typeface="Arial"/>
              </a:rPr>
              <a:t>beyond</a:t>
            </a:r>
            <a:r>
              <a:rPr dirty="0" sz="1300" spc="40">
                <a:solidFill>
                  <a:srgbClr val="3C495C"/>
                </a:solidFill>
                <a:latin typeface="Arial"/>
                <a:cs typeface="Arial"/>
              </a:rPr>
              <a:t> </a:t>
            </a:r>
            <a:r>
              <a:rPr dirty="0" sz="1300" spc="-25">
                <a:solidFill>
                  <a:srgbClr val="3C495C"/>
                </a:solidFill>
                <a:latin typeface="Arial"/>
                <a:cs typeface="Arial"/>
              </a:rPr>
              <a:t>it.</a:t>
            </a:r>
            <a:endParaRPr sz="1300">
              <a:latin typeface="Arial"/>
              <a:cs typeface="Arial"/>
            </a:endParaRPr>
          </a:p>
        </p:txBody>
      </p:sp>
      <p:graphicFrame>
        <p:nvGraphicFramePr>
          <p:cNvPr id="8" name="object 8"/>
          <p:cNvGraphicFramePr>
            <a:graphicFrameLocks noGrp="1"/>
          </p:cNvGraphicFramePr>
          <p:nvPr/>
        </p:nvGraphicFramePr>
        <p:xfrm>
          <a:off x="7520685" y="3171444"/>
          <a:ext cx="3938270" cy="214122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693545"/>
                <a:gridCol w="846455"/>
                <a:gridCol w="1308100"/>
              </a:tblGrid>
              <a:tr h="356870">
                <a:tc>
                  <a:txBody>
                    <a:bodyPr/>
                    <a:lstStyle/>
                    <a:p>
                      <a:pPr marL="62865">
                        <a:lnSpc>
                          <a:spcPct val="100000"/>
                        </a:lnSpc>
                        <a:spcBef>
                          <a:spcPts val="565"/>
                        </a:spcBef>
                      </a:pPr>
                      <a:r>
                        <a:rPr dirty="0" sz="1300" spc="-10" b="1">
                          <a:solidFill>
                            <a:srgbClr val="13203C"/>
                          </a:solidFill>
                          <a:latin typeface="Arial"/>
                          <a:cs typeface="Arial"/>
                        </a:rPr>
                        <a:t>describe()</a:t>
                      </a:r>
                      <a:endParaRPr sz="1300">
                        <a:latin typeface="Arial"/>
                        <a:cs typeface="Arial"/>
                      </a:endParaRPr>
                    </a:p>
                  </a:txBody>
                  <a:tcPr marL="0" marR="0" marB="0" marT="71755">
                    <a:lnL w="12700">
                      <a:solidFill>
                        <a:srgbClr val="C7C7C5"/>
                      </a:solidFill>
                      <a:prstDash val="solid"/>
                    </a:lnL>
                    <a:lnR w="12700">
                      <a:solidFill>
                        <a:srgbClr val="BDC0C3"/>
                      </a:solidFill>
                      <a:prstDash val="solid"/>
                    </a:lnR>
                    <a:lnT w="12700">
                      <a:solidFill>
                        <a:srgbClr val="C7C7C5"/>
                      </a:solidFill>
                      <a:prstDash val="solid"/>
                    </a:lnT>
                    <a:lnB w="12700">
                      <a:solidFill>
                        <a:srgbClr val="BDC0C3"/>
                      </a:solidFill>
                      <a:prstDash val="solid"/>
                    </a:lnB>
                    <a:solidFill>
                      <a:srgbClr val="EDF0F5"/>
                    </a:solidFill>
                  </a:tcPr>
                </a:tc>
                <a:tc>
                  <a:txBody>
                    <a:bodyPr/>
                    <a:lstStyle/>
                    <a:p>
                      <a:pPr algn="r" marR="43180">
                        <a:lnSpc>
                          <a:spcPct val="100000"/>
                        </a:lnSpc>
                        <a:spcBef>
                          <a:spcPts val="565"/>
                        </a:spcBef>
                      </a:pPr>
                      <a:r>
                        <a:rPr dirty="0" sz="1300" spc="-25" b="1">
                          <a:solidFill>
                            <a:srgbClr val="13203C"/>
                          </a:solidFill>
                          <a:latin typeface="Arial"/>
                          <a:cs typeface="Arial"/>
                        </a:rPr>
                        <a:t>GB</a:t>
                      </a:r>
                      <a:endParaRPr sz="1300">
                        <a:latin typeface="Arial"/>
                        <a:cs typeface="Arial"/>
                      </a:endParaRPr>
                    </a:p>
                  </a:txBody>
                  <a:tcPr marL="0" marR="0" marB="0" marT="71755">
                    <a:lnL w="12700">
                      <a:solidFill>
                        <a:srgbClr val="BDC0C3"/>
                      </a:solidFill>
                      <a:prstDash val="solid"/>
                    </a:lnL>
                    <a:lnR w="12700">
                      <a:solidFill>
                        <a:srgbClr val="BDC0C3"/>
                      </a:solidFill>
                      <a:prstDash val="solid"/>
                    </a:lnR>
                    <a:lnT w="12700">
                      <a:solidFill>
                        <a:srgbClr val="C7C7C5"/>
                      </a:solidFill>
                      <a:prstDash val="solid"/>
                    </a:lnT>
                    <a:lnB w="12700">
                      <a:solidFill>
                        <a:srgbClr val="BDC0C3"/>
                      </a:solidFill>
                      <a:prstDash val="solid"/>
                    </a:lnB>
                    <a:solidFill>
                      <a:srgbClr val="EDF0F5"/>
                    </a:solidFill>
                  </a:tcPr>
                </a:tc>
                <a:tc>
                  <a:txBody>
                    <a:bodyPr/>
                    <a:lstStyle/>
                    <a:p>
                      <a:pPr marL="64769">
                        <a:lnSpc>
                          <a:spcPct val="100000"/>
                        </a:lnSpc>
                        <a:spcBef>
                          <a:spcPts val="565"/>
                        </a:spcBef>
                      </a:pPr>
                      <a:r>
                        <a:rPr dirty="0" sz="1300" spc="85" b="1">
                          <a:solidFill>
                            <a:srgbClr val="13203C"/>
                          </a:solidFill>
                          <a:latin typeface="Arial"/>
                          <a:cs typeface="Arial"/>
                        </a:rPr>
                        <a:t>In</a:t>
                      </a:r>
                      <a:r>
                        <a:rPr dirty="0" sz="1300" spc="-25" b="1">
                          <a:solidFill>
                            <a:srgbClr val="13203C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300" b="1">
                          <a:solidFill>
                            <a:srgbClr val="13203C"/>
                          </a:solidFill>
                          <a:latin typeface="Arial"/>
                          <a:cs typeface="Arial"/>
                        </a:rPr>
                        <a:t>the</a:t>
                      </a:r>
                      <a:r>
                        <a:rPr dirty="0" sz="1300" spc="-55" b="1">
                          <a:solidFill>
                            <a:srgbClr val="13203C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300" spc="-20" b="1">
                          <a:solidFill>
                            <a:srgbClr val="13203C"/>
                          </a:solidFill>
                          <a:latin typeface="Arial"/>
                          <a:cs typeface="Arial"/>
                        </a:rPr>
                        <a:t>plot</a:t>
                      </a:r>
                      <a:endParaRPr sz="1300">
                        <a:latin typeface="Arial"/>
                        <a:cs typeface="Arial"/>
                      </a:endParaRPr>
                    </a:p>
                  </a:txBody>
                  <a:tcPr marL="0" marR="0" marB="0" marT="71755">
                    <a:lnL w="12700">
                      <a:solidFill>
                        <a:srgbClr val="BDC0C3"/>
                      </a:solidFill>
                      <a:prstDash val="solid"/>
                    </a:lnL>
                    <a:lnR w="12700">
                      <a:solidFill>
                        <a:srgbClr val="BDC0C3"/>
                      </a:solidFill>
                      <a:prstDash val="solid"/>
                    </a:lnR>
                    <a:lnT w="12700">
                      <a:solidFill>
                        <a:srgbClr val="C7C7C5"/>
                      </a:solidFill>
                      <a:prstDash val="solid"/>
                    </a:lnT>
                    <a:lnB w="12700">
                      <a:solidFill>
                        <a:srgbClr val="BDC0C3"/>
                      </a:solidFill>
                      <a:prstDash val="solid"/>
                    </a:lnB>
                    <a:solidFill>
                      <a:srgbClr val="EDF0F5"/>
                    </a:solidFill>
                  </a:tcPr>
                </a:tc>
              </a:tr>
              <a:tr h="356870">
                <a:tc>
                  <a:txBody>
                    <a:bodyPr/>
                    <a:lstStyle/>
                    <a:p>
                      <a:pPr marL="62865">
                        <a:lnSpc>
                          <a:spcPct val="100000"/>
                        </a:lnSpc>
                        <a:spcBef>
                          <a:spcPts val="565"/>
                        </a:spcBef>
                      </a:pPr>
                      <a:r>
                        <a:rPr dirty="0" sz="1300" spc="-25">
                          <a:solidFill>
                            <a:srgbClr val="13203C"/>
                          </a:solidFill>
                          <a:latin typeface="Arial"/>
                          <a:cs typeface="Arial"/>
                        </a:rPr>
                        <a:t>min</a:t>
                      </a:r>
                      <a:endParaRPr sz="1300">
                        <a:latin typeface="Arial"/>
                        <a:cs typeface="Arial"/>
                      </a:endParaRPr>
                    </a:p>
                  </a:txBody>
                  <a:tcPr marL="0" marR="0" marB="0" marT="71755">
                    <a:lnL w="12700">
                      <a:solidFill>
                        <a:srgbClr val="C7C7C5"/>
                      </a:solidFill>
                      <a:prstDash val="solid"/>
                    </a:lnL>
                    <a:lnR w="12700">
                      <a:solidFill>
                        <a:srgbClr val="C7C7C5"/>
                      </a:solidFill>
                      <a:prstDash val="solid"/>
                    </a:lnR>
                    <a:lnT w="12700">
                      <a:solidFill>
                        <a:srgbClr val="BDC0C3"/>
                      </a:solidFill>
                      <a:prstDash val="solid"/>
                    </a:lnT>
                    <a:lnB w="12700">
                      <a:solidFill>
                        <a:srgbClr val="C7C7C5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 marR="46990">
                        <a:lnSpc>
                          <a:spcPct val="100000"/>
                        </a:lnSpc>
                        <a:spcBef>
                          <a:spcPts val="565"/>
                        </a:spcBef>
                      </a:pPr>
                      <a:r>
                        <a:rPr dirty="0" sz="1300" spc="-20">
                          <a:solidFill>
                            <a:srgbClr val="13203C"/>
                          </a:solidFill>
                          <a:latin typeface="Arial"/>
                          <a:cs typeface="Arial"/>
                        </a:rPr>
                        <a:t>1.98</a:t>
                      </a:r>
                      <a:endParaRPr sz="1300">
                        <a:latin typeface="Arial"/>
                        <a:cs typeface="Arial"/>
                      </a:endParaRPr>
                    </a:p>
                  </a:txBody>
                  <a:tcPr marL="0" marR="0" marB="0" marT="71755">
                    <a:lnL w="12700">
                      <a:solidFill>
                        <a:srgbClr val="C7C7C5"/>
                      </a:solidFill>
                      <a:prstDash val="solid"/>
                    </a:lnL>
                    <a:lnR w="12700">
                      <a:solidFill>
                        <a:srgbClr val="C7C7C5"/>
                      </a:solidFill>
                      <a:prstDash val="solid"/>
                    </a:lnR>
                    <a:lnT w="12700">
                      <a:solidFill>
                        <a:srgbClr val="BDC0C3"/>
                      </a:solidFill>
                      <a:prstDash val="solid"/>
                    </a:lnT>
                    <a:lnB w="12700">
                      <a:solidFill>
                        <a:srgbClr val="C7C7C5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4769">
                        <a:lnSpc>
                          <a:spcPct val="100000"/>
                        </a:lnSpc>
                        <a:spcBef>
                          <a:spcPts val="565"/>
                        </a:spcBef>
                      </a:pPr>
                      <a:r>
                        <a:rPr dirty="0" sz="1300" spc="50">
                          <a:solidFill>
                            <a:srgbClr val="13203C"/>
                          </a:solidFill>
                          <a:latin typeface="Arial"/>
                          <a:cs typeface="Arial"/>
                        </a:rPr>
                        <a:t>left</a:t>
                      </a:r>
                      <a:r>
                        <a:rPr dirty="0" sz="1300" spc="-80">
                          <a:solidFill>
                            <a:srgbClr val="13203C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300" spc="-10">
                          <a:solidFill>
                            <a:srgbClr val="13203C"/>
                          </a:solidFill>
                          <a:latin typeface="Arial"/>
                          <a:cs typeface="Arial"/>
                        </a:rPr>
                        <a:t>whisker</a:t>
                      </a:r>
                      <a:endParaRPr sz="1300">
                        <a:latin typeface="Arial"/>
                        <a:cs typeface="Arial"/>
                      </a:endParaRPr>
                    </a:p>
                  </a:txBody>
                  <a:tcPr marL="0" marR="0" marB="0" marT="71755">
                    <a:lnL w="12700">
                      <a:solidFill>
                        <a:srgbClr val="C7C7C5"/>
                      </a:solidFill>
                      <a:prstDash val="solid"/>
                    </a:lnL>
                    <a:lnR w="12700">
                      <a:solidFill>
                        <a:srgbClr val="C7C7C5"/>
                      </a:solidFill>
                      <a:prstDash val="solid"/>
                    </a:lnR>
                    <a:lnT w="12700">
                      <a:solidFill>
                        <a:srgbClr val="BDC0C3"/>
                      </a:solidFill>
                      <a:prstDash val="solid"/>
                    </a:lnT>
                    <a:lnB w="12700">
                      <a:solidFill>
                        <a:srgbClr val="C7C7C5"/>
                      </a:solidFill>
                      <a:prstDash val="solid"/>
                    </a:lnB>
                  </a:tcPr>
                </a:tc>
              </a:tr>
              <a:tr h="356870">
                <a:tc>
                  <a:txBody>
                    <a:bodyPr/>
                    <a:lstStyle/>
                    <a:p>
                      <a:pPr marL="62865">
                        <a:lnSpc>
                          <a:spcPct val="100000"/>
                        </a:lnSpc>
                        <a:spcBef>
                          <a:spcPts val="575"/>
                        </a:spcBef>
                      </a:pPr>
                      <a:r>
                        <a:rPr dirty="0" sz="1300" spc="40">
                          <a:solidFill>
                            <a:srgbClr val="13203C"/>
                          </a:solidFill>
                          <a:latin typeface="Arial"/>
                          <a:cs typeface="Arial"/>
                        </a:rPr>
                        <a:t>25%</a:t>
                      </a:r>
                      <a:endParaRPr sz="1300">
                        <a:latin typeface="Arial"/>
                        <a:cs typeface="Arial"/>
                      </a:endParaRPr>
                    </a:p>
                  </a:txBody>
                  <a:tcPr marL="0" marR="0" marB="0" marT="73025">
                    <a:lnL w="12700">
                      <a:solidFill>
                        <a:srgbClr val="C7C7C5"/>
                      </a:solidFill>
                      <a:prstDash val="solid"/>
                    </a:lnL>
                    <a:lnR w="12700">
                      <a:solidFill>
                        <a:srgbClr val="C7C7C5"/>
                      </a:solidFill>
                      <a:prstDash val="solid"/>
                    </a:lnR>
                    <a:lnT w="12700">
                      <a:solidFill>
                        <a:srgbClr val="C7C7C5"/>
                      </a:solidFill>
                      <a:prstDash val="solid"/>
                    </a:lnT>
                    <a:lnB w="12700">
                      <a:solidFill>
                        <a:srgbClr val="C7C7C5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 marR="46990">
                        <a:lnSpc>
                          <a:spcPct val="100000"/>
                        </a:lnSpc>
                        <a:spcBef>
                          <a:spcPts val="575"/>
                        </a:spcBef>
                      </a:pPr>
                      <a:r>
                        <a:rPr dirty="0" sz="1300" spc="-20">
                          <a:solidFill>
                            <a:srgbClr val="13203C"/>
                          </a:solidFill>
                          <a:latin typeface="Arial"/>
                          <a:cs typeface="Arial"/>
                        </a:rPr>
                        <a:t>2.10</a:t>
                      </a:r>
                      <a:endParaRPr sz="1300">
                        <a:latin typeface="Arial"/>
                        <a:cs typeface="Arial"/>
                      </a:endParaRPr>
                    </a:p>
                  </a:txBody>
                  <a:tcPr marL="0" marR="0" marB="0" marT="73025">
                    <a:lnL w="12700">
                      <a:solidFill>
                        <a:srgbClr val="C7C7C5"/>
                      </a:solidFill>
                      <a:prstDash val="solid"/>
                    </a:lnL>
                    <a:lnR w="12700">
                      <a:solidFill>
                        <a:srgbClr val="C7C7C5"/>
                      </a:solidFill>
                      <a:prstDash val="solid"/>
                    </a:lnR>
                    <a:lnT w="12700">
                      <a:solidFill>
                        <a:srgbClr val="C7C7C5"/>
                      </a:solidFill>
                      <a:prstDash val="solid"/>
                    </a:lnT>
                    <a:lnB w="12700">
                      <a:solidFill>
                        <a:srgbClr val="C7C7C5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4769">
                        <a:lnSpc>
                          <a:spcPct val="100000"/>
                        </a:lnSpc>
                        <a:spcBef>
                          <a:spcPts val="575"/>
                        </a:spcBef>
                      </a:pPr>
                      <a:r>
                        <a:rPr dirty="0" sz="1300">
                          <a:solidFill>
                            <a:srgbClr val="13203C"/>
                          </a:solidFill>
                          <a:latin typeface="Arial"/>
                          <a:cs typeface="Arial"/>
                        </a:rPr>
                        <a:t>box,</a:t>
                      </a:r>
                      <a:r>
                        <a:rPr dirty="0" sz="1300" spc="-40">
                          <a:solidFill>
                            <a:srgbClr val="13203C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300" spc="50">
                          <a:solidFill>
                            <a:srgbClr val="13203C"/>
                          </a:solidFill>
                          <a:latin typeface="Arial"/>
                          <a:cs typeface="Arial"/>
                        </a:rPr>
                        <a:t>left</a:t>
                      </a:r>
                      <a:r>
                        <a:rPr dirty="0" sz="1300" spc="-75">
                          <a:solidFill>
                            <a:srgbClr val="13203C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300" spc="-20">
                          <a:solidFill>
                            <a:srgbClr val="13203C"/>
                          </a:solidFill>
                          <a:latin typeface="Arial"/>
                          <a:cs typeface="Arial"/>
                        </a:rPr>
                        <a:t>edge</a:t>
                      </a:r>
                      <a:endParaRPr sz="1300">
                        <a:latin typeface="Arial"/>
                        <a:cs typeface="Arial"/>
                      </a:endParaRPr>
                    </a:p>
                  </a:txBody>
                  <a:tcPr marL="0" marR="0" marB="0" marT="73025">
                    <a:lnL w="12700">
                      <a:solidFill>
                        <a:srgbClr val="C7C7C5"/>
                      </a:solidFill>
                      <a:prstDash val="solid"/>
                    </a:lnL>
                    <a:lnR w="12700">
                      <a:solidFill>
                        <a:srgbClr val="C7C7C5"/>
                      </a:solidFill>
                      <a:prstDash val="solid"/>
                    </a:lnR>
                    <a:lnT w="12700">
                      <a:solidFill>
                        <a:srgbClr val="C7C7C5"/>
                      </a:solidFill>
                      <a:prstDash val="solid"/>
                    </a:lnT>
                    <a:lnB w="12700">
                      <a:solidFill>
                        <a:srgbClr val="C7C7C5"/>
                      </a:solidFill>
                      <a:prstDash val="solid"/>
                    </a:lnB>
                  </a:tcPr>
                </a:tc>
              </a:tr>
              <a:tr h="356870">
                <a:tc>
                  <a:txBody>
                    <a:bodyPr/>
                    <a:lstStyle/>
                    <a:p>
                      <a:pPr marL="62865">
                        <a:lnSpc>
                          <a:spcPct val="100000"/>
                        </a:lnSpc>
                        <a:spcBef>
                          <a:spcPts val="580"/>
                        </a:spcBef>
                      </a:pPr>
                      <a:r>
                        <a:rPr dirty="0" sz="1300" spc="55">
                          <a:solidFill>
                            <a:srgbClr val="13203C"/>
                          </a:solidFill>
                          <a:latin typeface="Arial"/>
                          <a:cs typeface="Arial"/>
                        </a:rPr>
                        <a:t>50%</a:t>
                      </a:r>
                      <a:r>
                        <a:rPr dirty="0" sz="1300" spc="-55">
                          <a:solidFill>
                            <a:srgbClr val="13203C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300" spc="-10">
                          <a:solidFill>
                            <a:srgbClr val="13203C"/>
                          </a:solidFill>
                          <a:latin typeface="Arial"/>
                          <a:cs typeface="Arial"/>
                        </a:rPr>
                        <a:t>(median)</a:t>
                      </a:r>
                      <a:endParaRPr sz="1300">
                        <a:latin typeface="Arial"/>
                        <a:cs typeface="Arial"/>
                      </a:endParaRPr>
                    </a:p>
                  </a:txBody>
                  <a:tcPr marL="0" marR="0" marB="0" marT="73660">
                    <a:lnL w="12700">
                      <a:solidFill>
                        <a:srgbClr val="C7C7C5"/>
                      </a:solidFill>
                      <a:prstDash val="solid"/>
                    </a:lnL>
                    <a:lnR w="12700">
                      <a:solidFill>
                        <a:srgbClr val="C7C7C5"/>
                      </a:solidFill>
                      <a:prstDash val="solid"/>
                    </a:lnR>
                    <a:lnT w="12700">
                      <a:solidFill>
                        <a:srgbClr val="C7C7C5"/>
                      </a:solidFill>
                      <a:prstDash val="solid"/>
                    </a:lnT>
                    <a:lnB w="12700">
                      <a:solidFill>
                        <a:srgbClr val="C7C7C5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 marR="46990">
                        <a:lnSpc>
                          <a:spcPct val="100000"/>
                        </a:lnSpc>
                        <a:spcBef>
                          <a:spcPts val="580"/>
                        </a:spcBef>
                      </a:pPr>
                      <a:r>
                        <a:rPr dirty="0" sz="1300" spc="-20">
                          <a:solidFill>
                            <a:srgbClr val="13203C"/>
                          </a:solidFill>
                          <a:latin typeface="Arial"/>
                          <a:cs typeface="Arial"/>
                        </a:rPr>
                        <a:t>2.11</a:t>
                      </a:r>
                      <a:endParaRPr sz="1300">
                        <a:latin typeface="Arial"/>
                        <a:cs typeface="Arial"/>
                      </a:endParaRPr>
                    </a:p>
                  </a:txBody>
                  <a:tcPr marL="0" marR="0" marB="0" marT="73660">
                    <a:lnL w="12700">
                      <a:solidFill>
                        <a:srgbClr val="C7C7C5"/>
                      </a:solidFill>
                      <a:prstDash val="solid"/>
                    </a:lnL>
                    <a:lnR w="12700">
                      <a:solidFill>
                        <a:srgbClr val="C7C7C5"/>
                      </a:solidFill>
                      <a:prstDash val="solid"/>
                    </a:lnR>
                    <a:lnT w="12700">
                      <a:solidFill>
                        <a:srgbClr val="C7C7C5"/>
                      </a:solidFill>
                      <a:prstDash val="solid"/>
                    </a:lnT>
                    <a:lnB w="12700">
                      <a:solidFill>
                        <a:srgbClr val="C7C7C5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4769">
                        <a:lnSpc>
                          <a:spcPct val="100000"/>
                        </a:lnSpc>
                        <a:spcBef>
                          <a:spcPts val="580"/>
                        </a:spcBef>
                      </a:pPr>
                      <a:r>
                        <a:rPr dirty="0" sz="1300">
                          <a:solidFill>
                            <a:srgbClr val="13203C"/>
                          </a:solidFill>
                          <a:latin typeface="Arial"/>
                          <a:cs typeface="Arial"/>
                        </a:rPr>
                        <a:t>amber</a:t>
                      </a:r>
                      <a:r>
                        <a:rPr dirty="0" sz="1300" spc="10">
                          <a:solidFill>
                            <a:srgbClr val="13203C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300" spc="-20">
                          <a:solidFill>
                            <a:srgbClr val="13203C"/>
                          </a:solidFill>
                          <a:latin typeface="Arial"/>
                          <a:cs typeface="Arial"/>
                        </a:rPr>
                        <a:t>line</a:t>
                      </a:r>
                      <a:endParaRPr sz="1300">
                        <a:latin typeface="Arial"/>
                        <a:cs typeface="Arial"/>
                      </a:endParaRPr>
                    </a:p>
                  </a:txBody>
                  <a:tcPr marL="0" marR="0" marB="0" marT="73660">
                    <a:lnL w="12700">
                      <a:solidFill>
                        <a:srgbClr val="C7C7C5"/>
                      </a:solidFill>
                      <a:prstDash val="solid"/>
                    </a:lnL>
                    <a:lnR w="12700">
                      <a:solidFill>
                        <a:srgbClr val="C7C7C5"/>
                      </a:solidFill>
                      <a:prstDash val="solid"/>
                    </a:lnR>
                    <a:lnT w="12700">
                      <a:solidFill>
                        <a:srgbClr val="C7C7C5"/>
                      </a:solidFill>
                      <a:prstDash val="solid"/>
                    </a:lnT>
                    <a:lnB w="12700">
                      <a:solidFill>
                        <a:srgbClr val="C7C7C5"/>
                      </a:solidFill>
                      <a:prstDash val="solid"/>
                    </a:lnB>
                  </a:tcPr>
                </a:tc>
              </a:tr>
              <a:tr h="356870">
                <a:tc>
                  <a:txBody>
                    <a:bodyPr/>
                    <a:lstStyle/>
                    <a:p>
                      <a:pPr marL="62865">
                        <a:lnSpc>
                          <a:spcPct val="100000"/>
                        </a:lnSpc>
                        <a:spcBef>
                          <a:spcPts val="580"/>
                        </a:spcBef>
                      </a:pPr>
                      <a:r>
                        <a:rPr dirty="0" sz="1300" spc="40">
                          <a:solidFill>
                            <a:srgbClr val="13203C"/>
                          </a:solidFill>
                          <a:latin typeface="Arial"/>
                          <a:cs typeface="Arial"/>
                        </a:rPr>
                        <a:t>75%</a:t>
                      </a:r>
                      <a:endParaRPr sz="1300">
                        <a:latin typeface="Arial"/>
                        <a:cs typeface="Arial"/>
                      </a:endParaRPr>
                    </a:p>
                  </a:txBody>
                  <a:tcPr marL="0" marR="0" marB="0" marT="73660">
                    <a:lnL w="12700">
                      <a:solidFill>
                        <a:srgbClr val="C7C7C5"/>
                      </a:solidFill>
                      <a:prstDash val="solid"/>
                    </a:lnL>
                    <a:lnR w="12700">
                      <a:solidFill>
                        <a:srgbClr val="C7C7C5"/>
                      </a:solidFill>
                      <a:prstDash val="solid"/>
                    </a:lnR>
                    <a:lnT w="12700">
                      <a:solidFill>
                        <a:srgbClr val="C7C7C5"/>
                      </a:solidFill>
                      <a:prstDash val="solid"/>
                    </a:lnT>
                    <a:lnB w="12700">
                      <a:solidFill>
                        <a:srgbClr val="C7C7C5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 marR="46990">
                        <a:lnSpc>
                          <a:spcPct val="100000"/>
                        </a:lnSpc>
                        <a:spcBef>
                          <a:spcPts val="580"/>
                        </a:spcBef>
                      </a:pPr>
                      <a:r>
                        <a:rPr dirty="0" sz="1300" spc="-20">
                          <a:solidFill>
                            <a:srgbClr val="13203C"/>
                          </a:solidFill>
                          <a:latin typeface="Arial"/>
                          <a:cs typeface="Arial"/>
                        </a:rPr>
                        <a:t>2.25</a:t>
                      </a:r>
                      <a:endParaRPr sz="1300">
                        <a:latin typeface="Arial"/>
                        <a:cs typeface="Arial"/>
                      </a:endParaRPr>
                    </a:p>
                  </a:txBody>
                  <a:tcPr marL="0" marR="0" marB="0" marT="73660">
                    <a:lnL w="12700">
                      <a:solidFill>
                        <a:srgbClr val="C7C7C5"/>
                      </a:solidFill>
                      <a:prstDash val="solid"/>
                    </a:lnL>
                    <a:lnR w="12700">
                      <a:solidFill>
                        <a:srgbClr val="C7C7C5"/>
                      </a:solidFill>
                      <a:prstDash val="solid"/>
                    </a:lnR>
                    <a:lnT w="12700">
                      <a:solidFill>
                        <a:srgbClr val="C7C7C5"/>
                      </a:solidFill>
                      <a:prstDash val="solid"/>
                    </a:lnT>
                    <a:lnB w="12700">
                      <a:solidFill>
                        <a:srgbClr val="C7C7C5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4769">
                        <a:lnSpc>
                          <a:spcPct val="100000"/>
                        </a:lnSpc>
                        <a:spcBef>
                          <a:spcPts val="580"/>
                        </a:spcBef>
                      </a:pPr>
                      <a:r>
                        <a:rPr dirty="0" sz="1300">
                          <a:solidFill>
                            <a:srgbClr val="13203C"/>
                          </a:solidFill>
                          <a:latin typeface="Arial"/>
                          <a:cs typeface="Arial"/>
                        </a:rPr>
                        <a:t>box,</a:t>
                      </a:r>
                      <a:r>
                        <a:rPr dirty="0" sz="1300" spc="10">
                          <a:solidFill>
                            <a:srgbClr val="13203C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300">
                          <a:solidFill>
                            <a:srgbClr val="13203C"/>
                          </a:solidFill>
                          <a:latin typeface="Arial"/>
                          <a:cs typeface="Arial"/>
                        </a:rPr>
                        <a:t>right</a:t>
                      </a:r>
                      <a:r>
                        <a:rPr dirty="0" sz="1300" spc="60">
                          <a:solidFill>
                            <a:srgbClr val="13203C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300" spc="-20">
                          <a:solidFill>
                            <a:srgbClr val="13203C"/>
                          </a:solidFill>
                          <a:latin typeface="Arial"/>
                          <a:cs typeface="Arial"/>
                        </a:rPr>
                        <a:t>edge</a:t>
                      </a:r>
                      <a:endParaRPr sz="1300">
                        <a:latin typeface="Arial"/>
                        <a:cs typeface="Arial"/>
                      </a:endParaRPr>
                    </a:p>
                  </a:txBody>
                  <a:tcPr marL="0" marR="0" marB="0" marT="73660">
                    <a:lnL w="12700">
                      <a:solidFill>
                        <a:srgbClr val="C7C7C5"/>
                      </a:solidFill>
                      <a:prstDash val="solid"/>
                    </a:lnL>
                    <a:lnR w="12700">
                      <a:solidFill>
                        <a:srgbClr val="C7C7C5"/>
                      </a:solidFill>
                      <a:prstDash val="solid"/>
                    </a:lnR>
                    <a:lnT w="12700">
                      <a:solidFill>
                        <a:srgbClr val="C7C7C5"/>
                      </a:solidFill>
                      <a:prstDash val="solid"/>
                    </a:lnT>
                    <a:lnB w="12700">
                      <a:solidFill>
                        <a:srgbClr val="C7C7C5"/>
                      </a:solidFill>
                      <a:prstDash val="solid"/>
                    </a:lnB>
                  </a:tcPr>
                </a:tc>
              </a:tr>
              <a:tr h="356870">
                <a:tc>
                  <a:txBody>
                    <a:bodyPr/>
                    <a:lstStyle/>
                    <a:p>
                      <a:pPr marL="62865">
                        <a:lnSpc>
                          <a:spcPct val="100000"/>
                        </a:lnSpc>
                        <a:spcBef>
                          <a:spcPts val="585"/>
                        </a:spcBef>
                      </a:pPr>
                      <a:r>
                        <a:rPr dirty="0" sz="1300" spc="-25">
                          <a:solidFill>
                            <a:srgbClr val="13203C"/>
                          </a:solidFill>
                          <a:latin typeface="Arial"/>
                          <a:cs typeface="Arial"/>
                        </a:rPr>
                        <a:t>max</a:t>
                      </a:r>
                      <a:endParaRPr sz="1300">
                        <a:latin typeface="Arial"/>
                        <a:cs typeface="Arial"/>
                      </a:endParaRPr>
                    </a:p>
                  </a:txBody>
                  <a:tcPr marL="0" marR="0" marB="0" marT="74295">
                    <a:lnL w="12700">
                      <a:solidFill>
                        <a:srgbClr val="C7C7C5"/>
                      </a:solidFill>
                      <a:prstDash val="solid"/>
                    </a:lnL>
                    <a:lnR w="12700">
                      <a:solidFill>
                        <a:srgbClr val="C7C7C5"/>
                      </a:solidFill>
                      <a:prstDash val="solid"/>
                    </a:lnR>
                    <a:lnT w="12700">
                      <a:solidFill>
                        <a:srgbClr val="C7C7C5"/>
                      </a:solidFill>
                      <a:prstDash val="solid"/>
                    </a:lnT>
                    <a:lnB w="12700">
                      <a:solidFill>
                        <a:srgbClr val="C7C7C5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 marR="46990">
                        <a:lnSpc>
                          <a:spcPct val="100000"/>
                        </a:lnSpc>
                        <a:spcBef>
                          <a:spcPts val="585"/>
                        </a:spcBef>
                      </a:pPr>
                      <a:r>
                        <a:rPr dirty="0" sz="1300" spc="-20">
                          <a:solidFill>
                            <a:srgbClr val="13203C"/>
                          </a:solidFill>
                          <a:latin typeface="Arial"/>
                          <a:cs typeface="Arial"/>
                        </a:rPr>
                        <a:t>2.63</a:t>
                      </a:r>
                      <a:endParaRPr sz="1300">
                        <a:latin typeface="Arial"/>
                        <a:cs typeface="Arial"/>
                      </a:endParaRPr>
                    </a:p>
                  </a:txBody>
                  <a:tcPr marL="0" marR="0" marB="0" marT="74295">
                    <a:lnL w="12700">
                      <a:solidFill>
                        <a:srgbClr val="C7C7C5"/>
                      </a:solidFill>
                      <a:prstDash val="solid"/>
                    </a:lnL>
                    <a:lnR w="12700">
                      <a:solidFill>
                        <a:srgbClr val="C7C7C5"/>
                      </a:solidFill>
                      <a:prstDash val="solid"/>
                    </a:lnR>
                    <a:lnT w="12700">
                      <a:solidFill>
                        <a:srgbClr val="C7C7C5"/>
                      </a:solidFill>
                      <a:prstDash val="solid"/>
                    </a:lnT>
                    <a:lnB w="12700">
                      <a:solidFill>
                        <a:srgbClr val="C7C7C5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4769">
                        <a:lnSpc>
                          <a:spcPct val="100000"/>
                        </a:lnSpc>
                        <a:spcBef>
                          <a:spcPts val="585"/>
                        </a:spcBef>
                      </a:pPr>
                      <a:r>
                        <a:rPr dirty="0" sz="1300">
                          <a:solidFill>
                            <a:srgbClr val="13203C"/>
                          </a:solidFill>
                          <a:latin typeface="Arial"/>
                          <a:cs typeface="Arial"/>
                        </a:rPr>
                        <a:t>farthest</a:t>
                      </a:r>
                      <a:r>
                        <a:rPr dirty="0" sz="1300" spc="150">
                          <a:solidFill>
                            <a:srgbClr val="13203C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300" spc="-10">
                          <a:solidFill>
                            <a:srgbClr val="13203C"/>
                          </a:solidFill>
                          <a:latin typeface="Arial"/>
                          <a:cs typeface="Arial"/>
                        </a:rPr>
                        <a:t>circle</a:t>
                      </a:r>
                      <a:endParaRPr sz="1300">
                        <a:latin typeface="Arial"/>
                        <a:cs typeface="Arial"/>
                      </a:endParaRPr>
                    </a:p>
                  </a:txBody>
                  <a:tcPr marL="0" marR="0" marB="0" marT="74295">
                    <a:lnL w="12700">
                      <a:solidFill>
                        <a:srgbClr val="C7C7C5"/>
                      </a:solidFill>
                      <a:prstDash val="solid"/>
                    </a:lnL>
                    <a:lnR w="12700">
                      <a:solidFill>
                        <a:srgbClr val="C7C7C5"/>
                      </a:solidFill>
                      <a:prstDash val="solid"/>
                    </a:lnR>
                    <a:lnT w="12700">
                      <a:solidFill>
                        <a:srgbClr val="C7C7C5"/>
                      </a:solidFill>
                      <a:prstDash val="solid"/>
                    </a:lnT>
                    <a:lnB w="12700">
                      <a:solidFill>
                        <a:srgbClr val="C7C7C5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-62"/>
            <a:ext cx="12189460" cy="6859905"/>
          </a:xfrm>
          <a:custGeom>
            <a:avLst/>
            <a:gdLst/>
            <a:ahLst/>
            <a:cxnLst/>
            <a:rect l="l" t="t" r="r" b="b"/>
            <a:pathLst>
              <a:path w="12189460" h="6859905">
                <a:moveTo>
                  <a:pt x="12188952" y="0"/>
                </a:moveTo>
                <a:lnTo>
                  <a:pt x="0" y="0"/>
                </a:lnTo>
                <a:lnTo>
                  <a:pt x="0" y="6859778"/>
                </a:lnTo>
                <a:lnTo>
                  <a:pt x="12188952" y="6859778"/>
                </a:lnTo>
                <a:lnTo>
                  <a:pt x="12188952" y="0"/>
                </a:lnTo>
                <a:close/>
              </a:path>
            </a:pathLst>
          </a:custGeom>
          <a:solidFill>
            <a:srgbClr val="EDF0F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800480" y="819721"/>
            <a:ext cx="2087880" cy="234315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1350" spc="65" b="1">
                <a:solidFill>
                  <a:srgbClr val="B45209"/>
                </a:solidFill>
                <a:latin typeface="Arial"/>
                <a:cs typeface="Arial"/>
              </a:rPr>
              <a:t>0</a:t>
            </a:r>
            <a:r>
              <a:rPr dirty="0" sz="1350" spc="-185" b="1">
                <a:solidFill>
                  <a:srgbClr val="B45209"/>
                </a:solidFill>
                <a:latin typeface="Arial"/>
                <a:cs typeface="Arial"/>
              </a:rPr>
              <a:t> </a:t>
            </a:r>
            <a:r>
              <a:rPr dirty="0" sz="1350" spc="65" b="1">
                <a:solidFill>
                  <a:srgbClr val="B45209"/>
                </a:solidFill>
                <a:latin typeface="Arial"/>
                <a:cs typeface="Arial"/>
              </a:rPr>
              <a:t>5</a:t>
            </a:r>
            <a:r>
              <a:rPr dirty="0" sz="1350" spc="270" b="1">
                <a:solidFill>
                  <a:srgbClr val="B45209"/>
                </a:solidFill>
                <a:latin typeface="Arial"/>
                <a:cs typeface="Arial"/>
              </a:rPr>
              <a:t> </a:t>
            </a:r>
            <a:r>
              <a:rPr dirty="0" sz="1350" b="1">
                <a:solidFill>
                  <a:srgbClr val="B45209"/>
                </a:solidFill>
                <a:latin typeface="Arial"/>
                <a:cs typeface="Arial"/>
              </a:rPr>
              <a:t>·</a:t>
            </a:r>
            <a:r>
              <a:rPr dirty="0" sz="1350" spc="320" b="1">
                <a:solidFill>
                  <a:srgbClr val="B45209"/>
                </a:solidFill>
                <a:latin typeface="Arial"/>
                <a:cs typeface="Arial"/>
              </a:rPr>
              <a:t> </a:t>
            </a:r>
            <a:r>
              <a:rPr dirty="0" sz="1350" spc="145" b="1">
                <a:solidFill>
                  <a:srgbClr val="B45209"/>
                </a:solidFill>
                <a:latin typeface="Arial"/>
                <a:cs typeface="Arial"/>
              </a:rPr>
              <a:t>VISU</a:t>
            </a:r>
            <a:r>
              <a:rPr dirty="0" sz="1350" spc="-165" b="1">
                <a:solidFill>
                  <a:srgbClr val="B45209"/>
                </a:solidFill>
                <a:latin typeface="Arial"/>
                <a:cs typeface="Arial"/>
              </a:rPr>
              <a:t> </a:t>
            </a:r>
            <a:r>
              <a:rPr dirty="0" sz="1350" spc="135" b="1">
                <a:solidFill>
                  <a:srgbClr val="B45209"/>
                </a:solidFill>
                <a:latin typeface="Arial"/>
                <a:cs typeface="Arial"/>
              </a:rPr>
              <a:t>ALIZ</a:t>
            </a:r>
            <a:r>
              <a:rPr dirty="0" sz="1350" spc="-190" b="1">
                <a:solidFill>
                  <a:srgbClr val="B45209"/>
                </a:solidFill>
                <a:latin typeface="Arial"/>
                <a:cs typeface="Arial"/>
              </a:rPr>
              <a:t> </a:t>
            </a:r>
            <a:r>
              <a:rPr dirty="0" sz="1350" b="1">
                <a:solidFill>
                  <a:srgbClr val="B45209"/>
                </a:solidFill>
                <a:latin typeface="Arial"/>
                <a:cs typeface="Arial"/>
              </a:rPr>
              <a:t>AT</a:t>
            </a:r>
            <a:r>
              <a:rPr dirty="0" sz="1350" spc="-160" b="1">
                <a:solidFill>
                  <a:srgbClr val="B45209"/>
                </a:solidFill>
                <a:latin typeface="Arial"/>
                <a:cs typeface="Arial"/>
              </a:rPr>
              <a:t> </a:t>
            </a:r>
            <a:r>
              <a:rPr dirty="0" sz="1350" spc="130" b="1">
                <a:solidFill>
                  <a:srgbClr val="B45209"/>
                </a:solidFill>
                <a:latin typeface="Arial"/>
                <a:cs typeface="Arial"/>
              </a:rPr>
              <a:t>IO</a:t>
            </a:r>
            <a:r>
              <a:rPr dirty="0" sz="1350" spc="-195" b="1">
                <a:solidFill>
                  <a:srgbClr val="B45209"/>
                </a:solidFill>
                <a:latin typeface="Arial"/>
                <a:cs typeface="Arial"/>
              </a:rPr>
              <a:t> </a:t>
            </a:r>
            <a:r>
              <a:rPr dirty="0" sz="1350" spc="-50" b="1">
                <a:solidFill>
                  <a:srgbClr val="B45209"/>
                </a:solidFill>
                <a:latin typeface="Arial"/>
                <a:cs typeface="Arial"/>
              </a:rPr>
              <a:t>N</a:t>
            </a:r>
            <a:endParaRPr sz="1350">
              <a:latin typeface="Arial"/>
              <a:cs typeface="Arial"/>
            </a:endParaRPr>
          </a:p>
        </p:txBody>
      </p:sp>
      <p:sp>
        <p:nvSpPr>
          <p:cNvPr id="4" name="object 4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/>
              <a:t>The</a:t>
            </a:r>
            <a:r>
              <a:rPr dirty="0" spc="-114"/>
              <a:t> </a:t>
            </a:r>
            <a:r>
              <a:rPr dirty="0"/>
              <a:t>same</a:t>
            </a:r>
            <a:r>
              <a:rPr dirty="0" spc="-40"/>
              <a:t> </a:t>
            </a:r>
            <a:r>
              <a:rPr dirty="0"/>
              <a:t>charts,</a:t>
            </a:r>
            <a:r>
              <a:rPr dirty="0" spc="-110"/>
              <a:t> </a:t>
            </a:r>
            <a:r>
              <a:rPr dirty="0"/>
              <a:t>straight</a:t>
            </a:r>
            <a:r>
              <a:rPr dirty="0" spc="-50"/>
              <a:t> </a:t>
            </a:r>
            <a:r>
              <a:rPr dirty="0"/>
              <a:t>from</a:t>
            </a:r>
            <a:r>
              <a:rPr dirty="0" spc="-90"/>
              <a:t> </a:t>
            </a:r>
            <a:r>
              <a:rPr dirty="0" spc="50"/>
              <a:t>a</a:t>
            </a:r>
            <a:r>
              <a:rPr dirty="0" spc="-60"/>
              <a:t> </a:t>
            </a:r>
            <a:r>
              <a:rPr dirty="0" spc="-10"/>
              <a:t>DataFrame</a:t>
            </a:r>
          </a:p>
        </p:txBody>
      </p:sp>
      <p:sp>
        <p:nvSpPr>
          <p:cNvPr id="5" name="object 5"/>
          <p:cNvSpPr/>
          <p:nvPr/>
        </p:nvSpPr>
        <p:spPr>
          <a:xfrm>
            <a:off x="813816" y="1911604"/>
            <a:ext cx="5962015" cy="1509395"/>
          </a:xfrm>
          <a:custGeom>
            <a:avLst/>
            <a:gdLst/>
            <a:ahLst/>
            <a:cxnLst/>
            <a:rect l="l" t="t" r="r" b="b"/>
            <a:pathLst>
              <a:path w="5962015" h="1509395">
                <a:moveTo>
                  <a:pt x="5860669" y="0"/>
                </a:moveTo>
                <a:lnTo>
                  <a:pt x="101257" y="0"/>
                </a:lnTo>
                <a:lnTo>
                  <a:pt x="61845" y="7957"/>
                </a:lnTo>
                <a:lnTo>
                  <a:pt x="29659" y="29654"/>
                </a:lnTo>
                <a:lnTo>
                  <a:pt x="7957" y="61829"/>
                </a:lnTo>
                <a:lnTo>
                  <a:pt x="0" y="101219"/>
                </a:lnTo>
                <a:lnTo>
                  <a:pt x="0" y="1407795"/>
                </a:lnTo>
                <a:lnTo>
                  <a:pt x="7957" y="1447258"/>
                </a:lnTo>
                <a:lnTo>
                  <a:pt x="29659" y="1479470"/>
                </a:lnTo>
                <a:lnTo>
                  <a:pt x="61845" y="1501181"/>
                </a:lnTo>
                <a:lnTo>
                  <a:pt x="101257" y="1509141"/>
                </a:lnTo>
                <a:lnTo>
                  <a:pt x="5860669" y="1509141"/>
                </a:lnTo>
                <a:lnTo>
                  <a:pt x="5900058" y="1501181"/>
                </a:lnTo>
                <a:lnTo>
                  <a:pt x="5932233" y="1479470"/>
                </a:lnTo>
                <a:lnTo>
                  <a:pt x="5953930" y="1447258"/>
                </a:lnTo>
                <a:lnTo>
                  <a:pt x="5961888" y="1407795"/>
                </a:lnTo>
                <a:lnTo>
                  <a:pt x="5961888" y="101219"/>
                </a:lnTo>
                <a:lnTo>
                  <a:pt x="5953930" y="61829"/>
                </a:lnTo>
                <a:lnTo>
                  <a:pt x="5932233" y="29654"/>
                </a:lnTo>
                <a:lnTo>
                  <a:pt x="5900058" y="7957"/>
                </a:lnTo>
                <a:lnTo>
                  <a:pt x="5860669" y="0"/>
                </a:lnTo>
                <a:close/>
              </a:path>
            </a:pathLst>
          </a:custGeom>
          <a:solidFill>
            <a:srgbClr val="13203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/>
          <p:nvPr/>
        </p:nvSpPr>
        <p:spPr>
          <a:xfrm>
            <a:off x="1054620" y="2098255"/>
            <a:ext cx="3749040" cy="10877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34000"/>
              </a:lnSpc>
              <a:spcBef>
                <a:spcPts val="100"/>
              </a:spcBef>
            </a:pPr>
            <a:r>
              <a:rPr dirty="0" sz="1300" spc="-60">
                <a:solidFill>
                  <a:srgbClr val="F4F0EA"/>
                </a:solidFill>
                <a:latin typeface="Arial"/>
                <a:cs typeface="Arial"/>
              </a:rPr>
              <a:t>counts</a:t>
            </a:r>
            <a:r>
              <a:rPr dirty="0" sz="1300" spc="-65">
                <a:solidFill>
                  <a:srgbClr val="F4F0EA"/>
                </a:solidFill>
                <a:latin typeface="Arial"/>
                <a:cs typeface="Arial"/>
              </a:rPr>
              <a:t> </a:t>
            </a:r>
            <a:r>
              <a:rPr dirty="0" sz="1300" spc="-130">
                <a:solidFill>
                  <a:srgbClr val="F4F0EA"/>
                </a:solidFill>
                <a:latin typeface="Arial"/>
                <a:cs typeface="Arial"/>
              </a:rPr>
              <a:t>=</a:t>
            </a:r>
            <a:r>
              <a:rPr dirty="0" sz="1300" spc="15">
                <a:solidFill>
                  <a:srgbClr val="F4F0EA"/>
                </a:solidFill>
                <a:latin typeface="Arial"/>
                <a:cs typeface="Arial"/>
              </a:rPr>
              <a:t> </a:t>
            </a:r>
            <a:r>
              <a:rPr dirty="0" sz="1300" spc="-50">
                <a:solidFill>
                  <a:srgbClr val="F4F0EA"/>
                </a:solidFill>
                <a:latin typeface="Arial"/>
                <a:cs typeface="Arial"/>
              </a:rPr>
              <a:t>df_mystery['ApplicationName'].value_counts() </a:t>
            </a:r>
            <a:r>
              <a:rPr dirty="0" sz="1300" spc="-10">
                <a:solidFill>
                  <a:srgbClr val="F4F0EA"/>
                </a:solidFill>
                <a:latin typeface="Arial"/>
                <a:cs typeface="Arial"/>
              </a:rPr>
              <a:t>counts.plot(kind='bar')</a:t>
            </a:r>
            <a:endParaRPr sz="1300">
              <a:latin typeface="Arial"/>
              <a:cs typeface="Arial"/>
            </a:endParaRPr>
          </a:p>
          <a:p>
            <a:pPr marL="12700" marR="1824355">
              <a:lnSpc>
                <a:spcPct val="134000"/>
              </a:lnSpc>
            </a:pPr>
            <a:r>
              <a:rPr dirty="0" sz="1300" spc="-40">
                <a:solidFill>
                  <a:srgbClr val="F4F0EA"/>
                </a:solidFill>
                <a:latin typeface="Arial"/>
                <a:cs typeface="Arial"/>
              </a:rPr>
              <a:t>plt.title('Snapshots</a:t>
            </a:r>
            <a:r>
              <a:rPr dirty="0" sz="1300">
                <a:solidFill>
                  <a:srgbClr val="F4F0EA"/>
                </a:solidFill>
                <a:latin typeface="Arial"/>
                <a:cs typeface="Arial"/>
              </a:rPr>
              <a:t> </a:t>
            </a:r>
            <a:r>
              <a:rPr dirty="0" sz="1300" spc="-45">
                <a:solidFill>
                  <a:srgbClr val="F4F0EA"/>
                </a:solidFill>
                <a:latin typeface="Arial"/>
                <a:cs typeface="Arial"/>
              </a:rPr>
              <a:t>per</a:t>
            </a:r>
            <a:r>
              <a:rPr dirty="0" sz="1300" spc="-10">
                <a:solidFill>
                  <a:srgbClr val="F4F0EA"/>
                </a:solidFill>
                <a:latin typeface="Arial"/>
                <a:cs typeface="Arial"/>
              </a:rPr>
              <a:t> </a:t>
            </a:r>
            <a:r>
              <a:rPr dirty="0" sz="1300" spc="-45">
                <a:solidFill>
                  <a:srgbClr val="F4F0EA"/>
                </a:solidFill>
                <a:latin typeface="Arial"/>
                <a:cs typeface="Arial"/>
              </a:rPr>
              <a:t>app') </a:t>
            </a:r>
            <a:r>
              <a:rPr dirty="0" sz="1300" spc="-10">
                <a:solidFill>
                  <a:srgbClr val="F4F0EA"/>
                </a:solidFill>
                <a:latin typeface="Arial"/>
                <a:cs typeface="Arial"/>
              </a:rPr>
              <a:t>plt.ylabel('Rows')</a:t>
            </a:r>
            <a:endParaRPr sz="1300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800480" y="3540478"/>
            <a:ext cx="5622925" cy="1189355"/>
          </a:xfrm>
          <a:prstGeom prst="rect">
            <a:avLst/>
          </a:prstGeom>
        </p:spPr>
        <p:txBody>
          <a:bodyPr wrap="square" lIns="0" tIns="622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490"/>
              </a:spcBef>
            </a:pPr>
            <a:r>
              <a:rPr dirty="0" sz="1350" spc="10">
                <a:solidFill>
                  <a:srgbClr val="3C495C"/>
                </a:solidFill>
                <a:latin typeface="Arial"/>
                <a:cs typeface="Arial"/>
              </a:rPr>
              <a:t>value_counts()</a:t>
            </a:r>
            <a:r>
              <a:rPr dirty="0" sz="1350" spc="15">
                <a:solidFill>
                  <a:srgbClr val="3C495C"/>
                </a:solidFill>
                <a:latin typeface="Arial"/>
                <a:cs typeface="Arial"/>
              </a:rPr>
              <a:t> </a:t>
            </a:r>
            <a:r>
              <a:rPr dirty="0" sz="1350" spc="10">
                <a:solidFill>
                  <a:srgbClr val="3C495C"/>
                </a:solidFill>
                <a:latin typeface="Arial"/>
                <a:cs typeface="Arial"/>
              </a:rPr>
              <a:t>counts</a:t>
            </a:r>
            <a:r>
              <a:rPr dirty="0" sz="1350" spc="40">
                <a:solidFill>
                  <a:srgbClr val="3C495C"/>
                </a:solidFill>
                <a:latin typeface="Arial"/>
                <a:cs typeface="Arial"/>
              </a:rPr>
              <a:t> </a:t>
            </a:r>
            <a:r>
              <a:rPr dirty="0" sz="1350" spc="50">
                <a:solidFill>
                  <a:srgbClr val="3C495C"/>
                </a:solidFill>
                <a:latin typeface="Arial"/>
                <a:cs typeface="Arial"/>
              </a:rPr>
              <a:t>the</a:t>
            </a:r>
            <a:r>
              <a:rPr dirty="0" sz="1350" spc="25">
                <a:solidFill>
                  <a:srgbClr val="3C495C"/>
                </a:solidFill>
                <a:latin typeface="Arial"/>
                <a:cs typeface="Arial"/>
              </a:rPr>
              <a:t> </a:t>
            </a:r>
            <a:r>
              <a:rPr dirty="0" sz="1350" spc="10">
                <a:solidFill>
                  <a:srgbClr val="3C495C"/>
                </a:solidFill>
                <a:latin typeface="Arial"/>
                <a:cs typeface="Arial"/>
              </a:rPr>
              <a:t>rows</a:t>
            </a:r>
            <a:r>
              <a:rPr dirty="0" sz="1350" spc="40">
                <a:solidFill>
                  <a:srgbClr val="3C495C"/>
                </a:solidFill>
                <a:latin typeface="Arial"/>
                <a:cs typeface="Arial"/>
              </a:rPr>
              <a:t> </a:t>
            </a:r>
            <a:r>
              <a:rPr dirty="0" sz="1350" spc="65">
                <a:solidFill>
                  <a:srgbClr val="3C495C"/>
                </a:solidFill>
                <a:latin typeface="Arial"/>
                <a:cs typeface="Arial"/>
              </a:rPr>
              <a:t>for</a:t>
            </a:r>
            <a:r>
              <a:rPr dirty="0" sz="1350" spc="-25">
                <a:solidFill>
                  <a:srgbClr val="3C495C"/>
                </a:solidFill>
                <a:latin typeface="Arial"/>
                <a:cs typeface="Arial"/>
              </a:rPr>
              <a:t> </a:t>
            </a:r>
            <a:r>
              <a:rPr dirty="0" sz="1350" spc="10">
                <a:solidFill>
                  <a:srgbClr val="3C495C"/>
                </a:solidFill>
                <a:latin typeface="Arial"/>
                <a:cs typeface="Arial"/>
              </a:rPr>
              <a:t>each</a:t>
            </a:r>
            <a:r>
              <a:rPr dirty="0" sz="1350" spc="75">
                <a:solidFill>
                  <a:srgbClr val="3C495C"/>
                </a:solidFill>
                <a:latin typeface="Arial"/>
                <a:cs typeface="Arial"/>
              </a:rPr>
              <a:t> </a:t>
            </a:r>
            <a:r>
              <a:rPr dirty="0" sz="1350" spc="10">
                <a:solidFill>
                  <a:srgbClr val="3C495C"/>
                </a:solidFill>
                <a:latin typeface="Arial"/>
                <a:cs typeface="Arial"/>
              </a:rPr>
              <a:t>app.</a:t>
            </a:r>
            <a:r>
              <a:rPr dirty="0" sz="1350" spc="-35">
                <a:solidFill>
                  <a:srgbClr val="3C495C"/>
                </a:solidFill>
                <a:latin typeface="Arial"/>
                <a:cs typeface="Arial"/>
              </a:rPr>
              <a:t> </a:t>
            </a:r>
            <a:r>
              <a:rPr dirty="0" sz="1350" spc="10">
                <a:solidFill>
                  <a:srgbClr val="3C495C"/>
                </a:solidFill>
                <a:latin typeface="Arial"/>
                <a:cs typeface="Arial"/>
              </a:rPr>
              <a:t>pandas</a:t>
            </a:r>
            <a:r>
              <a:rPr dirty="0" sz="1350" spc="40">
                <a:solidFill>
                  <a:srgbClr val="3C495C"/>
                </a:solidFill>
                <a:latin typeface="Arial"/>
                <a:cs typeface="Arial"/>
              </a:rPr>
              <a:t> </a:t>
            </a:r>
            <a:r>
              <a:rPr dirty="0" sz="1350" spc="10">
                <a:solidFill>
                  <a:srgbClr val="3C495C"/>
                </a:solidFill>
                <a:latin typeface="Arial"/>
                <a:cs typeface="Arial"/>
              </a:rPr>
              <a:t>uses</a:t>
            </a:r>
            <a:r>
              <a:rPr dirty="0" sz="1350" spc="40">
                <a:solidFill>
                  <a:srgbClr val="3C495C"/>
                </a:solidFill>
                <a:latin typeface="Arial"/>
                <a:cs typeface="Arial"/>
              </a:rPr>
              <a:t> </a:t>
            </a:r>
            <a:r>
              <a:rPr dirty="0" sz="1350" spc="50">
                <a:solidFill>
                  <a:srgbClr val="3C495C"/>
                </a:solidFill>
                <a:latin typeface="Arial"/>
                <a:cs typeface="Arial"/>
              </a:rPr>
              <a:t>the</a:t>
            </a:r>
            <a:r>
              <a:rPr dirty="0" sz="1350" spc="25">
                <a:solidFill>
                  <a:srgbClr val="3C495C"/>
                </a:solidFill>
                <a:latin typeface="Arial"/>
                <a:cs typeface="Arial"/>
              </a:rPr>
              <a:t> </a:t>
            </a:r>
            <a:r>
              <a:rPr dirty="0" sz="1350" spc="-10">
                <a:solidFill>
                  <a:srgbClr val="3C495C"/>
                </a:solidFill>
                <a:latin typeface="Arial"/>
                <a:cs typeface="Arial"/>
              </a:rPr>
              <a:t>labels</a:t>
            </a:r>
            <a:endParaRPr sz="13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400"/>
              </a:spcBef>
            </a:pPr>
            <a:r>
              <a:rPr dirty="0" sz="1350">
                <a:solidFill>
                  <a:srgbClr val="3C495C"/>
                </a:solidFill>
                <a:latin typeface="Arial"/>
                <a:cs typeface="Arial"/>
              </a:rPr>
              <a:t>(Facebook,</a:t>
            </a:r>
            <a:r>
              <a:rPr dirty="0" sz="1350" spc="-35">
                <a:solidFill>
                  <a:srgbClr val="3C495C"/>
                </a:solidFill>
                <a:latin typeface="Arial"/>
                <a:cs typeface="Arial"/>
              </a:rPr>
              <a:t> </a:t>
            </a:r>
            <a:r>
              <a:rPr dirty="0" sz="1350">
                <a:solidFill>
                  <a:srgbClr val="3C495C"/>
                </a:solidFill>
                <a:latin typeface="Arial"/>
                <a:cs typeface="Arial"/>
              </a:rPr>
              <a:t>WhatsApp)</a:t>
            </a:r>
            <a:r>
              <a:rPr dirty="0" sz="1350" spc="40">
                <a:solidFill>
                  <a:srgbClr val="3C495C"/>
                </a:solidFill>
                <a:latin typeface="Arial"/>
                <a:cs typeface="Arial"/>
              </a:rPr>
              <a:t> </a:t>
            </a:r>
            <a:r>
              <a:rPr dirty="0" sz="1350">
                <a:solidFill>
                  <a:srgbClr val="3C495C"/>
                </a:solidFill>
                <a:latin typeface="Arial"/>
                <a:cs typeface="Arial"/>
              </a:rPr>
              <a:t>for</a:t>
            </a:r>
            <a:r>
              <a:rPr dirty="0" sz="1350" spc="70">
                <a:solidFill>
                  <a:srgbClr val="3C495C"/>
                </a:solidFill>
                <a:latin typeface="Arial"/>
                <a:cs typeface="Arial"/>
              </a:rPr>
              <a:t> </a:t>
            </a:r>
            <a:r>
              <a:rPr dirty="0" sz="1350">
                <a:solidFill>
                  <a:srgbClr val="3C495C"/>
                </a:solidFill>
                <a:latin typeface="Arial"/>
                <a:cs typeface="Arial"/>
              </a:rPr>
              <a:t>the</a:t>
            </a:r>
            <a:r>
              <a:rPr dirty="0" sz="1350" spc="120">
                <a:solidFill>
                  <a:srgbClr val="3C495C"/>
                </a:solidFill>
                <a:latin typeface="Arial"/>
                <a:cs typeface="Arial"/>
              </a:rPr>
              <a:t> </a:t>
            </a:r>
            <a:r>
              <a:rPr dirty="0" sz="1350">
                <a:solidFill>
                  <a:srgbClr val="3C495C"/>
                </a:solidFill>
                <a:latin typeface="Arial"/>
                <a:cs typeface="Arial"/>
              </a:rPr>
              <a:t>bars,</a:t>
            </a:r>
            <a:r>
              <a:rPr dirty="0" sz="1350" spc="55">
                <a:solidFill>
                  <a:srgbClr val="3C495C"/>
                </a:solidFill>
                <a:latin typeface="Arial"/>
                <a:cs typeface="Arial"/>
              </a:rPr>
              <a:t> </a:t>
            </a:r>
            <a:r>
              <a:rPr dirty="0" sz="1350">
                <a:solidFill>
                  <a:srgbClr val="3C495C"/>
                </a:solidFill>
                <a:latin typeface="Arial"/>
                <a:cs typeface="Arial"/>
              </a:rPr>
              <a:t>so</a:t>
            </a:r>
            <a:r>
              <a:rPr dirty="0" sz="1350" spc="105">
                <a:solidFill>
                  <a:srgbClr val="3C495C"/>
                </a:solidFill>
                <a:latin typeface="Arial"/>
                <a:cs typeface="Arial"/>
              </a:rPr>
              <a:t> </a:t>
            </a:r>
            <a:r>
              <a:rPr dirty="0" sz="1350">
                <a:solidFill>
                  <a:srgbClr val="3C495C"/>
                </a:solidFill>
                <a:latin typeface="Arial"/>
                <a:cs typeface="Arial"/>
              </a:rPr>
              <a:t>there</a:t>
            </a:r>
            <a:r>
              <a:rPr dirty="0" sz="1350" spc="30">
                <a:solidFill>
                  <a:srgbClr val="3C495C"/>
                </a:solidFill>
                <a:latin typeface="Arial"/>
                <a:cs typeface="Arial"/>
              </a:rPr>
              <a:t> </a:t>
            </a:r>
            <a:r>
              <a:rPr dirty="0" sz="1350">
                <a:solidFill>
                  <a:srgbClr val="3C495C"/>
                </a:solidFill>
                <a:latin typeface="Arial"/>
                <a:cs typeface="Arial"/>
              </a:rPr>
              <a:t>is</a:t>
            </a:r>
            <a:r>
              <a:rPr dirty="0" sz="1350" spc="45">
                <a:solidFill>
                  <a:srgbClr val="3C495C"/>
                </a:solidFill>
                <a:latin typeface="Arial"/>
                <a:cs typeface="Arial"/>
              </a:rPr>
              <a:t> </a:t>
            </a:r>
            <a:r>
              <a:rPr dirty="0" sz="1350">
                <a:solidFill>
                  <a:srgbClr val="3C495C"/>
                </a:solidFill>
                <a:latin typeface="Arial"/>
                <a:cs typeface="Arial"/>
              </a:rPr>
              <a:t>no</a:t>
            </a:r>
            <a:r>
              <a:rPr dirty="0" sz="1350" spc="100">
                <a:solidFill>
                  <a:srgbClr val="3C495C"/>
                </a:solidFill>
                <a:latin typeface="Arial"/>
                <a:cs typeface="Arial"/>
              </a:rPr>
              <a:t> </a:t>
            </a:r>
            <a:r>
              <a:rPr dirty="0" sz="1350">
                <a:solidFill>
                  <a:srgbClr val="3C495C"/>
                </a:solidFill>
                <a:latin typeface="Arial"/>
                <a:cs typeface="Arial"/>
              </a:rPr>
              <a:t>x</a:t>
            </a:r>
            <a:r>
              <a:rPr dirty="0" sz="1350" spc="15">
                <a:solidFill>
                  <a:srgbClr val="3C495C"/>
                </a:solidFill>
                <a:latin typeface="Arial"/>
                <a:cs typeface="Arial"/>
              </a:rPr>
              <a:t> </a:t>
            </a:r>
            <a:r>
              <a:rPr dirty="0" sz="1350" spc="60">
                <a:solidFill>
                  <a:srgbClr val="3C495C"/>
                </a:solidFill>
                <a:latin typeface="Arial"/>
                <a:cs typeface="Arial"/>
              </a:rPr>
              <a:t>list</a:t>
            </a:r>
            <a:r>
              <a:rPr dirty="0" sz="1350" spc="5">
                <a:solidFill>
                  <a:srgbClr val="3C495C"/>
                </a:solidFill>
                <a:latin typeface="Arial"/>
                <a:cs typeface="Arial"/>
              </a:rPr>
              <a:t> </a:t>
            </a:r>
            <a:r>
              <a:rPr dirty="0" sz="1350" spc="70">
                <a:solidFill>
                  <a:srgbClr val="3C495C"/>
                </a:solidFill>
                <a:latin typeface="Arial"/>
                <a:cs typeface="Arial"/>
              </a:rPr>
              <a:t>to</a:t>
            </a:r>
            <a:r>
              <a:rPr dirty="0" sz="1350" spc="15">
                <a:solidFill>
                  <a:srgbClr val="3C495C"/>
                </a:solidFill>
                <a:latin typeface="Arial"/>
                <a:cs typeface="Arial"/>
              </a:rPr>
              <a:t> </a:t>
            </a:r>
            <a:r>
              <a:rPr dirty="0" sz="1350" spc="-10">
                <a:solidFill>
                  <a:srgbClr val="3C495C"/>
                </a:solidFill>
                <a:latin typeface="Arial"/>
                <a:cs typeface="Arial"/>
              </a:rPr>
              <a:t>build.</a:t>
            </a:r>
            <a:endParaRPr sz="1350">
              <a:latin typeface="Arial"/>
              <a:cs typeface="Arial"/>
            </a:endParaRPr>
          </a:p>
          <a:p>
            <a:pPr marL="12700" marR="5080">
              <a:lnSpc>
                <a:spcPct val="124600"/>
              </a:lnSpc>
              <a:spcBef>
                <a:spcPts val="1090"/>
              </a:spcBef>
            </a:pPr>
            <a:r>
              <a:rPr dirty="0" sz="1350">
                <a:solidFill>
                  <a:srgbClr val="3C495C"/>
                </a:solidFill>
                <a:latin typeface="Arial"/>
                <a:cs typeface="Arial"/>
              </a:rPr>
              <a:t>Try</a:t>
            </a:r>
            <a:r>
              <a:rPr dirty="0" sz="1350" spc="70">
                <a:solidFill>
                  <a:srgbClr val="3C495C"/>
                </a:solidFill>
                <a:latin typeface="Arial"/>
                <a:cs typeface="Arial"/>
              </a:rPr>
              <a:t> </a:t>
            </a:r>
            <a:r>
              <a:rPr dirty="0" sz="1350" spc="50">
                <a:solidFill>
                  <a:srgbClr val="B45209"/>
                </a:solidFill>
                <a:latin typeface="Arial"/>
                <a:cs typeface="Arial"/>
              </a:rPr>
              <a:t>kind='pie'</a:t>
            </a:r>
            <a:r>
              <a:rPr dirty="0" sz="1350" spc="10">
                <a:solidFill>
                  <a:srgbClr val="B45209"/>
                </a:solidFill>
                <a:latin typeface="Arial"/>
                <a:cs typeface="Arial"/>
              </a:rPr>
              <a:t> </a:t>
            </a:r>
            <a:r>
              <a:rPr dirty="0" sz="1350">
                <a:solidFill>
                  <a:srgbClr val="3C495C"/>
                </a:solidFill>
                <a:latin typeface="Arial"/>
                <a:cs typeface="Arial"/>
              </a:rPr>
              <a:t>on</a:t>
            </a:r>
            <a:r>
              <a:rPr dirty="0" sz="1350" spc="85">
                <a:solidFill>
                  <a:srgbClr val="3C495C"/>
                </a:solidFill>
                <a:latin typeface="Arial"/>
                <a:cs typeface="Arial"/>
              </a:rPr>
              <a:t> </a:t>
            </a:r>
            <a:r>
              <a:rPr dirty="0" sz="1350">
                <a:solidFill>
                  <a:srgbClr val="3C495C"/>
                </a:solidFill>
                <a:latin typeface="Arial"/>
                <a:cs typeface="Arial"/>
              </a:rPr>
              <a:t>counts,</a:t>
            </a:r>
            <a:r>
              <a:rPr dirty="0" sz="1350" spc="-30">
                <a:solidFill>
                  <a:srgbClr val="3C495C"/>
                </a:solidFill>
                <a:latin typeface="Arial"/>
                <a:cs typeface="Arial"/>
              </a:rPr>
              <a:t> </a:t>
            </a:r>
            <a:r>
              <a:rPr dirty="0" sz="1350">
                <a:solidFill>
                  <a:srgbClr val="3C495C"/>
                </a:solidFill>
                <a:latin typeface="Arial"/>
                <a:cs typeface="Arial"/>
              </a:rPr>
              <a:t>or</a:t>
            </a:r>
            <a:r>
              <a:rPr dirty="0" sz="1350" spc="100">
                <a:solidFill>
                  <a:srgbClr val="3C495C"/>
                </a:solidFill>
                <a:latin typeface="Arial"/>
                <a:cs typeface="Arial"/>
              </a:rPr>
              <a:t> </a:t>
            </a:r>
            <a:r>
              <a:rPr dirty="0" sz="1350" spc="-10">
                <a:solidFill>
                  <a:srgbClr val="B45209"/>
                </a:solidFill>
                <a:latin typeface="Arial"/>
                <a:cs typeface="Arial"/>
              </a:rPr>
              <a:t>df_mystery['CPU_USAGE'].plot(kind='hist',</a:t>
            </a:r>
            <a:r>
              <a:rPr dirty="0" sz="1350" spc="500">
                <a:solidFill>
                  <a:srgbClr val="B45209"/>
                </a:solidFill>
                <a:latin typeface="Arial"/>
                <a:cs typeface="Arial"/>
              </a:rPr>
              <a:t>  </a:t>
            </a:r>
            <a:r>
              <a:rPr dirty="0" sz="1350" spc="10">
                <a:solidFill>
                  <a:srgbClr val="B45209"/>
                </a:solidFill>
                <a:latin typeface="Arial"/>
                <a:cs typeface="Arial"/>
              </a:rPr>
              <a:t>bins=20)</a:t>
            </a:r>
            <a:r>
              <a:rPr dirty="0" sz="1350" spc="10">
                <a:solidFill>
                  <a:srgbClr val="3C495C"/>
                </a:solidFill>
                <a:latin typeface="Arial"/>
                <a:cs typeface="Arial"/>
              </a:rPr>
              <a:t>.</a:t>
            </a:r>
            <a:r>
              <a:rPr dirty="0" sz="1350" spc="65">
                <a:solidFill>
                  <a:srgbClr val="3C495C"/>
                </a:solidFill>
                <a:latin typeface="Arial"/>
                <a:cs typeface="Arial"/>
              </a:rPr>
              <a:t> </a:t>
            </a:r>
            <a:r>
              <a:rPr dirty="0" sz="1350">
                <a:solidFill>
                  <a:srgbClr val="3C495C"/>
                </a:solidFill>
                <a:latin typeface="Arial"/>
                <a:cs typeface="Arial"/>
              </a:rPr>
              <a:t>One</a:t>
            </a:r>
            <a:r>
              <a:rPr dirty="0" sz="1350" spc="40">
                <a:solidFill>
                  <a:srgbClr val="3C495C"/>
                </a:solidFill>
                <a:latin typeface="Arial"/>
                <a:cs typeface="Arial"/>
              </a:rPr>
              <a:t> </a:t>
            </a:r>
            <a:r>
              <a:rPr dirty="0" sz="1350" spc="55">
                <a:solidFill>
                  <a:srgbClr val="3C495C"/>
                </a:solidFill>
                <a:latin typeface="Arial"/>
                <a:cs typeface="Arial"/>
              </a:rPr>
              <a:t>plot</a:t>
            </a:r>
            <a:r>
              <a:rPr dirty="0" sz="1350" spc="15">
                <a:solidFill>
                  <a:srgbClr val="3C495C"/>
                </a:solidFill>
                <a:latin typeface="Arial"/>
                <a:cs typeface="Arial"/>
              </a:rPr>
              <a:t> </a:t>
            </a:r>
            <a:r>
              <a:rPr dirty="0" sz="1350" spc="10">
                <a:solidFill>
                  <a:srgbClr val="3C495C"/>
                </a:solidFill>
                <a:latin typeface="Arial"/>
                <a:cs typeface="Arial"/>
              </a:rPr>
              <a:t>per</a:t>
            </a:r>
            <a:r>
              <a:rPr dirty="0" sz="1350" spc="80">
                <a:solidFill>
                  <a:srgbClr val="3C495C"/>
                </a:solidFill>
                <a:latin typeface="Arial"/>
                <a:cs typeface="Arial"/>
              </a:rPr>
              <a:t> </a:t>
            </a:r>
            <a:r>
              <a:rPr dirty="0" sz="1350" spc="-20">
                <a:solidFill>
                  <a:srgbClr val="3C495C"/>
                </a:solidFill>
                <a:latin typeface="Arial"/>
                <a:cs typeface="Arial"/>
              </a:rPr>
              <a:t>cell.</a:t>
            </a:r>
            <a:endParaRPr sz="1350">
              <a:latin typeface="Arial"/>
              <a:cs typeface="Arial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7087996" y="1913001"/>
            <a:ext cx="4295140" cy="3976370"/>
            <a:chOff x="7087996" y="1913001"/>
            <a:chExt cx="4295140" cy="3976370"/>
          </a:xfrm>
        </p:grpSpPr>
        <p:sp>
          <p:nvSpPr>
            <p:cNvPr id="9" name="object 9"/>
            <p:cNvSpPr/>
            <p:nvPr/>
          </p:nvSpPr>
          <p:spPr>
            <a:xfrm>
              <a:off x="7091171" y="1916176"/>
              <a:ext cx="4288790" cy="3970020"/>
            </a:xfrm>
            <a:custGeom>
              <a:avLst/>
              <a:gdLst/>
              <a:ahLst/>
              <a:cxnLst/>
              <a:rect l="l" t="t" r="r" b="b"/>
              <a:pathLst>
                <a:path w="4288790" h="3970020">
                  <a:moveTo>
                    <a:pt x="4190110" y="0"/>
                  </a:moveTo>
                  <a:lnTo>
                    <a:pt x="98425" y="0"/>
                  </a:lnTo>
                  <a:lnTo>
                    <a:pt x="60114" y="7735"/>
                  </a:lnTo>
                  <a:lnTo>
                    <a:pt x="28829" y="28829"/>
                  </a:lnTo>
                  <a:lnTo>
                    <a:pt x="7735" y="60114"/>
                  </a:lnTo>
                  <a:lnTo>
                    <a:pt x="0" y="98425"/>
                  </a:lnTo>
                  <a:lnTo>
                    <a:pt x="0" y="3870972"/>
                  </a:lnTo>
                  <a:lnTo>
                    <a:pt x="7735" y="3909309"/>
                  </a:lnTo>
                  <a:lnTo>
                    <a:pt x="28828" y="3940614"/>
                  </a:lnTo>
                  <a:lnTo>
                    <a:pt x="60114" y="3961721"/>
                  </a:lnTo>
                  <a:lnTo>
                    <a:pt x="98425" y="3969461"/>
                  </a:lnTo>
                  <a:lnTo>
                    <a:pt x="4190110" y="3969461"/>
                  </a:lnTo>
                  <a:lnTo>
                    <a:pt x="4228421" y="3961721"/>
                  </a:lnTo>
                  <a:lnTo>
                    <a:pt x="4259707" y="3940614"/>
                  </a:lnTo>
                  <a:lnTo>
                    <a:pt x="4280800" y="3909309"/>
                  </a:lnTo>
                  <a:lnTo>
                    <a:pt x="4288535" y="3870972"/>
                  </a:lnTo>
                  <a:lnTo>
                    <a:pt x="4288535" y="98425"/>
                  </a:lnTo>
                  <a:lnTo>
                    <a:pt x="4280800" y="60114"/>
                  </a:lnTo>
                  <a:lnTo>
                    <a:pt x="4259707" y="28828"/>
                  </a:lnTo>
                  <a:lnTo>
                    <a:pt x="4228421" y="7735"/>
                  </a:lnTo>
                  <a:lnTo>
                    <a:pt x="4190110" y="0"/>
                  </a:lnTo>
                  <a:close/>
                </a:path>
              </a:pathLst>
            </a:custGeom>
            <a:solidFill>
              <a:srgbClr val="FAFAF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" name="object 10"/>
            <p:cNvSpPr/>
            <p:nvPr/>
          </p:nvSpPr>
          <p:spPr>
            <a:xfrm>
              <a:off x="7091171" y="1916176"/>
              <a:ext cx="4288790" cy="3970020"/>
            </a:xfrm>
            <a:custGeom>
              <a:avLst/>
              <a:gdLst/>
              <a:ahLst/>
              <a:cxnLst/>
              <a:rect l="l" t="t" r="r" b="b"/>
              <a:pathLst>
                <a:path w="4288790" h="3970020">
                  <a:moveTo>
                    <a:pt x="0" y="98425"/>
                  </a:moveTo>
                  <a:lnTo>
                    <a:pt x="7735" y="60114"/>
                  </a:lnTo>
                  <a:lnTo>
                    <a:pt x="28829" y="28829"/>
                  </a:lnTo>
                  <a:lnTo>
                    <a:pt x="60114" y="7735"/>
                  </a:lnTo>
                  <a:lnTo>
                    <a:pt x="98425" y="0"/>
                  </a:lnTo>
                  <a:lnTo>
                    <a:pt x="4190110" y="0"/>
                  </a:lnTo>
                  <a:lnTo>
                    <a:pt x="4228421" y="7735"/>
                  </a:lnTo>
                  <a:lnTo>
                    <a:pt x="4259707" y="28828"/>
                  </a:lnTo>
                  <a:lnTo>
                    <a:pt x="4280800" y="60114"/>
                  </a:lnTo>
                  <a:lnTo>
                    <a:pt x="4288535" y="98425"/>
                  </a:lnTo>
                  <a:lnTo>
                    <a:pt x="4288535" y="3870972"/>
                  </a:lnTo>
                  <a:lnTo>
                    <a:pt x="4280800" y="3909309"/>
                  </a:lnTo>
                  <a:lnTo>
                    <a:pt x="4259707" y="3940614"/>
                  </a:lnTo>
                  <a:lnTo>
                    <a:pt x="4228421" y="3961721"/>
                  </a:lnTo>
                  <a:lnTo>
                    <a:pt x="4190110" y="3969461"/>
                  </a:lnTo>
                  <a:lnTo>
                    <a:pt x="98425" y="3969461"/>
                  </a:lnTo>
                  <a:lnTo>
                    <a:pt x="60114" y="3961721"/>
                  </a:lnTo>
                  <a:lnTo>
                    <a:pt x="28828" y="3940614"/>
                  </a:lnTo>
                  <a:lnTo>
                    <a:pt x="7735" y="3909309"/>
                  </a:lnTo>
                  <a:lnTo>
                    <a:pt x="0" y="3870972"/>
                  </a:lnTo>
                  <a:lnTo>
                    <a:pt x="0" y="98425"/>
                  </a:lnTo>
                  <a:close/>
                </a:path>
              </a:pathLst>
            </a:custGeom>
            <a:ln w="6350">
              <a:solidFill>
                <a:srgbClr val="D9DEE6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1" name="object 11"/>
          <p:cNvSpPr txBox="1"/>
          <p:nvPr/>
        </p:nvSpPr>
        <p:spPr>
          <a:xfrm>
            <a:off x="8389366" y="2169223"/>
            <a:ext cx="1696085" cy="256540"/>
          </a:xfrm>
          <a:prstGeom prst="rect">
            <a:avLst/>
          </a:prstGeom>
        </p:spPr>
        <p:txBody>
          <a:bodyPr wrap="square" lIns="0" tIns="1460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5"/>
              </a:spcBef>
            </a:pPr>
            <a:r>
              <a:rPr dirty="0" sz="1500" spc="-35" b="1">
                <a:solidFill>
                  <a:srgbClr val="13203C"/>
                </a:solidFill>
                <a:latin typeface="Arial"/>
                <a:cs typeface="Arial"/>
              </a:rPr>
              <a:t>Snapshots</a:t>
            </a:r>
            <a:r>
              <a:rPr dirty="0" sz="1500" spc="-80" b="1">
                <a:solidFill>
                  <a:srgbClr val="13203C"/>
                </a:solidFill>
                <a:latin typeface="Arial"/>
                <a:cs typeface="Arial"/>
              </a:rPr>
              <a:t> </a:t>
            </a:r>
            <a:r>
              <a:rPr dirty="0" sz="1500" spc="-10" b="1">
                <a:solidFill>
                  <a:srgbClr val="13203C"/>
                </a:solidFill>
                <a:latin typeface="Arial"/>
                <a:cs typeface="Arial"/>
              </a:rPr>
              <a:t>per</a:t>
            </a:r>
            <a:r>
              <a:rPr dirty="0" sz="1500" spc="-65" b="1">
                <a:solidFill>
                  <a:srgbClr val="13203C"/>
                </a:solidFill>
                <a:latin typeface="Arial"/>
                <a:cs typeface="Arial"/>
              </a:rPr>
              <a:t> </a:t>
            </a:r>
            <a:r>
              <a:rPr dirty="0" sz="1500" spc="-25" b="1">
                <a:solidFill>
                  <a:srgbClr val="13203C"/>
                </a:solidFill>
                <a:latin typeface="Arial"/>
                <a:cs typeface="Arial"/>
              </a:rPr>
              <a:t>app</a:t>
            </a:r>
            <a:endParaRPr sz="1500">
              <a:latin typeface="Arial"/>
              <a:cs typeface="Arial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8315579" y="2628709"/>
            <a:ext cx="340360" cy="234315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1350" spc="40" b="1">
                <a:solidFill>
                  <a:srgbClr val="13203C"/>
                </a:solidFill>
                <a:latin typeface="Arial"/>
                <a:cs typeface="Arial"/>
              </a:rPr>
              <a:t>121</a:t>
            </a:r>
            <a:endParaRPr sz="1350">
              <a:latin typeface="Arial"/>
              <a:cs typeface="Arial"/>
            </a:endParaRPr>
          </a:p>
        </p:txBody>
      </p:sp>
      <p:grpSp>
        <p:nvGrpSpPr>
          <p:cNvPr id="13" name="object 13"/>
          <p:cNvGrpSpPr/>
          <p:nvPr/>
        </p:nvGrpSpPr>
        <p:grpSpPr>
          <a:xfrm>
            <a:off x="7347204" y="2917698"/>
            <a:ext cx="3776979" cy="2407285"/>
            <a:chOff x="7347204" y="2917698"/>
            <a:chExt cx="3776979" cy="2407285"/>
          </a:xfrm>
        </p:grpSpPr>
        <p:sp>
          <p:nvSpPr>
            <p:cNvPr id="14" name="object 14"/>
            <p:cNvSpPr/>
            <p:nvPr/>
          </p:nvSpPr>
          <p:spPr>
            <a:xfrm>
              <a:off x="8037576" y="2917697"/>
              <a:ext cx="2386965" cy="2286635"/>
            </a:xfrm>
            <a:custGeom>
              <a:avLst/>
              <a:gdLst/>
              <a:ahLst/>
              <a:cxnLst/>
              <a:rect l="l" t="t" r="r" b="b"/>
              <a:pathLst>
                <a:path w="2386965" h="2286635">
                  <a:moveTo>
                    <a:pt x="886968" y="38100"/>
                  </a:moveTo>
                  <a:lnTo>
                    <a:pt x="883970" y="23253"/>
                  </a:lnTo>
                  <a:lnTo>
                    <a:pt x="875830" y="11150"/>
                  </a:lnTo>
                  <a:lnTo>
                    <a:pt x="863765" y="2997"/>
                  </a:lnTo>
                  <a:lnTo>
                    <a:pt x="848995" y="0"/>
                  </a:lnTo>
                  <a:lnTo>
                    <a:pt x="37973" y="0"/>
                  </a:lnTo>
                  <a:lnTo>
                    <a:pt x="23190" y="2997"/>
                  </a:lnTo>
                  <a:lnTo>
                    <a:pt x="11125" y="11150"/>
                  </a:lnTo>
                  <a:lnTo>
                    <a:pt x="2984" y="23253"/>
                  </a:lnTo>
                  <a:lnTo>
                    <a:pt x="0" y="38100"/>
                  </a:lnTo>
                  <a:lnTo>
                    <a:pt x="0" y="2286508"/>
                  </a:lnTo>
                  <a:lnTo>
                    <a:pt x="886968" y="2286508"/>
                  </a:lnTo>
                  <a:lnTo>
                    <a:pt x="886968" y="38100"/>
                  </a:lnTo>
                  <a:close/>
                </a:path>
                <a:path w="2386965" h="2286635">
                  <a:moveTo>
                    <a:pt x="2386584" y="833755"/>
                  </a:moveTo>
                  <a:lnTo>
                    <a:pt x="2383586" y="818908"/>
                  </a:lnTo>
                  <a:lnTo>
                    <a:pt x="2375446" y="806805"/>
                  </a:lnTo>
                  <a:lnTo>
                    <a:pt x="2363381" y="798652"/>
                  </a:lnTo>
                  <a:lnTo>
                    <a:pt x="2348611" y="795655"/>
                  </a:lnTo>
                  <a:lnTo>
                    <a:pt x="1537589" y="795655"/>
                  </a:lnTo>
                  <a:lnTo>
                    <a:pt x="1522806" y="798652"/>
                  </a:lnTo>
                  <a:lnTo>
                    <a:pt x="1510741" y="806805"/>
                  </a:lnTo>
                  <a:lnTo>
                    <a:pt x="1502600" y="818908"/>
                  </a:lnTo>
                  <a:lnTo>
                    <a:pt x="1499616" y="833755"/>
                  </a:lnTo>
                  <a:lnTo>
                    <a:pt x="1499616" y="2286508"/>
                  </a:lnTo>
                  <a:lnTo>
                    <a:pt x="2386584" y="2286508"/>
                  </a:lnTo>
                  <a:lnTo>
                    <a:pt x="2386584" y="833755"/>
                  </a:lnTo>
                  <a:close/>
                </a:path>
              </a:pathLst>
            </a:custGeom>
            <a:solidFill>
              <a:srgbClr val="1F77B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5" name="object 15"/>
            <p:cNvSpPr/>
            <p:nvPr/>
          </p:nvSpPr>
          <p:spPr>
            <a:xfrm>
              <a:off x="7347204" y="5318505"/>
              <a:ext cx="3776979" cy="0"/>
            </a:xfrm>
            <a:custGeom>
              <a:avLst/>
              <a:gdLst/>
              <a:ahLst/>
              <a:cxnLst/>
              <a:rect l="l" t="t" r="r" b="b"/>
              <a:pathLst>
                <a:path w="3776979" h="0">
                  <a:moveTo>
                    <a:pt x="0" y="0"/>
                  </a:moveTo>
                  <a:lnTo>
                    <a:pt x="3776472" y="0"/>
                  </a:lnTo>
                </a:path>
              </a:pathLst>
            </a:custGeom>
            <a:ln w="12700">
              <a:solidFill>
                <a:srgbClr val="9AA4B4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6" name="object 16"/>
          <p:cNvSpPr txBox="1"/>
          <p:nvPr/>
        </p:nvSpPr>
        <p:spPr>
          <a:xfrm>
            <a:off x="9868154" y="3423602"/>
            <a:ext cx="245110" cy="234315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1350" spc="80" b="1">
                <a:solidFill>
                  <a:srgbClr val="13203C"/>
                </a:solidFill>
                <a:latin typeface="Arial"/>
                <a:cs typeface="Arial"/>
              </a:rPr>
              <a:t>79</a:t>
            </a:r>
            <a:endParaRPr sz="1350">
              <a:latin typeface="Arial"/>
              <a:cs typeface="Arial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8114792" y="5397690"/>
            <a:ext cx="742950" cy="2235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300" spc="-10">
                <a:solidFill>
                  <a:srgbClr val="3C495C"/>
                </a:solidFill>
                <a:latin typeface="Arial"/>
                <a:cs typeface="Arial"/>
              </a:rPr>
              <a:t>Facebook</a:t>
            </a:r>
            <a:endParaRPr sz="1300">
              <a:latin typeface="Arial"/>
              <a:cs typeface="Arial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9591040" y="5397690"/>
            <a:ext cx="788035" cy="2235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300" spc="-10">
                <a:solidFill>
                  <a:srgbClr val="3C495C"/>
                </a:solidFill>
                <a:latin typeface="Arial"/>
                <a:cs typeface="Arial"/>
              </a:rPr>
              <a:t>WhatsApp</a:t>
            </a:r>
            <a:endParaRPr sz="13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800480" y="819721"/>
            <a:ext cx="3837940" cy="234315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1350" spc="-25" b="1">
                <a:solidFill>
                  <a:srgbClr val="B45209"/>
                </a:solidFill>
                <a:latin typeface="Arial"/>
                <a:cs typeface="Arial"/>
              </a:rPr>
              <a:t>Y</a:t>
            </a:r>
            <a:r>
              <a:rPr dirty="0" sz="1350" spc="-180" b="1">
                <a:solidFill>
                  <a:srgbClr val="B45209"/>
                </a:solidFill>
                <a:latin typeface="Arial"/>
                <a:cs typeface="Arial"/>
              </a:rPr>
              <a:t> </a:t>
            </a:r>
            <a:r>
              <a:rPr dirty="0" sz="1350" spc="-80" b="1">
                <a:solidFill>
                  <a:srgbClr val="B45209"/>
                </a:solidFill>
                <a:latin typeface="Arial"/>
                <a:cs typeface="Arial"/>
              </a:rPr>
              <a:t>O</a:t>
            </a:r>
            <a:r>
              <a:rPr dirty="0" sz="1350" spc="-195" b="1">
                <a:solidFill>
                  <a:srgbClr val="B45209"/>
                </a:solidFill>
                <a:latin typeface="Arial"/>
                <a:cs typeface="Arial"/>
              </a:rPr>
              <a:t> </a:t>
            </a:r>
            <a:r>
              <a:rPr dirty="0" sz="1350" b="1">
                <a:solidFill>
                  <a:srgbClr val="B45209"/>
                </a:solidFill>
                <a:latin typeface="Arial"/>
                <a:cs typeface="Arial"/>
              </a:rPr>
              <a:t>UR</a:t>
            </a:r>
            <a:r>
              <a:rPr dirty="0" sz="1350" spc="315" b="1">
                <a:solidFill>
                  <a:srgbClr val="B45209"/>
                </a:solidFill>
                <a:latin typeface="Arial"/>
                <a:cs typeface="Arial"/>
              </a:rPr>
              <a:t> </a:t>
            </a:r>
            <a:r>
              <a:rPr dirty="0" sz="1350" b="1">
                <a:solidFill>
                  <a:srgbClr val="B45209"/>
                </a:solidFill>
                <a:latin typeface="Arial"/>
                <a:cs typeface="Arial"/>
              </a:rPr>
              <a:t>TU</a:t>
            </a:r>
            <a:r>
              <a:rPr dirty="0" sz="1350" spc="-160" b="1">
                <a:solidFill>
                  <a:srgbClr val="B45209"/>
                </a:solidFill>
                <a:latin typeface="Arial"/>
                <a:cs typeface="Arial"/>
              </a:rPr>
              <a:t> </a:t>
            </a:r>
            <a:r>
              <a:rPr dirty="0" sz="1350" spc="50" b="1">
                <a:solidFill>
                  <a:srgbClr val="B45209"/>
                </a:solidFill>
                <a:latin typeface="Arial"/>
                <a:cs typeface="Arial"/>
              </a:rPr>
              <a:t>RN</a:t>
            </a:r>
            <a:r>
              <a:rPr dirty="0" sz="1350" spc="325" b="1">
                <a:solidFill>
                  <a:srgbClr val="B45209"/>
                </a:solidFill>
                <a:latin typeface="Arial"/>
                <a:cs typeface="Arial"/>
              </a:rPr>
              <a:t> </a:t>
            </a:r>
            <a:r>
              <a:rPr dirty="0" sz="1350" b="1">
                <a:solidFill>
                  <a:srgbClr val="B45209"/>
                </a:solidFill>
                <a:latin typeface="Arial"/>
                <a:cs typeface="Arial"/>
              </a:rPr>
              <a:t>·</a:t>
            </a:r>
            <a:r>
              <a:rPr dirty="0" sz="1350" spc="240" b="1">
                <a:solidFill>
                  <a:srgbClr val="B45209"/>
                </a:solidFill>
                <a:latin typeface="Arial"/>
                <a:cs typeface="Arial"/>
              </a:rPr>
              <a:t> </a:t>
            </a:r>
            <a:r>
              <a:rPr dirty="0" sz="1350" b="1">
                <a:solidFill>
                  <a:srgbClr val="B45209"/>
                </a:solidFill>
                <a:latin typeface="Arial"/>
                <a:cs typeface="Arial"/>
              </a:rPr>
              <a:t>N</a:t>
            </a:r>
            <a:r>
              <a:rPr dirty="0" sz="1350" spc="-130" b="1">
                <a:solidFill>
                  <a:srgbClr val="B45209"/>
                </a:solidFill>
                <a:latin typeface="Arial"/>
                <a:cs typeface="Arial"/>
              </a:rPr>
              <a:t> </a:t>
            </a:r>
            <a:r>
              <a:rPr dirty="0" sz="1350" spc="-80" b="1">
                <a:solidFill>
                  <a:srgbClr val="B45209"/>
                </a:solidFill>
                <a:latin typeface="Arial"/>
                <a:cs typeface="Arial"/>
              </a:rPr>
              <a:t>O</a:t>
            </a:r>
            <a:r>
              <a:rPr dirty="0" sz="1350" spc="-195" b="1">
                <a:solidFill>
                  <a:srgbClr val="B45209"/>
                </a:solidFill>
                <a:latin typeface="Arial"/>
                <a:cs typeface="Arial"/>
              </a:rPr>
              <a:t> </a:t>
            </a:r>
            <a:r>
              <a:rPr dirty="0" sz="1350" b="1">
                <a:solidFill>
                  <a:srgbClr val="B45209"/>
                </a:solidFill>
                <a:latin typeface="Arial"/>
                <a:cs typeface="Arial"/>
              </a:rPr>
              <a:t>TE</a:t>
            </a:r>
            <a:r>
              <a:rPr dirty="0" sz="1350" spc="-190" b="1">
                <a:solidFill>
                  <a:srgbClr val="B45209"/>
                </a:solidFill>
                <a:latin typeface="Arial"/>
                <a:cs typeface="Arial"/>
              </a:rPr>
              <a:t> </a:t>
            </a:r>
            <a:r>
              <a:rPr dirty="0" sz="1350" b="1">
                <a:solidFill>
                  <a:srgbClr val="B45209"/>
                </a:solidFill>
                <a:latin typeface="Arial"/>
                <a:cs typeface="Arial"/>
              </a:rPr>
              <a:t>BO</a:t>
            </a:r>
            <a:r>
              <a:rPr dirty="0" sz="1350" spc="-195" b="1">
                <a:solidFill>
                  <a:srgbClr val="B45209"/>
                </a:solidFill>
                <a:latin typeface="Arial"/>
                <a:cs typeface="Arial"/>
              </a:rPr>
              <a:t> </a:t>
            </a:r>
            <a:r>
              <a:rPr dirty="0" sz="1350" spc="-80" b="1">
                <a:solidFill>
                  <a:srgbClr val="B45209"/>
                </a:solidFill>
                <a:latin typeface="Arial"/>
                <a:cs typeface="Arial"/>
              </a:rPr>
              <a:t>O</a:t>
            </a:r>
            <a:r>
              <a:rPr dirty="0" sz="1350" spc="-195" b="1">
                <a:solidFill>
                  <a:srgbClr val="B45209"/>
                </a:solidFill>
                <a:latin typeface="Arial"/>
                <a:cs typeface="Arial"/>
              </a:rPr>
              <a:t> </a:t>
            </a:r>
            <a:r>
              <a:rPr dirty="0" sz="1350" b="1">
                <a:solidFill>
                  <a:srgbClr val="B45209"/>
                </a:solidFill>
                <a:latin typeface="Arial"/>
                <a:cs typeface="Arial"/>
              </a:rPr>
              <a:t>K</a:t>
            </a:r>
            <a:r>
              <a:rPr dirty="0" sz="1350" spc="290" b="1">
                <a:solidFill>
                  <a:srgbClr val="B45209"/>
                </a:solidFill>
                <a:latin typeface="Arial"/>
                <a:cs typeface="Arial"/>
              </a:rPr>
              <a:t> </a:t>
            </a:r>
            <a:r>
              <a:rPr dirty="0" sz="1350" b="1">
                <a:solidFill>
                  <a:srgbClr val="B45209"/>
                </a:solidFill>
                <a:latin typeface="Arial"/>
                <a:cs typeface="Arial"/>
              </a:rPr>
              <a:t>SE</a:t>
            </a:r>
            <a:r>
              <a:rPr dirty="0" sz="1350" spc="-190" b="1">
                <a:solidFill>
                  <a:srgbClr val="B45209"/>
                </a:solidFill>
                <a:latin typeface="Arial"/>
                <a:cs typeface="Arial"/>
              </a:rPr>
              <a:t> </a:t>
            </a:r>
            <a:r>
              <a:rPr dirty="0" sz="1350" spc="-95" b="1">
                <a:solidFill>
                  <a:srgbClr val="B45209"/>
                </a:solidFill>
                <a:latin typeface="Arial"/>
                <a:cs typeface="Arial"/>
              </a:rPr>
              <a:t>C</a:t>
            </a:r>
            <a:r>
              <a:rPr dirty="0" sz="1350" spc="-180" b="1">
                <a:solidFill>
                  <a:srgbClr val="B45209"/>
                </a:solidFill>
                <a:latin typeface="Arial"/>
                <a:cs typeface="Arial"/>
              </a:rPr>
              <a:t> </a:t>
            </a:r>
            <a:r>
              <a:rPr dirty="0" sz="1350" spc="145" b="1">
                <a:solidFill>
                  <a:srgbClr val="B45209"/>
                </a:solidFill>
                <a:latin typeface="Arial"/>
                <a:cs typeface="Arial"/>
              </a:rPr>
              <a:t>TIO</a:t>
            </a:r>
            <a:r>
              <a:rPr dirty="0" sz="1350" spc="-195" b="1">
                <a:solidFill>
                  <a:srgbClr val="B45209"/>
                </a:solidFill>
                <a:latin typeface="Arial"/>
                <a:cs typeface="Arial"/>
              </a:rPr>
              <a:t> </a:t>
            </a:r>
            <a:r>
              <a:rPr dirty="0" sz="1350" b="1">
                <a:solidFill>
                  <a:srgbClr val="B45209"/>
                </a:solidFill>
                <a:latin typeface="Arial"/>
                <a:cs typeface="Arial"/>
              </a:rPr>
              <a:t>N</a:t>
            </a:r>
            <a:r>
              <a:rPr dirty="0" sz="1350" spc="245" b="1">
                <a:solidFill>
                  <a:srgbClr val="B45209"/>
                </a:solidFill>
                <a:latin typeface="Arial"/>
                <a:cs typeface="Arial"/>
              </a:rPr>
              <a:t> </a:t>
            </a:r>
            <a:r>
              <a:rPr dirty="0" sz="1350" spc="65" b="1">
                <a:solidFill>
                  <a:srgbClr val="B45209"/>
                </a:solidFill>
                <a:latin typeface="Arial"/>
                <a:cs typeface="Arial"/>
              </a:rPr>
              <a:t>3</a:t>
            </a:r>
            <a:r>
              <a:rPr dirty="0" sz="1350" spc="-185" b="1">
                <a:solidFill>
                  <a:srgbClr val="B45209"/>
                </a:solidFill>
                <a:latin typeface="Arial"/>
                <a:cs typeface="Arial"/>
              </a:rPr>
              <a:t> </a:t>
            </a:r>
            <a:r>
              <a:rPr dirty="0" sz="1350" b="1">
                <a:solidFill>
                  <a:srgbClr val="B45209"/>
                </a:solidFill>
                <a:latin typeface="Arial"/>
                <a:cs typeface="Arial"/>
              </a:rPr>
              <a:t>.</a:t>
            </a:r>
            <a:r>
              <a:rPr dirty="0" sz="1350" spc="-220" b="1">
                <a:solidFill>
                  <a:srgbClr val="B45209"/>
                </a:solidFill>
                <a:latin typeface="Arial"/>
                <a:cs typeface="Arial"/>
              </a:rPr>
              <a:t> </a:t>
            </a:r>
            <a:r>
              <a:rPr dirty="0" sz="1350" spc="15" b="1">
                <a:solidFill>
                  <a:srgbClr val="B45209"/>
                </a:solidFill>
                <a:latin typeface="Arial"/>
                <a:cs typeface="Arial"/>
              </a:rPr>
              <a:t>4</a:t>
            </a:r>
            <a:endParaRPr sz="1350">
              <a:latin typeface="Arial"/>
              <a:cs typeface="Arial"/>
            </a:endParaRPr>
          </a:p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pc="-35"/>
              <a:t>Four</a:t>
            </a:r>
            <a:r>
              <a:rPr dirty="0" spc="-150"/>
              <a:t> </a:t>
            </a:r>
            <a:r>
              <a:rPr dirty="0" spc="-25"/>
              <a:t>exercises</a:t>
            </a:r>
            <a:r>
              <a:rPr dirty="0" spc="-175"/>
              <a:t> </a:t>
            </a:r>
            <a:r>
              <a:rPr dirty="0" spc="-80"/>
              <a:t>on</a:t>
            </a:r>
            <a:r>
              <a:rPr dirty="0" spc="-110"/>
              <a:t> </a:t>
            </a:r>
            <a:r>
              <a:rPr dirty="0" spc="-10"/>
              <a:t>df_mystery</a:t>
            </a:r>
          </a:p>
        </p:txBody>
      </p:sp>
      <p:grpSp>
        <p:nvGrpSpPr>
          <p:cNvPr id="4" name="object 4"/>
          <p:cNvGrpSpPr/>
          <p:nvPr/>
        </p:nvGrpSpPr>
        <p:grpSpPr>
          <a:xfrm>
            <a:off x="815213" y="1867280"/>
            <a:ext cx="5191125" cy="1725930"/>
            <a:chOff x="815213" y="1867280"/>
            <a:chExt cx="5191125" cy="1725930"/>
          </a:xfrm>
        </p:grpSpPr>
        <p:sp>
          <p:nvSpPr>
            <p:cNvPr id="5" name="object 5"/>
            <p:cNvSpPr/>
            <p:nvPr/>
          </p:nvSpPr>
          <p:spPr>
            <a:xfrm>
              <a:off x="818388" y="1870455"/>
              <a:ext cx="5184775" cy="1719580"/>
            </a:xfrm>
            <a:custGeom>
              <a:avLst/>
              <a:gdLst/>
              <a:ahLst/>
              <a:cxnLst/>
              <a:rect l="l" t="t" r="r" b="b"/>
              <a:pathLst>
                <a:path w="5184775" h="1719579">
                  <a:moveTo>
                    <a:pt x="5086477" y="0"/>
                  </a:moveTo>
                  <a:lnTo>
                    <a:pt x="98158" y="0"/>
                  </a:lnTo>
                  <a:lnTo>
                    <a:pt x="59948" y="7713"/>
                  </a:lnTo>
                  <a:lnTo>
                    <a:pt x="28748" y="28749"/>
                  </a:lnTo>
                  <a:lnTo>
                    <a:pt x="7713" y="59953"/>
                  </a:lnTo>
                  <a:lnTo>
                    <a:pt x="0" y="98171"/>
                  </a:lnTo>
                  <a:lnTo>
                    <a:pt x="0" y="1621282"/>
                  </a:lnTo>
                  <a:lnTo>
                    <a:pt x="7713" y="1659499"/>
                  </a:lnTo>
                  <a:lnTo>
                    <a:pt x="28748" y="1690703"/>
                  </a:lnTo>
                  <a:lnTo>
                    <a:pt x="59948" y="1711739"/>
                  </a:lnTo>
                  <a:lnTo>
                    <a:pt x="98158" y="1719453"/>
                  </a:lnTo>
                  <a:lnTo>
                    <a:pt x="5086477" y="1719453"/>
                  </a:lnTo>
                  <a:lnTo>
                    <a:pt x="5124694" y="1711739"/>
                  </a:lnTo>
                  <a:lnTo>
                    <a:pt x="5155898" y="1690703"/>
                  </a:lnTo>
                  <a:lnTo>
                    <a:pt x="5176934" y="1659499"/>
                  </a:lnTo>
                  <a:lnTo>
                    <a:pt x="5184648" y="1621282"/>
                  </a:lnTo>
                  <a:lnTo>
                    <a:pt x="5184648" y="98171"/>
                  </a:lnTo>
                  <a:lnTo>
                    <a:pt x="5176934" y="59953"/>
                  </a:lnTo>
                  <a:lnTo>
                    <a:pt x="5155898" y="28749"/>
                  </a:lnTo>
                  <a:lnTo>
                    <a:pt x="5124694" y="7713"/>
                  </a:lnTo>
                  <a:lnTo>
                    <a:pt x="5086477" y="0"/>
                  </a:lnTo>
                  <a:close/>
                </a:path>
              </a:pathLst>
            </a:custGeom>
            <a:solidFill>
              <a:srgbClr val="FAFAF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/>
            <p:cNvSpPr/>
            <p:nvPr/>
          </p:nvSpPr>
          <p:spPr>
            <a:xfrm>
              <a:off x="818388" y="1870455"/>
              <a:ext cx="5184775" cy="1719580"/>
            </a:xfrm>
            <a:custGeom>
              <a:avLst/>
              <a:gdLst/>
              <a:ahLst/>
              <a:cxnLst/>
              <a:rect l="l" t="t" r="r" b="b"/>
              <a:pathLst>
                <a:path w="5184775" h="1719579">
                  <a:moveTo>
                    <a:pt x="0" y="98171"/>
                  </a:moveTo>
                  <a:lnTo>
                    <a:pt x="7713" y="59953"/>
                  </a:lnTo>
                  <a:lnTo>
                    <a:pt x="28748" y="28749"/>
                  </a:lnTo>
                  <a:lnTo>
                    <a:pt x="59948" y="7713"/>
                  </a:lnTo>
                  <a:lnTo>
                    <a:pt x="98158" y="0"/>
                  </a:lnTo>
                  <a:lnTo>
                    <a:pt x="5086477" y="0"/>
                  </a:lnTo>
                  <a:lnTo>
                    <a:pt x="5124694" y="7713"/>
                  </a:lnTo>
                  <a:lnTo>
                    <a:pt x="5155898" y="28749"/>
                  </a:lnTo>
                  <a:lnTo>
                    <a:pt x="5176934" y="59953"/>
                  </a:lnTo>
                  <a:lnTo>
                    <a:pt x="5184648" y="98171"/>
                  </a:lnTo>
                  <a:lnTo>
                    <a:pt x="5184648" y="1621282"/>
                  </a:lnTo>
                  <a:lnTo>
                    <a:pt x="5176934" y="1659499"/>
                  </a:lnTo>
                  <a:lnTo>
                    <a:pt x="5155898" y="1690703"/>
                  </a:lnTo>
                  <a:lnTo>
                    <a:pt x="5124694" y="1711739"/>
                  </a:lnTo>
                  <a:lnTo>
                    <a:pt x="5086477" y="1719453"/>
                  </a:lnTo>
                  <a:lnTo>
                    <a:pt x="98158" y="1719453"/>
                  </a:lnTo>
                  <a:lnTo>
                    <a:pt x="59948" y="1711739"/>
                  </a:lnTo>
                  <a:lnTo>
                    <a:pt x="28748" y="1690703"/>
                  </a:lnTo>
                  <a:lnTo>
                    <a:pt x="7713" y="1659499"/>
                  </a:lnTo>
                  <a:lnTo>
                    <a:pt x="0" y="1621282"/>
                  </a:lnTo>
                  <a:lnTo>
                    <a:pt x="0" y="98171"/>
                  </a:lnTo>
                  <a:close/>
                </a:path>
              </a:pathLst>
            </a:custGeom>
            <a:ln w="6350">
              <a:solidFill>
                <a:srgbClr val="D9DEE6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7" name="object 7"/>
          <p:cNvSpPr txBox="1"/>
          <p:nvPr/>
        </p:nvSpPr>
        <p:spPr>
          <a:xfrm>
            <a:off x="1034440" y="1930657"/>
            <a:ext cx="3535045" cy="1216025"/>
          </a:xfrm>
          <a:prstGeom prst="rect">
            <a:avLst/>
          </a:prstGeom>
        </p:spPr>
        <p:txBody>
          <a:bodyPr wrap="square" lIns="0" tIns="13525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65"/>
              </a:spcBef>
            </a:pPr>
            <a:r>
              <a:rPr dirty="0" sz="1550" spc="85" b="1">
                <a:solidFill>
                  <a:srgbClr val="B45209"/>
                </a:solidFill>
                <a:latin typeface="Arial"/>
                <a:cs typeface="Arial"/>
              </a:rPr>
              <a:t>1</a:t>
            </a:r>
            <a:r>
              <a:rPr dirty="0" sz="1550" spc="-20" b="1">
                <a:solidFill>
                  <a:srgbClr val="B45209"/>
                </a:solidFill>
                <a:latin typeface="Arial"/>
                <a:cs typeface="Arial"/>
              </a:rPr>
              <a:t> </a:t>
            </a:r>
            <a:r>
              <a:rPr dirty="0" sz="1550" b="1">
                <a:solidFill>
                  <a:srgbClr val="13203C"/>
                </a:solidFill>
                <a:latin typeface="Arial"/>
                <a:cs typeface="Arial"/>
              </a:rPr>
              <a:t>Spot</a:t>
            </a:r>
            <a:r>
              <a:rPr dirty="0" sz="1550" spc="-10" b="1">
                <a:solidFill>
                  <a:srgbClr val="13203C"/>
                </a:solidFill>
                <a:latin typeface="Arial"/>
                <a:cs typeface="Arial"/>
              </a:rPr>
              <a:t> </a:t>
            </a:r>
            <a:r>
              <a:rPr dirty="0" sz="1550" b="1">
                <a:solidFill>
                  <a:srgbClr val="13203C"/>
                </a:solidFill>
                <a:latin typeface="Arial"/>
                <a:cs typeface="Arial"/>
              </a:rPr>
              <a:t>the</a:t>
            </a:r>
            <a:r>
              <a:rPr dirty="0" sz="1550" spc="-5" b="1">
                <a:solidFill>
                  <a:srgbClr val="13203C"/>
                </a:solidFill>
                <a:latin typeface="Arial"/>
                <a:cs typeface="Arial"/>
              </a:rPr>
              <a:t> </a:t>
            </a:r>
            <a:r>
              <a:rPr dirty="0" sz="1550" spc="-10" b="1">
                <a:solidFill>
                  <a:srgbClr val="13203C"/>
                </a:solidFill>
                <a:latin typeface="Arial"/>
                <a:cs typeface="Arial"/>
              </a:rPr>
              <a:t>difference</a:t>
            </a:r>
            <a:endParaRPr sz="15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770"/>
              </a:spcBef>
            </a:pPr>
            <a:r>
              <a:rPr dirty="0" sz="1300">
                <a:solidFill>
                  <a:srgbClr val="3C495C"/>
                </a:solidFill>
                <a:latin typeface="Arial"/>
                <a:cs typeface="Arial"/>
              </a:rPr>
              <a:t>What</a:t>
            </a:r>
            <a:r>
              <a:rPr dirty="0" sz="1300" spc="-20">
                <a:solidFill>
                  <a:srgbClr val="3C495C"/>
                </a:solidFill>
                <a:latin typeface="Arial"/>
                <a:cs typeface="Arial"/>
              </a:rPr>
              <a:t> changes</a:t>
            </a:r>
            <a:r>
              <a:rPr dirty="0" sz="1300" spc="-45">
                <a:solidFill>
                  <a:srgbClr val="3C495C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3C495C"/>
                </a:solidFill>
                <a:latin typeface="Arial"/>
                <a:cs typeface="Arial"/>
              </a:rPr>
              <a:t>between</a:t>
            </a:r>
            <a:r>
              <a:rPr dirty="0" sz="1300" spc="-10">
                <a:solidFill>
                  <a:srgbClr val="3C495C"/>
                </a:solidFill>
                <a:latin typeface="Arial"/>
                <a:cs typeface="Arial"/>
              </a:rPr>
              <a:t> each</a:t>
            </a:r>
            <a:r>
              <a:rPr dirty="0" sz="1300" spc="-5">
                <a:solidFill>
                  <a:srgbClr val="3C495C"/>
                </a:solidFill>
                <a:latin typeface="Arial"/>
                <a:cs typeface="Arial"/>
              </a:rPr>
              <a:t> </a:t>
            </a:r>
            <a:r>
              <a:rPr dirty="0" sz="1300" spc="-20">
                <a:solidFill>
                  <a:srgbClr val="3C495C"/>
                </a:solidFill>
                <a:latin typeface="Arial"/>
                <a:cs typeface="Arial"/>
              </a:rPr>
              <a:t>pair?</a:t>
            </a:r>
            <a:endParaRPr sz="1300">
              <a:latin typeface="Arial"/>
              <a:cs typeface="Arial"/>
            </a:endParaRPr>
          </a:p>
          <a:p>
            <a:pPr marL="12700" marR="5080">
              <a:lnSpc>
                <a:spcPct val="125200"/>
              </a:lnSpc>
              <a:spcBef>
                <a:spcPts val="605"/>
              </a:spcBef>
            </a:pPr>
            <a:r>
              <a:rPr dirty="0" sz="1200" spc="-85">
                <a:solidFill>
                  <a:srgbClr val="13203C"/>
                </a:solidFill>
                <a:latin typeface="Arial"/>
                <a:cs typeface="Arial"/>
              </a:rPr>
              <a:t>df_mystery['CPU_USAGE']</a:t>
            </a:r>
            <a:r>
              <a:rPr dirty="0" sz="1200" spc="20">
                <a:solidFill>
                  <a:srgbClr val="13203C"/>
                </a:solidFill>
                <a:latin typeface="Arial"/>
                <a:cs typeface="Arial"/>
              </a:rPr>
              <a:t> </a:t>
            </a:r>
            <a:r>
              <a:rPr dirty="0" sz="1200" spc="-85">
                <a:solidFill>
                  <a:srgbClr val="13203C"/>
                </a:solidFill>
                <a:latin typeface="Arial"/>
                <a:cs typeface="Arial"/>
              </a:rPr>
              <a:t>vs</a:t>
            </a:r>
            <a:r>
              <a:rPr dirty="0" sz="1200" spc="-20">
                <a:solidFill>
                  <a:srgbClr val="13203C"/>
                </a:solidFill>
                <a:latin typeface="Arial"/>
                <a:cs typeface="Arial"/>
              </a:rPr>
              <a:t> </a:t>
            </a:r>
            <a:r>
              <a:rPr dirty="0" sz="1200" spc="-70">
                <a:solidFill>
                  <a:srgbClr val="13203C"/>
                </a:solidFill>
                <a:latin typeface="Arial"/>
                <a:cs typeface="Arial"/>
              </a:rPr>
              <a:t>df_mystery[['CPU_USAGE']] </a:t>
            </a:r>
            <a:r>
              <a:rPr dirty="0" sz="1200" spc="-50">
                <a:solidFill>
                  <a:srgbClr val="13203C"/>
                </a:solidFill>
                <a:latin typeface="Arial"/>
                <a:cs typeface="Arial"/>
              </a:rPr>
              <a:t>df_mystery.loc[1]</a:t>
            </a:r>
            <a:r>
              <a:rPr dirty="0" sz="1200" spc="5">
                <a:solidFill>
                  <a:srgbClr val="13203C"/>
                </a:solidFill>
                <a:latin typeface="Arial"/>
                <a:cs typeface="Arial"/>
              </a:rPr>
              <a:t> </a:t>
            </a:r>
            <a:r>
              <a:rPr dirty="0" sz="1200" spc="-120">
                <a:solidFill>
                  <a:srgbClr val="13203C"/>
                </a:solidFill>
                <a:latin typeface="Arial"/>
                <a:cs typeface="Arial"/>
              </a:rPr>
              <a:t>vs</a:t>
            </a:r>
            <a:r>
              <a:rPr dirty="0" sz="1200" spc="65">
                <a:solidFill>
                  <a:srgbClr val="13203C"/>
                </a:solidFill>
                <a:latin typeface="Arial"/>
                <a:cs typeface="Arial"/>
              </a:rPr>
              <a:t> </a:t>
            </a:r>
            <a:r>
              <a:rPr dirty="0" sz="1200" spc="-10">
                <a:solidFill>
                  <a:srgbClr val="13203C"/>
                </a:solidFill>
                <a:latin typeface="Arial"/>
                <a:cs typeface="Arial"/>
              </a:rPr>
              <a:t>df_mystery.loc[[1]]</a:t>
            </a:r>
            <a:endParaRPr sz="1200">
              <a:latin typeface="Arial"/>
              <a:cs typeface="Arial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6191884" y="1867280"/>
            <a:ext cx="5191125" cy="1725930"/>
            <a:chOff x="6191884" y="1867280"/>
            <a:chExt cx="5191125" cy="1725930"/>
          </a:xfrm>
        </p:grpSpPr>
        <p:sp>
          <p:nvSpPr>
            <p:cNvPr id="9" name="object 9"/>
            <p:cNvSpPr/>
            <p:nvPr/>
          </p:nvSpPr>
          <p:spPr>
            <a:xfrm>
              <a:off x="6195059" y="1870455"/>
              <a:ext cx="5184775" cy="1719580"/>
            </a:xfrm>
            <a:custGeom>
              <a:avLst/>
              <a:gdLst/>
              <a:ahLst/>
              <a:cxnLst/>
              <a:rect l="l" t="t" r="r" b="b"/>
              <a:pathLst>
                <a:path w="5184775" h="1719579">
                  <a:moveTo>
                    <a:pt x="5086476" y="0"/>
                  </a:moveTo>
                  <a:lnTo>
                    <a:pt x="98170" y="0"/>
                  </a:lnTo>
                  <a:lnTo>
                    <a:pt x="59953" y="7713"/>
                  </a:lnTo>
                  <a:lnTo>
                    <a:pt x="28749" y="28749"/>
                  </a:lnTo>
                  <a:lnTo>
                    <a:pt x="7713" y="59953"/>
                  </a:lnTo>
                  <a:lnTo>
                    <a:pt x="0" y="98171"/>
                  </a:lnTo>
                  <a:lnTo>
                    <a:pt x="0" y="1621282"/>
                  </a:lnTo>
                  <a:lnTo>
                    <a:pt x="7713" y="1659499"/>
                  </a:lnTo>
                  <a:lnTo>
                    <a:pt x="28749" y="1690703"/>
                  </a:lnTo>
                  <a:lnTo>
                    <a:pt x="59953" y="1711739"/>
                  </a:lnTo>
                  <a:lnTo>
                    <a:pt x="98170" y="1719453"/>
                  </a:lnTo>
                  <a:lnTo>
                    <a:pt x="5086476" y="1719453"/>
                  </a:lnTo>
                  <a:lnTo>
                    <a:pt x="5124694" y="1711739"/>
                  </a:lnTo>
                  <a:lnTo>
                    <a:pt x="5155898" y="1690703"/>
                  </a:lnTo>
                  <a:lnTo>
                    <a:pt x="5176934" y="1659499"/>
                  </a:lnTo>
                  <a:lnTo>
                    <a:pt x="5184647" y="1621282"/>
                  </a:lnTo>
                  <a:lnTo>
                    <a:pt x="5184647" y="98171"/>
                  </a:lnTo>
                  <a:lnTo>
                    <a:pt x="5176934" y="59953"/>
                  </a:lnTo>
                  <a:lnTo>
                    <a:pt x="5155898" y="28749"/>
                  </a:lnTo>
                  <a:lnTo>
                    <a:pt x="5124694" y="7713"/>
                  </a:lnTo>
                  <a:lnTo>
                    <a:pt x="5086476" y="0"/>
                  </a:lnTo>
                  <a:close/>
                </a:path>
              </a:pathLst>
            </a:custGeom>
            <a:solidFill>
              <a:srgbClr val="FAFAF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" name="object 10"/>
            <p:cNvSpPr/>
            <p:nvPr/>
          </p:nvSpPr>
          <p:spPr>
            <a:xfrm>
              <a:off x="6195059" y="1870455"/>
              <a:ext cx="5184775" cy="1719580"/>
            </a:xfrm>
            <a:custGeom>
              <a:avLst/>
              <a:gdLst/>
              <a:ahLst/>
              <a:cxnLst/>
              <a:rect l="l" t="t" r="r" b="b"/>
              <a:pathLst>
                <a:path w="5184775" h="1719579">
                  <a:moveTo>
                    <a:pt x="0" y="98171"/>
                  </a:moveTo>
                  <a:lnTo>
                    <a:pt x="7713" y="59953"/>
                  </a:lnTo>
                  <a:lnTo>
                    <a:pt x="28749" y="28749"/>
                  </a:lnTo>
                  <a:lnTo>
                    <a:pt x="59953" y="7713"/>
                  </a:lnTo>
                  <a:lnTo>
                    <a:pt x="98170" y="0"/>
                  </a:lnTo>
                  <a:lnTo>
                    <a:pt x="5086476" y="0"/>
                  </a:lnTo>
                  <a:lnTo>
                    <a:pt x="5124694" y="7713"/>
                  </a:lnTo>
                  <a:lnTo>
                    <a:pt x="5155898" y="28749"/>
                  </a:lnTo>
                  <a:lnTo>
                    <a:pt x="5176934" y="59953"/>
                  </a:lnTo>
                  <a:lnTo>
                    <a:pt x="5184647" y="98171"/>
                  </a:lnTo>
                  <a:lnTo>
                    <a:pt x="5184647" y="1621282"/>
                  </a:lnTo>
                  <a:lnTo>
                    <a:pt x="5176934" y="1659499"/>
                  </a:lnTo>
                  <a:lnTo>
                    <a:pt x="5155898" y="1690703"/>
                  </a:lnTo>
                  <a:lnTo>
                    <a:pt x="5124694" y="1711739"/>
                  </a:lnTo>
                  <a:lnTo>
                    <a:pt x="5086476" y="1719453"/>
                  </a:lnTo>
                  <a:lnTo>
                    <a:pt x="98170" y="1719453"/>
                  </a:lnTo>
                  <a:lnTo>
                    <a:pt x="59953" y="1711739"/>
                  </a:lnTo>
                  <a:lnTo>
                    <a:pt x="28749" y="1690703"/>
                  </a:lnTo>
                  <a:lnTo>
                    <a:pt x="7713" y="1659499"/>
                  </a:lnTo>
                  <a:lnTo>
                    <a:pt x="0" y="1621282"/>
                  </a:lnTo>
                  <a:lnTo>
                    <a:pt x="0" y="98171"/>
                  </a:lnTo>
                  <a:close/>
                </a:path>
              </a:pathLst>
            </a:custGeom>
            <a:ln w="6350">
              <a:solidFill>
                <a:srgbClr val="D9DEE6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1" name="object 11"/>
          <p:cNvSpPr txBox="1"/>
          <p:nvPr/>
        </p:nvSpPr>
        <p:spPr>
          <a:xfrm>
            <a:off x="6409182" y="1930657"/>
            <a:ext cx="4069715" cy="909955"/>
          </a:xfrm>
          <a:prstGeom prst="rect">
            <a:avLst/>
          </a:prstGeom>
        </p:spPr>
        <p:txBody>
          <a:bodyPr wrap="square" lIns="0" tIns="13525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65"/>
              </a:spcBef>
            </a:pPr>
            <a:r>
              <a:rPr dirty="0" sz="1550" spc="85" b="1">
                <a:solidFill>
                  <a:srgbClr val="B45209"/>
                </a:solidFill>
                <a:latin typeface="Arial"/>
                <a:cs typeface="Arial"/>
              </a:rPr>
              <a:t>2</a:t>
            </a:r>
            <a:r>
              <a:rPr dirty="0" sz="1550" spc="-20" b="1">
                <a:solidFill>
                  <a:srgbClr val="B45209"/>
                </a:solidFill>
                <a:latin typeface="Arial"/>
                <a:cs typeface="Arial"/>
              </a:rPr>
              <a:t> </a:t>
            </a:r>
            <a:r>
              <a:rPr dirty="0" sz="1550" b="1">
                <a:solidFill>
                  <a:srgbClr val="13203C"/>
                </a:solidFill>
                <a:latin typeface="Arial"/>
                <a:cs typeface="Arial"/>
              </a:rPr>
              <a:t>Cut</a:t>
            </a:r>
            <a:r>
              <a:rPr dirty="0" sz="1550" spc="-80" b="1">
                <a:solidFill>
                  <a:srgbClr val="13203C"/>
                </a:solidFill>
                <a:latin typeface="Arial"/>
                <a:cs typeface="Arial"/>
              </a:rPr>
              <a:t> </a:t>
            </a:r>
            <a:r>
              <a:rPr dirty="0" sz="1550" b="1">
                <a:solidFill>
                  <a:srgbClr val="13203C"/>
                </a:solidFill>
                <a:latin typeface="Arial"/>
                <a:cs typeface="Arial"/>
              </a:rPr>
              <a:t>out</a:t>
            </a:r>
            <a:r>
              <a:rPr dirty="0" sz="1550" spc="-10" b="1">
                <a:solidFill>
                  <a:srgbClr val="13203C"/>
                </a:solidFill>
                <a:latin typeface="Arial"/>
                <a:cs typeface="Arial"/>
              </a:rPr>
              <a:t> </a:t>
            </a:r>
            <a:r>
              <a:rPr dirty="0" sz="1550" b="1">
                <a:solidFill>
                  <a:srgbClr val="13203C"/>
                </a:solidFill>
                <a:latin typeface="Arial"/>
                <a:cs typeface="Arial"/>
              </a:rPr>
              <a:t>a</a:t>
            </a:r>
            <a:r>
              <a:rPr dirty="0" sz="1550" spc="-10" b="1">
                <a:solidFill>
                  <a:srgbClr val="13203C"/>
                </a:solidFill>
                <a:latin typeface="Arial"/>
                <a:cs typeface="Arial"/>
              </a:rPr>
              <a:t> </a:t>
            </a:r>
            <a:r>
              <a:rPr dirty="0" sz="1550" spc="-20" b="1">
                <a:solidFill>
                  <a:srgbClr val="13203C"/>
                </a:solidFill>
                <a:latin typeface="Arial"/>
                <a:cs typeface="Arial"/>
              </a:rPr>
              <a:t>block</a:t>
            </a:r>
            <a:endParaRPr sz="15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770"/>
              </a:spcBef>
            </a:pPr>
            <a:r>
              <a:rPr dirty="0" sz="1300" spc="-10">
                <a:solidFill>
                  <a:srgbClr val="3C495C"/>
                </a:solidFill>
                <a:latin typeface="Arial"/>
                <a:cs typeface="Arial"/>
              </a:rPr>
              <a:t>Rows </a:t>
            </a:r>
            <a:r>
              <a:rPr dirty="0" sz="1300">
                <a:solidFill>
                  <a:srgbClr val="3C495C"/>
                </a:solidFill>
                <a:latin typeface="Arial"/>
                <a:cs typeface="Arial"/>
              </a:rPr>
              <a:t>labeled</a:t>
            </a:r>
            <a:r>
              <a:rPr dirty="0" sz="1300" spc="10">
                <a:solidFill>
                  <a:srgbClr val="3C495C"/>
                </a:solidFill>
                <a:latin typeface="Arial"/>
                <a:cs typeface="Arial"/>
              </a:rPr>
              <a:t> </a:t>
            </a:r>
            <a:r>
              <a:rPr dirty="0" sz="1300" spc="50">
                <a:solidFill>
                  <a:srgbClr val="3C495C"/>
                </a:solidFill>
                <a:latin typeface="Arial"/>
                <a:cs typeface="Arial"/>
              </a:rPr>
              <a:t>5</a:t>
            </a:r>
            <a:r>
              <a:rPr dirty="0" sz="1300" spc="-15">
                <a:solidFill>
                  <a:srgbClr val="3C495C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3C495C"/>
                </a:solidFill>
                <a:latin typeface="Arial"/>
                <a:cs typeface="Arial"/>
              </a:rPr>
              <a:t>through</a:t>
            </a:r>
            <a:r>
              <a:rPr dirty="0" sz="1300" spc="40">
                <a:solidFill>
                  <a:srgbClr val="3C495C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3C495C"/>
                </a:solidFill>
                <a:latin typeface="Arial"/>
                <a:cs typeface="Arial"/>
              </a:rPr>
              <a:t>15,</a:t>
            </a:r>
            <a:r>
              <a:rPr dirty="0" sz="1300" spc="60">
                <a:solidFill>
                  <a:srgbClr val="3C495C"/>
                </a:solidFill>
                <a:latin typeface="Arial"/>
                <a:cs typeface="Arial"/>
              </a:rPr>
              <a:t> </a:t>
            </a:r>
            <a:r>
              <a:rPr dirty="0" sz="1300" spc="-10">
                <a:solidFill>
                  <a:srgbClr val="3C495C"/>
                </a:solidFill>
                <a:latin typeface="Arial"/>
                <a:cs typeface="Arial"/>
              </a:rPr>
              <a:t>and</a:t>
            </a:r>
            <a:r>
              <a:rPr dirty="0" sz="1300" spc="-70">
                <a:solidFill>
                  <a:srgbClr val="3C495C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3C495C"/>
                </a:solidFill>
                <a:latin typeface="Arial"/>
                <a:cs typeface="Arial"/>
              </a:rPr>
              <a:t>only</a:t>
            </a:r>
            <a:r>
              <a:rPr dirty="0" sz="1300" spc="-25">
                <a:solidFill>
                  <a:srgbClr val="3C495C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3C495C"/>
                </a:solidFill>
                <a:latin typeface="Arial"/>
                <a:cs typeface="Arial"/>
              </a:rPr>
              <a:t>the</a:t>
            </a:r>
            <a:r>
              <a:rPr dirty="0" sz="1300" spc="-20">
                <a:solidFill>
                  <a:srgbClr val="3C495C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3C495C"/>
                </a:solidFill>
                <a:latin typeface="Arial"/>
                <a:cs typeface="Arial"/>
              </a:rPr>
              <a:t>columns</a:t>
            </a:r>
            <a:r>
              <a:rPr dirty="0" sz="1300" spc="-10">
                <a:solidFill>
                  <a:srgbClr val="3C495C"/>
                </a:solidFill>
                <a:latin typeface="Arial"/>
                <a:cs typeface="Arial"/>
              </a:rPr>
              <a:t> </a:t>
            </a:r>
            <a:r>
              <a:rPr dirty="0" sz="1300" spc="-20">
                <a:solidFill>
                  <a:srgbClr val="3C495C"/>
                </a:solidFill>
                <a:latin typeface="Arial"/>
                <a:cs typeface="Arial"/>
              </a:rPr>
              <a:t>from</a:t>
            </a:r>
            <a:endParaRPr sz="13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245"/>
              </a:spcBef>
            </a:pPr>
            <a:r>
              <a:rPr dirty="0" sz="1300">
                <a:solidFill>
                  <a:srgbClr val="3C495C"/>
                </a:solidFill>
                <a:latin typeface="Arial"/>
                <a:cs typeface="Arial"/>
              </a:rPr>
              <a:t>ApplicationName</a:t>
            </a:r>
            <a:r>
              <a:rPr dirty="0" sz="1300" spc="65">
                <a:solidFill>
                  <a:srgbClr val="3C495C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3C495C"/>
                </a:solidFill>
                <a:latin typeface="Arial"/>
                <a:cs typeface="Arial"/>
              </a:rPr>
              <a:t>through</a:t>
            </a:r>
            <a:r>
              <a:rPr dirty="0" sz="1300" spc="40">
                <a:solidFill>
                  <a:srgbClr val="3C495C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3C495C"/>
                </a:solidFill>
                <a:latin typeface="Arial"/>
                <a:cs typeface="Arial"/>
              </a:rPr>
              <a:t>priority.</a:t>
            </a:r>
            <a:r>
              <a:rPr dirty="0" sz="1300" spc="70">
                <a:solidFill>
                  <a:srgbClr val="3C495C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3C495C"/>
                </a:solidFill>
                <a:latin typeface="Arial"/>
                <a:cs typeface="Arial"/>
              </a:rPr>
              <a:t>Both</a:t>
            </a:r>
            <a:r>
              <a:rPr dirty="0" sz="1300" spc="35">
                <a:solidFill>
                  <a:srgbClr val="3C495C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3C495C"/>
                </a:solidFill>
                <a:latin typeface="Arial"/>
                <a:cs typeface="Arial"/>
              </a:rPr>
              <a:t>ends</a:t>
            </a:r>
            <a:r>
              <a:rPr dirty="0" sz="1300" spc="85">
                <a:solidFill>
                  <a:srgbClr val="3C495C"/>
                </a:solidFill>
                <a:latin typeface="Arial"/>
                <a:cs typeface="Arial"/>
              </a:rPr>
              <a:t> </a:t>
            </a:r>
            <a:r>
              <a:rPr dirty="0" sz="1300" spc="-10">
                <a:solidFill>
                  <a:srgbClr val="3C495C"/>
                </a:solidFill>
                <a:latin typeface="Arial"/>
                <a:cs typeface="Arial"/>
              </a:rPr>
              <a:t>included.</a:t>
            </a:r>
            <a:endParaRPr sz="1300">
              <a:latin typeface="Arial"/>
              <a:cs typeface="Arial"/>
            </a:endParaRPr>
          </a:p>
        </p:txBody>
      </p:sp>
      <p:grpSp>
        <p:nvGrpSpPr>
          <p:cNvPr id="12" name="object 12"/>
          <p:cNvGrpSpPr/>
          <p:nvPr/>
        </p:nvGrpSpPr>
        <p:grpSpPr>
          <a:xfrm>
            <a:off x="815213" y="3769614"/>
            <a:ext cx="5191125" cy="1433195"/>
            <a:chOff x="815213" y="3769614"/>
            <a:chExt cx="5191125" cy="1433195"/>
          </a:xfrm>
        </p:grpSpPr>
        <p:sp>
          <p:nvSpPr>
            <p:cNvPr id="13" name="object 13"/>
            <p:cNvSpPr/>
            <p:nvPr/>
          </p:nvSpPr>
          <p:spPr>
            <a:xfrm>
              <a:off x="818388" y="3772789"/>
              <a:ext cx="5184775" cy="1426845"/>
            </a:xfrm>
            <a:custGeom>
              <a:avLst/>
              <a:gdLst/>
              <a:ahLst/>
              <a:cxnLst/>
              <a:rect l="l" t="t" r="r" b="b"/>
              <a:pathLst>
                <a:path w="5184775" h="1426845">
                  <a:moveTo>
                    <a:pt x="5086096" y="0"/>
                  </a:moveTo>
                  <a:lnTo>
                    <a:pt x="98590" y="0"/>
                  </a:lnTo>
                  <a:lnTo>
                    <a:pt x="60216" y="7756"/>
                  </a:lnTo>
                  <a:lnTo>
                    <a:pt x="28878" y="28908"/>
                  </a:lnTo>
                  <a:lnTo>
                    <a:pt x="7748" y="60275"/>
                  </a:lnTo>
                  <a:lnTo>
                    <a:pt x="0" y="98679"/>
                  </a:lnTo>
                  <a:lnTo>
                    <a:pt x="0" y="1328293"/>
                  </a:lnTo>
                  <a:lnTo>
                    <a:pt x="7748" y="1366676"/>
                  </a:lnTo>
                  <a:lnTo>
                    <a:pt x="28878" y="1398000"/>
                  </a:lnTo>
                  <a:lnTo>
                    <a:pt x="60216" y="1419107"/>
                  </a:lnTo>
                  <a:lnTo>
                    <a:pt x="98590" y="1426845"/>
                  </a:lnTo>
                  <a:lnTo>
                    <a:pt x="5086096" y="1426845"/>
                  </a:lnTo>
                  <a:lnTo>
                    <a:pt x="5124426" y="1419107"/>
                  </a:lnTo>
                  <a:lnTo>
                    <a:pt x="5155755" y="1398000"/>
                  </a:lnTo>
                  <a:lnTo>
                    <a:pt x="5176893" y="1366676"/>
                  </a:lnTo>
                  <a:lnTo>
                    <a:pt x="5184648" y="1328293"/>
                  </a:lnTo>
                  <a:lnTo>
                    <a:pt x="5184648" y="98679"/>
                  </a:lnTo>
                  <a:lnTo>
                    <a:pt x="5176893" y="60275"/>
                  </a:lnTo>
                  <a:lnTo>
                    <a:pt x="5155755" y="28908"/>
                  </a:lnTo>
                  <a:lnTo>
                    <a:pt x="5124426" y="7756"/>
                  </a:lnTo>
                  <a:lnTo>
                    <a:pt x="5086096" y="0"/>
                  </a:lnTo>
                  <a:close/>
                </a:path>
              </a:pathLst>
            </a:custGeom>
            <a:solidFill>
              <a:srgbClr val="FAFAF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4" name="object 14"/>
            <p:cNvSpPr/>
            <p:nvPr/>
          </p:nvSpPr>
          <p:spPr>
            <a:xfrm>
              <a:off x="818388" y="3772789"/>
              <a:ext cx="5184775" cy="1426845"/>
            </a:xfrm>
            <a:custGeom>
              <a:avLst/>
              <a:gdLst/>
              <a:ahLst/>
              <a:cxnLst/>
              <a:rect l="l" t="t" r="r" b="b"/>
              <a:pathLst>
                <a:path w="5184775" h="1426845">
                  <a:moveTo>
                    <a:pt x="0" y="98679"/>
                  </a:moveTo>
                  <a:lnTo>
                    <a:pt x="7748" y="60275"/>
                  </a:lnTo>
                  <a:lnTo>
                    <a:pt x="28878" y="28908"/>
                  </a:lnTo>
                  <a:lnTo>
                    <a:pt x="60216" y="7756"/>
                  </a:lnTo>
                  <a:lnTo>
                    <a:pt x="98590" y="0"/>
                  </a:lnTo>
                  <a:lnTo>
                    <a:pt x="5086096" y="0"/>
                  </a:lnTo>
                  <a:lnTo>
                    <a:pt x="5124426" y="7756"/>
                  </a:lnTo>
                  <a:lnTo>
                    <a:pt x="5155755" y="28908"/>
                  </a:lnTo>
                  <a:lnTo>
                    <a:pt x="5176893" y="60275"/>
                  </a:lnTo>
                  <a:lnTo>
                    <a:pt x="5184648" y="98679"/>
                  </a:lnTo>
                  <a:lnTo>
                    <a:pt x="5184648" y="1328293"/>
                  </a:lnTo>
                  <a:lnTo>
                    <a:pt x="5176893" y="1366676"/>
                  </a:lnTo>
                  <a:lnTo>
                    <a:pt x="5155755" y="1398000"/>
                  </a:lnTo>
                  <a:lnTo>
                    <a:pt x="5124426" y="1419107"/>
                  </a:lnTo>
                  <a:lnTo>
                    <a:pt x="5086096" y="1426845"/>
                  </a:lnTo>
                  <a:lnTo>
                    <a:pt x="98590" y="1426845"/>
                  </a:lnTo>
                  <a:lnTo>
                    <a:pt x="60216" y="1419107"/>
                  </a:lnTo>
                  <a:lnTo>
                    <a:pt x="28878" y="1398000"/>
                  </a:lnTo>
                  <a:lnTo>
                    <a:pt x="7748" y="1366676"/>
                  </a:lnTo>
                  <a:lnTo>
                    <a:pt x="0" y="1328293"/>
                  </a:lnTo>
                  <a:lnTo>
                    <a:pt x="0" y="98679"/>
                  </a:lnTo>
                  <a:close/>
                </a:path>
              </a:pathLst>
            </a:custGeom>
            <a:ln w="6349">
              <a:solidFill>
                <a:srgbClr val="D9DEE6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5" name="object 15"/>
          <p:cNvSpPr txBox="1"/>
          <p:nvPr/>
        </p:nvSpPr>
        <p:spPr>
          <a:xfrm>
            <a:off x="1034440" y="3841654"/>
            <a:ext cx="4606925" cy="1138555"/>
          </a:xfrm>
          <a:prstGeom prst="rect">
            <a:avLst/>
          </a:prstGeom>
        </p:spPr>
        <p:txBody>
          <a:bodyPr wrap="square" lIns="0" tIns="13525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65"/>
              </a:spcBef>
            </a:pPr>
            <a:r>
              <a:rPr dirty="0" sz="1550" spc="85" b="1">
                <a:solidFill>
                  <a:srgbClr val="B45209"/>
                </a:solidFill>
                <a:latin typeface="Arial"/>
                <a:cs typeface="Arial"/>
              </a:rPr>
              <a:t>3</a:t>
            </a:r>
            <a:r>
              <a:rPr dirty="0" sz="1550" spc="-20" b="1">
                <a:solidFill>
                  <a:srgbClr val="B45209"/>
                </a:solidFill>
                <a:latin typeface="Arial"/>
                <a:cs typeface="Arial"/>
              </a:rPr>
              <a:t> </a:t>
            </a:r>
            <a:r>
              <a:rPr dirty="0" sz="1550" b="1">
                <a:solidFill>
                  <a:srgbClr val="13203C"/>
                </a:solidFill>
                <a:latin typeface="Arial"/>
                <a:cs typeface="Arial"/>
              </a:rPr>
              <a:t>Drop the</a:t>
            </a:r>
            <a:r>
              <a:rPr dirty="0" sz="1550" spc="5" b="1">
                <a:solidFill>
                  <a:srgbClr val="13203C"/>
                </a:solidFill>
                <a:latin typeface="Arial"/>
                <a:cs typeface="Arial"/>
              </a:rPr>
              <a:t> </a:t>
            </a:r>
            <a:r>
              <a:rPr dirty="0" sz="1550" b="1">
                <a:solidFill>
                  <a:srgbClr val="13203C"/>
                </a:solidFill>
                <a:latin typeface="Arial"/>
                <a:cs typeface="Arial"/>
              </a:rPr>
              <a:t>junk</a:t>
            </a:r>
            <a:r>
              <a:rPr dirty="0" sz="1550" spc="-30" b="1">
                <a:solidFill>
                  <a:srgbClr val="13203C"/>
                </a:solidFill>
                <a:latin typeface="Arial"/>
                <a:cs typeface="Arial"/>
              </a:rPr>
              <a:t> </a:t>
            </a:r>
            <a:r>
              <a:rPr dirty="0" sz="1550" spc="-10" b="1">
                <a:solidFill>
                  <a:srgbClr val="13203C"/>
                </a:solidFill>
                <a:latin typeface="Arial"/>
                <a:cs typeface="Arial"/>
              </a:rPr>
              <a:t>column</a:t>
            </a:r>
            <a:endParaRPr sz="1550">
              <a:latin typeface="Arial"/>
              <a:cs typeface="Arial"/>
            </a:endParaRPr>
          </a:p>
          <a:p>
            <a:pPr marL="12700" marR="5080">
              <a:lnSpc>
                <a:spcPct val="115599"/>
              </a:lnSpc>
              <a:spcBef>
                <a:spcPts val="525"/>
              </a:spcBef>
            </a:pPr>
            <a:r>
              <a:rPr dirty="0" sz="1300" spc="-20">
                <a:solidFill>
                  <a:srgbClr val="3C495C"/>
                </a:solidFill>
                <a:latin typeface="Arial"/>
                <a:cs typeface="Arial"/>
              </a:rPr>
              <a:t>The</a:t>
            </a:r>
            <a:r>
              <a:rPr dirty="0" sz="1300" spc="45">
                <a:solidFill>
                  <a:srgbClr val="3C495C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3C495C"/>
                </a:solidFill>
                <a:latin typeface="Arial"/>
                <a:cs typeface="Arial"/>
              </a:rPr>
              <a:t>first</a:t>
            </a:r>
            <a:r>
              <a:rPr dirty="0" sz="1300" spc="-65">
                <a:solidFill>
                  <a:srgbClr val="3C495C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3C495C"/>
                </a:solidFill>
                <a:latin typeface="Arial"/>
                <a:cs typeface="Arial"/>
              </a:rPr>
              <a:t>column,</a:t>
            </a:r>
            <a:r>
              <a:rPr dirty="0" sz="1300" spc="-30">
                <a:solidFill>
                  <a:srgbClr val="3C495C"/>
                </a:solidFill>
                <a:latin typeface="Arial"/>
                <a:cs typeface="Arial"/>
              </a:rPr>
              <a:t> </a:t>
            </a:r>
            <a:r>
              <a:rPr dirty="0" sz="1300" spc="-10">
                <a:solidFill>
                  <a:srgbClr val="3C495C"/>
                </a:solidFill>
                <a:latin typeface="Arial"/>
                <a:cs typeface="Arial"/>
              </a:rPr>
              <a:t>Unnamed:</a:t>
            </a:r>
            <a:r>
              <a:rPr dirty="0" sz="1300" spc="20">
                <a:solidFill>
                  <a:srgbClr val="3C495C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3C495C"/>
                </a:solidFill>
                <a:latin typeface="Arial"/>
                <a:cs typeface="Arial"/>
              </a:rPr>
              <a:t>0,</a:t>
            </a:r>
            <a:r>
              <a:rPr dirty="0" sz="1300" spc="-30">
                <a:solidFill>
                  <a:srgbClr val="3C495C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3C495C"/>
                </a:solidFill>
                <a:latin typeface="Arial"/>
                <a:cs typeface="Arial"/>
              </a:rPr>
              <a:t>is</a:t>
            </a:r>
            <a:r>
              <a:rPr dirty="0" sz="1300" spc="60">
                <a:solidFill>
                  <a:srgbClr val="3C495C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3C495C"/>
                </a:solidFill>
                <a:latin typeface="Arial"/>
                <a:cs typeface="Arial"/>
              </a:rPr>
              <a:t>just</a:t>
            </a:r>
            <a:r>
              <a:rPr dirty="0" sz="1300" spc="10">
                <a:solidFill>
                  <a:srgbClr val="3C495C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3C495C"/>
                </a:solidFill>
                <a:latin typeface="Arial"/>
                <a:cs typeface="Arial"/>
              </a:rPr>
              <a:t>a</a:t>
            </a:r>
            <a:r>
              <a:rPr dirty="0" sz="1300" spc="-5">
                <a:solidFill>
                  <a:srgbClr val="3C495C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3C495C"/>
                </a:solidFill>
                <a:latin typeface="Arial"/>
                <a:cs typeface="Arial"/>
              </a:rPr>
              <a:t>record number.</a:t>
            </a:r>
            <a:r>
              <a:rPr dirty="0" sz="1300" spc="-30">
                <a:solidFill>
                  <a:srgbClr val="3C495C"/>
                </a:solidFill>
                <a:latin typeface="Arial"/>
                <a:cs typeface="Arial"/>
              </a:rPr>
              <a:t> </a:t>
            </a:r>
            <a:r>
              <a:rPr dirty="0" sz="1300" spc="-20">
                <a:solidFill>
                  <a:srgbClr val="3C495C"/>
                </a:solidFill>
                <a:latin typeface="Arial"/>
                <a:cs typeface="Arial"/>
              </a:rPr>
              <a:t>Make</a:t>
            </a:r>
            <a:r>
              <a:rPr dirty="0" sz="1300" spc="-30">
                <a:solidFill>
                  <a:srgbClr val="3C495C"/>
                </a:solidFill>
                <a:latin typeface="Arial"/>
                <a:cs typeface="Arial"/>
              </a:rPr>
              <a:t> </a:t>
            </a:r>
            <a:r>
              <a:rPr dirty="0" sz="1300" spc="-50">
                <a:solidFill>
                  <a:srgbClr val="3C495C"/>
                </a:solidFill>
                <a:latin typeface="Arial"/>
                <a:cs typeface="Arial"/>
              </a:rPr>
              <a:t>a </a:t>
            </a:r>
            <a:r>
              <a:rPr dirty="0" sz="1300">
                <a:solidFill>
                  <a:srgbClr val="3C495C"/>
                </a:solidFill>
                <a:latin typeface="Arial"/>
                <a:cs typeface="Arial"/>
              </a:rPr>
              <a:t>new</a:t>
            </a:r>
            <a:r>
              <a:rPr dirty="0" sz="1300" spc="5">
                <a:solidFill>
                  <a:srgbClr val="3C495C"/>
                </a:solidFill>
                <a:latin typeface="Arial"/>
                <a:cs typeface="Arial"/>
              </a:rPr>
              <a:t> </a:t>
            </a:r>
            <a:r>
              <a:rPr dirty="0" sz="1300" spc="-10">
                <a:solidFill>
                  <a:srgbClr val="3C495C"/>
                </a:solidFill>
                <a:latin typeface="Arial"/>
                <a:cs typeface="Arial"/>
              </a:rPr>
              <a:t>DataFrame</a:t>
            </a:r>
            <a:r>
              <a:rPr dirty="0" sz="1300">
                <a:solidFill>
                  <a:srgbClr val="3C495C"/>
                </a:solidFill>
                <a:latin typeface="Arial"/>
                <a:cs typeface="Arial"/>
              </a:rPr>
              <a:t> without</a:t>
            </a:r>
            <a:r>
              <a:rPr dirty="0" sz="1300" spc="55">
                <a:solidFill>
                  <a:srgbClr val="3C495C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3C495C"/>
                </a:solidFill>
                <a:latin typeface="Arial"/>
                <a:cs typeface="Arial"/>
              </a:rPr>
              <a:t>it. Hint:</a:t>
            </a:r>
            <a:r>
              <a:rPr dirty="0" sz="1300" spc="60">
                <a:solidFill>
                  <a:srgbClr val="3C495C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3C495C"/>
                </a:solidFill>
                <a:latin typeface="Arial"/>
                <a:cs typeface="Arial"/>
              </a:rPr>
              <a:t>it</a:t>
            </a:r>
            <a:r>
              <a:rPr dirty="0" sz="1300" spc="50">
                <a:solidFill>
                  <a:srgbClr val="3C495C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3C495C"/>
                </a:solidFill>
                <a:latin typeface="Arial"/>
                <a:cs typeface="Arial"/>
              </a:rPr>
              <a:t>is</a:t>
            </a:r>
            <a:r>
              <a:rPr dirty="0" sz="1300" spc="100">
                <a:solidFill>
                  <a:srgbClr val="3C495C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3C495C"/>
                </a:solidFill>
                <a:latin typeface="Arial"/>
                <a:cs typeface="Arial"/>
              </a:rPr>
              <a:t>the</a:t>
            </a:r>
            <a:r>
              <a:rPr dirty="0" sz="1300" spc="5">
                <a:solidFill>
                  <a:srgbClr val="3C495C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3C495C"/>
                </a:solidFill>
                <a:latin typeface="Arial"/>
                <a:cs typeface="Arial"/>
              </a:rPr>
              <a:t>first</a:t>
            </a:r>
            <a:r>
              <a:rPr dirty="0" sz="1300" spc="50">
                <a:solidFill>
                  <a:srgbClr val="3C495C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3C495C"/>
                </a:solidFill>
                <a:latin typeface="Arial"/>
                <a:cs typeface="Arial"/>
              </a:rPr>
              <a:t>column,</a:t>
            </a:r>
            <a:r>
              <a:rPr dirty="0" sz="1300" spc="90">
                <a:solidFill>
                  <a:srgbClr val="3C495C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3C495C"/>
                </a:solidFill>
                <a:latin typeface="Arial"/>
                <a:cs typeface="Arial"/>
              </a:rPr>
              <a:t>so</a:t>
            </a:r>
            <a:r>
              <a:rPr dirty="0" sz="1300" spc="75">
                <a:solidFill>
                  <a:srgbClr val="3C495C"/>
                </a:solidFill>
                <a:latin typeface="Arial"/>
                <a:cs typeface="Arial"/>
              </a:rPr>
              <a:t> </a:t>
            </a:r>
            <a:r>
              <a:rPr dirty="0" sz="1300" spc="-25">
                <a:solidFill>
                  <a:srgbClr val="3C495C"/>
                </a:solidFill>
                <a:latin typeface="Arial"/>
                <a:cs typeface="Arial"/>
              </a:rPr>
              <a:t>one </a:t>
            </a:r>
            <a:r>
              <a:rPr dirty="0" sz="1300">
                <a:solidFill>
                  <a:srgbClr val="3C495C"/>
                </a:solidFill>
                <a:latin typeface="Arial"/>
                <a:cs typeface="Arial"/>
              </a:rPr>
              <a:t>compact</a:t>
            </a:r>
            <a:r>
              <a:rPr dirty="0" sz="1300" spc="15">
                <a:solidFill>
                  <a:srgbClr val="3C495C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3C495C"/>
                </a:solidFill>
                <a:latin typeface="Arial"/>
                <a:cs typeface="Arial"/>
              </a:rPr>
              <a:t>slice</a:t>
            </a:r>
            <a:r>
              <a:rPr dirty="0" sz="1300" spc="-25">
                <a:solidFill>
                  <a:srgbClr val="3C495C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3C495C"/>
                </a:solidFill>
                <a:latin typeface="Arial"/>
                <a:cs typeface="Arial"/>
              </a:rPr>
              <a:t>does</a:t>
            </a:r>
            <a:r>
              <a:rPr dirty="0" sz="1300" spc="-15">
                <a:solidFill>
                  <a:srgbClr val="3C495C"/>
                </a:solidFill>
                <a:latin typeface="Arial"/>
                <a:cs typeface="Arial"/>
              </a:rPr>
              <a:t> </a:t>
            </a:r>
            <a:r>
              <a:rPr dirty="0" sz="1300" spc="-25">
                <a:solidFill>
                  <a:srgbClr val="3C495C"/>
                </a:solidFill>
                <a:latin typeface="Arial"/>
                <a:cs typeface="Arial"/>
              </a:rPr>
              <a:t>it.</a:t>
            </a:r>
            <a:endParaRPr sz="1300">
              <a:latin typeface="Arial"/>
              <a:cs typeface="Arial"/>
            </a:endParaRPr>
          </a:p>
        </p:txBody>
      </p:sp>
      <p:grpSp>
        <p:nvGrpSpPr>
          <p:cNvPr id="16" name="object 16"/>
          <p:cNvGrpSpPr/>
          <p:nvPr/>
        </p:nvGrpSpPr>
        <p:grpSpPr>
          <a:xfrm>
            <a:off x="6191884" y="3769614"/>
            <a:ext cx="5191125" cy="1433195"/>
            <a:chOff x="6191884" y="3769614"/>
            <a:chExt cx="5191125" cy="1433195"/>
          </a:xfrm>
        </p:grpSpPr>
        <p:sp>
          <p:nvSpPr>
            <p:cNvPr id="17" name="object 17"/>
            <p:cNvSpPr/>
            <p:nvPr/>
          </p:nvSpPr>
          <p:spPr>
            <a:xfrm>
              <a:off x="6195059" y="3772789"/>
              <a:ext cx="5184775" cy="1426845"/>
            </a:xfrm>
            <a:custGeom>
              <a:avLst/>
              <a:gdLst/>
              <a:ahLst/>
              <a:cxnLst/>
              <a:rect l="l" t="t" r="r" b="b"/>
              <a:pathLst>
                <a:path w="5184775" h="1426845">
                  <a:moveTo>
                    <a:pt x="5086095" y="0"/>
                  </a:moveTo>
                  <a:lnTo>
                    <a:pt x="98551" y="0"/>
                  </a:lnTo>
                  <a:lnTo>
                    <a:pt x="60221" y="7756"/>
                  </a:lnTo>
                  <a:lnTo>
                    <a:pt x="28892" y="28908"/>
                  </a:lnTo>
                  <a:lnTo>
                    <a:pt x="7754" y="60275"/>
                  </a:lnTo>
                  <a:lnTo>
                    <a:pt x="0" y="98679"/>
                  </a:lnTo>
                  <a:lnTo>
                    <a:pt x="0" y="1328293"/>
                  </a:lnTo>
                  <a:lnTo>
                    <a:pt x="7754" y="1366676"/>
                  </a:lnTo>
                  <a:lnTo>
                    <a:pt x="28892" y="1398000"/>
                  </a:lnTo>
                  <a:lnTo>
                    <a:pt x="60221" y="1419107"/>
                  </a:lnTo>
                  <a:lnTo>
                    <a:pt x="98551" y="1426845"/>
                  </a:lnTo>
                  <a:lnTo>
                    <a:pt x="5086095" y="1426845"/>
                  </a:lnTo>
                  <a:lnTo>
                    <a:pt x="5124426" y="1419107"/>
                  </a:lnTo>
                  <a:lnTo>
                    <a:pt x="5155755" y="1398000"/>
                  </a:lnTo>
                  <a:lnTo>
                    <a:pt x="5176893" y="1366676"/>
                  </a:lnTo>
                  <a:lnTo>
                    <a:pt x="5184647" y="1328293"/>
                  </a:lnTo>
                  <a:lnTo>
                    <a:pt x="5184647" y="98679"/>
                  </a:lnTo>
                  <a:lnTo>
                    <a:pt x="5176893" y="60275"/>
                  </a:lnTo>
                  <a:lnTo>
                    <a:pt x="5155755" y="28908"/>
                  </a:lnTo>
                  <a:lnTo>
                    <a:pt x="5124426" y="7756"/>
                  </a:lnTo>
                  <a:lnTo>
                    <a:pt x="5086095" y="0"/>
                  </a:lnTo>
                  <a:close/>
                </a:path>
              </a:pathLst>
            </a:custGeom>
            <a:solidFill>
              <a:srgbClr val="FAFAF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8" name="object 18"/>
            <p:cNvSpPr/>
            <p:nvPr/>
          </p:nvSpPr>
          <p:spPr>
            <a:xfrm>
              <a:off x="6195059" y="3772789"/>
              <a:ext cx="5184775" cy="1426845"/>
            </a:xfrm>
            <a:custGeom>
              <a:avLst/>
              <a:gdLst/>
              <a:ahLst/>
              <a:cxnLst/>
              <a:rect l="l" t="t" r="r" b="b"/>
              <a:pathLst>
                <a:path w="5184775" h="1426845">
                  <a:moveTo>
                    <a:pt x="0" y="98679"/>
                  </a:moveTo>
                  <a:lnTo>
                    <a:pt x="7754" y="60275"/>
                  </a:lnTo>
                  <a:lnTo>
                    <a:pt x="28892" y="28908"/>
                  </a:lnTo>
                  <a:lnTo>
                    <a:pt x="60221" y="7756"/>
                  </a:lnTo>
                  <a:lnTo>
                    <a:pt x="98551" y="0"/>
                  </a:lnTo>
                  <a:lnTo>
                    <a:pt x="5086095" y="0"/>
                  </a:lnTo>
                  <a:lnTo>
                    <a:pt x="5124426" y="7756"/>
                  </a:lnTo>
                  <a:lnTo>
                    <a:pt x="5155755" y="28908"/>
                  </a:lnTo>
                  <a:lnTo>
                    <a:pt x="5176893" y="60275"/>
                  </a:lnTo>
                  <a:lnTo>
                    <a:pt x="5184647" y="98679"/>
                  </a:lnTo>
                  <a:lnTo>
                    <a:pt x="5184647" y="1328293"/>
                  </a:lnTo>
                  <a:lnTo>
                    <a:pt x="5176893" y="1366676"/>
                  </a:lnTo>
                  <a:lnTo>
                    <a:pt x="5155755" y="1398000"/>
                  </a:lnTo>
                  <a:lnTo>
                    <a:pt x="5124426" y="1419107"/>
                  </a:lnTo>
                  <a:lnTo>
                    <a:pt x="5086095" y="1426845"/>
                  </a:lnTo>
                  <a:lnTo>
                    <a:pt x="98551" y="1426845"/>
                  </a:lnTo>
                  <a:lnTo>
                    <a:pt x="60221" y="1419107"/>
                  </a:lnTo>
                  <a:lnTo>
                    <a:pt x="28892" y="1398000"/>
                  </a:lnTo>
                  <a:lnTo>
                    <a:pt x="7754" y="1366676"/>
                  </a:lnTo>
                  <a:lnTo>
                    <a:pt x="0" y="1328293"/>
                  </a:lnTo>
                  <a:lnTo>
                    <a:pt x="0" y="98679"/>
                  </a:lnTo>
                  <a:close/>
                </a:path>
              </a:pathLst>
            </a:custGeom>
            <a:ln w="6350">
              <a:solidFill>
                <a:srgbClr val="D9DEE6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9" name="object 19"/>
          <p:cNvSpPr txBox="1"/>
          <p:nvPr/>
        </p:nvSpPr>
        <p:spPr>
          <a:xfrm>
            <a:off x="6409182" y="3841654"/>
            <a:ext cx="4813300" cy="909319"/>
          </a:xfrm>
          <a:prstGeom prst="rect">
            <a:avLst/>
          </a:prstGeom>
        </p:spPr>
        <p:txBody>
          <a:bodyPr wrap="square" lIns="0" tIns="13525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65"/>
              </a:spcBef>
            </a:pPr>
            <a:r>
              <a:rPr dirty="0" sz="1550" spc="85" b="1">
                <a:solidFill>
                  <a:srgbClr val="B45209"/>
                </a:solidFill>
                <a:latin typeface="Arial"/>
                <a:cs typeface="Arial"/>
              </a:rPr>
              <a:t>4</a:t>
            </a:r>
            <a:r>
              <a:rPr dirty="0" sz="1550" spc="5" b="1">
                <a:solidFill>
                  <a:srgbClr val="B45209"/>
                </a:solidFill>
                <a:latin typeface="Arial"/>
                <a:cs typeface="Arial"/>
              </a:rPr>
              <a:t> </a:t>
            </a:r>
            <a:r>
              <a:rPr dirty="0" sz="1550" b="1">
                <a:solidFill>
                  <a:srgbClr val="13203C"/>
                </a:solidFill>
                <a:latin typeface="Arial"/>
                <a:cs typeface="Arial"/>
              </a:rPr>
              <a:t>Fill in</a:t>
            </a:r>
            <a:r>
              <a:rPr dirty="0" sz="1550" spc="-30" b="1">
                <a:solidFill>
                  <a:srgbClr val="13203C"/>
                </a:solidFill>
                <a:latin typeface="Arial"/>
                <a:cs typeface="Arial"/>
              </a:rPr>
              <a:t> </a:t>
            </a:r>
            <a:r>
              <a:rPr dirty="0" sz="1550" b="1">
                <a:solidFill>
                  <a:srgbClr val="13203C"/>
                </a:solidFill>
                <a:latin typeface="Arial"/>
                <a:cs typeface="Arial"/>
              </a:rPr>
              <a:t>a</a:t>
            </a:r>
            <a:r>
              <a:rPr dirty="0" sz="1550" spc="10" b="1">
                <a:solidFill>
                  <a:srgbClr val="13203C"/>
                </a:solidFill>
                <a:latin typeface="Arial"/>
                <a:cs typeface="Arial"/>
              </a:rPr>
              <a:t> </a:t>
            </a:r>
            <a:r>
              <a:rPr dirty="0" sz="1550" spc="35" b="1">
                <a:solidFill>
                  <a:srgbClr val="13203C"/>
                </a:solidFill>
                <a:latin typeface="Arial"/>
                <a:cs typeface="Arial"/>
              </a:rPr>
              <a:t>default</a:t>
            </a:r>
            <a:endParaRPr sz="15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770"/>
              </a:spcBef>
            </a:pPr>
            <a:r>
              <a:rPr dirty="0" sz="1300" spc="-30">
                <a:solidFill>
                  <a:srgbClr val="3C495C"/>
                </a:solidFill>
                <a:latin typeface="Arial"/>
                <a:cs typeface="Arial"/>
              </a:rPr>
              <a:t>Every</a:t>
            </a:r>
            <a:r>
              <a:rPr dirty="0" sz="1300" spc="-65">
                <a:solidFill>
                  <a:srgbClr val="3C495C"/>
                </a:solidFill>
                <a:latin typeface="Arial"/>
                <a:cs typeface="Arial"/>
              </a:rPr>
              <a:t> </a:t>
            </a:r>
            <a:r>
              <a:rPr dirty="0" sz="1300" spc="45">
                <a:solidFill>
                  <a:srgbClr val="3C495C"/>
                </a:solidFill>
                <a:latin typeface="Arial"/>
                <a:cs typeface="Arial"/>
              </a:rPr>
              <a:t>cminflt</a:t>
            </a:r>
            <a:r>
              <a:rPr dirty="0" sz="1300" spc="-90">
                <a:solidFill>
                  <a:srgbClr val="3C495C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3C495C"/>
                </a:solidFill>
                <a:latin typeface="Arial"/>
                <a:cs typeface="Arial"/>
              </a:rPr>
              <a:t>value</a:t>
            </a:r>
            <a:r>
              <a:rPr dirty="0" sz="1300" spc="-55">
                <a:solidFill>
                  <a:srgbClr val="3C495C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3C495C"/>
                </a:solidFill>
                <a:latin typeface="Arial"/>
                <a:cs typeface="Arial"/>
              </a:rPr>
              <a:t>in</a:t>
            </a:r>
            <a:r>
              <a:rPr dirty="0" sz="1300" spc="-85">
                <a:solidFill>
                  <a:srgbClr val="3C495C"/>
                </a:solidFill>
                <a:latin typeface="Arial"/>
                <a:cs typeface="Arial"/>
              </a:rPr>
              <a:t> </a:t>
            </a:r>
            <a:r>
              <a:rPr dirty="0" sz="1300" spc="55">
                <a:solidFill>
                  <a:srgbClr val="3C495C"/>
                </a:solidFill>
                <a:latin typeface="Arial"/>
                <a:cs typeface="Arial"/>
              </a:rPr>
              <a:t>df6</a:t>
            </a:r>
            <a:r>
              <a:rPr dirty="0" sz="1300" spc="-55">
                <a:solidFill>
                  <a:srgbClr val="3C495C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3C495C"/>
                </a:solidFill>
                <a:latin typeface="Arial"/>
                <a:cs typeface="Arial"/>
              </a:rPr>
              <a:t>is</a:t>
            </a:r>
            <a:r>
              <a:rPr dirty="0" sz="1300" spc="30">
                <a:solidFill>
                  <a:srgbClr val="3C495C"/>
                </a:solidFill>
                <a:latin typeface="Arial"/>
                <a:cs typeface="Arial"/>
              </a:rPr>
              <a:t> </a:t>
            </a:r>
            <a:r>
              <a:rPr dirty="0" sz="1300" spc="-50">
                <a:solidFill>
                  <a:srgbClr val="3C495C"/>
                </a:solidFill>
                <a:latin typeface="Arial"/>
                <a:cs typeface="Arial"/>
              </a:rPr>
              <a:t>NaN</a:t>
            </a:r>
            <a:r>
              <a:rPr dirty="0" sz="1300" spc="-45">
                <a:solidFill>
                  <a:srgbClr val="3C495C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3C495C"/>
                </a:solidFill>
                <a:latin typeface="Arial"/>
                <a:cs typeface="Arial"/>
              </a:rPr>
              <a:t>(missing).</a:t>
            </a:r>
            <a:r>
              <a:rPr dirty="0" sz="1300" spc="-55">
                <a:solidFill>
                  <a:srgbClr val="3C495C"/>
                </a:solidFill>
                <a:latin typeface="Arial"/>
                <a:cs typeface="Arial"/>
              </a:rPr>
              <a:t> </a:t>
            </a:r>
            <a:r>
              <a:rPr dirty="0" sz="1300" spc="-10">
                <a:solidFill>
                  <a:srgbClr val="3C495C"/>
                </a:solidFill>
                <a:latin typeface="Arial"/>
                <a:cs typeface="Arial"/>
              </a:rPr>
              <a:t>Zero</a:t>
            </a:r>
            <a:r>
              <a:rPr dirty="0" sz="1300" spc="-75">
                <a:solidFill>
                  <a:srgbClr val="3C495C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3C495C"/>
                </a:solidFill>
                <a:latin typeface="Arial"/>
                <a:cs typeface="Arial"/>
              </a:rPr>
              <a:t>is</a:t>
            </a:r>
            <a:r>
              <a:rPr dirty="0" sz="1300" spc="-45">
                <a:solidFill>
                  <a:srgbClr val="3C495C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3C495C"/>
                </a:solidFill>
                <a:latin typeface="Arial"/>
                <a:cs typeface="Arial"/>
              </a:rPr>
              <a:t>a</a:t>
            </a:r>
            <a:r>
              <a:rPr dirty="0" sz="1300" spc="-40">
                <a:solidFill>
                  <a:srgbClr val="3C495C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3C495C"/>
                </a:solidFill>
                <a:latin typeface="Arial"/>
                <a:cs typeface="Arial"/>
              </a:rPr>
              <a:t>safe</a:t>
            </a:r>
            <a:r>
              <a:rPr dirty="0" sz="1300" spc="15">
                <a:solidFill>
                  <a:srgbClr val="3C495C"/>
                </a:solidFill>
                <a:latin typeface="Arial"/>
                <a:cs typeface="Arial"/>
              </a:rPr>
              <a:t> </a:t>
            </a:r>
            <a:r>
              <a:rPr dirty="0" sz="1300" spc="-10">
                <a:solidFill>
                  <a:srgbClr val="3C495C"/>
                </a:solidFill>
                <a:latin typeface="Arial"/>
                <a:cs typeface="Arial"/>
              </a:rPr>
              <a:t>default:</a:t>
            </a:r>
            <a:endParaRPr sz="13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245"/>
              </a:spcBef>
            </a:pPr>
            <a:r>
              <a:rPr dirty="0" sz="1300">
                <a:solidFill>
                  <a:srgbClr val="3C495C"/>
                </a:solidFill>
                <a:latin typeface="Arial"/>
                <a:cs typeface="Arial"/>
              </a:rPr>
              <a:t>set</a:t>
            </a:r>
            <a:r>
              <a:rPr dirty="0" sz="1300" spc="15">
                <a:solidFill>
                  <a:srgbClr val="3C495C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3C495C"/>
                </a:solidFill>
                <a:latin typeface="Arial"/>
                <a:cs typeface="Arial"/>
              </a:rPr>
              <a:t>the</a:t>
            </a:r>
            <a:r>
              <a:rPr dirty="0" sz="1300" spc="-30">
                <a:solidFill>
                  <a:srgbClr val="3C495C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3C495C"/>
                </a:solidFill>
                <a:latin typeface="Arial"/>
                <a:cs typeface="Arial"/>
              </a:rPr>
              <a:t>whole</a:t>
            </a:r>
            <a:r>
              <a:rPr dirty="0" sz="1300" spc="55">
                <a:solidFill>
                  <a:srgbClr val="3C495C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3C495C"/>
                </a:solidFill>
                <a:latin typeface="Arial"/>
                <a:cs typeface="Arial"/>
              </a:rPr>
              <a:t>column</a:t>
            </a:r>
            <a:r>
              <a:rPr dirty="0" sz="1300" spc="-50">
                <a:solidFill>
                  <a:srgbClr val="3C495C"/>
                </a:solidFill>
                <a:latin typeface="Arial"/>
                <a:cs typeface="Arial"/>
              </a:rPr>
              <a:t> </a:t>
            </a:r>
            <a:r>
              <a:rPr dirty="0" sz="1300" spc="65">
                <a:solidFill>
                  <a:srgbClr val="3C495C"/>
                </a:solidFill>
                <a:latin typeface="Arial"/>
                <a:cs typeface="Arial"/>
              </a:rPr>
              <a:t>to</a:t>
            </a:r>
            <a:r>
              <a:rPr dirty="0" sz="1300" spc="-45">
                <a:solidFill>
                  <a:srgbClr val="3C495C"/>
                </a:solidFill>
                <a:latin typeface="Arial"/>
                <a:cs typeface="Arial"/>
              </a:rPr>
              <a:t> </a:t>
            </a:r>
            <a:r>
              <a:rPr dirty="0" sz="1300" spc="50">
                <a:solidFill>
                  <a:srgbClr val="3C495C"/>
                </a:solidFill>
                <a:latin typeface="Arial"/>
                <a:cs typeface="Arial"/>
              </a:rPr>
              <a:t>0</a:t>
            </a:r>
            <a:r>
              <a:rPr dirty="0" sz="1300" spc="-20">
                <a:solidFill>
                  <a:srgbClr val="3C495C"/>
                </a:solidFill>
                <a:latin typeface="Arial"/>
                <a:cs typeface="Arial"/>
              </a:rPr>
              <a:t> </a:t>
            </a:r>
            <a:r>
              <a:rPr dirty="0" sz="1300" spc="50">
                <a:solidFill>
                  <a:srgbClr val="3C495C"/>
                </a:solidFill>
                <a:latin typeface="Arial"/>
                <a:cs typeface="Arial"/>
              </a:rPr>
              <a:t>with</a:t>
            </a:r>
            <a:r>
              <a:rPr dirty="0" sz="1300" spc="25">
                <a:solidFill>
                  <a:srgbClr val="3C495C"/>
                </a:solidFill>
                <a:latin typeface="Arial"/>
                <a:cs typeface="Arial"/>
              </a:rPr>
              <a:t> </a:t>
            </a:r>
            <a:r>
              <a:rPr dirty="0" sz="1300" spc="-10">
                <a:solidFill>
                  <a:srgbClr val="3C495C"/>
                </a:solidFill>
                <a:latin typeface="Arial"/>
                <a:cs typeface="Arial"/>
              </a:rPr>
              <a:t>one</a:t>
            </a:r>
            <a:r>
              <a:rPr dirty="0" sz="1300" spc="-30">
                <a:solidFill>
                  <a:srgbClr val="3C495C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3C495C"/>
                </a:solidFill>
                <a:latin typeface="Arial"/>
                <a:cs typeface="Arial"/>
              </a:rPr>
              <a:t>.loc</a:t>
            </a:r>
            <a:r>
              <a:rPr dirty="0" sz="1300" spc="-40">
                <a:solidFill>
                  <a:srgbClr val="3C495C"/>
                </a:solidFill>
                <a:latin typeface="Arial"/>
                <a:cs typeface="Arial"/>
              </a:rPr>
              <a:t> </a:t>
            </a:r>
            <a:r>
              <a:rPr dirty="0" sz="1300" spc="-10">
                <a:solidFill>
                  <a:srgbClr val="3C495C"/>
                </a:solidFill>
                <a:latin typeface="Arial"/>
                <a:cs typeface="Arial"/>
              </a:rPr>
              <a:t>assignment.</a:t>
            </a:r>
            <a:endParaRPr sz="13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800480" y="819721"/>
            <a:ext cx="678815" cy="234315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1350" b="1">
                <a:solidFill>
                  <a:srgbClr val="B45209"/>
                </a:solidFill>
                <a:latin typeface="Arial"/>
                <a:cs typeface="Arial"/>
              </a:rPr>
              <a:t>RE</a:t>
            </a:r>
            <a:r>
              <a:rPr dirty="0" sz="1350" spc="-190" b="1">
                <a:solidFill>
                  <a:srgbClr val="B45209"/>
                </a:solidFill>
                <a:latin typeface="Arial"/>
                <a:cs typeface="Arial"/>
              </a:rPr>
              <a:t> </a:t>
            </a:r>
            <a:r>
              <a:rPr dirty="0" sz="1350" spc="-95" b="1">
                <a:solidFill>
                  <a:srgbClr val="B45209"/>
                </a:solidFill>
                <a:latin typeface="Arial"/>
                <a:cs typeface="Arial"/>
              </a:rPr>
              <a:t>C</a:t>
            </a:r>
            <a:r>
              <a:rPr dirty="0" sz="1350" spc="-175" b="1">
                <a:solidFill>
                  <a:srgbClr val="B45209"/>
                </a:solidFill>
                <a:latin typeface="Arial"/>
                <a:cs typeface="Arial"/>
              </a:rPr>
              <a:t> </a:t>
            </a:r>
            <a:r>
              <a:rPr dirty="0" sz="1350" spc="-25" b="1">
                <a:solidFill>
                  <a:srgbClr val="B45209"/>
                </a:solidFill>
                <a:latin typeface="Arial"/>
                <a:cs typeface="Arial"/>
              </a:rPr>
              <a:t>AP</a:t>
            </a:r>
            <a:endParaRPr sz="1350">
              <a:latin typeface="Arial"/>
              <a:cs typeface="Arial"/>
            </a:endParaRPr>
          </a:p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/>
              <a:t>Six</a:t>
            </a:r>
            <a:r>
              <a:rPr dirty="0" spc="-114"/>
              <a:t> </a:t>
            </a:r>
            <a:r>
              <a:rPr dirty="0" spc="-20"/>
              <a:t>things</a:t>
            </a:r>
            <a:r>
              <a:rPr dirty="0" spc="-150"/>
              <a:t> </a:t>
            </a:r>
            <a:r>
              <a:rPr dirty="0"/>
              <a:t>to</a:t>
            </a:r>
            <a:r>
              <a:rPr dirty="0" spc="-185"/>
              <a:t> </a:t>
            </a:r>
            <a:r>
              <a:rPr dirty="0" spc="-10"/>
              <a:t>remember</a:t>
            </a:r>
          </a:p>
        </p:txBody>
      </p:sp>
      <p:sp>
        <p:nvSpPr>
          <p:cNvPr id="4" name="object 4"/>
          <p:cNvSpPr/>
          <p:nvPr/>
        </p:nvSpPr>
        <p:spPr>
          <a:xfrm>
            <a:off x="818388" y="2629535"/>
            <a:ext cx="10561320" cy="0"/>
          </a:xfrm>
          <a:custGeom>
            <a:avLst/>
            <a:gdLst/>
            <a:ahLst/>
            <a:cxnLst/>
            <a:rect l="l" t="t" r="r" b="b"/>
            <a:pathLst>
              <a:path w="10561320" h="0">
                <a:moveTo>
                  <a:pt x="0" y="0"/>
                </a:moveTo>
                <a:lnTo>
                  <a:pt x="5285232" y="0"/>
                </a:lnTo>
              </a:path>
              <a:path w="10561320" h="0">
                <a:moveTo>
                  <a:pt x="5285232" y="0"/>
                </a:moveTo>
                <a:lnTo>
                  <a:pt x="10561319" y="0"/>
                </a:lnTo>
              </a:path>
            </a:pathLst>
          </a:custGeom>
          <a:ln w="6350">
            <a:solidFill>
              <a:srgbClr val="D9DEE6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818388" y="3343021"/>
            <a:ext cx="10561320" cy="0"/>
          </a:xfrm>
          <a:custGeom>
            <a:avLst/>
            <a:gdLst/>
            <a:ahLst/>
            <a:cxnLst/>
            <a:rect l="l" t="t" r="r" b="b"/>
            <a:pathLst>
              <a:path w="10561320" h="0">
                <a:moveTo>
                  <a:pt x="0" y="0"/>
                </a:moveTo>
                <a:lnTo>
                  <a:pt x="5285232" y="0"/>
                </a:lnTo>
              </a:path>
              <a:path w="10561320" h="0">
                <a:moveTo>
                  <a:pt x="5285232" y="0"/>
                </a:moveTo>
                <a:lnTo>
                  <a:pt x="10561319" y="0"/>
                </a:lnTo>
              </a:path>
            </a:pathLst>
          </a:custGeom>
          <a:ln w="6350">
            <a:solidFill>
              <a:srgbClr val="D9DEE6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/>
          <p:nvPr/>
        </p:nvSpPr>
        <p:spPr>
          <a:xfrm>
            <a:off x="800480" y="1777009"/>
            <a:ext cx="3077845" cy="1111885"/>
          </a:xfrm>
          <a:prstGeom prst="rect">
            <a:avLst/>
          </a:prstGeom>
        </p:spPr>
        <p:txBody>
          <a:bodyPr wrap="square" lIns="0" tIns="1212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5"/>
              </a:spcBef>
            </a:pPr>
            <a:r>
              <a:rPr dirty="0" sz="1700" spc="-30" b="1">
                <a:solidFill>
                  <a:srgbClr val="13203C"/>
                </a:solidFill>
                <a:latin typeface="Arial"/>
                <a:cs typeface="Arial"/>
              </a:rPr>
              <a:t>Series</a:t>
            </a:r>
            <a:r>
              <a:rPr dirty="0" sz="1700" spc="-70" b="1">
                <a:solidFill>
                  <a:srgbClr val="13203C"/>
                </a:solidFill>
                <a:latin typeface="Arial"/>
                <a:cs typeface="Arial"/>
              </a:rPr>
              <a:t> </a:t>
            </a:r>
            <a:r>
              <a:rPr dirty="0" sz="1700" spc="-10" b="1">
                <a:solidFill>
                  <a:srgbClr val="13203C"/>
                </a:solidFill>
                <a:latin typeface="Arial"/>
                <a:cs typeface="Arial"/>
              </a:rPr>
              <a:t>and</a:t>
            </a:r>
            <a:r>
              <a:rPr dirty="0" sz="1700" spc="-100" b="1">
                <a:solidFill>
                  <a:srgbClr val="13203C"/>
                </a:solidFill>
                <a:latin typeface="Arial"/>
                <a:cs typeface="Arial"/>
              </a:rPr>
              <a:t> </a:t>
            </a:r>
            <a:r>
              <a:rPr dirty="0" sz="1700" spc="-10" b="1">
                <a:solidFill>
                  <a:srgbClr val="13203C"/>
                </a:solidFill>
                <a:latin typeface="Arial"/>
                <a:cs typeface="Arial"/>
              </a:rPr>
              <a:t>DataFrame</a:t>
            </a:r>
            <a:endParaRPr sz="17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680"/>
              </a:spcBef>
            </a:pPr>
            <a:r>
              <a:rPr dirty="0" sz="1350">
                <a:solidFill>
                  <a:srgbClr val="3C495C"/>
                </a:solidFill>
                <a:latin typeface="Arial"/>
                <a:cs typeface="Arial"/>
              </a:rPr>
              <a:t>A</a:t>
            </a:r>
            <a:r>
              <a:rPr dirty="0" sz="1350" spc="70">
                <a:solidFill>
                  <a:srgbClr val="3C495C"/>
                </a:solidFill>
                <a:latin typeface="Arial"/>
                <a:cs typeface="Arial"/>
              </a:rPr>
              <a:t> </a:t>
            </a:r>
            <a:r>
              <a:rPr dirty="0" sz="1350">
                <a:solidFill>
                  <a:srgbClr val="3C495C"/>
                </a:solidFill>
                <a:latin typeface="Arial"/>
                <a:cs typeface="Arial"/>
              </a:rPr>
              <a:t>labeled</a:t>
            </a:r>
            <a:r>
              <a:rPr dirty="0" sz="1350" spc="80">
                <a:solidFill>
                  <a:srgbClr val="3C495C"/>
                </a:solidFill>
                <a:latin typeface="Arial"/>
                <a:cs typeface="Arial"/>
              </a:rPr>
              <a:t> </a:t>
            </a:r>
            <a:r>
              <a:rPr dirty="0" sz="1350">
                <a:solidFill>
                  <a:srgbClr val="3C495C"/>
                </a:solidFill>
                <a:latin typeface="Arial"/>
                <a:cs typeface="Arial"/>
              </a:rPr>
              <a:t>column,</a:t>
            </a:r>
            <a:r>
              <a:rPr dirty="0" sz="1350" spc="80">
                <a:solidFill>
                  <a:srgbClr val="3C495C"/>
                </a:solidFill>
                <a:latin typeface="Arial"/>
                <a:cs typeface="Arial"/>
              </a:rPr>
              <a:t> </a:t>
            </a:r>
            <a:r>
              <a:rPr dirty="0" sz="1350">
                <a:solidFill>
                  <a:srgbClr val="3C495C"/>
                </a:solidFill>
                <a:latin typeface="Arial"/>
                <a:cs typeface="Arial"/>
              </a:rPr>
              <a:t>and</a:t>
            </a:r>
            <a:r>
              <a:rPr dirty="0" sz="1350" spc="85">
                <a:solidFill>
                  <a:srgbClr val="3C495C"/>
                </a:solidFill>
                <a:latin typeface="Arial"/>
                <a:cs typeface="Arial"/>
              </a:rPr>
              <a:t> </a:t>
            </a:r>
            <a:r>
              <a:rPr dirty="0" sz="1350">
                <a:solidFill>
                  <a:srgbClr val="3C495C"/>
                </a:solidFill>
                <a:latin typeface="Arial"/>
                <a:cs typeface="Arial"/>
              </a:rPr>
              <a:t>a</a:t>
            </a:r>
            <a:r>
              <a:rPr dirty="0" sz="1350" spc="75">
                <a:solidFill>
                  <a:srgbClr val="3C495C"/>
                </a:solidFill>
                <a:latin typeface="Arial"/>
                <a:cs typeface="Arial"/>
              </a:rPr>
              <a:t> </a:t>
            </a:r>
            <a:r>
              <a:rPr dirty="0" sz="1350">
                <a:solidFill>
                  <a:srgbClr val="3C495C"/>
                </a:solidFill>
                <a:latin typeface="Arial"/>
                <a:cs typeface="Arial"/>
              </a:rPr>
              <a:t>table</a:t>
            </a:r>
            <a:r>
              <a:rPr dirty="0" sz="1350" spc="50">
                <a:solidFill>
                  <a:srgbClr val="3C495C"/>
                </a:solidFill>
                <a:latin typeface="Arial"/>
                <a:cs typeface="Arial"/>
              </a:rPr>
              <a:t> of</a:t>
            </a:r>
            <a:r>
              <a:rPr dirty="0" sz="1350" spc="80">
                <a:solidFill>
                  <a:srgbClr val="3C495C"/>
                </a:solidFill>
                <a:latin typeface="Arial"/>
                <a:cs typeface="Arial"/>
              </a:rPr>
              <a:t> </a:t>
            </a:r>
            <a:r>
              <a:rPr dirty="0" sz="1350" spc="-20">
                <a:solidFill>
                  <a:srgbClr val="3C495C"/>
                </a:solidFill>
                <a:latin typeface="Arial"/>
                <a:cs typeface="Arial"/>
              </a:rPr>
              <a:t>them.</a:t>
            </a:r>
            <a:endParaRPr sz="13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310"/>
              </a:spcBef>
            </a:pPr>
            <a:r>
              <a:rPr dirty="0" sz="1700" b="1">
                <a:solidFill>
                  <a:srgbClr val="13203C"/>
                </a:solidFill>
                <a:latin typeface="Arial"/>
                <a:cs typeface="Arial"/>
              </a:rPr>
              <a:t>[]</a:t>
            </a:r>
            <a:r>
              <a:rPr dirty="0" sz="1700" spc="-100" b="1">
                <a:solidFill>
                  <a:srgbClr val="13203C"/>
                </a:solidFill>
                <a:latin typeface="Arial"/>
                <a:cs typeface="Arial"/>
              </a:rPr>
              <a:t> </a:t>
            </a:r>
            <a:r>
              <a:rPr dirty="0" sz="1700" b="1">
                <a:solidFill>
                  <a:srgbClr val="13203C"/>
                </a:solidFill>
                <a:latin typeface="Arial"/>
                <a:cs typeface="Arial"/>
              </a:rPr>
              <a:t>for</a:t>
            </a:r>
            <a:r>
              <a:rPr dirty="0" sz="1700" spc="-70" b="1">
                <a:solidFill>
                  <a:srgbClr val="13203C"/>
                </a:solidFill>
                <a:latin typeface="Arial"/>
                <a:cs typeface="Arial"/>
              </a:rPr>
              <a:t> </a:t>
            </a:r>
            <a:r>
              <a:rPr dirty="0" sz="1700" spc="-30" b="1">
                <a:solidFill>
                  <a:srgbClr val="13203C"/>
                </a:solidFill>
                <a:latin typeface="Arial"/>
                <a:cs typeface="Arial"/>
              </a:rPr>
              <a:t>columns,</a:t>
            </a:r>
            <a:r>
              <a:rPr dirty="0" sz="1700" spc="-50" b="1">
                <a:solidFill>
                  <a:srgbClr val="13203C"/>
                </a:solidFill>
                <a:latin typeface="Arial"/>
                <a:cs typeface="Arial"/>
              </a:rPr>
              <a:t> </a:t>
            </a:r>
            <a:r>
              <a:rPr dirty="0" sz="1700" spc="-20" b="1">
                <a:solidFill>
                  <a:srgbClr val="13203C"/>
                </a:solidFill>
                <a:latin typeface="Arial"/>
                <a:cs typeface="Arial"/>
              </a:rPr>
              <a:t>.loc[]</a:t>
            </a:r>
            <a:r>
              <a:rPr dirty="0" sz="1700" spc="-95" b="1">
                <a:solidFill>
                  <a:srgbClr val="13203C"/>
                </a:solidFill>
                <a:latin typeface="Arial"/>
                <a:cs typeface="Arial"/>
              </a:rPr>
              <a:t> </a:t>
            </a:r>
            <a:r>
              <a:rPr dirty="0" sz="1700" b="1">
                <a:solidFill>
                  <a:srgbClr val="13203C"/>
                </a:solidFill>
                <a:latin typeface="Arial"/>
                <a:cs typeface="Arial"/>
              </a:rPr>
              <a:t>for</a:t>
            </a:r>
            <a:r>
              <a:rPr dirty="0" sz="1700" spc="-70" b="1">
                <a:solidFill>
                  <a:srgbClr val="13203C"/>
                </a:solidFill>
                <a:latin typeface="Arial"/>
                <a:cs typeface="Arial"/>
              </a:rPr>
              <a:t> </a:t>
            </a:r>
            <a:r>
              <a:rPr dirty="0" sz="1700" spc="-20" b="1">
                <a:solidFill>
                  <a:srgbClr val="13203C"/>
                </a:solidFill>
                <a:latin typeface="Arial"/>
                <a:cs typeface="Arial"/>
              </a:rPr>
              <a:t>rows</a:t>
            </a:r>
            <a:endParaRPr sz="1700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6086347" y="1777009"/>
            <a:ext cx="2634615" cy="1111885"/>
          </a:xfrm>
          <a:prstGeom prst="rect">
            <a:avLst/>
          </a:prstGeom>
        </p:spPr>
        <p:txBody>
          <a:bodyPr wrap="square" lIns="0" tIns="1212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5"/>
              </a:spcBef>
            </a:pPr>
            <a:r>
              <a:rPr dirty="0" sz="1700" spc="-25" b="1">
                <a:solidFill>
                  <a:srgbClr val="13203C"/>
                </a:solidFill>
                <a:latin typeface="Arial"/>
                <a:cs typeface="Arial"/>
              </a:rPr>
              <a:t>Labels,</a:t>
            </a:r>
            <a:r>
              <a:rPr dirty="0" sz="1700" spc="-120" b="1">
                <a:solidFill>
                  <a:srgbClr val="13203C"/>
                </a:solidFill>
                <a:latin typeface="Arial"/>
                <a:cs typeface="Arial"/>
              </a:rPr>
              <a:t> </a:t>
            </a:r>
            <a:r>
              <a:rPr dirty="0" sz="1700" b="1">
                <a:solidFill>
                  <a:srgbClr val="13203C"/>
                </a:solidFill>
                <a:latin typeface="Arial"/>
                <a:cs typeface="Arial"/>
              </a:rPr>
              <a:t>not</a:t>
            </a:r>
            <a:r>
              <a:rPr dirty="0" sz="1700" spc="-90" b="1">
                <a:solidFill>
                  <a:srgbClr val="13203C"/>
                </a:solidFill>
                <a:latin typeface="Arial"/>
                <a:cs typeface="Arial"/>
              </a:rPr>
              <a:t> </a:t>
            </a:r>
            <a:r>
              <a:rPr dirty="0" sz="1700" spc="-10" b="1">
                <a:solidFill>
                  <a:srgbClr val="13203C"/>
                </a:solidFill>
                <a:latin typeface="Arial"/>
                <a:cs typeface="Arial"/>
              </a:rPr>
              <a:t>positions</a:t>
            </a:r>
            <a:endParaRPr sz="17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680"/>
              </a:spcBef>
            </a:pPr>
            <a:r>
              <a:rPr dirty="0" sz="1350">
                <a:solidFill>
                  <a:srgbClr val="3C495C"/>
                </a:solidFill>
                <a:latin typeface="Arial"/>
                <a:cs typeface="Arial"/>
              </a:rPr>
              <a:t>s[3]</a:t>
            </a:r>
            <a:r>
              <a:rPr dirty="0" sz="1350" spc="130">
                <a:solidFill>
                  <a:srgbClr val="3C495C"/>
                </a:solidFill>
                <a:latin typeface="Arial"/>
                <a:cs typeface="Arial"/>
              </a:rPr>
              <a:t> </a:t>
            </a:r>
            <a:r>
              <a:rPr dirty="0" sz="1350">
                <a:solidFill>
                  <a:srgbClr val="3C495C"/>
                </a:solidFill>
                <a:latin typeface="Arial"/>
                <a:cs typeface="Arial"/>
              </a:rPr>
              <a:t>finds</a:t>
            </a:r>
            <a:r>
              <a:rPr dirty="0" sz="1350" spc="105">
                <a:solidFill>
                  <a:srgbClr val="3C495C"/>
                </a:solidFill>
                <a:latin typeface="Arial"/>
                <a:cs typeface="Arial"/>
              </a:rPr>
              <a:t> </a:t>
            </a:r>
            <a:r>
              <a:rPr dirty="0" sz="1350" spc="50">
                <a:solidFill>
                  <a:srgbClr val="3C495C"/>
                </a:solidFill>
                <a:latin typeface="Arial"/>
                <a:cs typeface="Arial"/>
              </a:rPr>
              <a:t>the</a:t>
            </a:r>
            <a:r>
              <a:rPr dirty="0" sz="1350" spc="95">
                <a:solidFill>
                  <a:srgbClr val="3C495C"/>
                </a:solidFill>
                <a:latin typeface="Arial"/>
                <a:cs typeface="Arial"/>
              </a:rPr>
              <a:t> </a:t>
            </a:r>
            <a:r>
              <a:rPr dirty="0" sz="1350">
                <a:solidFill>
                  <a:srgbClr val="3C495C"/>
                </a:solidFill>
                <a:latin typeface="Arial"/>
                <a:cs typeface="Arial"/>
              </a:rPr>
              <a:t>value</a:t>
            </a:r>
            <a:r>
              <a:rPr dirty="0" sz="1350" spc="90">
                <a:solidFill>
                  <a:srgbClr val="3C495C"/>
                </a:solidFill>
                <a:latin typeface="Arial"/>
                <a:cs typeface="Arial"/>
              </a:rPr>
              <a:t> </a:t>
            </a:r>
            <a:r>
              <a:rPr dirty="0" sz="1350">
                <a:solidFill>
                  <a:srgbClr val="3C495C"/>
                </a:solidFill>
                <a:latin typeface="Arial"/>
                <a:cs typeface="Arial"/>
              </a:rPr>
              <a:t>labeled</a:t>
            </a:r>
            <a:r>
              <a:rPr dirty="0" sz="1350" spc="125">
                <a:solidFill>
                  <a:srgbClr val="3C495C"/>
                </a:solidFill>
                <a:latin typeface="Arial"/>
                <a:cs typeface="Arial"/>
              </a:rPr>
              <a:t> </a:t>
            </a:r>
            <a:r>
              <a:rPr dirty="0" sz="1350" spc="-25">
                <a:solidFill>
                  <a:srgbClr val="3C495C"/>
                </a:solidFill>
                <a:latin typeface="Arial"/>
                <a:cs typeface="Arial"/>
              </a:rPr>
              <a:t>3.</a:t>
            </a:r>
            <a:endParaRPr sz="13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310"/>
              </a:spcBef>
            </a:pPr>
            <a:r>
              <a:rPr dirty="0" sz="1700" spc="-20" b="1">
                <a:solidFill>
                  <a:srgbClr val="13203C"/>
                </a:solidFill>
                <a:latin typeface="Arial"/>
                <a:cs typeface="Arial"/>
              </a:rPr>
              <a:t>.loc</a:t>
            </a:r>
            <a:r>
              <a:rPr dirty="0" sz="1700" spc="-114" b="1">
                <a:solidFill>
                  <a:srgbClr val="13203C"/>
                </a:solidFill>
                <a:latin typeface="Arial"/>
                <a:cs typeface="Arial"/>
              </a:rPr>
              <a:t> </a:t>
            </a:r>
            <a:r>
              <a:rPr dirty="0" sz="1700" spc="-35" b="1">
                <a:solidFill>
                  <a:srgbClr val="13203C"/>
                </a:solidFill>
                <a:latin typeface="Arial"/>
                <a:cs typeface="Arial"/>
              </a:rPr>
              <a:t>slices</a:t>
            </a:r>
            <a:r>
              <a:rPr dirty="0" sz="1700" spc="-90" b="1">
                <a:solidFill>
                  <a:srgbClr val="13203C"/>
                </a:solidFill>
                <a:latin typeface="Arial"/>
                <a:cs typeface="Arial"/>
              </a:rPr>
              <a:t> </a:t>
            </a:r>
            <a:r>
              <a:rPr dirty="0" sz="1700" spc="-10" b="1">
                <a:solidFill>
                  <a:srgbClr val="13203C"/>
                </a:solidFill>
                <a:latin typeface="Arial"/>
                <a:cs typeface="Arial"/>
              </a:rPr>
              <a:t>include</a:t>
            </a:r>
            <a:r>
              <a:rPr dirty="0" sz="1700" spc="-45" b="1">
                <a:solidFill>
                  <a:srgbClr val="13203C"/>
                </a:solidFill>
                <a:latin typeface="Arial"/>
                <a:cs typeface="Arial"/>
              </a:rPr>
              <a:t> </a:t>
            </a:r>
            <a:r>
              <a:rPr dirty="0" sz="1700" b="1">
                <a:solidFill>
                  <a:srgbClr val="13203C"/>
                </a:solidFill>
                <a:latin typeface="Arial"/>
                <a:cs typeface="Arial"/>
              </a:rPr>
              <a:t>the</a:t>
            </a:r>
            <a:r>
              <a:rPr dirty="0" sz="1700" spc="-114" b="1">
                <a:solidFill>
                  <a:srgbClr val="13203C"/>
                </a:solidFill>
                <a:latin typeface="Arial"/>
                <a:cs typeface="Arial"/>
              </a:rPr>
              <a:t> </a:t>
            </a:r>
            <a:r>
              <a:rPr dirty="0" sz="1700" spc="-25" b="1">
                <a:solidFill>
                  <a:srgbClr val="13203C"/>
                </a:solidFill>
                <a:latin typeface="Arial"/>
                <a:cs typeface="Arial"/>
              </a:rPr>
              <a:t>end</a:t>
            </a:r>
            <a:endParaRPr sz="170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800480" y="2946463"/>
            <a:ext cx="2209800" cy="659765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1350" spc="10">
                <a:solidFill>
                  <a:srgbClr val="3C495C"/>
                </a:solidFill>
                <a:latin typeface="Arial"/>
                <a:cs typeface="Arial"/>
              </a:rPr>
              <a:t>And</a:t>
            </a:r>
            <a:r>
              <a:rPr dirty="0" sz="1350" spc="-30">
                <a:solidFill>
                  <a:srgbClr val="3C495C"/>
                </a:solidFill>
                <a:latin typeface="Arial"/>
                <a:cs typeface="Arial"/>
              </a:rPr>
              <a:t> </a:t>
            </a:r>
            <a:r>
              <a:rPr dirty="0" sz="1350" spc="10">
                <a:solidFill>
                  <a:srgbClr val="3C495C"/>
                </a:solidFill>
                <a:latin typeface="Arial"/>
                <a:cs typeface="Arial"/>
              </a:rPr>
              <a:t>.loc[]</a:t>
            </a:r>
            <a:r>
              <a:rPr dirty="0" sz="1350" spc="-30">
                <a:solidFill>
                  <a:srgbClr val="3C495C"/>
                </a:solidFill>
                <a:latin typeface="Arial"/>
                <a:cs typeface="Arial"/>
              </a:rPr>
              <a:t> </a:t>
            </a:r>
            <a:r>
              <a:rPr dirty="0" sz="1350" spc="70">
                <a:solidFill>
                  <a:srgbClr val="3C495C"/>
                </a:solidFill>
                <a:latin typeface="Arial"/>
                <a:cs typeface="Arial"/>
              </a:rPr>
              <a:t>to</a:t>
            </a:r>
            <a:r>
              <a:rPr dirty="0" sz="1350" spc="85">
                <a:solidFill>
                  <a:srgbClr val="3C495C"/>
                </a:solidFill>
                <a:latin typeface="Arial"/>
                <a:cs typeface="Arial"/>
              </a:rPr>
              <a:t> </a:t>
            </a:r>
            <a:r>
              <a:rPr dirty="0" sz="1350" spc="10">
                <a:solidFill>
                  <a:srgbClr val="3C495C"/>
                </a:solidFill>
                <a:latin typeface="Arial"/>
                <a:cs typeface="Arial"/>
              </a:rPr>
              <a:t>change </a:t>
            </a:r>
            <a:r>
              <a:rPr dirty="0" sz="1350" spc="-10">
                <a:solidFill>
                  <a:srgbClr val="3C495C"/>
                </a:solidFill>
                <a:latin typeface="Arial"/>
                <a:cs typeface="Arial"/>
              </a:rPr>
              <a:t>values.</a:t>
            </a:r>
            <a:endParaRPr sz="13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305"/>
              </a:spcBef>
            </a:pPr>
            <a:r>
              <a:rPr dirty="0" sz="1700" b="1">
                <a:solidFill>
                  <a:srgbClr val="13203C"/>
                </a:solidFill>
                <a:latin typeface="Arial"/>
                <a:cs typeface="Arial"/>
              </a:rPr>
              <a:t>=</a:t>
            </a:r>
            <a:r>
              <a:rPr dirty="0" sz="1700" spc="-45" b="1">
                <a:solidFill>
                  <a:srgbClr val="13203C"/>
                </a:solidFill>
                <a:latin typeface="Arial"/>
                <a:cs typeface="Arial"/>
              </a:rPr>
              <a:t> </a:t>
            </a:r>
            <a:r>
              <a:rPr dirty="0" sz="1700" spc="-40" b="1">
                <a:solidFill>
                  <a:srgbClr val="13203C"/>
                </a:solidFill>
                <a:latin typeface="Arial"/>
                <a:cs typeface="Arial"/>
              </a:rPr>
              <a:t>is</a:t>
            </a:r>
            <a:r>
              <a:rPr dirty="0" sz="1700" spc="-95" b="1">
                <a:solidFill>
                  <a:srgbClr val="13203C"/>
                </a:solidFill>
                <a:latin typeface="Arial"/>
                <a:cs typeface="Arial"/>
              </a:rPr>
              <a:t> </a:t>
            </a:r>
            <a:r>
              <a:rPr dirty="0" sz="1700" b="1">
                <a:solidFill>
                  <a:srgbClr val="13203C"/>
                </a:solidFill>
                <a:latin typeface="Arial"/>
                <a:cs typeface="Arial"/>
              </a:rPr>
              <a:t>not</a:t>
            </a:r>
            <a:r>
              <a:rPr dirty="0" sz="1700" spc="-105" b="1">
                <a:solidFill>
                  <a:srgbClr val="13203C"/>
                </a:solidFill>
                <a:latin typeface="Arial"/>
                <a:cs typeface="Arial"/>
              </a:rPr>
              <a:t> </a:t>
            </a:r>
            <a:r>
              <a:rPr dirty="0" sz="1700" b="1">
                <a:solidFill>
                  <a:srgbClr val="13203C"/>
                </a:solidFill>
                <a:latin typeface="Arial"/>
                <a:cs typeface="Arial"/>
              </a:rPr>
              <a:t>a</a:t>
            </a:r>
            <a:r>
              <a:rPr dirty="0" sz="1700" spc="-60" b="1">
                <a:solidFill>
                  <a:srgbClr val="13203C"/>
                </a:solidFill>
                <a:latin typeface="Arial"/>
                <a:cs typeface="Arial"/>
              </a:rPr>
              <a:t> </a:t>
            </a:r>
            <a:r>
              <a:rPr dirty="0" sz="1700" spc="-20" b="1">
                <a:solidFill>
                  <a:srgbClr val="13203C"/>
                </a:solidFill>
                <a:latin typeface="Arial"/>
                <a:cs typeface="Arial"/>
              </a:rPr>
              <a:t>copy</a:t>
            </a:r>
            <a:endParaRPr sz="1700">
              <a:latin typeface="Arial"/>
              <a:cs typeface="Aria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6086347" y="2946463"/>
            <a:ext cx="1836420" cy="659765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1350" spc="45">
                <a:solidFill>
                  <a:srgbClr val="3C495C"/>
                </a:solidFill>
                <a:latin typeface="Arial"/>
                <a:cs typeface="Arial"/>
              </a:rPr>
              <a:t>df.loc[:3]</a:t>
            </a:r>
            <a:r>
              <a:rPr dirty="0" sz="1350" spc="60">
                <a:solidFill>
                  <a:srgbClr val="3C495C"/>
                </a:solidFill>
                <a:latin typeface="Arial"/>
                <a:cs typeface="Arial"/>
              </a:rPr>
              <a:t> </a:t>
            </a:r>
            <a:r>
              <a:rPr dirty="0" sz="1350">
                <a:solidFill>
                  <a:srgbClr val="3C495C"/>
                </a:solidFill>
                <a:latin typeface="Arial"/>
                <a:cs typeface="Arial"/>
              </a:rPr>
              <a:t>is</a:t>
            </a:r>
            <a:r>
              <a:rPr dirty="0" sz="1350" spc="35">
                <a:solidFill>
                  <a:srgbClr val="3C495C"/>
                </a:solidFill>
                <a:latin typeface="Arial"/>
                <a:cs typeface="Arial"/>
              </a:rPr>
              <a:t> </a:t>
            </a:r>
            <a:r>
              <a:rPr dirty="0" sz="1350">
                <a:solidFill>
                  <a:srgbClr val="3C495C"/>
                </a:solidFill>
                <a:latin typeface="Arial"/>
                <a:cs typeface="Arial"/>
              </a:rPr>
              <a:t>four</a:t>
            </a:r>
            <a:r>
              <a:rPr dirty="0" sz="1350" spc="60">
                <a:solidFill>
                  <a:srgbClr val="3C495C"/>
                </a:solidFill>
                <a:latin typeface="Arial"/>
                <a:cs typeface="Arial"/>
              </a:rPr>
              <a:t> </a:t>
            </a:r>
            <a:r>
              <a:rPr dirty="0" sz="1350" spc="-20">
                <a:solidFill>
                  <a:srgbClr val="3C495C"/>
                </a:solidFill>
                <a:latin typeface="Arial"/>
                <a:cs typeface="Arial"/>
              </a:rPr>
              <a:t>rows.</a:t>
            </a:r>
            <a:endParaRPr sz="13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305"/>
              </a:spcBef>
            </a:pPr>
            <a:r>
              <a:rPr dirty="0" sz="1700" spc="-10" b="1">
                <a:solidFill>
                  <a:srgbClr val="13203C"/>
                </a:solidFill>
                <a:latin typeface="Arial"/>
                <a:cs typeface="Arial"/>
              </a:rPr>
              <a:t>Explore,</a:t>
            </a:r>
            <a:r>
              <a:rPr dirty="0" sz="1700" spc="-90" b="1">
                <a:solidFill>
                  <a:srgbClr val="13203C"/>
                </a:solidFill>
                <a:latin typeface="Arial"/>
                <a:cs typeface="Arial"/>
              </a:rPr>
              <a:t> </a:t>
            </a:r>
            <a:r>
              <a:rPr dirty="0" sz="1700" b="1">
                <a:solidFill>
                  <a:srgbClr val="13203C"/>
                </a:solidFill>
                <a:latin typeface="Arial"/>
                <a:cs typeface="Arial"/>
              </a:rPr>
              <a:t>then</a:t>
            </a:r>
            <a:r>
              <a:rPr dirty="0" sz="1700" spc="-80" b="1">
                <a:solidFill>
                  <a:srgbClr val="13203C"/>
                </a:solidFill>
                <a:latin typeface="Arial"/>
                <a:cs typeface="Arial"/>
              </a:rPr>
              <a:t> </a:t>
            </a:r>
            <a:r>
              <a:rPr dirty="0" sz="1700" spc="-20" b="1">
                <a:solidFill>
                  <a:srgbClr val="13203C"/>
                </a:solidFill>
                <a:latin typeface="Arial"/>
                <a:cs typeface="Arial"/>
              </a:rPr>
              <a:t>plot</a:t>
            </a:r>
            <a:endParaRPr sz="1700">
              <a:latin typeface="Arial"/>
              <a:cs typeface="Arial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800480" y="3663759"/>
            <a:ext cx="10770235" cy="1045844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  <a:tabLst>
                <a:tab pos="5298440" algn="l"/>
              </a:tabLst>
            </a:pPr>
            <a:r>
              <a:rPr dirty="0" sz="1350" spc="10">
                <a:solidFill>
                  <a:srgbClr val="3C495C"/>
                </a:solidFill>
                <a:latin typeface="Arial"/>
                <a:cs typeface="Arial"/>
              </a:rPr>
              <a:t>Use</a:t>
            </a:r>
            <a:r>
              <a:rPr dirty="0" sz="1350" spc="-5">
                <a:solidFill>
                  <a:srgbClr val="3C495C"/>
                </a:solidFill>
                <a:latin typeface="Arial"/>
                <a:cs typeface="Arial"/>
              </a:rPr>
              <a:t> </a:t>
            </a:r>
            <a:r>
              <a:rPr dirty="0" sz="1350" spc="20">
                <a:solidFill>
                  <a:srgbClr val="3C495C"/>
                </a:solidFill>
                <a:latin typeface="Arial"/>
                <a:cs typeface="Arial"/>
              </a:rPr>
              <a:t>.copy()</a:t>
            </a:r>
            <a:r>
              <a:rPr dirty="0" sz="1350">
                <a:solidFill>
                  <a:srgbClr val="3C495C"/>
                </a:solidFill>
                <a:latin typeface="Arial"/>
                <a:cs typeface="Arial"/>
              </a:rPr>
              <a:t> </a:t>
            </a:r>
            <a:r>
              <a:rPr dirty="0" sz="1350" spc="70">
                <a:solidFill>
                  <a:srgbClr val="3C495C"/>
                </a:solidFill>
                <a:latin typeface="Arial"/>
                <a:cs typeface="Arial"/>
              </a:rPr>
              <a:t>to</a:t>
            </a:r>
            <a:r>
              <a:rPr dirty="0" sz="1350" spc="55">
                <a:solidFill>
                  <a:srgbClr val="3C495C"/>
                </a:solidFill>
                <a:latin typeface="Arial"/>
                <a:cs typeface="Arial"/>
              </a:rPr>
              <a:t> </a:t>
            </a:r>
            <a:r>
              <a:rPr dirty="0" sz="1350" spc="20">
                <a:solidFill>
                  <a:srgbClr val="3C495C"/>
                </a:solidFill>
                <a:latin typeface="Arial"/>
                <a:cs typeface="Arial"/>
              </a:rPr>
              <a:t>experiment</a:t>
            </a:r>
            <a:r>
              <a:rPr dirty="0" sz="1350" spc="-25">
                <a:solidFill>
                  <a:srgbClr val="3C495C"/>
                </a:solidFill>
                <a:latin typeface="Arial"/>
                <a:cs typeface="Arial"/>
              </a:rPr>
              <a:t> </a:t>
            </a:r>
            <a:r>
              <a:rPr dirty="0" sz="1350" spc="-10">
                <a:solidFill>
                  <a:srgbClr val="3C495C"/>
                </a:solidFill>
                <a:latin typeface="Arial"/>
                <a:cs typeface="Arial"/>
              </a:rPr>
              <a:t>safely.</a:t>
            </a:r>
            <a:r>
              <a:rPr dirty="0" sz="1350">
                <a:solidFill>
                  <a:srgbClr val="3C495C"/>
                </a:solidFill>
                <a:latin typeface="Arial"/>
                <a:cs typeface="Arial"/>
              </a:rPr>
              <a:t>	shape,</a:t>
            </a:r>
            <a:r>
              <a:rPr dirty="0" sz="1350" spc="150">
                <a:solidFill>
                  <a:srgbClr val="3C495C"/>
                </a:solidFill>
                <a:latin typeface="Arial"/>
                <a:cs typeface="Arial"/>
              </a:rPr>
              <a:t> </a:t>
            </a:r>
            <a:r>
              <a:rPr dirty="0" sz="1350">
                <a:solidFill>
                  <a:srgbClr val="3C495C"/>
                </a:solidFill>
                <a:latin typeface="Arial"/>
                <a:cs typeface="Arial"/>
              </a:rPr>
              <a:t>info(),</a:t>
            </a:r>
            <a:r>
              <a:rPr dirty="0" sz="1350" spc="155">
                <a:solidFill>
                  <a:srgbClr val="3C495C"/>
                </a:solidFill>
                <a:latin typeface="Arial"/>
                <a:cs typeface="Arial"/>
              </a:rPr>
              <a:t> </a:t>
            </a:r>
            <a:r>
              <a:rPr dirty="0" sz="1350">
                <a:solidFill>
                  <a:srgbClr val="3C495C"/>
                </a:solidFill>
                <a:latin typeface="Arial"/>
                <a:cs typeface="Arial"/>
              </a:rPr>
              <a:t>describe(),</a:t>
            </a:r>
            <a:r>
              <a:rPr dirty="0" sz="1350" spc="155">
                <a:solidFill>
                  <a:srgbClr val="3C495C"/>
                </a:solidFill>
                <a:latin typeface="Arial"/>
                <a:cs typeface="Arial"/>
              </a:rPr>
              <a:t> </a:t>
            </a:r>
            <a:r>
              <a:rPr dirty="0" sz="1350">
                <a:solidFill>
                  <a:srgbClr val="3C495C"/>
                </a:solidFill>
                <a:latin typeface="Arial"/>
                <a:cs typeface="Arial"/>
              </a:rPr>
              <a:t>then</a:t>
            </a:r>
            <a:r>
              <a:rPr dirty="0" sz="1350" spc="190">
                <a:solidFill>
                  <a:srgbClr val="3C495C"/>
                </a:solidFill>
                <a:latin typeface="Arial"/>
                <a:cs typeface="Arial"/>
              </a:rPr>
              <a:t> </a:t>
            </a:r>
            <a:r>
              <a:rPr dirty="0" sz="1350" spc="35">
                <a:solidFill>
                  <a:srgbClr val="3C495C"/>
                </a:solidFill>
                <a:latin typeface="Arial"/>
                <a:cs typeface="Arial"/>
              </a:rPr>
              <a:t>plot(kind='box').</a:t>
            </a:r>
            <a:endParaRPr sz="13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795"/>
              </a:spcBef>
            </a:pPr>
            <a:endParaRPr sz="1350">
              <a:latin typeface="Arial"/>
              <a:cs typeface="Arial"/>
            </a:endParaRPr>
          </a:p>
          <a:p>
            <a:pPr marL="12700" marR="5080">
              <a:lnSpc>
                <a:spcPct val="124600"/>
              </a:lnSpc>
            </a:pPr>
            <a:r>
              <a:rPr dirty="0" sz="1350" spc="10">
                <a:solidFill>
                  <a:srgbClr val="3C495C"/>
                </a:solidFill>
                <a:latin typeface="Arial"/>
                <a:cs typeface="Arial"/>
              </a:rPr>
              <a:t>Keep</a:t>
            </a:r>
            <a:r>
              <a:rPr dirty="0" sz="1350" spc="50">
                <a:solidFill>
                  <a:srgbClr val="3C495C"/>
                </a:solidFill>
                <a:latin typeface="Arial"/>
                <a:cs typeface="Arial"/>
              </a:rPr>
              <a:t> </a:t>
            </a:r>
            <a:r>
              <a:rPr dirty="0" sz="1350" spc="10">
                <a:solidFill>
                  <a:srgbClr val="3C495C"/>
                </a:solidFill>
                <a:latin typeface="Arial"/>
                <a:cs typeface="Arial"/>
              </a:rPr>
              <a:t>handy: </a:t>
            </a:r>
            <a:r>
              <a:rPr dirty="0" sz="1350" spc="50">
                <a:solidFill>
                  <a:srgbClr val="3C495C"/>
                </a:solidFill>
                <a:latin typeface="Arial"/>
                <a:cs typeface="Arial"/>
              </a:rPr>
              <a:t>the</a:t>
            </a:r>
            <a:r>
              <a:rPr dirty="0" sz="1350" spc="60">
                <a:solidFill>
                  <a:srgbClr val="3C495C"/>
                </a:solidFill>
                <a:latin typeface="Arial"/>
                <a:cs typeface="Arial"/>
              </a:rPr>
              <a:t> </a:t>
            </a:r>
            <a:r>
              <a:rPr dirty="0" u="sng" sz="1350" spc="10">
                <a:solidFill>
                  <a:srgbClr val="3C495C"/>
                </a:solidFill>
                <a:uFill>
                  <a:solidFill>
                    <a:srgbClr val="3C495C"/>
                  </a:solidFill>
                </a:uFill>
                <a:latin typeface="Arial"/>
                <a:cs typeface="Arial"/>
                <a:hlinkClick r:id="rId2"/>
              </a:rPr>
              <a:t>lesson</a:t>
            </a:r>
            <a:r>
              <a:rPr dirty="0" u="sng" sz="1350" spc="-5">
                <a:solidFill>
                  <a:srgbClr val="3C495C"/>
                </a:solidFill>
                <a:uFill>
                  <a:solidFill>
                    <a:srgbClr val="3C495C"/>
                  </a:solidFill>
                </a:uFill>
                <a:latin typeface="Arial"/>
                <a:cs typeface="Arial"/>
                <a:hlinkClick r:id="rId2"/>
              </a:rPr>
              <a:t> </a:t>
            </a:r>
            <a:r>
              <a:rPr dirty="0" u="sng" sz="1350" spc="10">
                <a:solidFill>
                  <a:srgbClr val="3C495C"/>
                </a:solidFill>
                <a:uFill>
                  <a:solidFill>
                    <a:srgbClr val="3C495C"/>
                  </a:solidFill>
                </a:uFill>
                <a:latin typeface="Arial"/>
                <a:cs typeface="Arial"/>
                <a:hlinkClick r:id="rId2"/>
              </a:rPr>
              <a:t>page</a:t>
            </a:r>
            <a:r>
              <a:rPr dirty="0" sz="1350" spc="55">
                <a:solidFill>
                  <a:srgbClr val="3C495C"/>
                </a:solidFill>
                <a:latin typeface="Arial"/>
                <a:cs typeface="Arial"/>
              </a:rPr>
              <a:t> </a:t>
            </a:r>
            <a:r>
              <a:rPr dirty="0" sz="1350" spc="70">
                <a:solidFill>
                  <a:srgbClr val="3C495C"/>
                </a:solidFill>
                <a:latin typeface="Arial"/>
                <a:cs typeface="Arial"/>
              </a:rPr>
              <a:t>with</a:t>
            </a:r>
            <a:r>
              <a:rPr dirty="0" sz="1350" spc="-10">
                <a:solidFill>
                  <a:srgbClr val="3C495C"/>
                </a:solidFill>
                <a:latin typeface="Arial"/>
                <a:cs typeface="Arial"/>
              </a:rPr>
              <a:t> </a:t>
            </a:r>
            <a:r>
              <a:rPr dirty="0" sz="1350" spc="55">
                <a:solidFill>
                  <a:srgbClr val="3C495C"/>
                </a:solidFill>
                <a:latin typeface="Arial"/>
                <a:cs typeface="Arial"/>
              </a:rPr>
              <a:t>its</a:t>
            </a:r>
            <a:r>
              <a:rPr dirty="0" sz="1350" spc="35">
                <a:solidFill>
                  <a:srgbClr val="3C495C"/>
                </a:solidFill>
                <a:latin typeface="Arial"/>
                <a:cs typeface="Arial"/>
              </a:rPr>
              <a:t> </a:t>
            </a:r>
            <a:r>
              <a:rPr dirty="0" sz="1350" spc="10">
                <a:solidFill>
                  <a:srgbClr val="3C495C"/>
                </a:solidFill>
                <a:latin typeface="Arial"/>
                <a:cs typeface="Arial"/>
              </a:rPr>
              <a:t>indexing</a:t>
            </a:r>
            <a:r>
              <a:rPr dirty="0" sz="1350" spc="-25">
                <a:solidFill>
                  <a:srgbClr val="3C495C"/>
                </a:solidFill>
                <a:latin typeface="Arial"/>
                <a:cs typeface="Arial"/>
              </a:rPr>
              <a:t> </a:t>
            </a:r>
            <a:r>
              <a:rPr dirty="0" sz="1350" spc="45">
                <a:solidFill>
                  <a:srgbClr val="3C495C"/>
                </a:solidFill>
                <a:latin typeface="Arial"/>
                <a:cs typeface="Arial"/>
              </a:rPr>
              <a:t>summary</a:t>
            </a:r>
            <a:r>
              <a:rPr dirty="0" sz="1350" spc="15">
                <a:solidFill>
                  <a:srgbClr val="3C495C"/>
                </a:solidFill>
                <a:latin typeface="Arial"/>
                <a:cs typeface="Arial"/>
              </a:rPr>
              <a:t> </a:t>
            </a:r>
            <a:r>
              <a:rPr dirty="0" sz="1350" spc="10">
                <a:solidFill>
                  <a:srgbClr val="3C495C"/>
                </a:solidFill>
                <a:latin typeface="Arial"/>
                <a:cs typeface="Arial"/>
              </a:rPr>
              <a:t>table,</a:t>
            </a:r>
            <a:r>
              <a:rPr dirty="0" sz="1350" spc="50">
                <a:solidFill>
                  <a:srgbClr val="3C495C"/>
                </a:solidFill>
                <a:latin typeface="Arial"/>
                <a:cs typeface="Arial"/>
              </a:rPr>
              <a:t> </a:t>
            </a:r>
            <a:r>
              <a:rPr dirty="0" sz="1350" spc="10">
                <a:solidFill>
                  <a:srgbClr val="3C495C"/>
                </a:solidFill>
                <a:latin typeface="Arial"/>
                <a:cs typeface="Arial"/>
              </a:rPr>
              <a:t>and</a:t>
            </a:r>
            <a:r>
              <a:rPr dirty="0" sz="1350" spc="55">
                <a:solidFill>
                  <a:srgbClr val="3C495C"/>
                </a:solidFill>
                <a:latin typeface="Arial"/>
                <a:cs typeface="Arial"/>
              </a:rPr>
              <a:t> </a:t>
            </a:r>
            <a:r>
              <a:rPr dirty="0" sz="1350" spc="50">
                <a:solidFill>
                  <a:srgbClr val="3C495C"/>
                </a:solidFill>
                <a:latin typeface="Arial"/>
                <a:cs typeface="Arial"/>
              </a:rPr>
              <a:t>the</a:t>
            </a:r>
            <a:r>
              <a:rPr dirty="0" sz="1350" spc="80">
                <a:solidFill>
                  <a:srgbClr val="3C495C"/>
                </a:solidFill>
                <a:latin typeface="Arial"/>
                <a:cs typeface="Arial"/>
              </a:rPr>
              <a:t> </a:t>
            </a:r>
            <a:r>
              <a:rPr dirty="0" u="sng" sz="1350" spc="10">
                <a:solidFill>
                  <a:srgbClr val="3C495C"/>
                </a:solidFill>
                <a:uFill>
                  <a:solidFill>
                    <a:srgbClr val="3C495C"/>
                  </a:solidFill>
                </a:uFill>
                <a:latin typeface="Arial"/>
                <a:cs typeface="Arial"/>
                <a:hlinkClick r:id="rId3"/>
              </a:rPr>
              <a:t>pandas</a:t>
            </a:r>
            <a:r>
              <a:rPr dirty="0" u="sng" sz="1350" spc="45">
                <a:solidFill>
                  <a:srgbClr val="3C495C"/>
                </a:solidFill>
                <a:uFill>
                  <a:solidFill>
                    <a:srgbClr val="3C495C"/>
                  </a:solidFill>
                </a:uFill>
                <a:latin typeface="Arial"/>
                <a:cs typeface="Arial"/>
                <a:hlinkClick r:id="rId3"/>
              </a:rPr>
              <a:t> </a:t>
            </a:r>
            <a:r>
              <a:rPr dirty="0" u="sng" sz="1350" spc="10">
                <a:solidFill>
                  <a:srgbClr val="3C495C"/>
                </a:solidFill>
                <a:uFill>
                  <a:solidFill>
                    <a:srgbClr val="3C495C"/>
                  </a:solidFill>
                </a:uFill>
                <a:latin typeface="Arial"/>
                <a:cs typeface="Arial"/>
                <a:hlinkClick r:id="rId3"/>
              </a:rPr>
              <a:t>cheat</a:t>
            </a:r>
            <a:r>
              <a:rPr dirty="0" u="sng" sz="1350" spc="90">
                <a:solidFill>
                  <a:srgbClr val="3C495C"/>
                </a:solidFill>
                <a:uFill>
                  <a:solidFill>
                    <a:srgbClr val="3C495C"/>
                  </a:solidFill>
                </a:uFill>
                <a:latin typeface="Arial"/>
                <a:cs typeface="Arial"/>
                <a:hlinkClick r:id="rId3"/>
              </a:rPr>
              <a:t> </a:t>
            </a:r>
            <a:r>
              <a:rPr dirty="0" u="sng" sz="1350" spc="10">
                <a:solidFill>
                  <a:srgbClr val="3C495C"/>
                </a:solidFill>
                <a:uFill>
                  <a:solidFill>
                    <a:srgbClr val="3C495C"/>
                  </a:solidFill>
                </a:uFill>
                <a:latin typeface="Arial"/>
                <a:cs typeface="Arial"/>
                <a:hlinkClick r:id="rId3"/>
              </a:rPr>
              <a:t>sheet</a:t>
            </a:r>
            <a:r>
              <a:rPr dirty="0" sz="1350" spc="10">
                <a:solidFill>
                  <a:srgbClr val="3C495C"/>
                </a:solidFill>
                <a:latin typeface="Arial"/>
                <a:cs typeface="Arial"/>
              </a:rPr>
              <a:t>.</a:t>
            </a:r>
            <a:r>
              <a:rPr dirty="0" sz="1350" spc="45">
                <a:solidFill>
                  <a:srgbClr val="3C495C"/>
                </a:solidFill>
                <a:latin typeface="Arial"/>
                <a:cs typeface="Arial"/>
              </a:rPr>
              <a:t> </a:t>
            </a:r>
            <a:r>
              <a:rPr dirty="0" sz="1350" spc="10">
                <a:solidFill>
                  <a:srgbClr val="3C495C"/>
                </a:solidFill>
                <a:latin typeface="Arial"/>
                <a:cs typeface="Arial"/>
              </a:rPr>
              <a:t>Next</a:t>
            </a:r>
            <a:r>
              <a:rPr dirty="0" sz="1350">
                <a:solidFill>
                  <a:srgbClr val="3C495C"/>
                </a:solidFill>
                <a:latin typeface="Arial"/>
                <a:cs typeface="Arial"/>
              </a:rPr>
              <a:t> </a:t>
            </a:r>
            <a:r>
              <a:rPr dirty="0" sz="1350" spc="10">
                <a:solidFill>
                  <a:srgbClr val="3C495C"/>
                </a:solidFill>
                <a:latin typeface="Arial"/>
                <a:cs typeface="Arial"/>
              </a:rPr>
              <a:t>session:</a:t>
            </a:r>
            <a:r>
              <a:rPr dirty="0" sz="1350" spc="95">
                <a:solidFill>
                  <a:srgbClr val="3C495C"/>
                </a:solidFill>
                <a:latin typeface="Arial"/>
                <a:cs typeface="Arial"/>
              </a:rPr>
              <a:t> </a:t>
            </a:r>
            <a:r>
              <a:rPr dirty="0" sz="1350" spc="10">
                <a:solidFill>
                  <a:srgbClr val="3C495C"/>
                </a:solidFill>
                <a:latin typeface="Arial"/>
                <a:cs typeface="Arial"/>
              </a:rPr>
              <a:t>analytics</a:t>
            </a:r>
            <a:r>
              <a:rPr dirty="0" sz="1350" spc="35">
                <a:solidFill>
                  <a:srgbClr val="3C495C"/>
                </a:solidFill>
                <a:latin typeface="Arial"/>
                <a:cs typeface="Arial"/>
              </a:rPr>
              <a:t> </a:t>
            </a:r>
            <a:r>
              <a:rPr dirty="0" sz="1350" spc="55">
                <a:solidFill>
                  <a:srgbClr val="3C495C"/>
                </a:solidFill>
                <a:latin typeface="Arial"/>
                <a:cs typeface="Arial"/>
              </a:rPr>
              <a:t>with</a:t>
            </a:r>
            <a:r>
              <a:rPr dirty="0" sz="1350" spc="80">
                <a:solidFill>
                  <a:srgbClr val="3C495C"/>
                </a:solidFill>
                <a:latin typeface="Arial"/>
                <a:cs typeface="Arial"/>
              </a:rPr>
              <a:t> </a:t>
            </a:r>
            <a:r>
              <a:rPr dirty="0" sz="1350" spc="10">
                <a:solidFill>
                  <a:srgbClr val="3C495C"/>
                </a:solidFill>
                <a:latin typeface="Arial"/>
                <a:cs typeface="Arial"/>
              </a:rPr>
              <a:t>filtering,</a:t>
            </a:r>
            <a:r>
              <a:rPr dirty="0" sz="1350" spc="40">
                <a:solidFill>
                  <a:srgbClr val="3C495C"/>
                </a:solidFill>
                <a:latin typeface="Arial"/>
                <a:cs typeface="Arial"/>
              </a:rPr>
              <a:t> </a:t>
            </a:r>
            <a:r>
              <a:rPr dirty="0" sz="1350" spc="-10">
                <a:solidFill>
                  <a:srgbClr val="3C495C"/>
                </a:solidFill>
                <a:latin typeface="Arial"/>
                <a:cs typeface="Arial"/>
              </a:rPr>
              <a:t>sorting </a:t>
            </a:r>
            <a:r>
              <a:rPr dirty="0" sz="1350">
                <a:solidFill>
                  <a:srgbClr val="3C495C"/>
                </a:solidFill>
                <a:latin typeface="Arial"/>
                <a:cs typeface="Arial"/>
              </a:rPr>
              <a:t>and</a:t>
            </a:r>
            <a:r>
              <a:rPr dirty="0" sz="1350" spc="10">
                <a:solidFill>
                  <a:srgbClr val="3C495C"/>
                </a:solidFill>
                <a:latin typeface="Arial"/>
                <a:cs typeface="Arial"/>
              </a:rPr>
              <a:t> </a:t>
            </a:r>
            <a:r>
              <a:rPr dirty="0" sz="1350" spc="-10">
                <a:solidFill>
                  <a:srgbClr val="3C495C"/>
                </a:solidFill>
                <a:latin typeface="Arial"/>
                <a:cs typeface="Arial"/>
              </a:rPr>
              <a:t>grouping.</a:t>
            </a:r>
            <a:endParaRPr sz="135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3C495C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Microsoft Office PowerPoint</Application>
  <PresentationFormat>On-screen Show (4:3)</PresentationFormat>
  <ScaleCrop>false</ScaleCrop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Intro to Python: Pandas Fundamentals</dc:title>
  <dcterms:created xsi:type="dcterms:W3CDTF">2026-10-12T17:46:31Z</dcterms:created>
  <dcterms:modified xsi:type="dcterms:W3CDTF">2026-10-12T17:46:31Z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2026-10-11T00:00:00Z</vt:filetime>
  </property>
  <property fmtid="{D5CDD505-2E9C-101B-9397-08002B2CF9AE}" pid="3" name="LastSaved">
    <vt:filetime>2026-10-12T00:00:00Z</vt:filetime>
  </property>
</Properties>
</file>